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浮いた工数の累計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</c:v>
                </c:pt>
                <c:pt idx="1">
                  <c:v>240</c:v>
                </c:pt>
                <c:pt idx="2">
                  <c:v>480</c:v>
                </c:pt>
                <c:pt idx="3">
                  <c:v>720</c:v>
                </c:pt>
                <c:pt idx="4">
                  <c:v>960</c:v>
                </c:pt>
                <c:pt idx="5">
                  <c:v>1200</c:v>
                </c:pt>
                <c:pt idx="6">
                  <c:v>1440</c:v>
                </c:pt>
                <c:pt idx="7">
                  <c:v>1680</c:v>
                </c:pt>
                <c:pt idx="8">
                  <c:v>1920</c:v>
                </c:pt>
                <c:pt idx="9">
                  <c:v>2160</c:v>
                </c:pt>
                <c:pt idx="10">
                  <c:v>2400</c:v>
                </c:pt>
                <c:pt idx="11">
                  <c:v>2640</c:v>
                </c:pt>
                <c:pt idx="12">
                  <c:v>2880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初年度費用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500</c:v>
                </c:pt>
                <c:pt idx="1">
                  <c:v>500</c:v>
                </c:pt>
                <c:pt idx="2">
                  <c:v>500</c:v>
                </c:pt>
                <c:pt idx="3">
                  <c:v>500</c:v>
                </c:pt>
                <c:pt idx="4">
                  <c:v>500</c:v>
                </c:pt>
                <c:pt idx="5">
                  <c:v>500</c:v>
                </c:pt>
                <c:pt idx="6">
                  <c:v>500</c:v>
                </c:pt>
                <c:pt idx="7">
                  <c:v>500</c:v>
                </c:pt>
                <c:pt idx="8">
                  <c:v>500</c:v>
                </c:pt>
                <c:pt idx="9">
                  <c:v>500</c:v>
                </c:pt>
                <c:pt idx="10">
                  <c:v>500</c:v>
                </c:pt>
                <c:pt idx="11">
                  <c:v>500</c:v>
                </c:pt>
                <c:pt idx="12">
                  <c:v>500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1A1A1A"/>
            </a:solidFill>
            <a:ln w="4445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48</c:v>
                </c:pt>
                <c:pt idx="2">
                  <c:v>110</c:v>
                </c:pt>
                <c:pt idx="3">
                  <c:v>190</c:v>
                </c:pt>
                <c:pt idx="4">
                  <c:v>290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4D4D4D"/>
            </a:solidFill>
            <a:ln w="25400" cap="flat">
              <a:solidFill>
                <a:srgbClr val="4D4D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square"/>
            <c:size val="5"/>
            <c:spPr>
              <a:solidFill>
                <a:srgbClr val="4D4D4D"/>
              </a:solidFill>
              <a:ln w="9525" cap="flat">
                <a:solidFill>
                  <a:srgbClr val="4D4D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-32</c:v>
                </c:pt>
                <c:pt idx="1">
                  <c:v>-27</c:v>
                </c:pt>
                <c:pt idx="2">
                  <c:v>-6</c:v>
                </c:pt>
                <c:pt idx="3">
                  <c:v>28</c:v>
                </c:pt>
                <c:pt idx="4">
                  <c:v>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累積営業損益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-32</c:v>
                </c:pt>
                <c:pt idx="1">
                  <c:v>-59</c:v>
                </c:pt>
                <c:pt idx="2">
                  <c:v>-65</c:v>
                </c:pt>
                <c:pt idx="3">
                  <c:v>-37</c:v>
                </c:pt>
                <c:pt idx="4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-10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48</c:v>
                </c:pt>
                <c:pt idx="2">
                  <c:v>110</c:v>
                </c:pt>
                <c:pt idx="3">
                  <c:v>190</c:v>
                </c:pt>
                <c:pt idx="4">
                  <c:v>290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損益分岐点売上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diamond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92</c:v>
                </c:pt>
                <c:pt idx="1">
                  <c:v>92</c:v>
                </c:pt>
                <c:pt idx="2">
                  <c:v>120</c:v>
                </c:pt>
                <c:pt idx="3">
                  <c:v>151</c:v>
                </c:pt>
                <c:pt idx="4">
                  <c:v>196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現金残高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準備期</c:v>
                  </c:pt>
                  <c:pt idx="1">
                    <c:v>1年目</c:v>
                  </c:pt>
                  <c:pt idx="2">
                    <c:v>2年目</c:v>
                  </c:pt>
                  <c:pt idx="3">
                    <c:v>3年目</c:v>
                  </c:pt>
                  <c:pt idx="4">
                    <c:v>4年目</c:v>
                  </c:pt>
                  <c:pt idx="5">
                    <c:v>5年目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93</c:v>
                </c:pt>
                <c:pt idx="2">
                  <c:v>66</c:v>
                </c:pt>
                <c:pt idx="3">
                  <c:v>60</c:v>
                </c:pt>
                <c:pt idx="4">
                  <c:v>88</c:v>
                </c:pt>
                <c:pt idx="5">
                  <c:v>156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最低残高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準備期</c:v>
                  </c:pt>
                  <c:pt idx="1">
                    <c:v>1年目</c:v>
                  </c:pt>
                  <c:pt idx="2">
                    <c:v>2年目</c:v>
                  </c:pt>
                  <c:pt idx="3">
                    <c:v>3年目</c:v>
                  </c:pt>
                  <c:pt idx="4">
                    <c:v>4年目</c:v>
                  </c:pt>
                  <c:pt idx="5">
                    <c:v>5年目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【0:00 - 0:25】
要約：人が減っても現場が迷わず回る仕組みをつくる。希望金額は500万円
株式会社三現ワークスです。三現とは、現場・現物・現実のこと。熟練者の勘が退職とともに消えていく現場に、スマートグラスで記録して次の担い手とAIに渡す仕組みをつくります。希望金額は500万円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【0:25 - 1:00】
要約：スマートグラスで工事の作業を記録し、報告と教育を自動にするサービス
事業の概要です。何のビジネスか。施工管理者や電工がスマートグラスを着けるだけで作業を記録し、工事写真の整理と報告書づくり、若手の教育を自動にするサービスです。既存のサービスとの違いは、人が撮って入力するのではなく自動で記録し、図面と照合し、教材にまですること。お客様は、関東の中堅の電気工事会社です。収益は、1拠点あたり年300万円の利用料と、初年度の導入支援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【1:00 - 1:45】
要約：残業の上限と高齢化で、書類と育成に回す人がいない
対象のお客様は三人です。一人目は、現場で孤軍奮闘するDX推進担当者。二人目は、施工管理者と電工。工事写真の整理と報告書に毎日追われ、聞ける熟練者もいない。三人目は、お金を出す工事部長や社長。2024年4月から建設業にも残業の上限がかかり、人を増やせない。建設業で働く人の36.7%が55歳以上、29歳以下は11.7%しか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【1:45 - 2:25】
要約：記録は自動、渡す先は三つ。データが貯まるほど真似されにくくなる
解決策です。作業者の一人称の動画と会話を撮り続け、AIが整理し、若手には現物に重ねて、管理者には報告書として、次の担い手には教材として渡します。真似されにくい理由は三つ。図面に現れない現場処置の記録は、使うほど貯まり、後から来た会社には移せません。映像のどこが重要かを見分ける意味づけは、施工の経験者にしかできません。そして、電気工事の工種ごとの手順と報告書の型を、業界で最初に揃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【2:25 - 3:05】
要約：デモ：図面との差異を見つけ、報告書が自動でできる
実際の画面です。ケーブル接続の現場で、若手が処理した半導電層が図面より8ミリ短いことを検出しました。遠隔の熟練者が、テープの位置から測り直すよう指示します。その判断も記録されます。管理者の画面では、手順ごとに写真が自動で割り当てられ、報告書ができていきます。作業者が報告書に使った時間はゼロ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【3:05 - 3:40】
要約：施工管理アプリは「人が入力する器」。当社は「自動で記録し、判断を渡す」
競合です。工事写真や施工管理のアプリは、ANDPAD、SPIDERPLUS、蔵衛門など、すでに広く使われています。ただ、どれも人が撮って入力する器です。当社は自動で記録し、図面と照合し、熟練者の判断を教材にして渡します。最大の脅威は、これらの会社がAIで自動報告を加えることです。だから競わずにつなぎます。報告書と写真は各社の形式で出力し、当社は判断の記録と教材で選ば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【3:40 - 4:15】
要約：ターゲット市場は約141億円。周辺市場は年7〜9%で伸びている
市場規模です。全体市場として、国内の建設テック市場は建築分野だけで2030年度に約3,040億円、年7.4%の成長です。ターゲット市場は、業種と規模で分けて数えました。電気工事と電気通信工事の中堅以上、約3,100社。顧客数かける単価かける年1回で、約141億円です。5年目に85拠点、2.55億円を取りに行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【4:15 - 4:50】
要約：最初の顧客は関東の中堅電気工事会社。4つの物差しで選んだ
なぜ最初が中堅の電気工事会社なのか。市場の大きさ、困りごとの強さ、会いに行きやすさ、波及効果の4つで比べました。中堅の電気工事会社は、市場が最も大きく、残業規制で困りごとが強く、私の施工管理の経歴がそのまま信用になります。お金を出すのは社長や工事部長、使うのは施工管理者、推進するのはDX担当。この三人それぞれに効く説明を用意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【4:50 - 5:30】
要約：誰に・どう実現し・どう稼ぐか。ビジネスモデルを3つに分ける
ビジネスモデルを3つに分けます。戦略は、中堅電気工事会社に、書類の時間を減らし熟練者の判断を残す価値を届けること。オペレーションは、デモから2か月の導入、スマートグラスでの記録、AIの整理と当社の現場監修、報告書と教材の納品、月次の効果測定までの流れです。導入担当1人が年6拠点を立ち上げます。マネタイズは、年額前払いの利用料と、初年度の導入支援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【5:30 - 6:10】
要約：1拠点の生涯粗利は約1,865万円、獲得コストは約64万円
お金の流れです。お客様は1拠点あたり年300万円、初年度だけ導入支援200万円を払います。施工管理者100名の会社なら、約2.1か月で元が取れます。1拠点が生む生涯の粗利、LTVは、年255万円を保守的に7年分と、導入支援の粗利を足して約1,865万円。1拠点を獲得する費用、CACは約64万円。獲得費用は3か月で回収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【6:10 - 6:45】
要約：最初の10社は、業界団体・展示会・提携で連れてくる
売り方です。関東の中堅電気工事会社、約735社に、業界団体の勉強会、電設の展示会、スマートグラスのメーカーとの提携で会いに行きます。デモを見ていただき、3か月の有償試験導入から本契約へ。会える率45%、成約率25%で、5年で約83社。さらに大手1社を目玉の事例にして、協力会社へ広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【6:45 - 7:20】
要約：売上は拠点×月25万円で積み上がる。5年目は月2,400万円
売上と費用です。売上は、拠点数かける月25万円の利用料が積み上がる形です。5年目の月次売上は約2,400万円で、内訳は利用料が約1,790万円、導入支援が約550万円です。費用の中心は人件費で、1人あたり年800万円。所在地は川崎市を考えています。羽田・新幹線に近く、関東一円の電気工事会社に日帰りで出られます。家賃は1年目15坪で月20万円、5年目40坪で月50万円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【7:20 - 7:50】
要約：4年目に損益分岐点を超え、5年目の安全余裕率は32%
損益分岐点です。販管費を粗利率で割った損益分岐点売上は、4年目で1億5,100万円。売上1億9,000万円がこれを初めて上回ります。5年目は分岐点1億9,600万円に対して売上2億9,000万円で、安全余裕率は32%です。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【7:50 - 8:20】
要約：黒字倒産しない。最低残高は固定費3か月分
資金計画です。必要資金は1.5億円。今回の500万円で準備期を走り、実証の結果をもって日本政策金融公庫の創業融資1,000万円、CVCとVCから1億1,500万円を調達します。現金残高は最も薄い3年目でも6,000万円で、固定費3か月分を下回りません。利用料は年額前払い、導入支援は着手金をいただき、黒字倒産を防ぎ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【8:20 - 8:55】
要約：チームは現場と技術の両方を揃える。顧問とパートナーで弱みを補う
チームです。私は電線メーカーで地中送電線の施工管理を5年やり、独学でAIの仕組みを作ってきました。毎朝ニュースを音声で配信する仕組みも、個人で作って動かしています。ただ、私一人では足りません。技術の責任者、電気工事の施工管理経験者、カスタマーサクセスを揃え、業界の顧問、スマートグラスのメーカー、大学と組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【8:55 - 9:15】
要約：導入期・成長期を越え、成熟期には上場を目指す
成長の道筋です。導入期は電気工事会社で記録と報告の自動化をつかみ、成長期は図面との照合で黒字化し、成熟期は電線や素材の工場、フィジカルAIと海外展開で上場を目指します。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【9:15 - 9:40】
要約：500万円で、6か月以内に最初の1拠点を動かす
500万円の使い道です。試作品の開発に250万円、端末に80万円、1拠点での実証に100万円、設立と契約に40万円、予備30万円。私の給料はゼロです。3か月で試作品、6か月で実証の結果を出します。条件は10%でのご提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【9:40 - 10:00】
要約：最大のリスクは自分。だから役割と判断基準を先に決めておく
最後にリスクです。最大のリスクは、私自身が律速になること。だから役割を絞り、判断の基準を先に決めて、私がいなくても回る会社にします。日本の品質を支えてきた現場の勘を、人に依存しない形で残したい。その最初の一歩に、500万円をお願い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48371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ver-panel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960120"/>
            <a:ext cx="2743200" cy="58782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65760" y="1965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次の担い手へ。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365760" y="2926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株式会社三現ワークス（事業計画）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32186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三現＝現場・現物・現実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3657600" y="5029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事業計画書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3657600" y="8229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人が減っても、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現場が迷わず回る仕組みをつくる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65760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スマートグラスで熟練者の作業を記録し、報告を自動にし、次の担い手とAIの教材にする</a:t>
            </a:r>
            <a:endParaRPr lang="en-US" sz="1150" dirty="0"/>
          </a:p>
        </p:txBody>
      </p:sp>
      <p:sp>
        <p:nvSpPr>
          <p:cNvPr id="11" name="ask"/>
          <p:cNvSpPr/>
          <p:nvPr/>
        </p:nvSpPr>
        <p:spPr>
          <a:xfrm>
            <a:off x="3657600" y="2377440"/>
            <a:ext cx="484632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840480" y="24505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希望金額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840480" y="26974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</a:t>
            </a:r>
            <a:endParaRPr lang="en-US" sz="44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27889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準備期6か月の資金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（出資）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3657600" y="3886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志願者：＿＿＿＿＿＿＿＿＿＿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事業概要 ─ 現場の作業を記録し、報告と教育を自動に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スマートグラスで撮るだけ。報告書・図面との照合・教材までを一続きで届ける</a:t>
            </a:r>
            <a:endParaRPr lang="en-US" sz="1200" dirty="0"/>
          </a:p>
        </p:txBody>
      </p:sp>
      <p:sp>
        <p:nvSpPr>
          <p:cNvPr id="5" name="summary-0"/>
          <p:cNvSpPr/>
          <p:nvPr/>
        </p:nvSpPr>
        <p:spPr>
          <a:xfrm>
            <a:off x="365760" y="1051560"/>
            <a:ext cx="4137660" cy="14813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30352" y="1161288"/>
            <a:ext cx="38084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何のビジネス？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1527048"/>
            <a:ext cx="38084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施工管理者や電工がスマートグラスを着けるだけで、一人称の動画と会話を記録。AIが工事写真を整理して報告書を作り、図面と照合し、教材にするサービス</a:t>
            </a:r>
            <a:endParaRPr lang="en-US" sz="1100" dirty="0"/>
          </a:p>
        </p:txBody>
      </p:sp>
      <p:sp>
        <p:nvSpPr>
          <p:cNvPr id="8" name="summary-1"/>
          <p:cNvSpPr/>
          <p:nvPr/>
        </p:nvSpPr>
        <p:spPr>
          <a:xfrm>
            <a:off x="4640580" y="1051560"/>
            <a:ext cx="4137660" cy="14813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805172" y="1161288"/>
            <a:ext cx="38084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既存の市場との違い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805172" y="1527048"/>
            <a:ext cx="38084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施工管理アプリは人が撮って入力する器。当社は自動で記録し「照合→報告→教材」まで一続きで提供。施工経験者が中身を監修する</a:t>
            </a:r>
            <a:endParaRPr lang="en-US" sz="1100" dirty="0"/>
          </a:p>
        </p:txBody>
      </p:sp>
      <p:sp>
        <p:nvSpPr>
          <p:cNvPr id="11" name="summary-2"/>
          <p:cNvSpPr/>
          <p:nvPr/>
        </p:nvSpPr>
        <p:spPr>
          <a:xfrm>
            <a:off x="365760" y="2670048"/>
            <a:ext cx="4137660" cy="14813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0352" y="2779776"/>
            <a:ext cx="38084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誰のどんな悩みを解決する？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" y="3145536"/>
            <a:ext cx="38084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関東の中堅電気工事会社。残業の上限規制と高齢化で、工事写真・報告書と若手の育成に回す時間がない。熟練者が辞めると判断が消える</a:t>
            </a:r>
            <a:endParaRPr lang="en-US" sz="1100" dirty="0"/>
          </a:p>
        </p:txBody>
      </p:sp>
      <p:sp>
        <p:nvSpPr>
          <p:cNvPr id="14" name="summary-3"/>
          <p:cNvSpPr/>
          <p:nvPr/>
        </p:nvSpPr>
        <p:spPr>
          <a:xfrm>
            <a:off x="4640580" y="2670048"/>
            <a:ext cx="4137660" cy="148132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805172" y="2779776"/>
            <a:ext cx="38084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収益構造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805172" y="3145536"/>
            <a:ext cx="38084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1拠点あたり年300万円の利用料（基盤＋ライン数＋追加機能）が毎年積み上がる。初年度だけ導入支援200万円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" y="43434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最初の顧客：関東の中堅電気工事会社（施工管理者30人以上）。成長期以降に電線・素材の工場へ広げる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 ─ 報告と育成に追われ、熟練者が辞めると止まる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ターゲットは三者。それぞれに不満・不便・損失がある</a:t>
            </a:r>
            <a:endParaRPr lang="en-US" sz="1200" dirty="0"/>
          </a:p>
        </p:txBody>
      </p:sp>
      <p:sp>
        <p:nvSpPr>
          <p:cNvPr id="5" name="persona-0"/>
          <p:cNvSpPr/>
          <p:nvPr/>
        </p:nvSpPr>
        <p:spPr>
          <a:xfrm>
            <a:off x="365760" y="1024128"/>
            <a:ext cx="2715768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2715768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93776" y="1042416"/>
            <a:ext cx="2459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DX推進担当者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現場で孤軍奮闘（推進する人）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93776" y="1618488"/>
            <a:ext cx="24597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・ツールを入れても現場に定着しない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・成果を数字で説明できず、予算が続かない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・現場とシステムの言葉をつなぐ人がいない</a:t>
            </a:r>
            <a:endParaRPr lang="en-US" sz="1000" dirty="0"/>
          </a:p>
        </p:txBody>
      </p:sp>
      <p:sp>
        <p:nvSpPr>
          <p:cNvPr id="9" name="persona-1"/>
          <p:cNvSpPr/>
          <p:nvPr/>
        </p:nvSpPr>
        <p:spPr>
          <a:xfrm>
            <a:off x="3214116" y="1024128"/>
            <a:ext cx="2715768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214116" y="1024128"/>
            <a:ext cx="2715768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42132" y="1042416"/>
            <a:ext cx="2459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施工管理者・電工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人手不足の現場（使う人）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342132" y="1618488"/>
            <a:ext cx="24597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・工事写真の整理・日報・報告書に毎日追われる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・聞ける熟練者がいない。手順書に勘どころが書いていない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・ミスに気づくのが後になり、手戻りが出る</a:t>
            </a:r>
            <a:endParaRPr lang="en-US" sz="1000" dirty="0"/>
          </a:p>
        </p:txBody>
      </p:sp>
      <p:sp>
        <p:nvSpPr>
          <p:cNvPr id="13" name="persona-2"/>
          <p:cNvSpPr/>
          <p:nvPr/>
        </p:nvSpPr>
        <p:spPr>
          <a:xfrm>
            <a:off x="6062472" y="1024128"/>
            <a:ext cx="2715768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62472" y="1024128"/>
            <a:ext cx="2715768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190488" y="1042416"/>
            <a:ext cx="2459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工事部長・社長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引退と後継者不足（お金を出す人）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190488" y="1618488"/>
            <a:ext cx="24597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・2024年から残業に上限。人を増やせない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・熟練者の判断が退職とともに消える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・立会に行けず、現場の状況が見えない</a:t>
            </a:r>
            <a:endParaRPr lang="en-US" sz="1000" dirty="0"/>
          </a:p>
        </p:txBody>
      </p:sp>
      <p:sp>
        <p:nvSpPr>
          <p:cNvPr id="17" name="pain-stat-0"/>
          <p:cNvSpPr/>
          <p:nvPr/>
        </p:nvSpPr>
        <p:spPr>
          <a:xfrm>
            <a:off x="365760" y="3310128"/>
            <a:ext cx="2034540" cy="10972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57200" y="3383280"/>
            <a:ext cx="18516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36.7%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3813048"/>
            <a:ext cx="18516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建設業で働く人のうち55歳以上（2024年）(1)</a:t>
            </a:r>
            <a:endParaRPr lang="en-US" sz="850" dirty="0"/>
          </a:p>
        </p:txBody>
      </p:sp>
      <p:sp>
        <p:nvSpPr>
          <p:cNvPr id="20" name="pain-stat-1"/>
          <p:cNvSpPr/>
          <p:nvPr/>
        </p:nvSpPr>
        <p:spPr>
          <a:xfrm>
            <a:off x="2491740" y="3310128"/>
            <a:ext cx="2034540" cy="10972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583180" y="3383280"/>
            <a:ext cx="18516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11.7%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2583180" y="3813048"/>
            <a:ext cx="18516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同じく29歳以下。次の担い手が足りない (1)</a:t>
            </a:r>
            <a:endParaRPr lang="en-US" sz="850" dirty="0"/>
          </a:p>
        </p:txBody>
      </p:sp>
      <p:sp>
        <p:nvSpPr>
          <p:cNvPr id="23" name="pain-stat-2"/>
          <p:cNvSpPr/>
          <p:nvPr/>
        </p:nvSpPr>
        <p:spPr>
          <a:xfrm>
            <a:off x="4617720" y="3310128"/>
            <a:ext cx="2034540" cy="10972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09160" y="3383280"/>
            <a:ext cx="18516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月45時間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4709160" y="3813048"/>
            <a:ext cx="18516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2024年4月から建設業にも残業の上限（原則）(2)</a:t>
            </a:r>
            <a:endParaRPr lang="en-US" sz="850" dirty="0"/>
          </a:p>
        </p:txBody>
      </p:sp>
      <p:sp>
        <p:nvSpPr>
          <p:cNvPr id="26" name="pain-stat-3"/>
          <p:cNvSpPr/>
          <p:nvPr/>
        </p:nvSpPr>
        <p:spPr>
          <a:xfrm>
            <a:off x="6743700" y="3310128"/>
            <a:ext cx="2034540" cy="10972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835140" y="3383280"/>
            <a:ext cx="18516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月6時間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6835140" y="3813048"/>
            <a:ext cx="18516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1人あたりの書類作業の削減余地（建設業の電子化実績を準用）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国土交通省（総務省「労働力調査」2024年平均から算出。建設業就業者477万人）　(2) 労働基準法の時間外労働の上限規制（建設業は2024年4月1日から適用）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解決策 ─ 記録は自動。貯まるほど真似されにくい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一人称の動画と会話をAIが整理し、若手・管理者・次の担い手に渡す。その先にフィジカルAI</a:t>
            </a:r>
            <a:endParaRPr lang="en-US" sz="1200" dirty="0"/>
          </a:p>
        </p:txBody>
      </p:sp>
      <p:pic>
        <p:nvPicPr>
          <p:cNvPr id="5" name="Image 0" descr="/home/user/-ai-commute-audio-/deck/assets/shot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51560"/>
            <a:ext cx="5120640" cy="2156059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65760" y="331012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サービス内容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35661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若手へ：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図面・作業手順を現物に重ね、差異をその場で表示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管理者へ：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報告書の手順に沿って写真を抽出し、当日の報告書を自動作成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勘どころを解説動画・音声番組・研修資料にして当社が届ける</a:t>
            </a:r>
            <a:endParaRPr lang="en-US" sz="950" dirty="0"/>
          </a:p>
        </p:txBody>
      </p:sp>
      <p:sp>
        <p:nvSpPr>
          <p:cNvPr id="8" name="moat"/>
          <p:cNvSpPr/>
          <p:nvPr/>
        </p:nvSpPr>
        <p:spPr>
          <a:xfrm>
            <a:off x="5669280" y="1051560"/>
            <a:ext cx="3108960" cy="33832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5806440" y="11155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真似されにくい3つの仕組み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5806440" y="1481328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記録が貯まるほど強くなる</a:t>
            </a:r>
            <a:endParaRPr lang="en-US" sz="14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図面に現れない現場処置の記録は使うほど増え、後発には移せない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806440" y="2441448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意味づけは現場経験者にしかできない</a:t>
            </a:r>
            <a:endParaRPr lang="en-US" sz="14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映像のどこが重要かを見分けて意味を付けるのは、施工の経験者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806440" y="3401568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業界の型を先に揃える</a:t>
            </a:r>
            <a:endParaRPr lang="en-US" sz="14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電気工事の工種ごとの手順と報告書の型を、業界で最初に揃える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ノウハウの核：判断ラベル付きの現場データ（どの手順の、どの場面が、なぜ重要か）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 ─ 図面との差異を見つけ、報告書が自動でできる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架空のケーブル接続工事。若手の作業を記録し、8mmの差異を検出、報告書と教材までつながる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058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作業者のスマートグラス</a:t>
            </a:r>
            <a:endParaRPr lang="en-US" sz="1000" dirty="0"/>
          </a:p>
        </p:txBody>
      </p:sp>
      <p:pic>
        <p:nvPicPr>
          <p:cNvPr id="6" name="Image 0" descr="/home/user/-ai-commute-audio-/deck/assets/shot-g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43584"/>
            <a:ext cx="4937760" cy="20729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0" y="100584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管理者への自動報告</a:t>
            </a:r>
            <a:endParaRPr lang="en-US" sz="1000" dirty="0"/>
          </a:p>
        </p:txBody>
      </p:sp>
      <p:pic>
        <p:nvPicPr>
          <p:cNvPr id="8" name="Image 1" descr="/home/user/-ai-commute-audio-/deck/assets/shot-mana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43584"/>
            <a:ext cx="3291840" cy="1998689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365760" y="3481123"/>
            <a:ext cx="457200" cy="21945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365760" y="3481123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検出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914400" y="3453691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半導電層の端部 実測112mm／図面120mm（8mm不足）</a:t>
            </a:r>
            <a:endParaRPr lang="en-US" sz="950" dirty="0"/>
          </a:p>
        </p:txBody>
      </p:sp>
      <p:sp>
        <p:nvSpPr>
          <p:cNvPr id="12" name="Shape 7"/>
          <p:cNvSpPr/>
          <p:nvPr/>
        </p:nvSpPr>
        <p:spPr>
          <a:xfrm>
            <a:off x="365760" y="3755443"/>
            <a:ext cx="457200" cy="21945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365760" y="3755443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是正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14400" y="3728011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遠隔の熟練者が「テープ基準で測り直す」と指示。判断として記録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365760" y="4029763"/>
            <a:ext cx="457200" cy="21945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365760" y="4029763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14400" y="4002331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手順ごとに写真を自動割当。作業者の報告書作成時間は0分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デモアプリ：claude.ai 上で再生可能（作業の再生・1件ずつ送り・全体像の表示）。寸法・人物はすべて架空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 ─ 人が入力する器か、自動で記録して判断を渡すか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施工管理アプリとは競わずにつなぐ。報告書と写真は各社の形式で出し、判断の記録と教材で選ばれる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ポジショニングマップ</a:t>
            </a:r>
            <a:endParaRPr lang="en-US" sz="1050" dirty="0"/>
          </a:p>
        </p:txBody>
      </p:sp>
      <p:sp>
        <p:nvSpPr>
          <p:cNvPr id="6" name="target-quadrant"/>
          <p:cNvSpPr/>
          <p:nvPr/>
        </p:nvSpPr>
        <p:spPr>
          <a:xfrm>
            <a:off x="2446020" y="1435608"/>
            <a:ext cx="1805940" cy="12344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2670048"/>
            <a:ext cx="3611880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46020" y="1435608"/>
            <a:ext cx="0" cy="246888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31620" y="12161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判断を渡す・教える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531620" y="39410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記録して終わり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人が撮って入力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自動で記録 →</a:t>
            </a:r>
            <a:endParaRPr lang="en-US" sz="800" dirty="0"/>
          </a:p>
        </p:txBody>
      </p:sp>
      <p:sp>
        <p:nvSpPr>
          <p:cNvPr id="13" name="pos-ANDPAD（施工管理）"/>
          <p:cNvSpPr/>
          <p:nvPr/>
        </p:nvSpPr>
        <p:spPr>
          <a:xfrm>
            <a:off x="1004926" y="2996489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78662" y="2964485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ANDPAD（施工管理）</a:t>
            </a:r>
            <a:endParaRPr lang="en-US" sz="800" dirty="0"/>
          </a:p>
        </p:txBody>
      </p:sp>
      <p:sp>
        <p:nvSpPr>
          <p:cNvPr id="15" name="pos-SPIDERPLUS（図面・検査）"/>
          <p:cNvSpPr/>
          <p:nvPr/>
        </p:nvSpPr>
        <p:spPr>
          <a:xfrm>
            <a:off x="1655064" y="2749601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28800" y="2717597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SPIDERPLUS（図面・検査）</a:t>
            </a:r>
            <a:endParaRPr lang="en-US" sz="800" dirty="0"/>
          </a:p>
        </p:txBody>
      </p:sp>
      <p:sp>
        <p:nvSpPr>
          <p:cNvPr id="17" name="pos-蔵衛門（工事写真）"/>
          <p:cNvSpPr/>
          <p:nvPr/>
        </p:nvSpPr>
        <p:spPr>
          <a:xfrm>
            <a:off x="860450" y="3490265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34186" y="3458261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蔵衛門（工事写真）</a:t>
            </a:r>
            <a:endParaRPr lang="en-US" sz="800" dirty="0"/>
          </a:p>
        </p:txBody>
      </p:sp>
      <p:sp>
        <p:nvSpPr>
          <p:cNvPr id="19" name="pos-tebiki（手順の器）"/>
          <p:cNvSpPr/>
          <p:nvPr/>
        </p:nvSpPr>
        <p:spPr>
          <a:xfrm>
            <a:off x="1077163" y="2008937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50899" y="1976933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tebiki（手順の器）</a:t>
            </a:r>
            <a:endParaRPr lang="en-US" sz="800" dirty="0"/>
          </a:p>
        </p:txBody>
      </p:sp>
      <p:sp>
        <p:nvSpPr>
          <p:cNvPr id="21" name="pos-遠隔臨場カメラ"/>
          <p:cNvSpPr/>
          <p:nvPr/>
        </p:nvSpPr>
        <p:spPr>
          <a:xfrm>
            <a:off x="3388766" y="3391510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797710" y="335950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遠隔臨場カメラ</a:t>
            </a:r>
            <a:endParaRPr lang="en-US" sz="800" dirty="0"/>
          </a:p>
        </p:txBody>
      </p:sp>
      <p:sp>
        <p:nvSpPr>
          <p:cNvPr id="23" name="pos-三現ワークス"/>
          <p:cNvSpPr/>
          <p:nvPr/>
        </p:nvSpPr>
        <p:spPr>
          <a:xfrm>
            <a:off x="3790188" y="1779422"/>
            <a:ext cx="201168" cy="201168"/>
          </a:xfrm>
          <a:prstGeom prst="ellipse">
            <a:avLst/>
          </a:prstGeom>
          <a:solidFill>
            <a:srgbClr val="1A1A1A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199132" y="177942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三現ワークス</a:t>
            </a:r>
            <a:endParaRPr lang="en-US" sz="1000" dirty="0"/>
          </a:p>
        </p:txBody>
      </p:sp>
      <p:sp>
        <p:nvSpPr>
          <p:cNvPr id="25" name="pos-社内の熟練者（属人）"/>
          <p:cNvSpPr/>
          <p:nvPr/>
        </p:nvSpPr>
        <p:spPr>
          <a:xfrm>
            <a:off x="2666390" y="1515161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75334" y="1483157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社内の熟練者（属人）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526280" y="105156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記録・報告・判断のどこまでを扱うか</a:t>
            </a:r>
            <a:endParaRPr lang="en-US" sz="1050" dirty="0"/>
          </a:p>
        </p:txBody>
      </p:sp>
      <p:graphicFrame>
        <p:nvGraphicFramePr>
          <p:cNvPr id="7" name="competito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325880"/>
          <a:ext cx="4251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960120"/>
                <a:gridCol w="9144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会社・サービス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記録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報告書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判断・教材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ANDPAD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人が入力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SPIDERPLUS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人が図面に記録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検査帳票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蔵衛門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人が撮影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写真台帳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遠隔臨場カメラ（各社）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映像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tebiki／Teachme Biz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器のみ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三現ワークス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一人称で自動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写真を自動抽出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図面照合＋教材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hreat"/>
          <p:cNvSpPr/>
          <p:nvPr/>
        </p:nvSpPr>
        <p:spPr>
          <a:xfrm>
            <a:off x="4526280" y="3145536"/>
            <a:ext cx="4251960" cy="6583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4636008" y="3145536"/>
            <a:ext cx="40325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最大の脅威：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施工管理アプリ各社がAIで自動報告を加えること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方針：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競わずにつなぐ（各社の形式で出力）。強みは図面に現れない判断の記録と、施工経験者による監修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4526280" y="3858768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STP：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工種×規模で区分し、関東の中堅電気工事会社を狙う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競争戦略：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ニッチャー（コトラー）×差別化集中（ポーター）</a:t>
            </a:r>
            <a:endParaRPr lang="en-US" sz="800" dirty="0"/>
          </a:p>
        </p:txBody>
      </p:sp>
      <p:sp>
        <p:nvSpPr>
          <p:cNvPr id="32" name="Text 28"/>
          <p:cNvSpPr txBox="1"/>
          <p:nvPr/>
        </p:nvSpPr>
        <p:spPr>
          <a:xfrm>
            <a:off x="365760" y="4608576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出典：各社公表資料、スパイダープラス 有価証券報告書（契約1,524社・2022年12月末）。製造業の競合は補足資料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市場規模 ─ ターゲット市場は約141億円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全体市場（年7〜9%成長）→ ターゲット市場（顧客数×単価×年1回）→ 自社が狙う市場</a:t>
            </a:r>
            <a:endParaRPr lang="en-US" sz="1200" dirty="0"/>
          </a:p>
        </p:txBody>
      </p:sp>
      <p:sp>
        <p:nvSpPr>
          <p:cNvPr id="5" name="tam"/>
          <p:cNvSpPr/>
          <p:nvPr/>
        </p:nvSpPr>
        <p:spPr>
          <a:xfrm>
            <a:off x="365760" y="1097280"/>
            <a:ext cx="3474720" cy="3383280"/>
          </a:xfrm>
          <a:prstGeom prst="ellipse">
            <a:avLst/>
          </a:prstGeom>
          <a:solidFill>
            <a:srgbClr val="F2F2F2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6" name="sam"/>
          <p:cNvSpPr/>
          <p:nvPr/>
        </p:nvSpPr>
        <p:spPr>
          <a:xfrm>
            <a:off x="1005840" y="2103120"/>
            <a:ext cx="2194560" cy="2286000"/>
          </a:xfrm>
          <a:prstGeom prst="ellipse">
            <a:avLst/>
          </a:prstGeom>
          <a:solidFill>
            <a:srgbClr val="4D4D4D"/>
          </a:solidFill>
          <a:ln/>
        </p:spPr>
      </p:sp>
      <p:sp>
        <p:nvSpPr>
          <p:cNvPr id="7" name="som"/>
          <p:cNvSpPr/>
          <p:nvPr/>
        </p:nvSpPr>
        <p:spPr>
          <a:xfrm>
            <a:off x="1554480" y="3108960"/>
            <a:ext cx="1097280" cy="10972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0080" y="1234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全体市場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建設テック＋スマートファクトリー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222199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ターゲット市場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約141億円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約3,100社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554480" y="3291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2.55億円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297680" y="105156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ターゲット市場の数え方（顧客数×年額、億円）</a:t>
            </a:r>
            <a:endParaRPr lang="en-US" sz="1050" dirty="0"/>
          </a:p>
        </p:txBody>
      </p:sp>
      <p:graphicFrame>
        <p:nvGraphicFramePr>
          <p:cNvPr id="8" name="segmen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0" y="1325880"/>
          <a:ext cx="4480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28016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業種＼規模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大（300人以上）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中（30〜299人）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小（30人未満）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300社×1,500万＝45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2,100社×300万＝63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対象外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電気通信工事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100社×1,500万＝15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600社×300万＝18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対象外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電線・素材工場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隣接市場（成長期以降）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297680" y="261518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色付き＝最初の顧客。大手は支店5拠点分。小規模は1年で元が取れる条件（月105人時）を満たしにくい</a:t>
            </a:r>
            <a:endParaRPr lang="en-US" sz="800" dirty="0"/>
          </a:p>
        </p:txBody>
      </p:sp>
      <p:sp>
        <p:nvSpPr>
          <p:cNvPr id="14" name="growth"/>
          <p:cNvSpPr/>
          <p:nvPr/>
        </p:nvSpPr>
        <p:spPr>
          <a:xfrm>
            <a:off x="4297680" y="3017520"/>
            <a:ext cx="4480560" cy="12618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434840" y="3063240"/>
            <a:ext cx="42062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全体市場の伸び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国内建設テック（建築分野）：1,845億円→3,043億円、年7.4%（2023→2030年度）(1)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国内スマートファクトリー：42億→92億米ドル、年9.03%（2025→2034年）(2)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自社が狙う市場：5年目85拠点×年300万円＝2.55億円（ターゲット市場の約1.8%）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365760" y="44805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矢野経済研究所 プレスリリースNo.3789（2025年4月）　(2) IMARC Group「Japan Smart Factory Market」　社数：電気工事業の許可業者65,497社（令和7年3月末、国土交通省）から規模別に推計（内訳は仮定）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ターゲット ─ 最初の顧客は関東の中堅電気工事会社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市場の大きさ・困りごとの強さ・会いに行きやすさ・波及効果の4つで選んだ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セグメントの評価（5点満点）</a:t>
            </a:r>
            <a:endParaRPr lang="en-US" sz="1050" dirty="0"/>
          </a:p>
        </p:txBody>
      </p:sp>
      <p:graphicFrame>
        <p:nvGraphicFramePr>
          <p:cNvPr id="9" name="seg-eva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48463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40080"/>
                <a:gridCol w="685800"/>
                <a:gridCol w="731520"/>
                <a:gridCol w="548640"/>
                <a:gridCol w="6858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候補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大きさ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困りごと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会いやすさ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波及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電気工事・中堅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電気工事・大手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電線工場・中堅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電気通信工事・中堅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365760" y="28803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困りごと：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2024年から残業に上限。工事写真と報告書が多い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会いやすさ：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施工管理5年の経歴が信用になる。川崎から関東へ日帰り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波及：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大手が採用すると協力会社が同じ形式に合わせる → 大手1社を目玉の事例に</a:t>
            </a:r>
            <a:endParaRPr lang="en-US" sz="900" dirty="0"/>
          </a:p>
        </p:txBody>
      </p:sp>
      <p:sp>
        <p:nvSpPr>
          <p:cNvPr id="8" name="icp"/>
          <p:cNvSpPr/>
          <p:nvPr/>
        </p:nvSpPr>
        <p:spPr>
          <a:xfrm>
            <a:off x="5486400" y="1051560"/>
            <a:ext cx="3291840" cy="1371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5623560" y="10972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理想の顧客像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関東の電気工事会社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施工管理者30人以上・電力や公共工事が多く書類が多い・残業規制で人を増やせない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5486400" y="25328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意思決定に関わる3人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5486400" y="2843784"/>
            <a:ext cx="502920" cy="27432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486400" y="284378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決裁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6053328" y="2807208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社長・工事部長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気にすること：回収期間と残業の削減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5486400" y="3209544"/>
            <a:ext cx="502920" cy="27432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486400" y="320954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6053328" y="3172968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施工管理者・電工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気にすること：入力が増えないか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5486400" y="3575304"/>
            <a:ext cx="502920" cy="27432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486400" y="357530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推進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6053328" y="3538728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DX担当者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気にすること：定着と効果の説明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評価は社内の仮採点。最初の3社への導入で「困りごと」と「会いやすさ」を検証する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ビジネスモデル ─ 誰に・どう実現し・どう稼ぐか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戦略モデル（顧客価値）・オペレーションモデル（実現の方法）・マネタイズモデル（収益の方法）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1463040" cy="685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57200" y="1024128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戦略モデル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誰に・どんな価値を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965960" y="1024128"/>
            <a:ext cx="6812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関東の中堅電気工事会社に、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「書類の時間を減らし、熟練者の判断を若手に残す」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65760" y="1801368"/>
            <a:ext cx="1463040" cy="18745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57200" y="1801368"/>
            <a:ext cx="1280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オペレーション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価値を実現する流れ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965960" y="1801368"/>
            <a:ext cx="1117092" cy="384048"/>
          </a:xfrm>
          <a:prstGeom prst="chevron">
            <a:avLst/>
          </a:prstGeom>
          <a:solidFill>
            <a:srgbClr val="4D4D4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057400" y="1801368"/>
            <a:ext cx="9525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獲得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965960" y="2240280"/>
            <a:ext cx="1089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デモ・紹介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101340" y="1801368"/>
            <a:ext cx="1117092" cy="384048"/>
          </a:xfrm>
          <a:prstGeom prst="chevron">
            <a:avLst/>
          </a:prstGeom>
          <a:solidFill>
            <a:srgbClr val="4D4D4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92780" y="1801368"/>
            <a:ext cx="9525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3101340" y="2240280"/>
            <a:ext cx="1089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2か月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工種の型を設定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36720" y="1801368"/>
            <a:ext cx="1117092" cy="384048"/>
          </a:xfrm>
          <a:prstGeom prst="chevron">
            <a:avLst/>
          </a:prstGeom>
          <a:solidFill>
            <a:srgbClr val="4D4D4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328160" y="1801368"/>
            <a:ext cx="9525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4236720" y="2240280"/>
            <a:ext cx="1089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スマートグラス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で自動収録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372100" y="1801368"/>
            <a:ext cx="1117092" cy="384048"/>
          </a:xfrm>
          <a:prstGeom prst="chevron">
            <a:avLst/>
          </a:prstGeom>
          <a:solidFill>
            <a:srgbClr val="B8692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63540" y="1801368"/>
            <a:ext cx="9525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整理・監修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5372100" y="2240280"/>
            <a:ext cx="1089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AIが整理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施工経験者が確認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507480" y="1801368"/>
            <a:ext cx="1117092" cy="384048"/>
          </a:xfrm>
          <a:prstGeom prst="chevron">
            <a:avLst/>
          </a:prstGeom>
          <a:solidFill>
            <a:srgbClr val="4D4D4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98920" y="1801368"/>
            <a:ext cx="9525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納品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507480" y="2240280"/>
            <a:ext cx="1089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報告書・照合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・教材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642860" y="1801368"/>
            <a:ext cx="1117092" cy="384048"/>
          </a:xfrm>
          <a:prstGeom prst="chevron">
            <a:avLst/>
          </a:prstGeom>
          <a:solidFill>
            <a:srgbClr val="4D4D4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734300" y="1801368"/>
            <a:ext cx="9525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定着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642860" y="2240280"/>
            <a:ext cx="1089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月次で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効果を測定</a:t>
            </a:r>
            <a:endParaRPr lang="en-US" sz="850" dirty="0"/>
          </a:p>
        </p:txBody>
      </p:sp>
      <p:graphicFrame>
        <p:nvGraphicFramePr>
          <p:cNvPr id="10" name="op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65960" y="2734056"/>
          <a:ext cx="68122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617720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担う人・資源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能力・約束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導入担当（カスタマーサクセス）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1人で年6拠点を立ち上げる（2か月で1拠点）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施工経験者による監修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判断の意味づけ。真似されにくさの源泉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パートナー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スマートグラスのメーカー・クラウド・大学（映像AI）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5"/>
          <p:cNvSpPr/>
          <p:nvPr/>
        </p:nvSpPr>
        <p:spPr>
          <a:xfrm>
            <a:off x="365760" y="3767328"/>
            <a:ext cx="1463040" cy="7772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457200" y="3767328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マネタイズ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どう稼ぐ・いつ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1965960" y="3767328"/>
            <a:ext cx="6812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年300万円の利用料（年額前払い）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＋初年度だけ導入支援200万円（着手金50%）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お客様は約2.1か月で回収。当社は社員1人2.8拠点を超える4年目に黒字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収益モデル ─ 年300万円、約2か月で元が取れる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当社の収入は、毎年積み上がる利用料と、初年度だけの導入支援の二本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1拠点が払う金額（万円）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380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</a:t>
            </a:r>
            <a:endParaRPr lang="en-US" sz="950" dirty="0"/>
          </a:p>
        </p:txBody>
      </p:sp>
      <p:sp>
        <p:nvSpPr>
          <p:cNvPr id="7" name="seg-基盤0"/>
          <p:cNvSpPr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9" name="seg-ライン登録0"/>
          <p:cNvSpPr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11" name="seg-追加機能0"/>
          <p:cNvSpPr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13" name="seg-導入支援0"/>
          <p:cNvSpPr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200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288536" y="13807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189280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2年目以降</a:t>
            </a:r>
            <a:endParaRPr lang="en-US" sz="950" dirty="0"/>
          </a:p>
        </p:txBody>
      </p:sp>
      <p:sp>
        <p:nvSpPr>
          <p:cNvPr id="17" name="seg-基盤1"/>
          <p:cNvSpPr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19" name="seg-ライン登録1"/>
          <p:cNvSpPr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21" name="seg-追加機能1"/>
          <p:cNvSpPr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3044952" y="18928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65760" y="2468880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65760" y="248716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100万円／年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737360" y="24688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アプリと現場データ基盤の利用料（1拠点）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65760" y="2798064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5760" y="28163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20万円×5ライン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737360" y="279806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記録の対象にする工区・現場の数に比例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65760" y="312724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65760" y="314553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50万円×2本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737360" y="312724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教材制作（KNACK）・危険表示（SAFE）など、選んだ数に比例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365760" y="3456432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65760" y="34747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200万円（初年度のみ）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737360" y="345643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当社の担当者が約2か月、現場に入る作業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365760" y="3785616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65760" y="3858768"/>
            <a:ext cx="4069080" cy="6583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75488" y="3858768"/>
            <a:ext cx="3849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 約1,865万円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（年粗利255万円×保守的に7年＋導入支援の粗利80万円）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CAC 約64万円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（5年目：営業人件費1,600万円＋広告500万円÷新規33拠点）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LTV/CAC 約29倍・獲得費用は約3か月で回収</a:t>
            </a:r>
            <a:endParaRPr lang="en-US" sz="800" dirty="0"/>
          </a:p>
        </p:txBody>
      </p:sp>
      <p:sp>
        <p:nvSpPr>
          <p:cNvPr id="39" name="Text 36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顧客から見た回収（対象者100名の拠点・万円）</a:t>
            </a:r>
            <a:endParaRPr lang="en-US" sz="1050" dirty="0"/>
          </a:p>
        </p:txBody>
      </p:sp>
      <p:graphicFrame>
        <p:nvGraphicFramePr>
          <p:cNvPr id="40" name="roi-chart" descr=""/>
          <p:cNvGraphicFramePr/>
          <p:nvPr/>
        </p:nvGraphicFramePr>
        <p:xfrm>
          <a:off x="4617720" y="1307592"/>
          <a:ext cx="4160520" cy="23957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1" name="Text 37"/>
          <p:cNvSpPr txBox="1"/>
          <p:nvPr/>
        </p:nvSpPr>
        <p:spPr>
          <a:xfrm>
            <a:off x="557784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約2.1か月で回収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22376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 500万円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5212080" y="1417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浮いた工数の累計：12か月で2,880万円（5.8倍）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4617720" y="3739896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横軸は経過月数。時間単価4,000円（780万円÷1,950h）×月6h×100名＝月240万円。月6hは日報・進捗報告などの書類作業の削減分で、建設業の書類電子化実績（月6.5h）を準用した仮定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売り方 ─ 最初の10社は、業界団体・展示会・提携で連れてくる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 → 3か月の有償試験導入 → 本契約。大手1社を目玉の事例にして協力会社へ広げる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5年間の積み上げ（顧客側から）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1371600"/>
            <a:ext cx="3840480" cy="38404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365760" y="13716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中堅の電気工事会社  </a:t>
            </a:r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2,100社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711403" y="1828800"/>
            <a:ext cx="3149194" cy="384048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11403" y="1828800"/>
            <a:ext cx="314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うち関東（35%）  </a:t>
            </a:r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735社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1095451" y="2286000"/>
            <a:ext cx="2381098" cy="384048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95451" y="2286000"/>
            <a:ext cx="23810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会える（45%）  </a:t>
            </a:r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331社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1479499" y="2743200"/>
            <a:ext cx="1613002" cy="384048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79499" y="2743200"/>
            <a:ext cx="16130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本契約（25%）  </a:t>
            </a:r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83社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365760" y="32461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 大手1社（支店5拠点）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約88拠点。計画の85拠点はこれより控えめ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4434840" y="1051560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接点と役割</a:t>
            </a:r>
            <a:endParaRPr lang="en-US" sz="1050" dirty="0"/>
          </a:p>
        </p:txBody>
      </p:sp>
      <p:graphicFrame>
        <p:nvGraphicFramePr>
          <p:cNvPr id="12" name="channel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4840" y="1325880"/>
          <a:ext cx="43434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6517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接点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何をするか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業界団体・地域の工業組合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勉強会で「2024年問題と書類の削減」を話す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電設の展示会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デモアプリで、自分の工事で試す体験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スマートグラスのメーカー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端末とセットで提案（代理店）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施工管理アプリとの連携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各社の形式で出力。競わず並べて使う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大手電気工事会社1社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目玉の事例。協力会社へ同じ形式で広がる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365760" y="3246120"/>
            <a:ext cx="8412480" cy="594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02920" y="327355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1か月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2286000" y="3547872"/>
            <a:ext cx="22860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2578608" y="327355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有償試験導入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3か月・導入支援200万円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4361688" y="3547872"/>
            <a:ext cx="22860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4654296" y="327355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本契約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年300万円・年額前払い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6437376" y="3547872"/>
            <a:ext cx="22860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4" name="Text 20"/>
          <p:cNvSpPr txBox="1"/>
          <p:nvPr/>
        </p:nvSpPr>
        <p:spPr>
          <a:xfrm>
            <a:off x="6729984" y="327355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協力会社・同業へ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365760" y="3931920"/>
            <a:ext cx="8412480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502920" y="39319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最初の10社：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準備期に有償試験3社 → 1年目に本契約3社＋試験導入 → 2年目に累計12拠点。商談期間は4〜6か月を見込む</a:t>
            </a:r>
            <a:endParaRPr lang="en-US" sz="950" dirty="0"/>
          </a:p>
        </p:txBody>
      </p:sp>
      <p:sp>
        <p:nvSpPr>
          <p:cNvPr id="27" name="Text 23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会える率45%・成約率25%は仮定。最初の3社で実測し、計画を更新する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売上予測 ─ 拠点×月25万円。5年目は月2,400万円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利用料が毎年積み上がり、導入支援と受託開発は新規拠点の数に比例する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成長曲線（百万円）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1645920" y="105156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売上高</a:t>
            </a:r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■ 営業利益</a:t>
            </a:r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累積営業損益</a:t>
            </a:r>
            <a:endParaRPr lang="en-US" sz="800" dirty="0"/>
          </a:p>
        </p:txBody>
      </p:sp>
      <p:graphicFrame>
        <p:nvGraphicFramePr>
          <p:cNvPr id="7" name="growth-chart" descr=""/>
          <p:cNvGraphicFramePr/>
          <p:nvPr/>
        </p:nvGraphicFramePr>
        <p:xfrm>
          <a:off x="365760" y="1307592"/>
          <a:ext cx="406908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monthly"/>
          <p:cNvSpPr/>
          <p:nvPr/>
        </p:nvSpPr>
        <p:spPr>
          <a:xfrm>
            <a:off x="365760" y="3520440"/>
            <a:ext cx="4069080" cy="9601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502920" y="3547872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月次売上の根拠（5年目の月平均 約2,420万円）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 約1,790万円 ＝ 月25万円×平均約72拠点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約550万円 ＝ 200万円×月2.75拠点（新規33拠点÷12）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受託開発 約80万円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費用の内訳（万円）</a:t>
            </a:r>
            <a:endParaRPr lang="en-US" sz="1050" dirty="0"/>
          </a:p>
        </p:txBody>
      </p:sp>
      <p:graphicFrame>
        <p:nvGraphicFramePr>
          <p:cNvPr id="13" name="cos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325880"/>
          <a:ext cx="41605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758952"/>
                <a:gridCol w="758952"/>
                <a:gridCol w="768096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社員数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人件費（販管費分）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2,480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5,980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11,470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家賃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360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広告・展示会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交通・出張（現場導入）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360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端末・ツール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専門家（税理士・弁護士・弁理士）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雑費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販管費 合計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3,680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7,880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14,370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4617720" y="42062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所在地案：川崎市（関東一円へ日帰り）。家賃は1年目15坪・月20万円、5年目40坪・月50万円。人件費は1人年800万円</a:t>
            </a:r>
            <a:endParaRPr lang="en-US" sz="800" dirty="0"/>
          </a:p>
        </p:txBody>
      </p:sp>
      <p:sp>
        <p:nvSpPr>
          <p:cNvPr id="13" name="Text 8"/>
          <p:cNvSpPr txBox="1"/>
          <p:nvPr/>
        </p:nvSpPr>
        <p:spPr>
          <a:xfrm>
            <a:off x="365760" y="4608576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売上の内訳：既存顧客の利用料（前年末拠点×300万円）＋新規の利用料（新規×300万円×0.5）＋導入支援（新規×200万円）＋受託開発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損益分岐点 ─ 4年目に超え、5年目の余裕率は32%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損益分岐点売上＝販管費（固定費）÷粗利率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実際の売上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損益分岐点売上（百万円）</a:t>
            </a:r>
            <a:endParaRPr lang="en-US" sz="850" dirty="0"/>
          </a:p>
        </p:txBody>
      </p:sp>
      <p:graphicFrame>
        <p:nvGraphicFramePr>
          <p:cNvPr id="6" name="bep-chart" descr=""/>
          <p:cNvGraphicFramePr/>
          <p:nvPr/>
        </p:nvGraphicFramePr>
        <p:xfrm>
          <a:off x="365760" y="1307592"/>
          <a:ext cx="47548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bep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1051560"/>
          <a:ext cx="3429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"/>
                <a:gridCol w="685800"/>
                <a:gridCol w="6858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百万円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販管費（固定費）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79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粗利率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71%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73%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損益分岐点売上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196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実際の売上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安全余裕率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bep-people"/>
          <p:cNvSpPr/>
          <p:nvPr/>
        </p:nvSpPr>
        <p:spPr>
          <a:xfrm>
            <a:off x="5349240" y="3108960"/>
            <a:ext cx="3429000" cy="12161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5486400" y="31546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人で見た損益分岐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販管費／人 713万円 ÷ 粗利／拠点 255万円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社員1人あたり2.8拠点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 2.73（未達）→ 4年目 3.67（超過）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安全余裕率＝（売上−損益分岐点売上）÷売上。1〜2年目の損益分岐点売上は92・92百万円（売上12・48百万円）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資金計画・CF ─ 黒字倒産させない仕組みを先に置く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必要資金1.5億円を4つの手段で段階的に調達し、現金残高が3年目の谷でも6,000万円を残す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調達の内訳（必要資金1.5億円）</a:t>
            </a:r>
            <a:endParaRPr lang="en-US" sz="1050" dirty="0"/>
          </a:p>
        </p:txBody>
      </p:sp>
      <p:graphicFrame>
        <p:nvGraphicFramePr>
          <p:cNvPr id="15" name="fund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39319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554480"/>
                <a:gridCol w="868680"/>
                <a:gridCol w="777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手段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目的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出資（今回）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試作品・実証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 期首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日本政策金融公庫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新規開業・スタートアップ支援資金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運転資金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 年央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CVC・VC（電設・建設テック）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1億1,500万円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人員・開発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2年目〜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公庫 資本性ローン（予備枠）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遅延時のみ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1億5,000万円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26280" y="105156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期末の現金残高（百万円）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5989320" y="105156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現金残高</a:t>
            </a:r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最低残高（固定費3か月分）</a:t>
            </a:r>
            <a:endParaRPr lang="en-US" sz="800" dirty="0"/>
          </a:p>
        </p:txBody>
      </p:sp>
      <p:graphicFrame>
        <p:nvGraphicFramePr>
          <p:cNvPr id="9" name="cash-chart" descr=""/>
          <p:cNvGraphicFramePr/>
          <p:nvPr/>
        </p:nvGraphicFramePr>
        <p:xfrm>
          <a:off x="4526280" y="1307592"/>
          <a:ext cx="4251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anti-bankruptcy"/>
          <p:cNvSpPr/>
          <p:nvPr/>
        </p:nvSpPr>
        <p:spPr>
          <a:xfrm>
            <a:off x="4526280" y="3429000"/>
            <a:ext cx="4251960" cy="10515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4663440" y="348386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黒字倒産を防ぐ4つのルール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4663440" y="3739896"/>
            <a:ext cx="3977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利用料は年額前払い。導入支援は着手金50%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現金残高が固定費3か月分を下回る前に、追加調達を始める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月次の資金繰り表で、入金と支払いの時期を12か月先まで管理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計画が1年遅れても耐えられる備え（0.56億円）を残高に含める</a:t>
            </a:r>
            <a:endParaRPr lang="en-US" sz="850" dirty="0"/>
          </a:p>
        </p:txBody>
      </p:sp>
      <p:sp>
        <p:nvSpPr>
          <p:cNvPr id="13" name="Text 8"/>
          <p:cNvSpPr txBox="1"/>
          <p:nvPr/>
        </p:nvSpPr>
        <p:spPr>
          <a:xfrm>
            <a:off x="365760" y="455371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金残高は簡易計算（期首残高＋調達＋営業損益）。税金・減価償却・融資の返済・運転資本の増減は含めない。固定費3か月分＝3年目の販管費79百万円÷4。公庫の制度：融資限度額7,200万円（うち運転資金4,800万円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⑦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 ─ 現場と技術を揃え、顧問とパートナーで補う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創業者の経歴・チームメンバーのスキル・外部パートナーと顧問</a:t>
            </a:r>
            <a:endParaRPr lang="en-US" sz="1200" dirty="0"/>
          </a:p>
        </p:txBody>
      </p:sp>
      <p:sp>
        <p:nvSpPr>
          <p:cNvPr id="5" name="founder"/>
          <p:cNvSpPr/>
          <p:nvPr/>
        </p:nvSpPr>
        <p:spPr>
          <a:xfrm>
            <a:off x="365760" y="1051560"/>
            <a:ext cx="3108960" cy="33832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43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代表取締役 CEO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志願者（創業者）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764792"/>
            <a:ext cx="28346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電線メーカー 電力事業部門で、66kV／275kV 地中送電線の施工管理5年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Python・Power BI・FastAPI・Docker・LangChain・RAG を独学し業務に実装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ニュース要約→音声合成→毎朝配信の仕組みを個人で構築・運用中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1級電気工事施工管理技士・G検定・大学院修了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専念する時期：＿＿＿＿（記入）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611880" y="105156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チームと外部の体制</a:t>
            </a:r>
            <a:endParaRPr lang="en-US" sz="1050" dirty="0"/>
          </a:p>
        </p:txBody>
      </p:sp>
      <p:graphicFrame>
        <p:nvGraphicFramePr>
          <p:cNvPr id="16" name="team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1325880"/>
          <a:ext cx="51663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194560"/>
                <a:gridCol w="73152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役割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求めるスキル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状況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技術責任者（CTO）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映像AI・クラウド開発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現場監修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電気工事の施工管理の経験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カスタマーサクセス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電気工事の現場経験・導入支援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顧問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電気工事業界・電力会社のOB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専門家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税理士・弁護士（データ契約）・弁理士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パートナー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スマートグラスメーカー・大学（映像AI）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準備期〜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proof"/>
          <p:cNvSpPr/>
          <p:nvPr/>
        </p:nvSpPr>
        <p:spPr>
          <a:xfrm>
            <a:off x="3611880" y="3794760"/>
            <a:ext cx="5166360" cy="6400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3749040" y="37947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実行力の証拠：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音声の自動配信は毎朝稼働中。本日のデモアプリも自作。最初の3か月で試作品を出す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状況欄は確定・内諾・打診中・募集中のいずれかを記入する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事業のライフサイクル ─ 成熟期には上場を目指す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解決策の3段階を、導入期・成長期・成熟期に重ねる</a:t>
            </a:r>
            <a:endParaRPr lang="en-US" sz="1200" dirty="0"/>
          </a:p>
        </p:txBody>
      </p:sp>
      <p:sp>
        <p:nvSpPr>
          <p:cNvPr id="5" name="life-0"/>
          <p:cNvSpPr/>
          <p:nvPr/>
        </p:nvSpPr>
        <p:spPr>
          <a:xfrm>
            <a:off x="365760" y="1737360"/>
            <a:ext cx="2715768" cy="21488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828800"/>
            <a:ext cx="2441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導入期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準備期〜2年目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2423160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記録と報告を自動に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743200"/>
            <a:ext cx="2441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・関東の電気工事会社3社で有償試験導入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・赤字。準備期は500万円で試作品と実証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・資金：出資・公庫融資・CVC</a:t>
            </a:r>
            <a:endParaRPr lang="en-US" sz="950" dirty="0"/>
          </a:p>
        </p:txBody>
      </p:sp>
      <p:sp>
        <p:nvSpPr>
          <p:cNvPr id="9" name="life-1"/>
          <p:cNvSpPr/>
          <p:nvPr/>
        </p:nvSpPr>
        <p:spPr>
          <a:xfrm>
            <a:off x="3214116" y="1417320"/>
            <a:ext cx="2715768" cy="246888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351276" y="1508760"/>
            <a:ext cx="2441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成長期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3〜5年目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351276" y="2103120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照合して品質を守る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351276" y="2423160"/>
            <a:ext cx="2441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・30→85拠点。大手1社から協力会社へ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・4年目に黒字化、5年目 営業利益率24%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・資金：自己資金＋予備の資本性ローン</a:t>
            </a:r>
            <a:endParaRPr lang="en-US" sz="950" dirty="0"/>
          </a:p>
        </p:txBody>
      </p:sp>
      <p:sp>
        <p:nvSpPr>
          <p:cNvPr id="13" name="life-2"/>
          <p:cNvSpPr/>
          <p:nvPr/>
        </p:nvSpPr>
        <p:spPr>
          <a:xfrm>
            <a:off x="6062472" y="1097280"/>
            <a:ext cx="2715768" cy="2788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199632" y="1188720"/>
            <a:ext cx="2441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成熟期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6年目〜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199632" y="1783080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作業をAIが学ぶ（フィジカルAI）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199632" y="2103120"/>
            <a:ext cx="2441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・電線・素材の工場へ拡大、海外へ輸出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・蓄積した作業データでロボットに教える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・上場を目指す（資本市場から調達）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5760" y="3977640"/>
            <a:ext cx="8412480" cy="5029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2920" y="3977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国の方針：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「暗黙知が豊富な現場へのバーティカルAIの開発・実装を推進し、輸出も促進する」─ 内閣府「人工知能基本計画」（令和8年7月14日 閣議決定）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365760" y="4572000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上場は目標であり、時期・市場は成長期の実績を見て判断する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希望金額 500万円 ─ 6か月以内に最初の1拠点を動かす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準備期の資金。創業者の給料はゼロで、すべて試作品と実証に使う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使い道（万円）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3441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試作品の開発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クラウド・生成AI・外注エンジニア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103120" y="1435608"/>
            <a:ext cx="1737360" cy="2377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886200" y="13990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250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18013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端末・機材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スマートグラス・ヘルメットカメラ 数台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103120" y="1892808"/>
            <a:ext cx="555955" cy="2377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704795" y="1856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22585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1拠点での実証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3か月の交通・設置・現場研修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103120" y="2350008"/>
            <a:ext cx="694944" cy="2377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843784" y="23134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" y="27157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設立・契約・知財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法人設立、秘密保持・データ利用契約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103120" y="2807208"/>
            <a:ext cx="277978" cy="2377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426818" y="27706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31729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予備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103120" y="3264408"/>
            <a:ext cx="208483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357323" y="32278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365760" y="3657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500万円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マイルストーン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617720" y="1399032"/>
            <a:ext cx="685800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617720" y="1399032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394960" y="134416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試作品：一人称の記録 → 写真の自動抽出 → 報告書の自動作成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617720" y="1856232"/>
            <a:ext cx="685800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617720" y="1856232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6か月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5394960" y="180136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1拠点で実証：報告書の作成時間がどれだけ減ったかを実測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617720" y="2313432"/>
            <a:ext cx="685800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617720" y="2313432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6か月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5394960" y="225856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有償試験導入3拠点の契約、公庫融資の申込、CVCとの交渉開始</a:t>
            </a:r>
            <a:endParaRPr lang="en-US" sz="950" dirty="0"/>
          </a:p>
        </p:txBody>
      </p:sp>
      <p:sp>
        <p:nvSpPr>
          <p:cNvPr id="32" name="return"/>
          <p:cNvSpPr/>
          <p:nvPr/>
        </p:nvSpPr>
        <p:spPr>
          <a:xfrm>
            <a:off x="4617720" y="2834640"/>
            <a:ext cx="4160520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754880" y="288036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虎へのリターン（提案）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4754880" y="3154680"/>
            <a:ext cx="3886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500万円で発行済株式の10%（評価額 出資前4,500万円）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出口：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成熟期の上場、または事業会社への売却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お願い：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資金に加え、製造業・建設業の実証先のご紹介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365760" y="4572000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出資条件は提案であり、交渉により決める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 ─ 最大のリスクは自分。だから役割と判断基準を先に決める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弱みは隠さない。対策とセットで示す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5760" y="1051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創業者が律速になる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2606040" y="10515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役割を「型を渡す」に絞る。BSCの4指標で判断を任せ、1か月不在でも回る会社にする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365760" y="15087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508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前職との関係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606040" y="15087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前職の顧客・機密は使わない。退職時の合意（競業・守秘）を確認し、紹介は第三者経由で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65760" y="19659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5760" y="1965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施工管理アプリのAI化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2606040" y="19659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競わずにつなぐ。図面に現れない判断の蓄積と、施工経験者の監修を障壁にする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65760" y="24231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5760" y="2423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常時収録への抵抗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2606040" y="24231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作業時間・作業エリアに限定。本人同意と労使合意、休憩中・私語は自動除外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5760" y="28803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65760" y="2880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資金ショート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2606040" y="28803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最低残高ルールと前払い・着手金。公庫の資本性ローンを予備枠に持つ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365760" y="33375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1" name="closing"/>
          <p:cNvSpPr/>
          <p:nvPr/>
        </p:nvSpPr>
        <p:spPr>
          <a:xfrm>
            <a:off x="365760" y="3547872"/>
            <a:ext cx="8412480" cy="10972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48640" y="363931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日本の品質を支えてきた現場の勘を、人に依存しない形で残す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4069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その最初の一歩として、500万円で、6か月以内に最初の1拠点を動かします。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株式会社三現ワークス 事業計画書</dc:title>
  <dc:subject>PptxGenJS Presentation</dc:subject>
  <dc:creator>PptxGenJS</dc:creator>
  <cp:lastModifiedBy>PptxGenJS</cp:lastModifiedBy>
  <cp:revision>1</cp:revision>
  <dcterms:created xsi:type="dcterms:W3CDTF">2026-10-10T05:01:45Z</dcterms:created>
  <dcterms:modified xsi:type="dcterms:W3CDTF">2026-10-10T05:01:45Z</dcterms:modified>
</cp:coreProperties>
</file>