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損益分岐点売上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iamond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</c:v>
                </c:pt>
                <c:pt idx="1">
                  <c:v>93</c:v>
                </c:pt>
                <c:pt idx="2">
                  <c:v>119</c:v>
                </c:pt>
                <c:pt idx="3">
                  <c:v>151</c:v>
                </c:pt>
                <c:pt idx="4">
                  <c:v>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現金残高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93</c:v>
                </c:pt>
                <c:pt idx="2">
                  <c:v>66</c:v>
                </c:pt>
                <c:pt idx="3">
                  <c:v>60</c:v>
                </c:pt>
                <c:pt idx="4">
                  <c:v>88</c:v>
                </c:pt>
                <c:pt idx="5">
                  <c:v>157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最低残高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要約：人が減っても現場が迷わず回る仕組みをつくる。希望金額は500万円
株式会社三現ワークスです。三現とは、現場・現物・現実のことです。工場や電気工事の現場で、熟練者の勘が退職とともに消えています。それを、スマートグラスで記録して、次の担い手とAIに渡す会社をつくります。希望金額は500万円です。よろしく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【0:30 - 1:05】
要約：現場を知り、仕組みを自分で作れる人間が、この課題に挑む
私は電線メーカーで、66kVと275kVの地中送電線の施工管理を5年間やってきました。マンホールに入り、ケーブルがつながる瞬間を見てきました。同時に、PythonやAIを独学して、業務の仕組みを自分で作ってきました。毎朝AIがニュースを要約して音声で配信する仕組みも、個人で作って動かしています。現場の言葉と、システムの言葉の両方が分かる。それが私の武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【1:05 - 1:40】
要約：デジタル化は進んだのに、技能継承は人頼みのまま
解きたい課題です。製造業で業務改善にデジタルを使っている企業は77.2%。ところが、それで技能継承が円滑になった企業は8.7%しかありません。技能継承でいちばん多いのは、ベテランに居続けてもらうこと、54.8%です。つまり、まだ人に頼っている。ベテランが辞めた瞬間に、その勘は消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【1:40 - 2:30】
要約：一人称の作業データを撮り続け、報告を自動にし、人とAIの教材にする
解決策です。作業者がスマートグラスやヘルメットカメラを着けるだけで、一人称の動画と会話を撮り続けます。AIがそこから、条件・処置・理由を取り出します。若手には、図面や手順を現物に重ねて違いを知らせる。管理者には、写真を抜き出して当日の報告書を自動で作る。そして後からは教材にして届けます。記録が増えるほど賢くなり、最後はロボットに作業を教えるフィジカルAIに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【2:30 - 3:20】
要約：デモ：図面との差異を見つけ、報告書が自動でできる
実際の画面をご覧ください。ケーブル接続の現場です。若手が半導電層を処理したところで、図面より8ミリ短いことを検出しました。遠隔の熟練者が、測り直すよう指示します。その会話も記録されます。管理者の画面では、手順ごとに写真が自動で割り当てられ、報告書ができていきます。作業者が報告書に使った時間はゼ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【3:20 - 3:55】
要約：顧客は1拠点あたり年300万円を払い、約2か月で元を取る
お金の流れです。お客様は1拠点あたり年300万円、初年度だけ導入支援200万円を加えて500万円です。対象者100名の拠点なら、日報などの書類作業が月6時間減り、毎月240万円分が浮きます。約2.1か月で元が取れます。当社の利用料は粗利率85%で、毎年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要約：「貯める」会社は現れた。当社は「渡す」で分かれる
競合です。正直に申し上げると、記録を貯める会社はすでにあります。東大発のAirion、そしてキャディのCADDiです。ただ、どちらも貯めるところまで。連続工程の現場で、現物に重ねて渡し、教材にまでする会社はまだありません。最大の脅威はCADDiですが、図面に現れない現場の処置は、当社にしか貯ま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【4:30 - 5:10】
要約：4年目に損益分岐点を超え、5年目に売上2.9億円
5年計画です。売上は1年目1,200万円から、5年目に2億9,000万円。損益分岐点売上は、販管費を粗利率で割って出します。4年目は1億5,100万円に対して売上1億9,000万円で、ここで初めて分岐点を超えます。5年目の安全余裕率は32%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【5:10 - 5:40】
要約：導入期・成長期を越え、成熟期には上場を目指す
事業のライフサイクルです。導入期は記録と報告の自動化で顧客をつかみます。成長期は図面との照合と品質管理で黒字化します。成熟期はフィジカルAIと海外展開に進み、上場を目指します。国の人工知能基本計画も、暗黙知の多い現場へのAIの実装と輸出を推進すると書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【5:40 - 6:20】
要約：黒字倒産しない。最低残高を固定費3か月分に保つ資金計画
資金計画です。必要資金は1.5億円。今回の500万円で準備期を走り、実績を作って日本政策金融公庫の創業融資1,000万円、そして電線メーカーやロボットメーカーのCVCから1億1,500万円を調達します。現金残高は、いちばん薄い3年目でも6,000万円で、固定費3か月分の2,000万円を下回りません。利用料は年額前払い、導入支援は着手金をいただき、黒字倒産を防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【6:20 - 6:50】
要約：500万円で、6か月以内に最初の1拠点を動かす
500万円の使い道です。試作品の開発に250万円、スマートグラスなどの端末に80万円、1拠点での実証に100万円、設立と契約に40万円、予備30万円。私の給料はゼロです。3か月で試作品、6か月で実証の結果を出し、有償の試験導入と融資に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【6:50 - 7:30】
要約：最大のリスクは自分。だから役割と判断基準を先に決めておく
最後にリスクです。最大のリスクは、私自身が律速になることです。だから役割を絞り、判断の基準を先に決めて、私が1か月いなくても回る会社にします。日本の品質を支えてきた現場の勘を、人に依存しない形で残したい。そのための最初の一歩に、500万円を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05840"/>
            <a:ext cx="2651760" cy="640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502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822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スマートグラスで熟練者の作業を記録し、報告を自動にし、次の担い手とAIの教材にする</a:t>
            </a:r>
            <a:endParaRPr lang="en-US" sz="1150" dirty="0"/>
          </a:p>
        </p:txBody>
      </p:sp>
      <p:sp>
        <p:nvSpPr>
          <p:cNvPr id="11" name="ask"/>
          <p:cNvSpPr/>
          <p:nvPr/>
        </p:nvSpPr>
        <p:spPr>
          <a:xfrm>
            <a:off x="3657600" y="2377440"/>
            <a:ext cx="484632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84048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準備期6か月の資金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（出資）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志願者：＿＿＿＿＿＿＿＿＿＿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 ─ 現場を知り、仕組みを自分で作れる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現場の言葉と、システムの言葉の両方が分かる。それがこの事業の出発点</a:t>
            </a:r>
            <a:endParaRPr lang="en-US" sz="1200" dirty="0"/>
          </a:p>
        </p:txBody>
      </p:sp>
      <p:sp>
        <p:nvSpPr>
          <p:cNvPr id="5" name="profile-0"/>
          <p:cNvSpPr/>
          <p:nvPr/>
        </p:nvSpPr>
        <p:spPr>
          <a:xfrm>
            <a:off x="365760" y="1051560"/>
            <a:ext cx="2715768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61288"/>
            <a:ext cx="2441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554480"/>
            <a:ext cx="244144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・電線メーカーの電力事業部門で、66kV／275kV 地中送電線の施工管理を5年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・マンホールに入り、ケーブル接続・試験に立ち会ってきた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・1級電気工事施工管理技士</a:t>
            </a:r>
            <a:endParaRPr lang="en-US" sz="1050" dirty="0"/>
          </a:p>
        </p:txBody>
      </p:sp>
      <p:sp>
        <p:nvSpPr>
          <p:cNvPr id="8" name="profile-1"/>
          <p:cNvSpPr/>
          <p:nvPr/>
        </p:nvSpPr>
        <p:spPr>
          <a:xfrm>
            <a:off x="3214116" y="1051560"/>
            <a:ext cx="2715768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351276" y="1161288"/>
            <a:ext cx="2441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51276" y="1554480"/>
            <a:ext cx="244144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・Python・Power BI・FastAPI・Docker・LangChain・RAG を独学し、業務に実装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・AIがニュースを要約し、音声で毎朝配信する仕組みを個人で構築・運用中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・G検定・大学院修了</a:t>
            </a:r>
            <a:endParaRPr lang="en-US" sz="1050" dirty="0"/>
          </a:p>
        </p:txBody>
      </p:sp>
      <p:sp>
        <p:nvSpPr>
          <p:cNvPr id="11" name="profile-2"/>
          <p:cNvSpPr/>
          <p:nvPr/>
        </p:nvSpPr>
        <p:spPr>
          <a:xfrm>
            <a:off x="6062472" y="1051560"/>
            <a:ext cx="2715768" cy="2743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99632" y="1161288"/>
            <a:ext cx="2441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この事業をやる理由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199632" y="1554480"/>
            <a:ext cx="244144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・熟練者が辞めるたびに、現場の判断が消えるのを見てきた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・記録を残す道具はあっても、現場で使われる形で渡す人がいない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・その「訳す役」を、自分が担いたい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39776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創業に専念する時期：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＿＿＿＿＿＿（記入）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実物：音声の自動配信は GitHub Actions で毎朝稼働中（ニュース取得→要約→音声合成→ポッドキャスト配信）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─ 図面との差異を見つけ、報告書が自動でできる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架空のケーブル接続工事。若手の作業を記録し、8mmの差異を検出、報告書と教材までつながる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05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作業者のスマートグラス</a:t>
            </a:r>
            <a:endParaRPr lang="en-US" sz="1000" dirty="0"/>
          </a:p>
        </p:txBody>
      </p:sp>
      <p:pic>
        <p:nvPicPr>
          <p:cNvPr id="6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43584"/>
            <a:ext cx="4937760" cy="20729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1005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管理者への自動報告</a:t>
            </a:r>
            <a:endParaRPr lang="en-US" sz="1000" dirty="0"/>
          </a:p>
        </p:txBody>
      </p:sp>
      <p:pic>
        <p:nvPicPr>
          <p:cNvPr id="8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3584"/>
            <a:ext cx="3291840" cy="199868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14400" y="345369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372801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0233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手順ごとに写真を自動割当。作業者の報告書作成時間は0分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デモアプリ：claude.ai 上で再生可能（作業の再生・1件ずつ送り・全体像の表示）。寸法・人物はすべて架空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8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5年計画 ─ 4年目に損益分岐点を超え、5年目に売上2.9億円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損益分岐点売上＝販管費（固定費）÷粗利率。4年目に実際の売上が初めて上回る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0515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</a:t>
            </a:r>
            <a:endParaRPr lang="en-US" sz="800" dirty="0"/>
          </a:p>
        </p:txBody>
      </p:sp>
      <p:graphicFrame>
        <p:nvGraphicFramePr>
          <p:cNvPr id="7" name="growth-chart" descr=""/>
          <p:cNvGraphicFramePr/>
          <p:nvPr/>
        </p:nvGraphicFramePr>
        <p:xfrm>
          <a:off x="365760" y="1307592"/>
          <a:ext cx="41605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損益分岐点（百万円）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実際の売上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損益分岐点売上</a:t>
            </a:r>
            <a:endParaRPr lang="en-US" sz="800" dirty="0"/>
          </a:p>
        </p:txBody>
      </p:sp>
      <p:graphicFrame>
        <p:nvGraphicFramePr>
          <p:cNvPr id="10" name="bep-chart" descr=""/>
          <p:cNvGraphicFramePr/>
          <p:nvPr/>
        </p:nvGraphicFramePr>
        <p:xfrm>
          <a:off x="4709160" y="1307592"/>
          <a:ext cx="40690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b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39312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137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販管費（固定費）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損益分岐点売上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119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5989320" y="3639312"/>
            <a:ext cx="278892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9048" y="363931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社員1人あたり2.8拠点。3年目2.73で届かず、4年目3.67で超える</a:t>
            </a:r>
            <a:endParaRPr lang="en-US" sz="850" dirty="0"/>
          </a:p>
        </p:txBody>
      </p:sp>
      <p:sp>
        <p:nvSpPr>
          <p:cNvPr id="14" name="Text 8"/>
          <p:cNvSpPr txBox="1"/>
          <p:nvPr/>
        </p:nvSpPr>
        <p:spPr>
          <a:xfrm>
            <a:off x="365760" y="464515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損益分岐点売上＝販管費÷粗利率（売上総利益÷売上高）。安全余裕率＝（売上−損益分岐点売上）÷売上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事業のライフサイクル ─ 成熟期には上場を目指す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解決策の3段階を、導入期・成長期・成熟期に重ねる</a:t>
            </a:r>
            <a:endParaRPr lang="en-US" sz="1200" dirty="0"/>
          </a:p>
        </p:txBody>
      </p:sp>
      <p:sp>
        <p:nvSpPr>
          <p:cNvPr id="5" name="life-0"/>
          <p:cNvSpPr/>
          <p:nvPr/>
        </p:nvSpPr>
        <p:spPr>
          <a:xfrm>
            <a:off x="365760" y="1737360"/>
            <a:ext cx="2715768" cy="2148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82880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準備期〜2年目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42316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74320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・電線工場3拠点で有償試験導入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・赤字。準備期は500万円で試作品と実証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・資金：出資・公庫融資・CVC</a:t>
            </a:r>
            <a:endParaRPr lang="en-US" sz="950" dirty="0"/>
          </a:p>
        </p:txBody>
      </p:sp>
      <p:sp>
        <p:nvSpPr>
          <p:cNvPr id="9" name="life-1"/>
          <p:cNvSpPr/>
          <p:nvPr/>
        </p:nvSpPr>
        <p:spPr>
          <a:xfrm>
            <a:off x="3214116" y="1417320"/>
            <a:ext cx="2715768" cy="2468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51276" y="15087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3〜5年目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51276" y="210312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51276" y="242316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・30→85拠点。施工会社へ展開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・4年目に黒字化、5年目 営業利益率24%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・資金：自己資金＋予備の資本性ローン</a:t>
            </a:r>
            <a:endParaRPr lang="en-US" sz="950" dirty="0"/>
          </a:p>
        </p:txBody>
      </p:sp>
      <p:sp>
        <p:nvSpPr>
          <p:cNvPr id="13" name="life-2"/>
          <p:cNvSpPr/>
          <p:nvPr/>
        </p:nvSpPr>
        <p:spPr>
          <a:xfrm>
            <a:off x="6062472" y="1097280"/>
            <a:ext cx="2715768" cy="2788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118872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6年目〜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99632" y="178308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作業をAIが学ぶ（フィジカルAI）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199632" y="210312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・素材産業へ拡大、海外へ輸出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・蓄積した作業データでロボットに教える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・上場を目指す（資本市場から調達）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977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国の方針：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「暗黙知が豊富な現場へのバーティカルAIの開発・実装を推進し、輸出も促進する」─ 内閣府「人工知能基本計画」（令和8年7月14日 閣議決定）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上場は目標であり、時期・市場は成長期の実績を見て判断する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 ─ 黒字倒産させない。最低残高は固定費3か月分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必要資金1.5億円を4つの手段で段階的に調達し、現金残高が3年目の谷でも6,000万円を残す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調達の内訳（必要資金1.5億円）</a:t>
            </a:r>
            <a:endParaRPr lang="en-US" sz="1050" dirty="0"/>
          </a:p>
        </p:txBody>
      </p:sp>
      <p:graphicFrame>
        <p:nvGraphicFramePr>
          <p:cNvPr id="11" name="fund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86868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試作品・実証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期首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新規開業・スタートアップ支援資金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年央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CVC・VC（電線・ロボット）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人員・開発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資本性ローン（予備枠）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遅延時のみ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期末の現金残高（百万円）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現金残高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最低残高（固定費3か月分）</a:t>
            </a:r>
            <a:endParaRPr lang="en-US" sz="800" dirty="0"/>
          </a:p>
        </p:txBody>
      </p:sp>
      <p:graphicFrame>
        <p:nvGraphicFramePr>
          <p:cNvPr id="9" name="cash-chart" descr=""/>
          <p:cNvGraphicFramePr/>
          <p:nvPr/>
        </p:nvGraphicFramePr>
        <p:xfrm>
          <a:off x="4526280" y="1307592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nti-bankruptcy"/>
          <p:cNvSpPr/>
          <p:nvPr/>
        </p:nvSpPr>
        <p:spPr>
          <a:xfrm>
            <a:off x="4526280" y="3429000"/>
            <a:ext cx="425196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663440" y="34838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3989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現金残高が固定費3か月分を下回る前に、追加調達を始める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月次の資金繰り表で、入金と支払いの時期を12か月先まで管理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計画が1年遅れても耐えられる備え（0.56億円）を残高に含める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残高は簡易計算（期首残高＋調達＋営業損益）。税金・減価償却・融資の返済・運転資本の増減は含めない。固定費3か月分＝3年目の販管費79百万円÷4。公庫の制度：融資限度額7,200万円（うち運転資金4,800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 500万円 ─ 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準備期の資金。創業者の給料はゼロで、すべて試作品と実証に使う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441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クラウド・生成AI・外注エンジニア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03120" y="1435608"/>
            <a:ext cx="173736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86200" y="13990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013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スマートグラス・ヘルメットカメラ 数台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03120" y="1892808"/>
            <a:ext cx="555955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04795" y="1856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585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3か月の交通・設置・現場研修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350008"/>
            <a:ext cx="694944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43784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7157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法人設立、秘密保持・データ利用契約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07208"/>
            <a:ext cx="277978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26818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264408"/>
            <a:ext cx="2084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357323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500万円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13441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試作品：一人称の記録 → 写真の自動抽出 → 報告書の自動作成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18013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1拠点で実証：報告書の作成時間がどれだけ減ったかを実測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394960" y="22585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有償試験導入3拠点の契約、公庫融資の申込、CVCとの交渉開始</a:t>
            </a:r>
            <a:endParaRPr lang="en-US" sz="950" dirty="0"/>
          </a:p>
        </p:txBody>
      </p:sp>
      <p:sp>
        <p:nvSpPr>
          <p:cNvPr id="32" name="return"/>
          <p:cNvSpPr/>
          <p:nvPr/>
        </p:nvSpPr>
        <p:spPr>
          <a:xfrm>
            <a:off x="4617720" y="2834640"/>
            <a:ext cx="41605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28803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虎へのリターン（提案）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3154680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500万円で発行済株式の10%（評価額 出資前4,500万円）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成熟期の上場、または事業会社への売却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資金に加え、製造業・建設業の実証先のご紹介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出資条件は提案であり、交渉により決める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 ─ 最大のリスクは自分。だから役割と判断基準を先に決める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弱みは隠さない。対策とセットで示す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10515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役割を「型を渡す」に絞る。BSCの4指標で判断を任せ、1か月不在でも回る会社にする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製造現場の経験が浅い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5087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生産技術の経験者を初期メンバーに迎え、顧客の工場に入って学ぶ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9659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CADDiなど大手の参入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659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図面に現れない現場処置の蓄積と、現場で監修できる人を障壁にする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常時収録への抵抗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24231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作業時間・作業エリアに限定。本人同意と労使合意、休憩中・私語は自動除外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8803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資金ショート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606040" y="28803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最低残高ルールと前払い・着手金。公庫の資本性ローンを予備枠に持つ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closing"/>
          <p:cNvSpPr/>
          <p:nvPr/>
        </p:nvSpPr>
        <p:spPr>
          <a:xfrm>
            <a:off x="365760" y="3547872"/>
            <a:ext cx="841248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6393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日本の品質を支えてきた現場の勘を、人に依存しない形で残す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その最初の一歩として、500万円で、6か月以内に最初の1拠点を動かします。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事業計画書</dc:title>
  <dc:subject>PptxGenJS Presentation</dc:subject>
  <dc:creator>PptxGenJS</dc:creator>
  <cp:lastModifiedBy>PptxGenJS</cp:lastModifiedBy>
  <cp:revision>1</cp:revision>
  <dcterms:created xsi:type="dcterms:W3CDTF">2026-10-09T11:44:51Z</dcterms:created>
  <dcterms:modified xsi:type="dcterms:W3CDTF">2026-10-09T11:44:51Z</dcterms:modified>
</cp:coreProperties>
</file>