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損益分岐点売上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iamond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92</c:v>
                </c:pt>
                <c:pt idx="2">
                  <c:v>120</c:v>
                </c:pt>
                <c:pt idx="3">
                  <c:v>151</c:v>
                </c:pt>
                <c:pt idx="4">
                  <c:v>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現金残高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93</c:v>
                </c:pt>
                <c:pt idx="2">
                  <c:v>66</c:v>
                </c:pt>
                <c:pt idx="3">
                  <c:v>60</c:v>
                </c:pt>
                <c:pt idx="4">
                  <c:v>88</c:v>
                </c:pt>
                <c:pt idx="5">
                  <c:v>156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最低残高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【0:00 - 0:25】
要約：人が減っても現場が迷わず回る仕組みをつくる。希望金額は500万円
株式会社三現ワークスです。三現とは、現場・現物・現実のこと。熟練者の勘が退職とともに消えていく現場に、スマートグラスで記録して次の担い手とAIに渡す仕組みをつくります。希望金額は500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【0:25 - 1:00】
要約：スマートグラスで現場の作業を記録し、報告と教育を自動にするサービス
事業の概要です。何のビジネスか。作業者がスマートグラスを着けるだけで作業を記録し、報告書づくりと若手の教育を自動にするサービスです。既存のサービスとの違いは、記録を貯めるだけでなく、現物に重ねて渡し、教材にまですること。誰の悩みを解くか。人手不足の現場で、報告と育成に追われる管理者とDX担当者です。収益は、1拠点あたり年300万円の利用料と、初年度の導入支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【1:00 - 1:45】
要約：報告と育成に追われ、熟練者が辞めると現場が止まる
対象のお客様は三人です。一人目は、現場で孤軍奮闘するDX推進担当者。ツールを入れても現場に定着せず、成果を説明できない。二人目は、人手不足の製造現場で働く作業者。日報や写真整理に毎月何時間も取られ、聞ける熟練者もいない。三人目は管理者や施工管理者。立会に行けず、後継者もいない。国の調査でも、技能継承の主流は、ベテランに居続けてもらうことで54.8%。デジタル化で継承が進んだ企業は8.7%しか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【1:45 - 2:30】
要約：記録は自動、渡す先は三つ。データが貯まるほど真似されにくくなる
解決策です。作業者の一人称の動画と会話を撮り続け、AIが整理し、若手には現物に重ねて、管理者には報告書として、次の担い手には教材として渡します。真似されにくい理由は三つ。一つ目、図面に現れない現場処置の記録は、使うほど貯まり、後から来た会社には移せません。二つ目、映像のどこが重要かを見分ける意味づけは、現場経験者にしかできません。三つ目、電線工場の工程ごとの手順と報告書の型を、業界で最初に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【2:30 - 3:15】
要約：デモ：図面との差異を見つけ、報告書が自動でできる
実際の画面です。ケーブル接続の現場で、若手が処理した半導電層が図面より8ミリ短いことを検出しました。遠隔の熟練者が、テープの位置から測り直すよう指示します。その判断も記録されます。管理者の画面では、手順ごとに写真が自動で割り当てられ、報告書ができていきます。作業者が報告書に使った時間はゼ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【3:15 - 3:50】
要約：「貯める」会社は現れた。当社は「渡す」で分かれる
競合です。記録を貯める会社は、東大発のAirion、キャディのCADDiなど、すでにあります。正直に言えば、貯めるところは同じ設計です。分かれるのは渡し方と対象です。連続工程の現場で、現物に重ねて渡し、教材にまでする会社はまだありません。最大の脅威はCADDiですが、図面に現れない現場の処置は、当社にしか貯ま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【3:50 - 4:30】
要約：狙う市場は約100億円。周辺市場は年7〜9%で伸びている
市場規模です。土台となる国内のスマートファクトリー市場は、2025年の42億ドルから年9%で伸びる見込みです。建設テック市場も、建築分野だけで2030年度に約3,040億円、年7.4%の成長です。当社が狙うのは、電線・ケーブル工場の353事業所と、中堅以上の電気工事会社約3,000社。年300万円をかけると約100億円の市場です。5年目に85拠点、シェア2.5%を取りに行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【4:30 - 5:15】
要約：1拠点の生涯粗利は約1,865万円、獲得コストは約64万円
お金の流れです。お客様は1拠点あたり年300万円、初年度だけ導入支援200万円を払います。お客様は約2.1か月で元が取れます。1拠点が生む生涯の粗利、LTVは、年255万円を保守的に7年分と、導入支援の粗利を足して約1,865万円。一方、1拠点を獲得する費用、CACは、5年目の営業人件費と広告費を新規拠点数で割って約64万円です。獲得費用は3か月で回収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【5:15 - 5:55】
要約：売上は拠点数×月25万円で積み上がる。5年目は月2,400万円
売上と費用です。売上は、拠点数かける月25万円の利用料が積み上がる形です。5年目の月次売上は約2,400万円で、内訳は利用料が約1,790万円、導入支援が約550万円です。費用の中心は人件費で、1人あたり年800万円。所在地は川崎市を考えています。京浜の工場地帯と羽田・新幹線に近く、関東の電線工場と東京の電気工事会社の両方に出やすい場所です。家賃は1年目15坪で月20万円、5年目40坪で月50万円、広告と展示会は1年目200万円から5年目500万円を見込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【5:55 - 6:25】
要約：4年目に損益分岐点を超え、5年目の安全余裕率は32%
損益分岐点です。販管費を粗利率で割った損益分岐点売上は、4年目で1億5,100万円。売上1億9,000万円がこれを初めて上回ります。5年目は分岐点1億9,600万円に対して売上2億9,000万円で、安全余裕率は32%です。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【6:25 - 7:00】
要約：黒字倒産しない。最低残高は固定費3か月分
資金計画です。必要資金は1.5億円。今回の500万円で準備期を走り、実証の結果をもって日本政策金融公庫の創業融資1,000万円、CVCとVCから1億1,500万円を調達します。現金残高は最も薄い3年目でも6,000万円で、固定費3か月分を下回りません。利用料は年額前払い、導入支援は着手金をいただき、黒字倒産を防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【7:00 - 7:40】
要約：チームは現場と技術の両方を揃える。顧問とパートナーで弱みを補う
チームです。私は電線メーカーで地中送電線の施工管理を5年やり、独学でAIの仕組みを作ってきました。毎朝ニュースを音声で配信する仕組みも、個人で作って動かしています。ただ、私一人では足りません。技術の責任者、生産技術の経験者、現場出身のカスタマーサクセスを揃え、電線業界の顧問、スマートグラスのメーカー、大学と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【7:40 - 8:00】
要約：導入期・成長期を越え、成熟期には上場を目指す
成長の道筋です。導入期は記録と報告の自動化で顧客をつかみ、成長期は図面との照合と品質管理で黒字化し、成熟期はフィジカルAIと海外展開で上場を目指します。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【8:00 - 8:30】
要約：500万円で、6か月以内に最初の1拠点を動かす
500万円の使い道です。試作品の開発に250万円、端末に80万円、1拠点での実証に100万円、設立と契約に40万円、予備30万円。私の給料はゼロです。3か月で試作品、6か月で実証の結果を出し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【8:30 - 9:00】
要約：最大のリスクは自分。だから役割と判断基準を先に決めておく
最後にリスクです。最大のリスクは、私自身が律速になること。だから役割を絞り、判断の基準を先に決めて、私がいなくても回る会社にします。日本の品質を支えてきた現場の勘を、人に依存しない形で残したい。その最初の一歩に、500万円を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株式会社三現ワークス（事業計画）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2186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502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822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スマートグラスで熟練者の作業を記録し、報告を自動にし、次の担い手とAIの教材にする</a:t>
            </a:r>
            <a:endParaRPr lang="en-US" sz="1150" dirty="0"/>
          </a:p>
        </p:txBody>
      </p:sp>
      <p:sp>
        <p:nvSpPr>
          <p:cNvPr id="11" name="ask"/>
          <p:cNvSpPr/>
          <p:nvPr/>
        </p:nvSpPr>
        <p:spPr>
          <a:xfrm>
            <a:off x="3657600" y="2377440"/>
            <a:ext cx="48463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84048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2697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準備期6か月の資金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（出資）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志願者：＿＿＿＿＿＿＿＿＿＿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事業概要 ─ 現場の作業を記録し、報告と教育を自動に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スマートグラスで撮るだけ。報告書・図面との照合・教材までを一続きで届ける</a:t>
            </a:r>
            <a:endParaRPr lang="en-US" sz="1200" dirty="0"/>
          </a:p>
        </p:txBody>
      </p:sp>
      <p:sp>
        <p:nvSpPr>
          <p:cNvPr id="5" name="summary-0"/>
          <p:cNvSpPr/>
          <p:nvPr/>
        </p:nvSpPr>
        <p:spPr>
          <a:xfrm>
            <a:off x="36576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035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何のビジネス？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作業者がスマートグラスやヘルメットカメラを着けるだけで、一人称の動画と会話を記録。AIが報告書を作り、図面と照合し、教材にするサービス</a:t>
            </a:r>
            <a:endParaRPr lang="en-US" sz="1100" dirty="0"/>
          </a:p>
        </p:txBody>
      </p:sp>
      <p:sp>
        <p:nvSpPr>
          <p:cNvPr id="8" name="summary-1"/>
          <p:cNvSpPr/>
          <p:nvPr/>
        </p:nvSpPr>
        <p:spPr>
          <a:xfrm>
            <a:off x="464058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0517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既存の市場との違い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517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記録・手順表示・教育のツールは別々にある。当社は「記録→照合→報告→教材」を一続きで提供し、現場経験者が中身を監修する</a:t>
            </a:r>
            <a:endParaRPr lang="en-US" sz="1100" dirty="0"/>
          </a:p>
        </p:txBody>
      </p:sp>
      <p:sp>
        <p:nvSpPr>
          <p:cNvPr id="11" name="summary-2"/>
          <p:cNvSpPr/>
          <p:nvPr/>
        </p:nvSpPr>
        <p:spPr>
          <a:xfrm>
            <a:off x="365760" y="2670048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035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誰のどんな悩みを解決する？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人手不足の製造・電気工事の現場で、報告と育成に追われる管理者・DX担当者。熟練者が辞めると判断が消え、手戻りと不良が増える</a:t>
            </a:r>
            <a:endParaRPr lang="en-US" sz="1100" dirty="0"/>
          </a:p>
        </p:txBody>
      </p:sp>
      <p:sp>
        <p:nvSpPr>
          <p:cNvPr id="14" name="summary-3"/>
          <p:cNvSpPr/>
          <p:nvPr/>
        </p:nvSpPr>
        <p:spPr>
          <a:xfrm>
            <a:off x="4640580" y="2670048"/>
            <a:ext cx="4137660" cy="14813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0517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収益構造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80517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1拠点あたり年300万円の利用料（基盤＋ライン数＋追加機能）が毎年積み上がる。初年度だけ導入支援200万円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対象：電線・ケーブル工場（連続工程）から始め、製品の出口である電気工事会社へ広げる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─ 報告と育成に追われ、熟練者が辞めると止まる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ターゲットは三者。それぞれに不満・不便・損失がある</a:t>
            </a:r>
            <a:endParaRPr lang="en-US" sz="1200" dirty="0"/>
          </a:p>
        </p:txBody>
      </p:sp>
      <p:sp>
        <p:nvSpPr>
          <p:cNvPr id="5" name="persona-0"/>
          <p:cNvSpPr/>
          <p:nvPr/>
        </p:nvSpPr>
        <p:spPr>
          <a:xfrm>
            <a:off x="365760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DX推進担当者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現場で孤軍奮闘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・ツールを入れても現場に定着しない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・成果を数字で説明できず、予算が続かない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・現場とシステムの言葉をつなぐ人がいない</a:t>
            </a:r>
            <a:endParaRPr lang="en-US" sz="1000" dirty="0"/>
          </a:p>
        </p:txBody>
      </p:sp>
      <p:sp>
        <p:nvSpPr>
          <p:cNvPr id="9" name="persona-1"/>
          <p:cNvSpPr/>
          <p:nvPr/>
        </p:nvSpPr>
        <p:spPr>
          <a:xfrm>
            <a:off x="3214116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4116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42132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現場の作業者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人手不足の製造業のブルーカラー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342132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・日報・写真整理・報告書に毎月何時間も取られる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・聞ける熟練者がいない。手順書に勘どころが書いていない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・ミスに気づくのが後になり、手戻りが出る</a:t>
            </a:r>
            <a:endParaRPr lang="en-US" sz="1000" dirty="0"/>
          </a:p>
        </p:txBody>
      </p:sp>
      <p:sp>
        <p:nvSpPr>
          <p:cNvPr id="13" name="persona-2"/>
          <p:cNvSpPr/>
          <p:nvPr/>
        </p:nvSpPr>
        <p:spPr>
          <a:xfrm>
            <a:off x="6062472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62472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0488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管理者・施工管理者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引退と後継者不足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90488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・立会に行けず、現場の状況が見えない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・熟練者の判断が退職とともに消える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・育成する時間がなく、品質が人に依存する</a:t>
            </a:r>
            <a:endParaRPr lang="en-US" sz="1000" dirty="0"/>
          </a:p>
        </p:txBody>
      </p:sp>
      <p:sp>
        <p:nvSpPr>
          <p:cNvPr id="17" name="pain-stat-0"/>
          <p:cNvSpPr/>
          <p:nvPr/>
        </p:nvSpPr>
        <p:spPr>
          <a:xfrm>
            <a:off x="36576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技能継承の取組で最多は「ベテランに居続けてもらう」(1)</a:t>
            </a:r>
            <a:endParaRPr lang="en-US" sz="850" dirty="0"/>
          </a:p>
        </p:txBody>
      </p:sp>
      <p:sp>
        <p:nvSpPr>
          <p:cNvPr id="20" name="pain-stat-1"/>
          <p:cNvSpPr/>
          <p:nvPr/>
        </p:nvSpPr>
        <p:spPr>
          <a:xfrm>
            <a:off x="249174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58318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258318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デジタル活用の効果として技能継承が円滑になった企業 (2)</a:t>
            </a:r>
            <a:endParaRPr lang="en-US" sz="850" dirty="0"/>
          </a:p>
        </p:txBody>
      </p:sp>
      <p:sp>
        <p:nvSpPr>
          <p:cNvPr id="23" name="pain-stat-2"/>
          <p:cNvSpPr/>
          <p:nvPr/>
        </p:nvSpPr>
        <p:spPr>
          <a:xfrm>
            <a:off x="461772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0916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70916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製造業で「指導する人材が不足」(1)</a:t>
            </a:r>
            <a:endParaRPr lang="en-US" sz="850" dirty="0"/>
          </a:p>
        </p:txBody>
      </p:sp>
      <p:sp>
        <p:nvSpPr>
          <p:cNvPr id="26" name="pain-stat-3"/>
          <p:cNvSpPr/>
          <p:nvPr/>
        </p:nvSpPr>
        <p:spPr>
          <a:xfrm>
            <a:off x="674370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83514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83514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1人あたりの書類作業の削減余地（建設業の電子化実績を準用）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経済産業省・厚生労働省・文部科学省「2026年版 ものづくり白書」（令和8年5月）　(2) 労働政策研究・研修機構 調査シリーズNo.265（2026年3月）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 ─ 記録は自動。貯まるほど真似されにくい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一人称の動画と会話をAIが整理し、若手・管理者・次の担い手に渡す。その先にフィジカルAI</a:t>
            </a:r>
            <a:endParaRPr lang="en-US" sz="1200" dirty="0"/>
          </a:p>
        </p:txBody>
      </p:sp>
      <p:pic>
        <p:nvPicPr>
          <p:cNvPr id="5" name="Image 0" descr="/home/user/-ai-commute-audio-/deck/assets/shot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5120640" cy="215605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3101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サービス内容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5661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図面・作業手順を現物に重ね、差異をその場で表示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報告書の手順に沿って写真を抽出し、当日の報告書を自動作成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勘どころを解説動画・音声番組・研修資料にして当社が届ける</a:t>
            </a:r>
            <a:endParaRPr lang="en-US" sz="950" dirty="0"/>
          </a:p>
        </p:txBody>
      </p:sp>
      <p:sp>
        <p:nvSpPr>
          <p:cNvPr id="8" name="moat"/>
          <p:cNvSpPr/>
          <p:nvPr/>
        </p:nvSpPr>
        <p:spPr>
          <a:xfrm>
            <a:off x="566928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806440" y="1115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真似されにくい3つの仕組み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48132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記録が貯まるほど強くなる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図面に現れない現場処置の記録は使うほど増え、後発には移せない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806440" y="244144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意味づけは現場経験者にしかできない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映像のどこが重要かを見分けて意味を付けるのは、施工・製造の経験者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340156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業界の型を先に揃える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電線工場の工程ごとの手順と報告書の型を、業界で最初に揃える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ノウハウの核：判断ラベル付きの現場データ（どの手順の、どの場面が、なぜ重要か）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 ─ 図面との差異を見つけ、報告書が自動でできる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架空のケーブル接続工事。若手の作業を記録し、8mmの差異を検出、報告書と教材までつながる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05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作業者のスマートグラス</a:t>
            </a:r>
            <a:endParaRPr lang="en-US" sz="1000" dirty="0"/>
          </a:p>
        </p:txBody>
      </p:sp>
      <p:pic>
        <p:nvPicPr>
          <p:cNvPr id="6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43584"/>
            <a:ext cx="4937760" cy="20729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1005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管理者への自動報告</a:t>
            </a:r>
            <a:endParaRPr lang="en-US" sz="1000" dirty="0"/>
          </a:p>
        </p:txBody>
      </p:sp>
      <p:pic>
        <p:nvPicPr>
          <p:cNvPr id="8" name="Image 1" descr="/home/user/-ai-commute-audio-/deck/assets/shot-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43584"/>
            <a:ext cx="3291840" cy="199868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14400" y="345369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半導電層の端部 実測112mm／図面120mm（8mm不足）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是正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372801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遠隔の熟練者が「テープ基準で測り直す」と指示。判断として記録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00233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手順ごとに写真を自動割当。作業者の報告書作成時間は0分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デモアプリ：claude.ai 上で再生可能（作業の再生・1件ずつ送り・全体像の表示）。寸法・人物はすべて架空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7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 ─ 狙う市場は約100億円、周辺は年7〜9%成長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TAM（周辺の大きな市場）→ SAM（当社が届く市場）→ SOM（5年目に取る市場）</a:t>
            </a:r>
            <a:endParaRPr lang="en-US" sz="1200" dirty="0"/>
          </a:p>
        </p:txBody>
      </p:sp>
      <p:sp>
        <p:nvSpPr>
          <p:cNvPr id="5" name="tam"/>
          <p:cNvSpPr/>
          <p:nvPr/>
        </p:nvSpPr>
        <p:spPr>
          <a:xfrm>
            <a:off x="411480" y="1097280"/>
            <a:ext cx="3840480" cy="338328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" name="sam"/>
          <p:cNvSpPr/>
          <p:nvPr/>
        </p:nvSpPr>
        <p:spPr>
          <a:xfrm>
            <a:off x="1143000" y="2103120"/>
            <a:ext cx="2377440" cy="2286000"/>
          </a:xfrm>
          <a:prstGeom prst="ellipse">
            <a:avLst/>
          </a:prstGeom>
          <a:solidFill>
            <a:srgbClr val="4D4D4D"/>
          </a:solidFill>
          <a:ln/>
        </p:spPr>
      </p:sp>
      <p:sp>
        <p:nvSpPr>
          <p:cNvPr id="7" name="som"/>
          <p:cNvSpPr/>
          <p:nvPr/>
        </p:nvSpPr>
        <p:spPr>
          <a:xfrm>
            <a:off x="1783080" y="3108960"/>
            <a:ext cx="1097280" cy="10972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234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スマートファクトリー＋建設テック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 約100億円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約3,350拠点×年300万円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3291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SOM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2.55億円</a:t>
            </a:r>
            <a:endParaRPr lang="en-US" sz="1050" dirty="0"/>
          </a:p>
        </p:txBody>
      </p:sp>
      <p:graphicFrame>
        <p:nvGraphicFramePr>
          <p:cNvPr id="8" name="mark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258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区分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TAM 製造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42億→92億米ドル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国内スマートファクトリー市場 2025→2034年 (1)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TAM 建設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1,845億円→3,043億円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国内建設テック市場（建築分野）2023→2030年度 (2)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約100億円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電線・ケーブル製造353事業所 (3)＋中堅以上の電気工事会社 約3,000社 (4)、×年300万円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SOM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2.55億円（シェア2.5%）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5年目85拠点×年300万円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growth"/>
          <p:cNvSpPr/>
          <p:nvPr/>
        </p:nvSpPr>
        <p:spPr>
          <a:xfrm>
            <a:off x="4709160" y="3246120"/>
            <a:ext cx="406908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846320" y="329184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市場の伸び率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356616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国内スマートファクトリー：年9.03%成長（2026〜2034年予測）(1)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国内建設テック（建築分野）：年7.4%成長（2023→2030年度予測）(2)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追い風：内閣府「人工知能基本計画」が暗黙知の多い現場へのAI実装を推進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IMARC Group「Japan Smart Factory Market」　(2) 矢野経済研究所 プレスリリースNo.3789（2025年4月）建築分野ソフトウェア　(3) 経済産業省「経済構造実態調査」2024年　(4) 電気工事業の許可業者65,497社（令和7年3月末、国土交通省）から推計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ビジネスモデル ─ 年300万円、約2か月で元が取れる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58768"/>
            <a:ext cx="40690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58768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 約1,865万円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（年粗利255万円×保守的に7年＋導入支援の粗利80万円）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 約64万円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（5年目：営業人件費1,600万円＋広告500万円÷新規33拠点）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LTV/CAC 約29倍・獲得費用は約3か月で回収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売上予測 ─ 拠点×月25万円。5年目は月2,400万円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利用料が毎年積み上がり、導入支援と受託開発は新規拠点の数に比例する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成長曲線（百万円）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</a:t>
            </a:r>
            <a:endParaRPr lang="en-US" sz="800" dirty="0"/>
          </a:p>
        </p:txBody>
      </p:sp>
      <p:graphicFrame>
        <p:nvGraphicFramePr>
          <p:cNvPr id="7" name="growth-chart" descr=""/>
          <p:cNvGraphicFramePr/>
          <p:nvPr/>
        </p:nvGraphicFramePr>
        <p:xfrm>
          <a:off x="365760" y="1307592"/>
          <a:ext cx="4069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monthly"/>
          <p:cNvSpPr/>
          <p:nvPr/>
        </p:nvSpPr>
        <p:spPr>
          <a:xfrm>
            <a:off x="365760" y="3520440"/>
            <a:ext cx="406908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02920" y="354787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月次売上の根拠（5年目の月平均 約2,420万円）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約1,790万円 ＝ 月25万円×平均約72拠点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約550万円 ＝ 200万円×月2.75拠点（新規33拠点÷12）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 約80万円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費用の内訳（万円）</a:t>
            </a:r>
            <a:endParaRPr lang="en-US" sz="1050" dirty="0"/>
          </a:p>
        </p:txBody>
      </p:sp>
      <p:graphicFrame>
        <p:nvGraphicFramePr>
          <p:cNvPr id="10" name="cos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25880"/>
          <a:ext cx="4160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58952"/>
                <a:gridCol w="758952"/>
                <a:gridCol w="76809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人件費（販管費分）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2,480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5,980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11,470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広告・展示会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交通・出張（現場導入）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端末・ツール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専門家（税理士・弁護士・弁理士）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雑費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 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617720" y="4206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所在地案：川崎市（準備期は川崎・横浜のインキュベーション施設）。家賃は1年目15坪・月20万円、5年目40坪・月50万円。人件費は1人年800万円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60857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売上の内訳：既存顧客の利用料（前年末拠点×300万円）＋新規の利用料（新規×300万円×0.5）＋導入支援（新規×200万円）＋受託開発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4年目に超え、5年目の余裕率は32%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損益分岐点売上＝販管費（固定費）÷粗利率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実際の売上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損益分岐点売上（百万円）</a:t>
            </a:r>
            <a:endParaRPr lang="en-US" sz="850" dirty="0"/>
          </a:p>
        </p:txBody>
      </p:sp>
      <p:graphicFrame>
        <p:nvGraphicFramePr>
          <p:cNvPr id="6" name="bep-chart" descr=""/>
          <p:cNvGraphicFramePr/>
          <p:nvPr/>
        </p:nvGraphicFramePr>
        <p:xfrm>
          <a:off x="365760" y="1307592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be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051560"/>
          <a:ext cx="3429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販管費（固定費）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損益分岐点売上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bep-people"/>
          <p:cNvSpPr/>
          <p:nvPr/>
        </p:nvSpPr>
        <p:spPr>
          <a:xfrm>
            <a:off x="5349240" y="3108960"/>
            <a:ext cx="3429000" cy="12161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486400" y="31546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人で見た損益分岐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販管費／人 713万円 ÷ 粗利／拠点 255万円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社員1人あたり2.8拠点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 2.73（未達）→ 4年目 3.67（超過）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安全余裕率＝（売上−損益分岐点売上）÷売上。1〜2年目の損益分岐点売上は92・92百万円（売上12・48百万円）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資金計画・CF ─ 黒字倒産させない仕組みを先に置く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必要資金1.5億円を4つの手段で段階的に調達し、現金残高が3年目の谷でも6,000万円を残す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調達の内訳（必要資金1.5億円）</a:t>
            </a:r>
            <a:endParaRPr lang="en-US" sz="1050" dirty="0"/>
          </a:p>
        </p:txBody>
      </p:sp>
      <p:graphicFrame>
        <p:nvGraphicFramePr>
          <p:cNvPr id="12" name="fund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86868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試作品・実証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期首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新規開業・スタートアップ支援資金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年央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CVC・VC（電線・ロボット）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人員・開発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2年目〜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資本性ローン（予備枠）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遅延時のみ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期末の現金残高（百万円）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59893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現金残高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最低残高（固定費3か月分）</a:t>
            </a:r>
            <a:endParaRPr lang="en-US" sz="800" dirty="0"/>
          </a:p>
        </p:txBody>
      </p:sp>
      <p:graphicFrame>
        <p:nvGraphicFramePr>
          <p:cNvPr id="9" name="cash-chart" descr=""/>
          <p:cNvGraphicFramePr/>
          <p:nvPr/>
        </p:nvGraphicFramePr>
        <p:xfrm>
          <a:off x="4526280" y="1307592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anti-bankruptcy"/>
          <p:cNvSpPr/>
          <p:nvPr/>
        </p:nvSpPr>
        <p:spPr>
          <a:xfrm>
            <a:off x="4526280" y="3429000"/>
            <a:ext cx="4251960" cy="10515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663440" y="348386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3989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現金残高が固定費3か月分を下回る前に、追加調達を始める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月次の資金繰り表で、入金と支払いの時期を12か月先まで管理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計画が1年遅れても耐えられる備え（0.56億円）を残高に含める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残高は簡易計算（期首残高＋調達＋営業損益）。税金・減価償却・融資の返済・運転資本の増減は含めない。固定費3か月分＝3年目の販管費79百万円÷4。公庫の制度：融資限度額7,200万円（うち運転資金4,800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 ─ 現場と技術を揃え、顧問とパートナーで補う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創業者の経歴・チームメンバーのスキル・外部パートナーと顧問</a:t>
            </a:r>
            <a:endParaRPr lang="en-US" sz="1200" dirty="0"/>
          </a:p>
        </p:txBody>
      </p:sp>
      <p:sp>
        <p:nvSpPr>
          <p:cNvPr id="5" name="founder"/>
          <p:cNvSpPr/>
          <p:nvPr/>
        </p:nvSpPr>
        <p:spPr>
          <a:xfrm>
            <a:off x="36576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 CEO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志願者（創業者）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834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電線メーカー 電力事業部門で、66kV／275kV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Python・Power BI・FastAPI・Docker・LangChain・RAG 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ニュース要約→音声合成→毎朝配信の仕組みを個人で構築・運用中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1級電気工事施工管理技士・G検定・大学院修了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専念する時期：＿＿＿＿（記入）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61188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チームと外部の体制</a:t>
            </a:r>
            <a:endParaRPr lang="en-US" sz="1050" dirty="0"/>
          </a:p>
        </p:txBody>
      </p:sp>
      <p:graphicFrame>
        <p:nvGraphicFramePr>
          <p:cNvPr id="13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325880"/>
          <a:ext cx="51663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94560"/>
                <a:gridCol w="7315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求めるスキル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状況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技術責任者（CTO）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映像AI・クラウド開発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生産技術・現場監修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電線工場の生産技術の経験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施工管理・製造の現場経験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電線業界・生産技術のOB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税理士・弁護士（データ契約）・弁理士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スマートグラスメーカー・大学（映像AI）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proof"/>
          <p:cNvSpPr/>
          <p:nvPr/>
        </p:nvSpPr>
        <p:spPr>
          <a:xfrm>
            <a:off x="3611880" y="3794760"/>
            <a:ext cx="516636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49040" y="37947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実行力の証拠：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音声の自動配信は毎朝稼働中。本日のデモアプリも自作。最初の3か月で試作品を出す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状況欄は確定・内諾・打診中・募集中のいずれかを記入する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事業のライフサイクル ─ 成熟期には上場を目指す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解決策の3段階を、導入期・成長期・成熟期に重ねる</a:t>
            </a:r>
            <a:endParaRPr lang="en-US" sz="1200" dirty="0"/>
          </a:p>
        </p:txBody>
      </p:sp>
      <p:sp>
        <p:nvSpPr>
          <p:cNvPr id="5" name="life-0"/>
          <p:cNvSpPr/>
          <p:nvPr/>
        </p:nvSpPr>
        <p:spPr>
          <a:xfrm>
            <a:off x="365760" y="1737360"/>
            <a:ext cx="2715768" cy="2148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82880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準備期〜2年目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42316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74320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・電線工場3拠点で有償試験導入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・赤字。準備期は500万円で試作品と実証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・資金：出資・公庫融資・CVC</a:t>
            </a:r>
            <a:endParaRPr lang="en-US" sz="950" dirty="0"/>
          </a:p>
        </p:txBody>
      </p:sp>
      <p:sp>
        <p:nvSpPr>
          <p:cNvPr id="9" name="life-1"/>
          <p:cNvSpPr/>
          <p:nvPr/>
        </p:nvSpPr>
        <p:spPr>
          <a:xfrm>
            <a:off x="3214116" y="1417320"/>
            <a:ext cx="2715768" cy="2468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51276" y="150876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3〜5年目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51276" y="210312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51276" y="242316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・30→85拠点。施工会社へ展開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・4年目に黒字化、5年目 営業利益率24%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・資金：自己資金＋予備の資本性ローン</a:t>
            </a:r>
            <a:endParaRPr lang="en-US" sz="950" dirty="0"/>
          </a:p>
        </p:txBody>
      </p:sp>
      <p:sp>
        <p:nvSpPr>
          <p:cNvPr id="13" name="life-2"/>
          <p:cNvSpPr/>
          <p:nvPr/>
        </p:nvSpPr>
        <p:spPr>
          <a:xfrm>
            <a:off x="6062472" y="1097280"/>
            <a:ext cx="2715768" cy="2788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118872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6年目〜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99632" y="178308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作業をAIが学ぶ（フィジカルAI）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199632" y="210312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・素材産業へ拡大、海外へ輸出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・蓄積した作業データでロボットに教える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・上場を目指す（資本市場から調達）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3977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国の方針：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「暗黙知が豊富な現場へのバーティカルAIの開発・実装を推進し、輸出も促進する」─ 内閣府「人工知能基本計画」（令和8年7月14日 閣議決定）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上場は目標であり、時期・市場は成長期の実績を見て判断する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 500万円 ─ 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準備期の資金。創業者の給料はゼロで、すべて試作品と実証に使う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441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クラウド・生成AI・外注エンジニア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103120" y="1435608"/>
            <a:ext cx="1737360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86200" y="13990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013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スマートグラス・ヘルメットカメラ 数台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03120" y="1892808"/>
            <a:ext cx="555955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04795" y="1856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585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1拠点での実証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3か月の交通・設置・現場研修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350008"/>
            <a:ext cx="694944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43784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7157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設立・契約・知財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法人設立、秘密保持・データ利用契約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07208"/>
            <a:ext cx="277978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26818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1729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264408"/>
            <a:ext cx="2084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357323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500万円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13441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試作品：一人称の記録 → 写真の自動抽出 → 報告書の自動作成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18013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1拠点で実証：報告書の作成時間がどれだけ減ったかを実測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394960" y="22585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有償試験導入3拠点の契約、公庫融資の申込、CVCとの交渉開始</a:t>
            </a:r>
            <a:endParaRPr lang="en-US" sz="950" dirty="0"/>
          </a:p>
        </p:txBody>
      </p:sp>
      <p:sp>
        <p:nvSpPr>
          <p:cNvPr id="32" name="return"/>
          <p:cNvSpPr/>
          <p:nvPr/>
        </p:nvSpPr>
        <p:spPr>
          <a:xfrm>
            <a:off x="4617720" y="2834640"/>
            <a:ext cx="416052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28803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虎へのリターン（提案）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3154680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500万円で発行済株式の10%（評価額 出資前4,500万円）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成熟期の上場、または事業会社への売却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資金に加え、製造業・建設業の実証先のご紹介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出資条件は提案であり、交渉により決める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 ─ 最大のリスクは自分。だから役割と判断基準を先に決める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弱みは隠さない。対策とセットで示す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10515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役割を「型を渡す」に絞る。BSCの4指標で判断を任せ、1か月不在でも回る会社にする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08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製造現場の経験が浅い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5087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生産技術の経験者を初期メンバーに迎え、顧客の工場に入って学ぶ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9659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CADDiなど大手の参入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659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図面に現れない現場処置の蓄積と、現場で監修できる人を障壁にする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常時収録への抵抗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24231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作業時間・作業エリアに限定。本人同意と労使合意、休憩中・私語は自動除外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8803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76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資金ショート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606040" y="28803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最低残高ルールと前払い・着手金。公庫の資本性ローンを予備枠に持つ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3337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closing"/>
          <p:cNvSpPr/>
          <p:nvPr/>
        </p:nvSpPr>
        <p:spPr>
          <a:xfrm>
            <a:off x="365760" y="3547872"/>
            <a:ext cx="8412480" cy="1097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36393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日本の品質を支えてきた現場の勘を、人に依存しない形で残す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その最初の一歩として、500万円で、6か月以内に最初の1拠点を動かします。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事業計画書</dc:title>
  <dc:subject>PptxGenJS Presentation</dc:subject>
  <dc:creator>PptxGenJS</dc:creator>
  <cp:lastModifiedBy>PptxGenJS</cp:lastModifiedBy>
  <cp:revision>1</cp:revision>
  <dcterms:created xsi:type="dcterms:W3CDTF">2026-10-09T12:53:31Z</dcterms:created>
  <dcterms:modified xsi:type="dcterms:W3CDTF">2026-10-09T12:53:31Z</dcterms:modified>
</cp:coreProperties>
</file>