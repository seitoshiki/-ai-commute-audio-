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浮いた工数の累計</c:v>
                </c:pt>
              </c:strCache>
            </c:strRef>
          </c:tx>
          <c:spPr>
            <a:solidFill>
              <a:srgbClr val="1A1A1A"/>
            </a:solidFill>
            <a:ln w="38100" cap="flat">
              <a:solidFill>
                <a:srgbClr val="1A1A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A1A1A"/>
              </a:solidFill>
              <a:ln w="9525" cap="flat">
                <a:solidFill>
                  <a:srgbClr val="1A1A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</c:v>
                </c:pt>
                <c:pt idx="1">
                  <c:v>240</c:v>
                </c:pt>
                <c:pt idx="2">
                  <c:v>480</c:v>
                </c:pt>
                <c:pt idx="3">
                  <c:v>720</c:v>
                </c:pt>
                <c:pt idx="4">
                  <c:v>960</c:v>
                </c:pt>
                <c:pt idx="5">
                  <c:v>1200</c:v>
                </c:pt>
                <c:pt idx="6">
                  <c:v>1440</c:v>
                </c:pt>
                <c:pt idx="7">
                  <c:v>1680</c:v>
                </c:pt>
                <c:pt idx="8">
                  <c:v>1920</c:v>
                </c:pt>
                <c:pt idx="9">
                  <c:v>2160</c:v>
                </c:pt>
                <c:pt idx="10">
                  <c:v>2400</c:v>
                </c:pt>
                <c:pt idx="11">
                  <c:v>2640</c:v>
                </c:pt>
                <c:pt idx="12">
                  <c:v>2880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初年度費用</c:v>
                </c:pt>
              </c:strCache>
            </c:strRef>
          </c:tx>
          <c:spPr>
            <a:solidFill>
              <a:srgbClr val="8C8C8C"/>
            </a:solidFill>
            <a:ln w="25400" cap="flat">
              <a:solidFill>
                <a:srgbClr val="8C8C8C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C8C8C"/>
              </a:solidFill>
              <a:ln w="9525" cap="flat">
                <a:solidFill>
                  <a:srgbClr val="8C8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500</c:v>
                </c:pt>
                <c:pt idx="1">
                  <c:v>500</c:v>
                </c:pt>
                <c:pt idx="2">
                  <c:v>500</c:v>
                </c:pt>
                <c:pt idx="3">
                  <c:v>500</c:v>
                </c:pt>
                <c:pt idx="4">
                  <c:v>500</c:v>
                </c:pt>
                <c:pt idx="5">
                  <c:v>500</c:v>
                </c:pt>
                <c:pt idx="6">
                  <c:v>500</c:v>
                </c:pt>
                <c:pt idx="7">
                  <c:v>500</c:v>
                </c:pt>
                <c:pt idx="8">
                  <c:v>500</c:v>
                </c:pt>
                <c:pt idx="9">
                  <c:v>500</c:v>
                </c:pt>
                <c:pt idx="10">
                  <c:v>500</c:v>
                </c:pt>
                <c:pt idx="11">
                  <c:v>500</c:v>
                </c:pt>
                <c:pt idx="12">
                  <c:v>500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D4D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0"/>
          <c:min val="0"/>
        </c:scaling>
        <c:delete val="0"/>
        <c:axPos val="l"/>
        <c:majorGridlines>
          <c:spPr>
            <a:ln w="6350" cap="flat">
              <a:solidFill>
                <a:srgbClr val="BFBFB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D4D4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売上高</c:v>
                </c:pt>
              </c:strCache>
            </c:strRef>
          </c:tx>
          <c:spPr>
            <a:solidFill>
              <a:srgbClr val="1A1A1A"/>
            </a:solidFill>
            <a:ln w="44450" cap="flat">
              <a:solidFill>
                <a:srgbClr val="1A1A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1A1A"/>
              </a:solidFill>
              <a:ln w="9525" cap="flat">
                <a:solidFill>
                  <a:srgbClr val="1A1A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1年目</c:v>
                  </c:pt>
                  <c:pt idx="1">
                    <c:v>2年目</c:v>
                  </c:pt>
                  <c:pt idx="2">
                    <c:v>3年目</c:v>
                  </c:pt>
                  <c:pt idx="3">
                    <c:v>4年目</c:v>
                  </c:pt>
                  <c:pt idx="4">
                    <c:v>5年目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48</c:v>
                </c:pt>
                <c:pt idx="2">
                  <c:v>110</c:v>
                </c:pt>
                <c:pt idx="3">
                  <c:v>190</c:v>
                </c:pt>
                <c:pt idx="4">
                  <c:v>290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営業利益</c:v>
                </c:pt>
              </c:strCache>
            </c:strRef>
          </c:tx>
          <c:spPr>
            <a:solidFill>
              <a:srgbClr val="4D4D4D"/>
            </a:solidFill>
            <a:ln w="25400" cap="flat">
              <a:solidFill>
                <a:srgbClr val="4D4D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4D4D4D"/>
              </a:solidFill>
              <a:ln w="9525" cap="flat">
                <a:solidFill>
                  <a:srgbClr val="4D4D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1年目</c:v>
                  </c:pt>
                  <c:pt idx="1">
                    <c:v>2年目</c:v>
                  </c:pt>
                  <c:pt idx="2">
                    <c:v>3年目</c:v>
                  </c:pt>
                  <c:pt idx="3">
                    <c:v>4年目</c:v>
                  </c:pt>
                  <c:pt idx="4">
                    <c:v>5年目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-32</c:v>
                </c:pt>
                <c:pt idx="1">
                  <c:v>-27</c:v>
                </c:pt>
                <c:pt idx="2">
                  <c:v>-6</c:v>
                </c:pt>
                <c:pt idx="3">
                  <c:v>28</c:v>
                </c:pt>
                <c:pt idx="4">
                  <c:v>69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累積営業損益</c:v>
                </c:pt>
              </c:strCache>
            </c:strRef>
          </c:tx>
          <c:spPr>
            <a:solidFill>
              <a:srgbClr val="8C8C8C"/>
            </a:solidFill>
            <a:ln w="25400" cap="flat">
              <a:solidFill>
                <a:srgbClr val="8C8C8C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C8C8C"/>
              </a:solidFill>
              <a:ln w="9525" cap="flat">
                <a:solidFill>
                  <a:srgbClr val="8C8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1年目</c:v>
                  </c:pt>
                  <c:pt idx="1">
                    <c:v>2年目</c:v>
                  </c:pt>
                  <c:pt idx="2">
                    <c:v>3年目</c:v>
                  </c:pt>
                  <c:pt idx="3">
                    <c:v>4年目</c:v>
                  </c:pt>
                  <c:pt idx="4">
                    <c:v>5年目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-32</c:v>
                </c:pt>
                <c:pt idx="1">
                  <c:v>-59</c:v>
                </c:pt>
                <c:pt idx="2">
                  <c:v>-65</c:v>
                </c:pt>
                <c:pt idx="3">
                  <c:v>-37</c:v>
                </c:pt>
                <c:pt idx="4">
                  <c:v>32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D4D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-100"/>
        </c:scaling>
        <c:delete val="0"/>
        <c:axPos val="l"/>
        <c:majorGridlines>
          <c:spPr>
            <a:ln w="6350" cap="flat">
              <a:solidFill>
                <a:srgbClr val="BFBFB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D4D4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売上高</c:v>
                </c:pt>
              </c:strCache>
            </c:strRef>
          </c:tx>
          <c:spPr>
            <a:solidFill>
              <a:srgbClr val="1A1A1A"/>
            </a:solidFill>
            <a:ln w="38100" cap="flat">
              <a:solidFill>
                <a:srgbClr val="1A1A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1A1A"/>
              </a:solidFill>
              <a:ln w="9525" cap="flat">
                <a:solidFill>
                  <a:srgbClr val="1A1A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1年目</c:v>
                  </c:pt>
                  <c:pt idx="1">
                    <c:v>2年目</c:v>
                  </c:pt>
                  <c:pt idx="2">
                    <c:v>3年目</c:v>
                  </c:pt>
                  <c:pt idx="3">
                    <c:v>4年目</c:v>
                  </c:pt>
                  <c:pt idx="4">
                    <c:v>5年目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48</c:v>
                </c:pt>
                <c:pt idx="2">
                  <c:v>110</c:v>
                </c:pt>
                <c:pt idx="3">
                  <c:v>190</c:v>
                </c:pt>
                <c:pt idx="4">
                  <c:v>290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損益分岐点売上</c:v>
                </c:pt>
              </c:strCache>
            </c:strRef>
          </c:tx>
          <c:spPr>
            <a:solidFill>
              <a:srgbClr val="8C8C8C"/>
            </a:solidFill>
            <a:ln w="25400" cap="flat">
              <a:solidFill>
                <a:srgbClr val="8C8C8C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8C8C8C"/>
              </a:solidFill>
              <a:ln w="9525" cap="flat">
                <a:solidFill>
                  <a:srgbClr val="8C8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1年目</c:v>
                  </c:pt>
                  <c:pt idx="1">
                    <c:v>2年目</c:v>
                  </c:pt>
                  <c:pt idx="2">
                    <c:v>3年目</c:v>
                  </c:pt>
                  <c:pt idx="3">
                    <c:v>4年目</c:v>
                  </c:pt>
                  <c:pt idx="4">
                    <c:v>5年目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89</c:v>
                </c:pt>
                <c:pt idx="1">
                  <c:v>93</c:v>
                </c:pt>
                <c:pt idx="2">
                  <c:v>119</c:v>
                </c:pt>
                <c:pt idx="3">
                  <c:v>151</c:v>
                </c:pt>
                <c:pt idx="4">
                  <c:v>196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D4D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0"/>
        </c:scaling>
        <c:delete val="0"/>
        <c:axPos val="l"/>
        <c:majorGridlines>
          <c:spPr>
            <a:ln w="6350" cap="flat">
              <a:solidFill>
                <a:srgbClr val="BFBFB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D4D4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現金残高</c:v>
                </c:pt>
              </c:strCache>
            </c:strRef>
          </c:tx>
          <c:spPr>
            <a:solidFill>
              <a:srgbClr val="1A1A1A"/>
            </a:solidFill>
            <a:ln w="38100" cap="flat">
              <a:solidFill>
                <a:srgbClr val="1A1A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1A1A"/>
              </a:solidFill>
              <a:ln w="9525" cap="flat">
                <a:solidFill>
                  <a:srgbClr val="1A1A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準備期</c:v>
                  </c:pt>
                  <c:pt idx="1">
                    <c:v>1年目</c:v>
                  </c:pt>
                  <c:pt idx="2">
                    <c:v>2年目</c:v>
                  </c:pt>
                  <c:pt idx="3">
                    <c:v>3年目</c:v>
                  </c:pt>
                  <c:pt idx="4">
                    <c:v>4年目</c:v>
                  </c:pt>
                  <c:pt idx="5">
                    <c:v>5年目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93</c:v>
                </c:pt>
                <c:pt idx="2">
                  <c:v>66</c:v>
                </c:pt>
                <c:pt idx="3">
                  <c:v>60</c:v>
                </c:pt>
                <c:pt idx="4">
                  <c:v>88</c:v>
                </c:pt>
                <c:pt idx="5">
                  <c:v>157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最低残高</c:v>
                </c:pt>
              </c:strCache>
            </c:strRef>
          </c:tx>
          <c:spPr>
            <a:solidFill>
              <a:srgbClr val="8C8C8C"/>
            </a:solidFill>
            <a:ln w="19050" cap="flat">
              <a:solidFill>
                <a:srgbClr val="8C8C8C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C8C8C"/>
              </a:solidFill>
              <a:ln w="9525" cap="flat">
                <a:solidFill>
                  <a:srgbClr val="8C8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準備期</c:v>
                  </c:pt>
                  <c:pt idx="1">
                    <c:v>1年目</c:v>
                  </c:pt>
                  <c:pt idx="2">
                    <c:v>2年目</c:v>
                  </c:pt>
                  <c:pt idx="3">
                    <c:v>3年目</c:v>
                  </c:pt>
                  <c:pt idx="4">
                    <c:v>4年目</c:v>
                  </c:pt>
                  <c:pt idx="5">
                    <c:v>5年目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D4D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5"/>
          <c:min val="0"/>
        </c:scaling>
        <c:delete val="0"/>
        <c:axPos val="l"/>
        <c:majorGridlines>
          <c:spPr>
            <a:ln w="6350" cap="flat">
              <a:solidFill>
                <a:srgbClr val="BFBFB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D4D4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【0:00 - 0:25】
要約：人が減っても現場が迷わず回る仕組みをつくる。希望金額は500万円
株式会社三現ワークスです。三現とは、現場・現物・現実のこと。熟練者の勘が退職とともに消えていく現場に、スマートグラスで記録して次の担い手とAIに渡す仕組みをつくります。希望金額は500万円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【0:25 - 1:00】
要約：スマートグラスで現場の作業を記録し、報告と教育を自動にするサービス
事業の概要です。何のビジネスか。作業者がスマートグラスを着けるだけで作業を記録し、報告書づくりと若手の教育を自動にするサービスです。既存のサービスとの違いは、記録を貯めるだけでなく、現物に重ねて渡し、教材にまですること。誰の悩みを解くか。人手不足の現場で、報告と育成に追われる管理者とDX担当者です。収益は、1拠点あたり年300万円の利用料と、初年度の導入支援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【1:00 - 1:45】
要約：報告と育成に追われ、熟練者が辞めると現場が止まる
対象のお客様は三人です。一人目は、現場で孤軍奮闘するDX推進担当者。ツールを入れても現場に定着せず、成果を説明できない。二人目は、人手不足の製造現場で働く作業者。日報や写真整理に毎月何時間も取られ、聞ける熟練者もいない。三人目は管理者や施工管理者。立会に行けず、後継者もいない。国の調査でも、技能継承の主流は、ベテランに居続けてもらうことで54.8%。デジタル化で継承が進んだ企業は8.7%しか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【1:45 - 2:30】
要約：記録は自動、渡す先は三つ。データが貯まるほど真似されにくくなる
解決策です。作業者の一人称の動画と会話を撮り続け、AIが整理し、若手には現物に重ねて、管理者には報告書として、次の担い手には教材として渡します。真似されにくい理由は三つ。一つ目、図面に現れない現場処置の記録は、使うほど貯まり、後から来た会社には移せません。二つ目、映像のどこが重要かを見分ける意味づけは、現場経験者にしかできません。三つ目、電線工場の工程ごとの手順と報告書の型を、業界で最初に揃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【2:30 - 3:15】
要約：デモ：図面との差異を見つけ、報告書が自動でできる
実際の画面です。ケーブル接続の現場で、若手が処理した半導電層が図面より8ミリ短いことを検出しました。遠隔の熟練者が、テープの位置から測り直すよう指示します。その判断も記録されます。管理者の画面では、手順ごとに写真が自動で割り当てられ、報告書ができていきます。作業者が報告書に使った時間はゼロ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【3:15 - 3:50】
要約：「貯める」会社は現れた。当社は「渡す」で分かれる
競合です。記録を貯める会社は、東大発のAirion、キャディのCADDiなど、すでにあります。正直に言えば、貯めるところは同じ設計です。分かれるのは渡し方と対象です。連続工程の現場で、現物に重ねて渡し、教材にまでする会社はまだありません。最大の脅威はCADDiですが、図面に現れない現場の処置は、当社にしか貯ま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【3:50 - 4:30】
要約：狙う市場は約100億円。周辺市場は年7〜9%で伸びている
市場規模です。土台となる国内のスマートファクトリー市場は、2025年の42億ドルから年9%で伸びる見込みです。建設テック市場も、建築分野だけで2030年度に約3,040億円、年7.4%の成長です。当社が狙うのは、電線・ケーブル工場の353事業所と、中堅以上の電気工事会社約3,000社。年300万円をかけると約100億円の市場です。5年目に85拠点、シェア2.5%を取りに行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【4:30 - 5:15】
要約：1拠点の生涯粗利は約1,865万円、獲得コストは約64万円
お金の流れです。お客様は1拠点あたり年300万円、初年度だけ導入支援200万円を払います。お客様は約2.1か月で元が取れます。1拠点が生む生涯の粗利、LTVは、年255万円を保守的に7年分と、導入支援の粗利を足して約1,865万円。一方、1拠点を獲得する費用、CACは、5年目の営業人件費と広告費を新規拠点数で割って約64万円です。獲得費用は3か月で回収で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【5:15 - 5:55】
要約：売上は拠点数×月25万円で積み上がる。5年目は月2,400万円
売上と費用です。売上は、拠点数かける月25万円の利用料が積み上がる形です。5年目の月次売上は約2,400万円で、内訳は利用料が約1,790万円、導入支援が約550万円です。費用の中心は人件費で、1人あたり年800万円。所在地は川崎市を考えています。京浜の工場地帯と羽田・新幹線に近く、関東の電線工場と東京の電気工事会社の両方に出やすい場所です。家賃は1年目15坪で月20万円、5年目40坪で月50万円、広告と展示会は1年目200万円から5年目500万円を見込んで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【5:55 - 6:25】
要約：4年目に損益分岐点を超え、5年目の安全余裕率は32%
損益分岐点です。販管費を粗利率で割った損益分岐点売上は、4年目で1億5,100万円。売上1億9,000万円がこれを初めて上回ります。5年目は分岐点1億9,600万円に対して売上2億9,000万円で、安全余裕率は32%です。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【6:25 - 7:00】
要約：黒字倒産しない。最低残高は固定費3か月分
資金計画です。必要資金は1.5億円。今回の500万円で準備期を走り、実証の結果をもって日本政策金融公庫の創業融資1,000万円、CVCとVCから1億1,500万円を調達します。現金残高は最も薄い3年目でも6,000万円で、固定費3か月分を下回りません。利用料は年額前払い、導入支援は着手金をいただき、黒字倒産を防ぎ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【7:00 - 7:40】
要約：チームは現場と技術の両方を揃える。顧問とパートナーで弱みを補う
チームです。私は電線メーカーで地中送電線の施工管理を5年やり、独学でAIの仕組みを作ってきました。毎朝ニュースを音声で配信する仕組みも、個人で作って動かしています。ただ、私一人では足りません。技術の責任者、生産技術の経験者、現場出身のカスタマーサクセスを揃え、電線業界の顧問、スマートグラスのメーカー、大学と組み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【7:40 - 8:00】
要約：導入期・成長期を越え、成熟期には上場を目指す
成長の道筋です。導入期は記録と報告の自動化で顧客をつかみ、成長期は図面との照合と品質管理で黒字化し、成熟期はフィジカルAIと海外展開で上場を目指します。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【8:00 - 8:30】
要約：500万円で、6か月以内に最初の1拠点を動かす
500万円の使い道です。試作品の開発に250万円、端末に80万円、1拠点での実証に100万円、設立と契約に40万円、予備30万円。私の給料はゼロです。3か月で試作品、6か月で実証の結果を出します。条件は10%でのご提案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【8:30 - 9:00】
要約：最大のリスクは自分。だから役割と判断基準を先に決めておく
最後にリスクです。最大のリスクは、私自身が律速になること。だから役割を絞り、判断の基準を先に決めて、私がいなくても回る会社にします。日本の品質を支えてきた現場の勘を、人に依存しない形で残したい。その最初の一歩に、500万円をお願い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4754880"/>
            <a:ext cx="1325880" cy="2841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8371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現場の勘を、次の担い手へ。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4754880"/>
            <a:ext cx="1325880" cy="28411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ver-panel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60120"/>
            <a:ext cx="2743200" cy="58782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65760" y="19659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現場の勘を、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次の担い手へ。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36576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株式会社三現ワークス（事業計画）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365760" y="32186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三現＝現場・現物・現実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3657600" y="5029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事業計画書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3657600" y="8229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人が減っても、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現場が迷わず回る仕組みをつくる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365760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スマートグラスで熟練者の作業を記録し、報告を自動にし、次の担い手とAIの教材にする</a:t>
            </a:r>
            <a:endParaRPr lang="en-US" sz="1150" dirty="0"/>
          </a:p>
        </p:txBody>
      </p:sp>
      <p:sp>
        <p:nvSpPr>
          <p:cNvPr id="11" name="ask"/>
          <p:cNvSpPr/>
          <p:nvPr/>
        </p:nvSpPr>
        <p:spPr>
          <a:xfrm>
            <a:off x="3657600" y="2377440"/>
            <a:ext cx="48463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B8692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840480" y="2450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希望金額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840480" y="2697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500万円</a:t>
            </a:r>
            <a:endParaRPr lang="en-US" sz="4400" dirty="0"/>
          </a:p>
        </p:txBody>
      </p:sp>
      <p:sp>
        <p:nvSpPr>
          <p:cNvPr id="14" name="Text 10"/>
          <p:cNvSpPr txBox="1"/>
          <p:nvPr/>
        </p:nvSpPr>
        <p:spPr>
          <a:xfrm>
            <a:off x="6812280" y="2788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準備期6か月の資金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（出資）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3657600" y="3886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志願者：＿＿＿＿＿＿＿＿＿＿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事業概要 ─ 現場の作業を記録し、報告と教育を自動に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スマートグラスで撮るだけ。報告書・図面との照合・教材までを一続きで届ける</a:t>
            </a:r>
            <a:endParaRPr lang="en-US" sz="1200" dirty="0"/>
          </a:p>
        </p:txBody>
      </p:sp>
      <p:sp>
        <p:nvSpPr>
          <p:cNvPr id="5" name="summary-0"/>
          <p:cNvSpPr/>
          <p:nvPr/>
        </p:nvSpPr>
        <p:spPr>
          <a:xfrm>
            <a:off x="365760" y="1051560"/>
            <a:ext cx="4137660" cy="14813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0352" y="1161288"/>
            <a:ext cx="38084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何のビジネス？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1527048"/>
            <a:ext cx="38084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作業者がスマートグラスやヘルメットカメラを着けるだけで、一人称の動画と会話を記録。AIが報告書を作り、図面と照合し、教材にするサービス</a:t>
            </a:r>
            <a:endParaRPr lang="en-US" sz="1100" dirty="0"/>
          </a:p>
        </p:txBody>
      </p:sp>
      <p:sp>
        <p:nvSpPr>
          <p:cNvPr id="8" name="summary-1"/>
          <p:cNvSpPr/>
          <p:nvPr/>
        </p:nvSpPr>
        <p:spPr>
          <a:xfrm>
            <a:off x="4640580" y="1051560"/>
            <a:ext cx="4137660" cy="14813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805172" y="1161288"/>
            <a:ext cx="38084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既存の市場との違い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805172" y="1527048"/>
            <a:ext cx="38084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記録・手順表示・教育のツールは別々にある。当社は「記録→照合→報告→教材」を一続きで提供し、現場経験者が中身を監修する</a:t>
            </a:r>
            <a:endParaRPr lang="en-US" sz="1100" dirty="0"/>
          </a:p>
        </p:txBody>
      </p:sp>
      <p:sp>
        <p:nvSpPr>
          <p:cNvPr id="11" name="summary-2"/>
          <p:cNvSpPr/>
          <p:nvPr/>
        </p:nvSpPr>
        <p:spPr>
          <a:xfrm>
            <a:off x="365760" y="2670048"/>
            <a:ext cx="4137660" cy="14813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30352" y="2779776"/>
            <a:ext cx="38084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誰のどんな悩みを解決する？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" y="3145536"/>
            <a:ext cx="38084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人手不足の製造・電気工事の現場で、報告と育成に追われる管理者・DX担当者。熟練者が辞めると判断が消え、手戻りと不良が増える</a:t>
            </a:r>
            <a:endParaRPr lang="en-US" sz="1100" dirty="0"/>
          </a:p>
        </p:txBody>
      </p:sp>
      <p:sp>
        <p:nvSpPr>
          <p:cNvPr id="14" name="summary-3"/>
          <p:cNvSpPr/>
          <p:nvPr/>
        </p:nvSpPr>
        <p:spPr>
          <a:xfrm>
            <a:off x="4640580" y="2670048"/>
            <a:ext cx="4137660" cy="148132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805172" y="2779776"/>
            <a:ext cx="38084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収益構造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805172" y="3145536"/>
            <a:ext cx="38084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1拠点あたり年300万円の利用料（基盤＋ライン数＋追加機能）が毎年積み上がる。初年度だけ導入支援200万円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65760" y="43434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対象：電線・ケーブル工場（連続工程）から始め、製品の出口である電気工事会社へ広げる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 ─ 報告と育成に追われ、熟練者が辞めると止まる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ターゲットは三者。それぞれに不満・不便・損失がある</a:t>
            </a:r>
            <a:endParaRPr lang="en-US" sz="1200" dirty="0"/>
          </a:p>
        </p:txBody>
      </p:sp>
      <p:sp>
        <p:nvSpPr>
          <p:cNvPr id="5" name="persona-0"/>
          <p:cNvSpPr/>
          <p:nvPr/>
        </p:nvSpPr>
        <p:spPr>
          <a:xfrm>
            <a:off x="365760" y="1024128"/>
            <a:ext cx="271576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024128"/>
            <a:ext cx="2715768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93776" y="1042416"/>
            <a:ext cx="2459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DX推進担当者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現場で孤軍奮闘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93776" y="1618488"/>
            <a:ext cx="24597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・ツールを入れても現場に定着しない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・成果を数字で説明できず、予算が続かない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・現場とシステムの言葉をつなぐ人がいない</a:t>
            </a:r>
            <a:endParaRPr lang="en-US" sz="1000" dirty="0"/>
          </a:p>
        </p:txBody>
      </p:sp>
      <p:sp>
        <p:nvSpPr>
          <p:cNvPr id="9" name="persona-1"/>
          <p:cNvSpPr/>
          <p:nvPr/>
        </p:nvSpPr>
        <p:spPr>
          <a:xfrm>
            <a:off x="3214116" y="1024128"/>
            <a:ext cx="271576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14116" y="1024128"/>
            <a:ext cx="2715768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342132" y="1042416"/>
            <a:ext cx="2459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現場の作業者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人手不足の製造業のブルーカラー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342132" y="1618488"/>
            <a:ext cx="24597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・日報・写真整理・報告書に毎月何時間も取られる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・聞ける熟練者がいない。手順書に勘どころが書いていない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・ミスに気づくのが後になり、手戻りが出る</a:t>
            </a:r>
            <a:endParaRPr lang="en-US" sz="1000" dirty="0"/>
          </a:p>
        </p:txBody>
      </p:sp>
      <p:sp>
        <p:nvSpPr>
          <p:cNvPr id="13" name="persona-2"/>
          <p:cNvSpPr/>
          <p:nvPr/>
        </p:nvSpPr>
        <p:spPr>
          <a:xfrm>
            <a:off x="6062472" y="1024128"/>
            <a:ext cx="271576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62472" y="1024128"/>
            <a:ext cx="2715768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190488" y="1042416"/>
            <a:ext cx="2459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管理者・施工管理者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引退と後継者不足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190488" y="1618488"/>
            <a:ext cx="24597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・立会に行けず、現場の状況が見えない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・熟練者の判断が退職とともに消える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・育成する時間がなく、品質が人に依存する</a:t>
            </a:r>
            <a:endParaRPr lang="en-US" sz="1000" dirty="0"/>
          </a:p>
        </p:txBody>
      </p:sp>
      <p:sp>
        <p:nvSpPr>
          <p:cNvPr id="17" name="pain-stat-0"/>
          <p:cNvSpPr/>
          <p:nvPr/>
        </p:nvSpPr>
        <p:spPr>
          <a:xfrm>
            <a:off x="365760" y="3310128"/>
            <a:ext cx="2034540" cy="10972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57200" y="3383280"/>
            <a:ext cx="18516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54.8%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3813048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技能継承の取組で最多は「ベテランに居続けてもらう」(1)</a:t>
            </a:r>
            <a:endParaRPr lang="en-US" sz="850" dirty="0"/>
          </a:p>
        </p:txBody>
      </p:sp>
      <p:sp>
        <p:nvSpPr>
          <p:cNvPr id="20" name="pain-stat-1"/>
          <p:cNvSpPr/>
          <p:nvPr/>
        </p:nvSpPr>
        <p:spPr>
          <a:xfrm>
            <a:off x="2491740" y="3310128"/>
            <a:ext cx="2034540" cy="10972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583180" y="3383280"/>
            <a:ext cx="18516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8.7%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2583180" y="3813048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デジタル活用の効果として技能継承が円滑になった企業 (2)</a:t>
            </a:r>
            <a:endParaRPr lang="en-US" sz="850" dirty="0"/>
          </a:p>
        </p:txBody>
      </p:sp>
      <p:sp>
        <p:nvSpPr>
          <p:cNvPr id="23" name="pain-stat-2"/>
          <p:cNvSpPr/>
          <p:nvPr/>
        </p:nvSpPr>
        <p:spPr>
          <a:xfrm>
            <a:off x="4617720" y="3310128"/>
            <a:ext cx="2034540" cy="10972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709160" y="3383280"/>
            <a:ext cx="18516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62.8%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4709160" y="3813048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製造業で「指導する人材が不足」(1)</a:t>
            </a:r>
            <a:endParaRPr lang="en-US" sz="850" dirty="0"/>
          </a:p>
        </p:txBody>
      </p:sp>
      <p:sp>
        <p:nvSpPr>
          <p:cNvPr id="26" name="pain-stat-3"/>
          <p:cNvSpPr/>
          <p:nvPr/>
        </p:nvSpPr>
        <p:spPr>
          <a:xfrm>
            <a:off x="6743700" y="3310128"/>
            <a:ext cx="2034540" cy="10972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835140" y="3383280"/>
            <a:ext cx="18516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月6時間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6835140" y="3813048"/>
            <a:ext cx="1851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1人あたりの書類作業の削減余地（建設業の電子化実績を準用）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(1) 経済産業省・厚生労働省・文部科学省「2026年版 ものづくり白書」（令和8年5月）　(2) 労働政策研究・研修機構 調査シリーズNo.265（2026年3月）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解決策 ─ 記録は自動。貯まるほど真似されにくい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一人称の動画と会話をAIが整理し、若手・管理者・次の担い手に渡す。その先にフィジカルAI</a:t>
            </a:r>
            <a:endParaRPr lang="en-US" sz="1200" dirty="0"/>
          </a:p>
        </p:txBody>
      </p:sp>
      <p:pic>
        <p:nvPicPr>
          <p:cNvPr id="5" name="Image 0" descr="/home/user/-ai-commute-audio-/deck/assets/shot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120640" cy="2156059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5760" y="331012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サービス内容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365760" y="35661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若手へ：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図面・作業手順を現物に重ね、差異をその場で表示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管理者へ：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報告書の手順に沿って写真を抽出し、当日の報告書を自動作成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次の担い手へ：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勘どころを解説動画・音声番組・研修資料にして当社が届ける</a:t>
            </a:r>
            <a:endParaRPr lang="en-US" sz="950" dirty="0"/>
          </a:p>
        </p:txBody>
      </p:sp>
      <p:sp>
        <p:nvSpPr>
          <p:cNvPr id="8" name="moat"/>
          <p:cNvSpPr/>
          <p:nvPr/>
        </p:nvSpPr>
        <p:spPr>
          <a:xfrm>
            <a:off x="5669280" y="1051560"/>
            <a:ext cx="3108960" cy="3383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806440" y="11155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真似されにくい3つの仕組み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5806440" y="1481328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記録が貯まるほど強くなる</a:t>
            </a:r>
            <a:endParaRPr lang="en-US" sz="14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図面に現れない現場処置の記録は使うほど増え、後発には移せない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806440" y="2441448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意味づけは現場経験者にしかできない</a:t>
            </a:r>
            <a:endParaRPr lang="en-US" sz="14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映像のどこが重要かを見分けて意味を付けるのは、施工・製造の経験者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806440" y="3401568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業界の型を先に揃える</a:t>
            </a:r>
            <a:endParaRPr lang="en-US" sz="14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電線工場の工程ごとの手順と報告書の型を、業界で最初に揃える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ノウハウの核：判断ラベル付きの現場データ（どの手順の、どの場面が、なぜ重要か）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デモ ─ 図面との差異を見つけ、報告書が自動でできる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架空のケーブル接続工事。若手の作業を記録し、8mmの差異を検出、報告書と教材までつながる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00584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作業者のスマートグラス</a:t>
            </a:r>
            <a:endParaRPr lang="en-US" sz="1000" dirty="0"/>
          </a:p>
        </p:txBody>
      </p:sp>
      <p:pic>
        <p:nvPicPr>
          <p:cNvPr id="6" name="Image 0" descr="/home/user/-ai-commute-audio-/deck/assets/shot-g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43584"/>
            <a:ext cx="4937760" cy="207294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0" y="100584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管理者への自動報告</a:t>
            </a:r>
            <a:endParaRPr lang="en-US" sz="1000" dirty="0"/>
          </a:p>
        </p:txBody>
      </p:sp>
      <p:pic>
        <p:nvPicPr>
          <p:cNvPr id="8" name="Image 1" descr="/home/user/-ai-commute-audio-/deck/assets/shot-manag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43584"/>
            <a:ext cx="3291840" cy="199868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65760" y="3481123"/>
            <a:ext cx="457200" cy="21945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365760" y="3481123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検出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914400" y="3453691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半導電層の端部 実測112mm／図面120mm（8mm不足）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365760" y="3755443"/>
            <a:ext cx="457200" cy="21945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365760" y="3755443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是正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914400" y="3728011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遠隔の熟練者が「テープ基準で測り直す」と指示。判断として記録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365760" y="4029763"/>
            <a:ext cx="457200" cy="21945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365760" y="4029763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914400" y="4002331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手順ごとに写真を自動割当。作業者の報告書作成時間は0分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デモアプリ：claude.ai 上で再生可能（作業の再生・1件ずつ送り・全体像の表示）。寸法・人物はすべて架空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 ─ 「貯める」会社は現れた。当社は「渡す」で分かれる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判断の理由を扱う会社は現れた。連続工程の現場で、現物に重ねて渡し、教材にまでする会社はまだない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05156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ポジショニングマップ</a:t>
            </a:r>
            <a:endParaRPr lang="en-US" sz="1050" dirty="0"/>
          </a:p>
        </p:txBody>
      </p:sp>
      <p:sp>
        <p:nvSpPr>
          <p:cNvPr id="6" name="target-quadrant"/>
          <p:cNvSpPr/>
          <p:nvPr/>
        </p:nvSpPr>
        <p:spPr>
          <a:xfrm>
            <a:off x="2446020" y="1435608"/>
            <a:ext cx="1805940" cy="1234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2670048"/>
            <a:ext cx="3611880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446020" y="1435608"/>
            <a:ext cx="0" cy="2468880"/>
          </a:xfrm>
          <a:prstGeom prst="line">
            <a:avLst/>
          </a:prstGeom>
          <a:noFill/>
          <a:ln w="9525">
            <a:solidFill>
              <a:srgbClr val="8C8C8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531620" y="12161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仕組み（プロダクト）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531620" y="39410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人の時間（労働集約）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6974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← 実績・手順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2971800" y="26974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判断の理由 →</a:t>
            </a:r>
            <a:endParaRPr lang="en-US" sz="800" dirty="0"/>
          </a:p>
        </p:txBody>
      </p:sp>
      <p:sp>
        <p:nvSpPr>
          <p:cNvPr id="13" name="pos-MES・ERP"/>
          <p:cNvSpPr/>
          <p:nvPr/>
        </p:nvSpPr>
        <p:spPr>
          <a:xfrm>
            <a:off x="932688" y="1663294"/>
            <a:ext cx="137160" cy="1371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06424" y="163129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MES・ERP</a:t>
            </a:r>
            <a:endParaRPr lang="en-US" sz="800" dirty="0"/>
          </a:p>
        </p:txBody>
      </p:sp>
      <p:sp>
        <p:nvSpPr>
          <p:cNvPr id="15" name="pos-tebiki・Teachme Biz（器）"/>
          <p:cNvSpPr/>
          <p:nvPr/>
        </p:nvSpPr>
        <p:spPr>
          <a:xfrm>
            <a:off x="860450" y="2157070"/>
            <a:ext cx="137160" cy="1371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34186" y="212506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tebiki・Teachme Biz（器）</a:t>
            </a:r>
            <a:endParaRPr lang="en-US" sz="800" dirty="0"/>
          </a:p>
        </p:txBody>
      </p:sp>
      <p:sp>
        <p:nvSpPr>
          <p:cNvPr id="17" name="pos-AR作業支援"/>
          <p:cNvSpPr/>
          <p:nvPr/>
        </p:nvSpPr>
        <p:spPr>
          <a:xfrm>
            <a:off x="1799539" y="2428646"/>
            <a:ext cx="137160" cy="1371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08483" y="239664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AR作業支援</a:t>
            </a:r>
            <a:endParaRPr lang="en-US" sz="800" dirty="0"/>
          </a:p>
        </p:txBody>
      </p:sp>
      <p:sp>
        <p:nvSpPr>
          <p:cNvPr id="19" name="pos-CADDi（組立・図面）"/>
          <p:cNvSpPr/>
          <p:nvPr/>
        </p:nvSpPr>
        <p:spPr>
          <a:xfrm>
            <a:off x="2666390" y="1613916"/>
            <a:ext cx="137160" cy="1371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840126" y="15819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CADDi（組立・図面）</a:t>
            </a:r>
            <a:endParaRPr lang="en-US" sz="800" dirty="0"/>
          </a:p>
        </p:txBody>
      </p:sp>
      <p:sp>
        <p:nvSpPr>
          <p:cNvPr id="21" name="pos-Airion（貯めるまで）"/>
          <p:cNvSpPr/>
          <p:nvPr/>
        </p:nvSpPr>
        <p:spPr>
          <a:xfrm>
            <a:off x="3099816" y="2255825"/>
            <a:ext cx="137160" cy="1371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273552" y="2223821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Airion（貯めるまで）</a:t>
            </a:r>
            <a:endParaRPr lang="en-US" sz="800" dirty="0"/>
          </a:p>
        </p:txBody>
      </p:sp>
      <p:sp>
        <p:nvSpPr>
          <p:cNvPr id="23" name="pos-三現ワークス"/>
          <p:cNvSpPr/>
          <p:nvPr/>
        </p:nvSpPr>
        <p:spPr>
          <a:xfrm>
            <a:off x="3790188" y="1927555"/>
            <a:ext cx="201168" cy="201168"/>
          </a:xfrm>
          <a:prstGeom prst="ellipse">
            <a:avLst/>
          </a:prstGeom>
          <a:solidFill>
            <a:srgbClr val="1A1A1A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199132" y="1927555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三現ワークス</a:t>
            </a:r>
            <a:endParaRPr lang="en-US" sz="1000" dirty="0"/>
          </a:p>
        </p:txBody>
      </p:sp>
      <p:sp>
        <p:nvSpPr>
          <p:cNvPr id="25" name="pos-三菱総研 匠AI"/>
          <p:cNvSpPr/>
          <p:nvPr/>
        </p:nvSpPr>
        <p:spPr>
          <a:xfrm>
            <a:off x="2810866" y="3095244"/>
            <a:ext cx="137160" cy="1371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984602" y="30632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三菱総研 匠AI</a:t>
            </a:r>
            <a:endParaRPr lang="en-US" sz="800" dirty="0"/>
          </a:p>
        </p:txBody>
      </p:sp>
      <p:sp>
        <p:nvSpPr>
          <p:cNvPr id="27" name="pos-社内の熟練者（属人）"/>
          <p:cNvSpPr/>
          <p:nvPr/>
        </p:nvSpPr>
        <p:spPr>
          <a:xfrm>
            <a:off x="3677717" y="3539642"/>
            <a:ext cx="137160" cy="1371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086661" y="350763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社内の熟練者（属人）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4526280" y="105156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貯める（記録・構造化）と、渡す（教材にして届ける）</a:t>
            </a:r>
            <a:endParaRPr lang="en-US" sz="1050" dirty="0"/>
          </a:p>
        </p:txBody>
      </p:sp>
      <p:graphicFrame>
        <p:nvGraphicFramePr>
          <p:cNvPr id="7" name="store-handof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325880"/>
          <a:ext cx="4251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005840"/>
                <a:gridCol w="86868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会社・サービス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貯める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渡す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Airion 技能継承くん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 AI対話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× 顧客任せ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業種横断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キャディ CADDi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 判断履歴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×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組立・図面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三菱総研 匠AI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 コンサル型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×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個別案件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FRONTEO KIBIT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 既存文書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×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業種横断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tebiki／Teachme Biz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×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 器のみ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業種横断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AR作業支援（各社）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×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 手順表示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業種横断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三現ワークス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 常時収録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 現物照合＋教材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連続工程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hreat"/>
          <p:cNvSpPr/>
          <p:nvPr/>
        </p:nvSpPr>
        <p:spPr>
          <a:xfrm>
            <a:off x="4526280" y="3374136"/>
            <a:ext cx="4251960" cy="60350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4636008" y="3374136"/>
            <a:ext cx="4032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最大の脅威：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CADDiが連続工程に降りてくること。課題認識は同じ（「製造業の叡智の8割以上は暗黙知」）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防御線：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図面に現れない現場処置の蓄積と、現場で監修できる人</a:t>
            </a:r>
            <a:endParaRPr lang="en-US" sz="850" dirty="0"/>
          </a:p>
        </p:txBody>
      </p:sp>
      <p:sp>
        <p:nvSpPr>
          <p:cNvPr id="33" name="Text 29"/>
          <p:cNvSpPr txBox="1"/>
          <p:nvPr/>
        </p:nvSpPr>
        <p:spPr>
          <a:xfrm>
            <a:off x="4526280" y="4014216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STP：</a:t>
            </a:r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工程の形（連続／組立／施工）×規模で区分し、中堅の電線工場を狙う</a:t>
            </a:r>
            <a:endParaRPr lang="en-US" sz="80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競争戦略：</a:t>
            </a:r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ニッチャー（コトラー）×差別化集中（ポーター）。大手の内製は個別開発で中堅に届かない</a:t>
            </a:r>
            <a:endParaRPr lang="en-US" sz="800" dirty="0"/>
          </a:p>
        </p:txBody>
      </p:sp>
      <p:sp>
        <p:nvSpPr>
          <p:cNvPr id="34" name="Text 30"/>
          <p:cNvSpPr txBox="1"/>
          <p:nvPr/>
        </p:nvSpPr>
        <p:spPr>
          <a:xfrm>
            <a:off x="365760" y="460857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出典：各社公表資料（Airion 2025年7月、キャディ 2026年8月6日、三菱総合研究所、FRONTEO、tebiki、スタディスト）。詳細と大手の内製事例は補足資料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市場規模 ─ 狙う市場は約100億円、周辺は年7〜9%成長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TAM（周辺の大きな市場）→ SAM（当社が届く市場）→ SOM（5年目に取る市場）</a:t>
            </a:r>
            <a:endParaRPr lang="en-US" sz="1200" dirty="0"/>
          </a:p>
        </p:txBody>
      </p:sp>
      <p:sp>
        <p:nvSpPr>
          <p:cNvPr id="5" name="tam"/>
          <p:cNvSpPr/>
          <p:nvPr/>
        </p:nvSpPr>
        <p:spPr>
          <a:xfrm>
            <a:off x="411480" y="1097280"/>
            <a:ext cx="3840480" cy="338328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6" name="sam"/>
          <p:cNvSpPr/>
          <p:nvPr/>
        </p:nvSpPr>
        <p:spPr>
          <a:xfrm>
            <a:off x="1143000" y="2103120"/>
            <a:ext cx="2377440" cy="2286000"/>
          </a:xfrm>
          <a:prstGeom prst="ellipse">
            <a:avLst/>
          </a:prstGeom>
          <a:solidFill>
            <a:srgbClr val="4D4D4D"/>
          </a:solidFill>
          <a:ln/>
        </p:spPr>
      </p:sp>
      <p:sp>
        <p:nvSpPr>
          <p:cNvPr id="7" name="som"/>
          <p:cNvSpPr/>
          <p:nvPr/>
        </p:nvSpPr>
        <p:spPr>
          <a:xfrm>
            <a:off x="1783080" y="3108960"/>
            <a:ext cx="1097280" cy="10972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1234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TAM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スマートファクトリー＋建設テック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2240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SAM 約100億円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約3,350拠点×年300万円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783080" y="32918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SOM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2.55億円</a:t>
            </a:r>
            <a:endParaRPr lang="en-US" sz="1050" dirty="0"/>
          </a:p>
        </p:txBody>
      </p:sp>
      <p:graphicFrame>
        <p:nvGraphicFramePr>
          <p:cNvPr id="8" name="marke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51560"/>
          <a:ext cx="40690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32588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区分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規模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TAM 製造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42億→92億米ドル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国内スマートファクトリー市場 2025→2034年 (1)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TAM 建設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1,845億円→3,043億円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国内建設テック市場（建築分野）2023→2030年度 (2)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SAM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約100億円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電線・ケーブル製造353事業所 (3)＋中堅以上の電気工事会社 約3,000社 (4)、×年300万円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SOM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2.55億円（シェア2.5%）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5年目85拠点×年300万円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growth"/>
          <p:cNvSpPr/>
          <p:nvPr/>
        </p:nvSpPr>
        <p:spPr>
          <a:xfrm>
            <a:off x="4709160" y="3246120"/>
            <a:ext cx="4069080" cy="10058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846320" y="32918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市場の伸び率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4846320" y="356616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国内スマートファクトリー：年9.03%成長（2026〜2034年予測）(1)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国内建設テック（建築分野）：年7.4%成長（2023→2030年度予測）(2)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追い風：内閣府「人工知能基本計画」が暗黙知の多い現場へのAI実装を推進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365760" y="4480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(1) IMARC Group「Japan Smart Factory Market」　(2) 矢野経済研究所 プレスリリースNo.3789（2025年4月）建築分野ソフトウェア　(3) 経済産業省「経済構造実態調査」2024年　(4) 電気工事業の許可業者65,497社（令和7年3月末、国土交通省）から推計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ビジネスモデル ─ 年300万円、約2か月で元が取れる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当社の収入は、毎年積み上がる利用料と、初年度だけの導入支援の二本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05156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1拠点が払う金額（万円）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38074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初年度</a:t>
            </a:r>
            <a:endParaRPr lang="en-US" sz="950" dirty="0"/>
          </a:p>
        </p:txBody>
      </p:sp>
      <p:sp>
        <p:nvSpPr>
          <p:cNvPr id="7" name="seg-基盤0"/>
          <p:cNvSpPr/>
          <p:nvPr/>
        </p:nvSpPr>
        <p:spPr>
          <a:xfrm>
            <a:off x="1143000" y="1380744"/>
            <a:ext cx="621792" cy="384048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43000" y="1380744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 100</a:t>
            </a:r>
            <a:endParaRPr lang="en-US" sz="850" dirty="0"/>
          </a:p>
        </p:txBody>
      </p:sp>
      <p:sp>
        <p:nvSpPr>
          <p:cNvPr id="9" name="seg-ライン登録0"/>
          <p:cNvSpPr/>
          <p:nvPr/>
        </p:nvSpPr>
        <p:spPr>
          <a:xfrm>
            <a:off x="1764792" y="1380744"/>
            <a:ext cx="621792" cy="384048"/>
          </a:xfrm>
          <a:prstGeom prst="rect">
            <a:avLst/>
          </a:prstGeom>
          <a:solidFill>
            <a:srgbClr val="4D4D4D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764792" y="1380744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ライン登録 100</a:t>
            </a:r>
            <a:endParaRPr lang="en-US" sz="850" dirty="0"/>
          </a:p>
        </p:txBody>
      </p:sp>
      <p:sp>
        <p:nvSpPr>
          <p:cNvPr id="11" name="seg-追加機能0"/>
          <p:cNvSpPr/>
          <p:nvPr/>
        </p:nvSpPr>
        <p:spPr>
          <a:xfrm>
            <a:off x="2386584" y="1380744"/>
            <a:ext cx="621792" cy="384048"/>
          </a:xfrm>
          <a:prstGeom prst="rect">
            <a:avLst/>
          </a:prstGeom>
          <a:solidFill>
            <a:srgbClr val="8C8C8C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386584" y="1380744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追加機能 100</a:t>
            </a:r>
            <a:endParaRPr lang="en-US" sz="850" dirty="0"/>
          </a:p>
        </p:txBody>
      </p:sp>
      <p:sp>
        <p:nvSpPr>
          <p:cNvPr id="13" name="seg-導入支援0"/>
          <p:cNvSpPr/>
          <p:nvPr/>
        </p:nvSpPr>
        <p:spPr>
          <a:xfrm>
            <a:off x="3008376" y="1380744"/>
            <a:ext cx="124358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08376" y="1380744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導入支援 200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288536" y="138074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500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65760" y="18928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2年目以降</a:t>
            </a:r>
            <a:endParaRPr lang="en-US" sz="950" dirty="0"/>
          </a:p>
        </p:txBody>
      </p:sp>
      <p:sp>
        <p:nvSpPr>
          <p:cNvPr id="17" name="seg-基盤1"/>
          <p:cNvSpPr/>
          <p:nvPr/>
        </p:nvSpPr>
        <p:spPr>
          <a:xfrm>
            <a:off x="1143000" y="1892808"/>
            <a:ext cx="621792" cy="384048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43000" y="1892808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 100</a:t>
            </a:r>
            <a:endParaRPr lang="en-US" sz="850" dirty="0"/>
          </a:p>
        </p:txBody>
      </p:sp>
      <p:sp>
        <p:nvSpPr>
          <p:cNvPr id="19" name="seg-ライン登録1"/>
          <p:cNvSpPr/>
          <p:nvPr/>
        </p:nvSpPr>
        <p:spPr>
          <a:xfrm>
            <a:off x="1764792" y="1892808"/>
            <a:ext cx="621792" cy="384048"/>
          </a:xfrm>
          <a:prstGeom prst="rect">
            <a:avLst/>
          </a:prstGeom>
          <a:solidFill>
            <a:srgbClr val="4D4D4D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764792" y="1892808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ライン登録 100</a:t>
            </a:r>
            <a:endParaRPr lang="en-US" sz="850" dirty="0"/>
          </a:p>
        </p:txBody>
      </p:sp>
      <p:sp>
        <p:nvSpPr>
          <p:cNvPr id="21" name="seg-追加機能1"/>
          <p:cNvSpPr/>
          <p:nvPr/>
        </p:nvSpPr>
        <p:spPr>
          <a:xfrm>
            <a:off x="2386584" y="1892808"/>
            <a:ext cx="621792" cy="384048"/>
          </a:xfrm>
          <a:prstGeom prst="rect">
            <a:avLst/>
          </a:prstGeom>
          <a:solidFill>
            <a:srgbClr val="8C8C8C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386584" y="1892808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追加機能 100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3044952" y="189280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300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65760" y="2468880"/>
            <a:ext cx="40690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65760" y="248716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100万円／年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737360" y="246888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アプリと現場データ基盤の利用料（1拠点）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65760" y="2798064"/>
            <a:ext cx="40690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5760" y="281635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ライン登録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20万円×5ライン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737360" y="2798064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記録の対象にする生産ライン・工区の数に比例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65760" y="3127248"/>
            <a:ext cx="40690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65760" y="314553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追加機能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50万円×2本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737360" y="3127248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教材制作（KNACK）・危険表示（SAFE）など、選んだ数に比例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65760" y="3456432"/>
            <a:ext cx="40690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65760" y="34747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導入支援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200万円（初年度のみ）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737360" y="345643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当社の担当者が約2か月、現場に入る作業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365760" y="3785616"/>
            <a:ext cx="40690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65760" y="3858768"/>
            <a:ext cx="4069080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75488" y="3858768"/>
            <a:ext cx="3849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LTV 約1,865万円</a:t>
            </a:r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（年粗利255万円×保守的に7年＋導入支援の粗利80万円）</a:t>
            </a:r>
            <a:endParaRPr lang="en-US" sz="80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CAC 約64万円</a:t>
            </a:r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（5年目：営業人件費1,600万円＋広告500万円÷新規33拠点）</a:t>
            </a:r>
            <a:endParaRPr lang="en-US" sz="80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LTV/CAC 約29倍・獲得費用は約3か月で回収</a:t>
            </a:r>
            <a:endParaRPr lang="en-US" sz="800" dirty="0"/>
          </a:p>
        </p:txBody>
      </p:sp>
      <p:sp>
        <p:nvSpPr>
          <p:cNvPr id="39" name="Text 36"/>
          <p:cNvSpPr txBox="1"/>
          <p:nvPr/>
        </p:nvSpPr>
        <p:spPr>
          <a:xfrm>
            <a:off x="4617720" y="105156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顧客から見た回収（対象者100名の拠点・万円）</a:t>
            </a:r>
            <a:endParaRPr lang="en-US" sz="1050" dirty="0"/>
          </a:p>
        </p:txBody>
      </p:sp>
      <p:graphicFrame>
        <p:nvGraphicFramePr>
          <p:cNvPr id="40" name="roi-chart" descr=""/>
          <p:cNvGraphicFramePr/>
          <p:nvPr/>
        </p:nvGraphicFramePr>
        <p:xfrm>
          <a:off x="4617720" y="1307592"/>
          <a:ext cx="4160520" cy="23957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1" name="Text 37"/>
          <p:cNvSpPr txBox="1"/>
          <p:nvPr/>
        </p:nvSpPr>
        <p:spPr>
          <a:xfrm>
            <a:off x="5577840" y="3154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← 約2.1か月で回収</a:t>
            </a:r>
            <a:endParaRPr lang="en-US" sz="950" dirty="0"/>
          </a:p>
        </p:txBody>
      </p:sp>
      <p:sp>
        <p:nvSpPr>
          <p:cNvPr id="42" name="Text 38"/>
          <p:cNvSpPr txBox="1"/>
          <p:nvPr/>
        </p:nvSpPr>
        <p:spPr>
          <a:xfrm>
            <a:off x="7223760" y="3154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初年度費用 500万円</a:t>
            </a:r>
            <a:endParaRPr lang="en-US" sz="850" dirty="0"/>
          </a:p>
        </p:txBody>
      </p:sp>
      <p:sp>
        <p:nvSpPr>
          <p:cNvPr id="43" name="Text 39"/>
          <p:cNvSpPr txBox="1"/>
          <p:nvPr/>
        </p:nvSpPr>
        <p:spPr>
          <a:xfrm>
            <a:off x="5212080" y="14173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浮いた工数の累計：12か月で2,880万円（5.8倍）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4617720" y="373989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横軸は経過月数。時間単価4,000円（780万円÷1,950h）×月6h×100名＝月240万円。月6hは日報・進捗報告などの書類作業の削減分で、建設業の書類電子化実績（月6.5h）を準用した仮定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売上予測 ─ 拠点×月25万円。5年目は月2,400万円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利用料が毎年積み上がり、導入支援と受託開発は新規拠点の数に比例する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05156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成長曲線（百万円）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05156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━ 売上高</a:t>
            </a:r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■ 営業利益</a:t>
            </a:r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┅ 累積営業損益</a:t>
            </a:r>
            <a:endParaRPr lang="en-US" sz="800" dirty="0"/>
          </a:p>
        </p:txBody>
      </p:sp>
      <p:graphicFrame>
        <p:nvGraphicFramePr>
          <p:cNvPr id="7" name="growth-chart" descr=""/>
          <p:cNvGraphicFramePr/>
          <p:nvPr/>
        </p:nvGraphicFramePr>
        <p:xfrm>
          <a:off x="365760" y="1307592"/>
          <a:ext cx="40690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monthly"/>
          <p:cNvSpPr/>
          <p:nvPr/>
        </p:nvSpPr>
        <p:spPr>
          <a:xfrm>
            <a:off x="365760" y="3520440"/>
            <a:ext cx="4069080" cy="9601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02920" y="354787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月次売上の根拠（5年目の月平均 約2,420万円）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利用料 約1,790万円 ＝ 月25万円×平均約72拠点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導入支援 約550万円 ＝ 200万円×月2.75拠点（新規33拠点÷12）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受託開発 約80万円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4617720" y="105156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費用の内訳（万円）</a:t>
            </a:r>
            <a:endParaRPr lang="en-US" sz="1050" dirty="0"/>
          </a:p>
        </p:txBody>
      </p:sp>
      <p:graphicFrame>
        <p:nvGraphicFramePr>
          <p:cNvPr id="10" name="cos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325880"/>
          <a:ext cx="41605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758952"/>
                <a:gridCol w="758952"/>
                <a:gridCol w="768096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社員数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人件費（販管費分）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2,480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5,980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11,470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家賃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360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広告・展示会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交通・出張（現場導入）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360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1,000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端末・ツール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専門家（税理士・弁護士・弁理士）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雑費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販管費 合計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3,680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7,880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14,370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4617720" y="42062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所在地案：川崎市（準備期は川崎・横浜のインキュベーション施設）。家賃は1年目15坪・月20万円、5年目40坪・月50万円。人件費は1人年800万円</a:t>
            </a:r>
            <a:endParaRPr lang="en-US" sz="800" dirty="0"/>
          </a:p>
        </p:txBody>
      </p:sp>
      <p:sp>
        <p:nvSpPr>
          <p:cNvPr id="13" name="Text 8"/>
          <p:cNvSpPr txBox="1"/>
          <p:nvPr/>
        </p:nvSpPr>
        <p:spPr>
          <a:xfrm>
            <a:off x="365760" y="460857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売上の内訳：既存顧客の利用料（前年末拠点×300万円）＋新規の利用料（新規×300万円×0.5）＋導入支援（新規×200万円）＋受託開発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損益分岐点 ─ 4年目に超え、5年目の余裕率は32%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損益分岐点売上＝販管費（固定費）÷粗利率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05156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━ 実際の売上</a:t>
            </a:r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┅ 損益分岐点売上（百万円）</a:t>
            </a:r>
            <a:endParaRPr lang="en-US" sz="850" dirty="0"/>
          </a:p>
        </p:txBody>
      </p:sp>
      <p:graphicFrame>
        <p:nvGraphicFramePr>
          <p:cNvPr id="6" name="bep-chart" descr=""/>
          <p:cNvGraphicFramePr/>
          <p:nvPr/>
        </p:nvGraphicFramePr>
        <p:xfrm>
          <a:off x="365760" y="1307592"/>
          <a:ext cx="47548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bep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1051560"/>
          <a:ext cx="3429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85800"/>
                <a:gridCol w="685800"/>
                <a:gridCol w="6858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百万円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販管費（固定費）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79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107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粗利率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66%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71%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73%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損益分岐点売上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119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151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196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実際の売上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安全余裕率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─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32%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bep-people"/>
          <p:cNvSpPr/>
          <p:nvPr/>
        </p:nvSpPr>
        <p:spPr>
          <a:xfrm>
            <a:off x="5349240" y="3108960"/>
            <a:ext cx="3429000" cy="12161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5486400" y="315468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人で見た損益分岐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販管費／人 713万円 ÷ 粗利／拠点 255万円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社員1人あたり2.8拠点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3年目 2.73（未達）→ 4年目 3.67（超過）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安全余裕率＝（売上−損益分岐点売上）÷売上。1〜2年目の損益分岐点売上は89・93百万円（売上12・48百万円）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資金計画・CF ─ 黒字倒産させない仕組みを先に置く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必要資金1.5億円を4つの手段で段階的に調達し、現金残高が3年目の谷でも6,000万円を残す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0515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調達の内訳（必要資金1.5億円）</a:t>
            </a:r>
            <a:endParaRPr lang="en-US" sz="1050" dirty="0"/>
          </a:p>
        </p:txBody>
      </p:sp>
      <p:graphicFrame>
        <p:nvGraphicFramePr>
          <p:cNvPr id="12" name="fundi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39319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554480"/>
                <a:gridCol w="868680"/>
                <a:gridCol w="7772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時期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手段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金額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目的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準備期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出資（今回）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500万円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試作品・実証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 期首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日本政策金融公庫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新規開業・スタートアップ支援資金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1,000万円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運転資金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 年央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CVC・VC（電線・ロボット）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1億1,500万円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人員・開発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2年目〜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公庫 資本性ローン（予備枠）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2,000万円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遅延時のみ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1億5,000万円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26280" y="105156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期末の現金残高（百万円）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5989320" y="105156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━ 現金残高</a:t>
            </a:r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┅ 最低残高（固定費3か月分）</a:t>
            </a:r>
            <a:endParaRPr lang="en-US" sz="800" dirty="0"/>
          </a:p>
        </p:txBody>
      </p:sp>
      <p:graphicFrame>
        <p:nvGraphicFramePr>
          <p:cNvPr id="9" name="cash-chart" descr=""/>
          <p:cNvGraphicFramePr/>
          <p:nvPr/>
        </p:nvGraphicFramePr>
        <p:xfrm>
          <a:off x="4526280" y="1307592"/>
          <a:ext cx="42519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anti-bankruptcy"/>
          <p:cNvSpPr/>
          <p:nvPr/>
        </p:nvSpPr>
        <p:spPr>
          <a:xfrm>
            <a:off x="4526280" y="3429000"/>
            <a:ext cx="4251960" cy="10515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4663440" y="348386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黒字倒産を防ぐ4つのルール</a:t>
            </a:r>
            <a:endParaRPr lang="en-US" sz="1050" dirty="0"/>
          </a:p>
        </p:txBody>
      </p:sp>
      <p:sp>
        <p:nvSpPr>
          <p:cNvPr id="12" name="Text 7"/>
          <p:cNvSpPr txBox="1"/>
          <p:nvPr/>
        </p:nvSpPr>
        <p:spPr>
          <a:xfrm>
            <a:off x="4663440" y="3739896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利用料は年額前払い。導入支援は着手金50%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現金残高が固定費3か月分を下回る前に、追加調達を始める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月次の資金繰り表で、入金と支払いの時期を12か月先まで管理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計画が1年遅れても耐えられる備え（0.56億円）を残高に含める</a:t>
            </a:r>
            <a:endParaRPr lang="en-US" sz="850" dirty="0"/>
          </a:p>
        </p:txBody>
      </p:sp>
      <p:sp>
        <p:nvSpPr>
          <p:cNvPr id="13" name="Text 8"/>
          <p:cNvSpPr txBox="1"/>
          <p:nvPr/>
        </p:nvSpPr>
        <p:spPr>
          <a:xfrm>
            <a:off x="365760" y="45537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金残高は簡易計算（期首残高＋調達＋営業損益）。税金・減価償却・融資の返済・運転資本の増減は含めない。固定費3か月分＝3年目の販管費79百万円÷4。公庫の制度：融資限度額7,200万円（うち運転資金4,800万円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⑦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 ─ 現場と技術を揃え、顧問とパートナーで補う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創業者の経歴・チームメンバーのスキル・外部パートナーと顧問</a:t>
            </a:r>
            <a:endParaRPr lang="en-US" sz="1200" dirty="0"/>
          </a:p>
        </p:txBody>
      </p:sp>
      <p:sp>
        <p:nvSpPr>
          <p:cNvPr id="5" name="founder"/>
          <p:cNvSpPr/>
          <p:nvPr/>
        </p:nvSpPr>
        <p:spPr>
          <a:xfrm>
            <a:off x="365760" y="1051560"/>
            <a:ext cx="3108960" cy="3383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2920" y="1143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代表取締役 CEO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志願者（創業者）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764792"/>
            <a:ext cx="28346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電線メーカー 電力事業部門で、66kV／275kV 地中送電線の施工管理5年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Python・Power BI・FastAPI・Docker・LangChain・RAG を独学し業務に実装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ニュース要約→音声合成→毎朝配信の仕組みを個人で構築・運用中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1級電気工事施工管理技士・G検定・大学院修了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専念する時期：＿＿＿＿（記入）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3611880" y="1051560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チームと外部の体制</a:t>
            </a:r>
            <a:endParaRPr lang="en-US" sz="1050" dirty="0"/>
          </a:p>
        </p:txBody>
      </p:sp>
      <p:graphicFrame>
        <p:nvGraphicFramePr>
          <p:cNvPr id="13" name="team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11880" y="1325880"/>
          <a:ext cx="516636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194560"/>
                <a:gridCol w="73152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役割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求めるスキル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時期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状況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技術責任者（CTO）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映像AI・クラウド開発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（記入）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生産技術・現場監修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電線工場の生産技術の経験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（記入）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カスタマーサクセス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施工管理・製造の現場経験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（記入）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顧問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電線業界・生産技術のOB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準備期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（記入）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専門家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税理士・弁護士（データ契約）・弁理士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準備期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（記入）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パートナー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スマートグラスメーカー・大学（映像AI）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準備期〜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（記入）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proof"/>
          <p:cNvSpPr/>
          <p:nvPr/>
        </p:nvSpPr>
        <p:spPr>
          <a:xfrm>
            <a:off x="3611880" y="3794760"/>
            <a:ext cx="5166360" cy="6400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3749040" y="37947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実行力の証拠：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音声の自動配信は毎朝稼働中。本日のデモアプリも自作。最初の3か月で試作品を出す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状況欄は確定・内諾・打診中・募集中のいずれかを記入する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事業のライフサイクル ─ 成熟期には上場を目指す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解決策の3段階を、導入期・成長期・成熟期に重ねる</a:t>
            </a:r>
            <a:endParaRPr lang="en-US" sz="1200" dirty="0"/>
          </a:p>
        </p:txBody>
      </p:sp>
      <p:sp>
        <p:nvSpPr>
          <p:cNvPr id="5" name="life-0"/>
          <p:cNvSpPr/>
          <p:nvPr/>
        </p:nvSpPr>
        <p:spPr>
          <a:xfrm>
            <a:off x="365760" y="1737360"/>
            <a:ext cx="2715768" cy="21488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2920" y="1828800"/>
            <a:ext cx="2441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導入期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準備期〜2年目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4231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記録と報告を自動に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743200"/>
            <a:ext cx="2441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・電線工場3拠点で有償試験導入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・赤字。準備期は500万円で試作品と実証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・資金：出資・公庫融資・CVC</a:t>
            </a:r>
            <a:endParaRPr lang="en-US" sz="950" dirty="0"/>
          </a:p>
        </p:txBody>
      </p:sp>
      <p:sp>
        <p:nvSpPr>
          <p:cNvPr id="9" name="life-1"/>
          <p:cNvSpPr/>
          <p:nvPr/>
        </p:nvSpPr>
        <p:spPr>
          <a:xfrm>
            <a:off x="3214116" y="1417320"/>
            <a:ext cx="2715768" cy="246888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51276" y="1508760"/>
            <a:ext cx="2441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成長期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3〜5年目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351276" y="210312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照合して品質を守る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3351276" y="2423160"/>
            <a:ext cx="2441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・30→85拠点。施工会社へ展開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・4年目に黒字化、5年目 営業利益率24%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・資金：自己資金＋予備の資本性ローン</a:t>
            </a:r>
            <a:endParaRPr lang="en-US" sz="950" dirty="0"/>
          </a:p>
        </p:txBody>
      </p:sp>
      <p:sp>
        <p:nvSpPr>
          <p:cNvPr id="13" name="life-2"/>
          <p:cNvSpPr/>
          <p:nvPr/>
        </p:nvSpPr>
        <p:spPr>
          <a:xfrm>
            <a:off x="6062472" y="1097280"/>
            <a:ext cx="2715768" cy="2788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199632" y="1188720"/>
            <a:ext cx="2441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成熟期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6年目〜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199632" y="178308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作業をAIが学ぶ（フィジカルAI）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199632" y="2103120"/>
            <a:ext cx="2441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・素材産業へ拡大、海外へ輸出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・蓄積した作業データでロボットに教える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・上場を目指す（資本市場から調達）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5760" y="3977640"/>
            <a:ext cx="8412480" cy="502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02920" y="39776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国の方針：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「暗黙知が豊富な現場へのバーティカルAIの開発・実装を推進し、輸出も促進する」─ 内閣府「人工知能基本計画」（令和8年7月14日 閣議決定）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365760" y="457200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上場は目標であり、時期・市場は成長期の実績を見て判断する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希望金額 500万円 ─ 6か月以内に最初の1拠点を動かす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準備期の資金。創業者の給料はゼロで、すべて試作品と実証に使う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05156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使い道（万円）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34416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試作品の開発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クラウド・生成AI・外注エンジニア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103120" y="1435608"/>
            <a:ext cx="1737360" cy="2377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886200" y="13990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250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180136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端末・機材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スマートグラス・ヘルメットカメラ 数台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103120" y="1892808"/>
            <a:ext cx="555955" cy="2377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04795" y="1856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80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365760" y="225856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1拠点での実証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3か月の交通・設置・現場研修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103120" y="2350008"/>
            <a:ext cx="694944" cy="2377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843784" y="23134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365760" y="271576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設立・契約・知財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法人設立、秘密保持・データ利用契約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103120" y="2807208"/>
            <a:ext cx="277978" cy="2377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426818" y="27706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365760" y="317296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予備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103120" y="3264408"/>
            <a:ext cx="208483" cy="237744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2357323" y="32278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365760" y="3657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合計 500万円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617720" y="105156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マイルストーン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617720" y="1399032"/>
            <a:ext cx="685800" cy="31089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617720" y="139903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3か月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5394960" y="134416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試作品：一人称の記録 → 写真の自動抽出 → 報告書の自動作成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617720" y="1856232"/>
            <a:ext cx="685800" cy="31089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617720" y="185623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6か月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5394960" y="180136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1拠点で実証：報告書の作成時間がどれだけ減ったかを実測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2313432"/>
            <a:ext cx="685800" cy="31089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617720" y="231343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6か月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5394960" y="225856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有償試験導入3拠点の契約、公庫融資の申込、CVCとの交渉開始</a:t>
            </a:r>
            <a:endParaRPr lang="en-US" sz="950" dirty="0"/>
          </a:p>
        </p:txBody>
      </p:sp>
      <p:sp>
        <p:nvSpPr>
          <p:cNvPr id="32" name="return"/>
          <p:cNvSpPr/>
          <p:nvPr/>
        </p:nvSpPr>
        <p:spPr>
          <a:xfrm>
            <a:off x="4617720" y="2834640"/>
            <a:ext cx="416052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754880" y="28803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虎へのリターン（提案）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4754880" y="3154680"/>
            <a:ext cx="3886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500万円で発行済株式の10%（評価額 出資前4,500万円）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出口：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成熟期の上場、または事業会社への売却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お願い：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資金に加え、製造業・建設業の実証先のご紹介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365760" y="457200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出資条件は提案であり、交渉により決める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 ─ 最大のリスクは自分。だから役割と判断基準を先に決める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弱みは隠さない。対策とセットで示す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1051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創業者が律速になる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2606040" y="1051560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役割を「型を渡す」に絞る。BSCの4指標で判断を任せ、1か月不在でも回る会社にする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65760" y="1508760"/>
            <a:ext cx="84124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" y="1508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製造現場の経験が浅い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2606040" y="1508760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生産技術の経験者を初期メンバーに迎え、顧客の工場に入って学ぶ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1965960"/>
            <a:ext cx="84124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576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CADDiなど大手の参入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2606040" y="1965960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図面に現れない現場処置の蓄積と、現場で監修できる人を障壁にする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5760" y="2423160"/>
            <a:ext cx="84124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576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常時収録への抵抗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2606040" y="2423160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作業時間・作業エリアに限定。本人同意と労使合意、休憩中・私語は自動除外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5760" y="2880360"/>
            <a:ext cx="84124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6576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資金ショート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2606040" y="2880360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最低残高ルールと前払い・着手金。公庫の資本性ローンを予備枠に持つ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65760" y="3337560"/>
            <a:ext cx="84124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1" name="closing"/>
          <p:cNvSpPr/>
          <p:nvPr/>
        </p:nvSpPr>
        <p:spPr>
          <a:xfrm>
            <a:off x="365760" y="3547872"/>
            <a:ext cx="841248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48640" y="36393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日本の品質を支えてきた現場の勘を、人に依存しない形で残す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その最初の一歩として、500万円で、6か月以内に最初の1拠点を動かします。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株式会社三現ワークス 事業計画書</dc:title>
  <dc:subject>PptxGenJS Presentation</dc:subject>
  <dc:creator>PptxGenJS</dc:creator>
  <cp:lastModifiedBy>PptxGenJS</cp:lastModifiedBy>
  <cp:revision>1</cp:revision>
  <dcterms:created xsi:type="dcterms:W3CDTF">2026-10-09T12:15:11Z</dcterms:created>
  <dcterms:modified xsi:type="dcterms:W3CDTF">2026-10-09T12:15:11Z</dcterms:modified>
</cp:coreProperties>
</file>