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要約：人が減っても現場が迷わず回る仕組みをつくる。それが三現ワークスの存在意義（設問③）
株式会社三現ワークスの事業構想を発表します。三現とは、現場・現物・現実のことです。工場でも施工現場でも、熟練者の勘が記録に残らないまま失われつつあります。この会社の存在意義は「現場の勘を、次の担い手へ。」です。使命は、熟練者の判断を記録して、次の人と機械に渡すこと。5年後には85の拠点でそれが当たり前になっている状態を目指します。行動指針は社名のとおり、現場に立つ、現物に触れる、現実で判断する、の三つです。ここから、なぜこの事業が必要か、何をするのか、どう稼ぐのかを順にご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要約：熟練者の勘が、記録に残らないまま消えていく
まず、解きたい課題です。たとえば電線の押出ラインで外径が振れたとき、熟練者は音や湿度を見て、温度を少し下げて立て直します。ところが、この判断は手順書には書かれていません。数字で見ると、建設業の就業者は55歳以上が36.7%、29歳以下は11.7%です。製造業の就業者は2025年に1,033万人まで減り、技能継承がうまくいっていない企業は3社に2社にのぼります。それなのに、技能継承にデジタル技術を使っている企業は21.7%にとどまります。私は古河電気工業で地中送電線の施工管理を5年間担当し、ケーブルが使われる現場で不具合や試験値を見てきました。同時に、PythonやRAGなどを独学し、仕組みを自分で作ってきました。現場を知り、仕組みを作れる人間として、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要約：熟練者の一言をタブレットで記録し、生成AIで整理して、次の人の画面に出す
設問①、解決策です。具体的には三つの段階で動きます。一つ目は記録です。熟練者は異常に対処したら、タブレットに音声で一言だけ残します。たとえば「湿度が高いので押出温度を2℃下げた」。写真と、MESから取った設備データが自動で紐づきます。二つ目は整理です。生成AIがその一言を、条件・処置・理由に分けて文章にし、ロットや設備のデータと合わせて事例として蓄えます。三つ目は引き継ぎです。似た条件になると、若手のタブレットに過去の事例と推奨値が出ます。搬送ロボットや検査AIには、条件を直接渡します。ただ、道具を渡すだけでは現場に定着しません。そこで最初の2か月は、当社の担当者が現場に入り、熟練者に聞き取りをして判断を棚卸しし、研修まで行います。機能は、記録と検索の基盤から始め、推奨値の提示、ロット追跡、計画の試算、ロボット連携と、年に一つずつ増やし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払うのは、左の帯のとおりです。毎年払うのは、アプリと基盤の利用料100万円、記録するラインの数に応じた登録料が20万円×5ラインで100万円、選んだ追加機能が50万円×2本で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ただし月6時間の削減は、建設業の書類電子化の実績を当てはめた仮定です。当社から見ると、利用料は粗利率85%で毎年積み上がり、導入支援は粗利率40%で一度きりです。お客様が増えるほど、利用料が積み上がっていく構造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要約：判断の理由を仕組みで扱う会社は、まだない
最初に自分で自分に突きつけた問いが三つありました。コンサルと何が違うのか、MESや大手SIerと何が違うのか、ロボットやAIが来たら人の判断は要らなくなるのではないか、です。左の図は、横軸が扱う情報、つまり何が起きたかという実績か、なぜそうしたかという判断の理由か。縦軸が、人の時間で提供するか、仕組みで提供するかです。MESやロボットは実績と動作を仕組みで扱います。コンサルや社内の熟練者は判断の理由を扱いますが、人に依存します。判断の理由を仕組みで扱う右上は、まだ空いています。ここを、熟練者の判断が品質を左右する電線・ケーブル工場に絞って取ります。大手が採算に乗せにくい専門領域に集中する、ニッチャーの戦い方です。弱みとして、製造現場の経験が浅いことと、営業・資金調達が未経験であることを正直に挙げ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要約：最大のリスクは自分。だから役割と判断基準を先に決めておく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私がいなくても判断できる会社にします。そのための仕組みが下段のバランスト・スコアカードで、四つの指標を先に決めておきます。最後に、この事業の顧客・商品・収益は、すべて現在の勤務先の中にも存在します。顧客は社内の工場、商品は製造記録のデータ化と技能継承、収益は工数削減と品質不良の防止で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3154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株式会社三現ワークス（事業構想）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447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熟練者の判断を記録し、次の担い手と機械に渡す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85拠点で、熟練者がいなくても迷わず判断できている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429000" y="35204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本日の流れ：課題 → 解決策 → 収益の仕組み → 競合 → 組織 → 計画 → リスク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発表者：＿＿＿＿＿＿＿＿＿＿　　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熟練者の勘が、記録に残らないまま消えていく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担い手は高齢化して減っているのに、技能継承にデジタルを使う企業は2割にとどまる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343400" cy="1188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51460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78892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Python・Power BI・FastAPI・Docker・LangChain・RAG を独学し業務に実装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stat-0"/>
          <p:cNvSpPr/>
          <p:nvPr/>
        </p:nvSpPr>
        <p:spPr>
          <a:xfrm>
            <a:off x="4937760" y="1051560"/>
            <a:ext cx="1874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47488" y="11887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047488" y="17373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建設業就業者のうち55歳以上（29歳以下は11.7%）</a:t>
            </a:r>
            <a:endParaRPr lang="en-US" sz="950" dirty="0"/>
          </a:p>
        </p:txBody>
      </p:sp>
      <p:sp>
        <p:nvSpPr>
          <p:cNvPr id="13" name="stat-1"/>
          <p:cNvSpPr/>
          <p:nvPr/>
        </p:nvSpPr>
        <p:spPr>
          <a:xfrm>
            <a:off x="6903720" y="1051560"/>
            <a:ext cx="1874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13448" y="11887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1,033万人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013448" y="1737360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製造業就業者数（2025年。2023年の1,055万人から減少）</a:t>
            </a:r>
            <a:endParaRPr lang="en-US" sz="950" dirty="0"/>
          </a:p>
        </p:txBody>
      </p:sp>
      <p:sp>
        <p:nvSpPr>
          <p:cNvPr id="16" name="stat-2"/>
          <p:cNvSpPr/>
          <p:nvPr/>
        </p:nvSpPr>
        <p:spPr>
          <a:xfrm>
            <a:off x="4937760" y="2624328"/>
            <a:ext cx="1874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47488" y="276148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3社に2社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310128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技能継承がうまくいっていない製造企業</a:t>
            </a:r>
            <a:endParaRPr lang="en-US" sz="950" dirty="0"/>
          </a:p>
        </p:txBody>
      </p:sp>
      <p:sp>
        <p:nvSpPr>
          <p:cNvPr id="19" name="stat-3"/>
          <p:cNvSpPr/>
          <p:nvPr/>
        </p:nvSpPr>
        <p:spPr>
          <a:xfrm>
            <a:off x="6903720" y="2624328"/>
            <a:ext cx="1874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13448" y="276148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21.7%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013448" y="3310128"/>
            <a:ext cx="1655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技能継承にデジタル技術を活用している企業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総務省「労働力調査」2024年）／経済産業省・厚生労働省・文部科学省「ものづくり白書」2026年版／労働政策研究・研修機構「ものづくり産業における人材確保・定着と技能継承に関する調査」（2026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熟練者の一言を記録し、次の人の画面に出す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道具はタブレットアプリと生成AI。道具だけでは定着しないため、最初の2か月は当社が現場に入る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51560"/>
            <a:ext cx="2578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51560"/>
            <a:ext cx="2578608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515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記録する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熟練者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435608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異常に対処したら、タブレットに音声で一言残す。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例「湿度が高いので温度を2℃下げた」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" y="2295144"/>
            <a:ext cx="23591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" y="235000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現場記録アプリ（音声・写真）＋MESから設備データを自動取得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944368" y="1801368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tep-2"/>
          <p:cNvSpPr/>
          <p:nvPr/>
        </p:nvSpPr>
        <p:spPr>
          <a:xfrm>
            <a:off x="3282696" y="1051560"/>
            <a:ext cx="2578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051560"/>
            <a:ext cx="2578608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392424" y="10515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435608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一言を「条件・処置・理由」に分けて文章化し、ロット・設備データと紐づけて事例として蓄積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92424" y="2295144"/>
            <a:ext cx="23591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92424" y="235000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861304" y="1801368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tep-3"/>
          <p:cNvSpPr/>
          <p:nvPr/>
        </p:nvSpPr>
        <p:spPr>
          <a:xfrm>
            <a:off x="6199632" y="1051560"/>
            <a:ext cx="2578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99632" y="1051560"/>
            <a:ext cx="2578608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09360" y="10515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引き継ぐ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若手・機械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1435608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似た条件になると、若手の画面に過去事例と推奨値を表示。ロボット・検査AIには条件を直接渡す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309360" y="2295144"/>
            <a:ext cx="23591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09360" y="235000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アプリの通知＋API連携</a:t>
            </a:r>
            <a:endParaRPr lang="en-US" sz="900" dirty="0"/>
          </a:p>
        </p:txBody>
      </p:sp>
      <p:sp>
        <p:nvSpPr>
          <p:cNvPr id="25" name="onboarding"/>
          <p:cNvSpPr/>
          <p:nvPr/>
        </p:nvSpPr>
        <p:spPr>
          <a:xfrm>
            <a:off x="365760" y="3035808"/>
            <a:ext cx="4023360" cy="1371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2920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3419856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当社の担当者が現場に入り、熟練者に聞き取りして判断を棚卸し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既存の帳票・試験記録をデータとして移行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現場研修で、記録が「いつもの作業の延長」になるまで定着させる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0358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機能の広げ方（製品戦略：基盤が先、追加機能は年1本ずつ）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0" y="3310128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0" y="33101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074920" y="331012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5760720" y="33101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記録・検索（①②と過去事例の検索）。全顧客が使う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0" y="3529584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72000" y="352958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074920" y="35295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KNACK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760720" y="35295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推奨値の自動提示（③）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0" y="3749040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0" y="37490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5074920" y="374904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TRACE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60720" y="3749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不具合時に、材料ロットから納入先まで追跡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572000" y="3968496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72000" y="396849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5074920" y="39684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TWIN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5760720" y="39684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欠員・設備停止時の計画組み替えを試算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572000" y="4187952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572000" y="418795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18795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5760720" y="418795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搬送ロボット・検査AIと連携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4572000" y="4407408"/>
            <a:ext cx="42062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65760" y="449884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対象：電線・ケーブル工場の生産技術・製造部門（のちに、その製品を施工する工事会社）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KNACK・TRACEなど、選んだ機能の数に比例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横軸は経過月数。時間単価4,000円（780万円÷1,950h）×月6h×100名＝月240万円。月6hは建設業の書類電子化実績を準用した仮定。年300万円は顧客効果の約1割（価値基準価格）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判断の理由を仕組みで扱う会社は、まだない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空いている右上を、電線工場に絞って取る（ニッチャー・差別化集中）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514600" y="1435608"/>
            <a:ext cx="182880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2670048"/>
            <a:ext cx="365760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1460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0020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実績（何が起きたか）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2697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判断の理由（なぜ）→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1051560" y="1757477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43584" y="1720901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50" dirty="0"/>
          </a:p>
        </p:txBody>
      </p:sp>
      <p:sp>
        <p:nvSpPr>
          <p:cNvPr id="15" name="pos-搬送ロボット・検査AI"/>
          <p:cNvSpPr/>
          <p:nvPr/>
        </p:nvSpPr>
        <p:spPr>
          <a:xfrm>
            <a:off x="978408" y="2251253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70432" y="2214677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搬送ロボット・検査AI</a:t>
            </a:r>
            <a:endParaRPr lang="en-US" sz="850" dirty="0"/>
          </a:p>
        </p:txBody>
      </p:sp>
      <p:sp>
        <p:nvSpPr>
          <p:cNvPr id="17" name="pos-コンサル（BPR）"/>
          <p:cNvSpPr/>
          <p:nvPr/>
        </p:nvSpPr>
        <p:spPr>
          <a:xfrm>
            <a:off x="2660904" y="3436315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52928" y="3399739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コンサル（BPR）</a:t>
            </a:r>
            <a:endParaRPr lang="en-US" sz="850" dirty="0"/>
          </a:p>
        </p:txBody>
      </p:sp>
      <p:sp>
        <p:nvSpPr>
          <p:cNvPr id="19" name="pos-社内の熟練者（属人）"/>
          <p:cNvSpPr/>
          <p:nvPr/>
        </p:nvSpPr>
        <p:spPr>
          <a:xfrm>
            <a:off x="3685032" y="2991917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0904" y="3156509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50" dirty="0"/>
          </a:p>
        </p:txBody>
      </p:sp>
      <p:sp>
        <p:nvSpPr>
          <p:cNvPr id="21" name="pos-三現ワークス"/>
          <p:cNvSpPr/>
          <p:nvPr/>
        </p:nvSpPr>
        <p:spPr>
          <a:xfrm>
            <a:off x="3511296" y="1828800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2536" y="18196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17720" y="1335024"/>
            <a:ext cx="27432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617720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130759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製造業を工程の形で区分：連続工程（電線・素材）／組立／施工現場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617720" y="1682496"/>
            <a:ext cx="27432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61772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1655064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電線・ケーブル工場。長尺・ロット・試験値が揃い、熟練者の判断が品質を左右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617720" y="2029968"/>
            <a:ext cx="27432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61772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200253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実績はMES・ERP、動作はロボットに任せ、判断の理由を人と機械に渡す層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4617720" y="2404872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617720" y="26609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コトラーの競争地位：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ニッチャー。大手が採算に乗せにくい専門領域に絞る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ポーターの基本戦略：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差別化集中。価格ではなく現場の知見で選ばれる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4617720" y="317296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SWOT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617720" y="3456432"/>
            <a:ext cx="274320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617720" y="34564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4983480" y="34290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施工管理5年と自作開発の両立／製品が使われる現場からの逆算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617720" y="3721608"/>
            <a:ext cx="274320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617720" y="37216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4983480" y="369417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製造現場の実務経験が浅い／営業・資金調達が未経験／創業者依存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617720" y="3986784"/>
            <a:ext cx="274320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4617720" y="39867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4983480" y="3959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担い手の高齢化による技能継承需要／フィジカルAIの実用化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617720" y="4251960"/>
            <a:ext cx="274320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617720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4983480" y="422452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大手SIer・ロボットベンダーの参入／内製化／母数が小さい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365760" y="449884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ERP・MES・SCMとはAPI連携で併存し、置き換えない。電線業界：353事業所・出荷額1兆8,822億円（経済構造実態調査 2024年、従業者10人以上）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大手SIer・ロボットベンダーの参入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蓄積した判断記録が障壁。機能は模倣可能、現場の履歴は移設不能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事業構想</dc:title>
  <dc:subject>PptxGenJS Presentation</dc:subject>
  <dc:creator>PptxGenJS</dc:creator>
  <cp:lastModifiedBy>PptxGenJS</cp:lastModifiedBy>
  <cp:revision>1</cp:revision>
  <dcterms:created xsi:type="dcterms:W3CDTF">2026-10-08T11:21:47Z</dcterms:created>
  <dcterms:modified xsi:type="dcterms:W3CDTF">2026-10-08T11:21:47Z</dcterms:modified>
</cp:coreProperties>
</file>