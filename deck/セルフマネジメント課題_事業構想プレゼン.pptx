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浮いた工数の累計</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A1A1A"/>
              </a:solidFill>
              <a:ln w="9525" cap="flat">
                <a:solidFill>
                  <a:srgbClr val="1A1A1A"/>
                </a:solidFill>
                <a:prstDash val="solid"/>
                <a:round/>
              </a:ln>
              <a:effectLst/>
            </c:spPr>
          </c:marker>
          <c:cat>
            <c:multiLvlStrRef>
              <c:f>Sheet1!$A$2:$A$14</c:f>
              <c:multiLvlStrCache>
                <c:ptCount val="13"/>
                <c:lvl>
                  <c:pt idx="0">
                    <c:v>0</c:v>
                  </c:pt>
                  <c:pt idx="1">
                    <c:v>1</c:v>
                  </c:pt>
                  <c:pt idx="2">
                    <c:v>2</c:v>
                  </c:pt>
                  <c:pt idx="3">
                    <c:v>3</c:v>
                  </c:pt>
                  <c:pt idx="4">
                    <c:v>4</c:v>
                  </c:pt>
                  <c:pt idx="5">
                    <c:v>5</c:v>
                  </c:pt>
                  <c:pt idx="6">
                    <c:v>6</c:v>
                  </c:pt>
                  <c:pt idx="7">
                    <c:v>7</c:v>
                  </c:pt>
                  <c:pt idx="8">
                    <c:v>8</c:v>
                  </c:pt>
                  <c:pt idx="9">
                    <c:v>9</c:v>
                  </c:pt>
                  <c:pt idx="10">
                    <c:v>10</c:v>
                  </c:pt>
                  <c:pt idx="11">
                    <c:v>11</c:v>
                  </c:pt>
                  <c:pt idx="12">
                    <c:v>12</c:v>
                  </c:pt>
                </c:lvl>
              </c:multiLvlStrCache>
            </c:multiLvlStrRef>
          </c:cat>
          <c:val>
            <c:numRef>
              <c:f>Sheet1!$B$2:$B$14</c:f>
              <c:numCache>
                <c:formatCode>General</c:formatCode>
                <c:ptCount val="13"/>
                <c:pt idx="0">
                  <c:v>0</c:v>
                </c:pt>
                <c:pt idx="1">
                  <c:v>240</c:v>
                </c:pt>
                <c:pt idx="2">
                  <c:v>480</c:v>
                </c:pt>
                <c:pt idx="3">
                  <c:v>720</c:v>
                </c:pt>
                <c:pt idx="4">
                  <c:v>960</c:v>
                </c:pt>
                <c:pt idx="5">
                  <c:v>1200</c:v>
                </c:pt>
                <c:pt idx="6">
                  <c:v>1440</c:v>
                </c:pt>
                <c:pt idx="7">
                  <c:v>1680</c:v>
                </c:pt>
                <c:pt idx="8">
                  <c:v>1920</c:v>
                </c:pt>
                <c:pt idx="9">
                  <c:v>2160</c:v>
                </c:pt>
                <c:pt idx="10">
                  <c:v>2400</c:v>
                </c:pt>
                <c:pt idx="11">
                  <c:v>2640</c:v>
                </c:pt>
                <c:pt idx="12">
                  <c:v>2880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初年度費用</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Sheet1!$A$2:$A$14</c:f>
              <c:multiLvlStrCache>
                <c:ptCount val="13"/>
                <c:lvl>
                  <c:pt idx="0">
                    <c:v>0</c:v>
                  </c:pt>
                  <c:pt idx="1">
                    <c:v>1</c:v>
                  </c:pt>
                  <c:pt idx="2">
                    <c:v>2</c:v>
                  </c:pt>
                  <c:pt idx="3">
                    <c:v>3</c:v>
                  </c:pt>
                  <c:pt idx="4">
                    <c:v>4</c:v>
                  </c:pt>
                  <c:pt idx="5">
                    <c:v>5</c:v>
                  </c:pt>
                  <c:pt idx="6">
                    <c:v>6</c:v>
                  </c:pt>
                  <c:pt idx="7">
                    <c:v>7</c:v>
                  </c:pt>
                  <c:pt idx="8">
                    <c:v>8</c:v>
                  </c:pt>
                  <c:pt idx="9">
                    <c:v>9</c:v>
                  </c:pt>
                  <c:pt idx="10">
                    <c:v>10</c:v>
                  </c:pt>
                  <c:pt idx="11">
                    <c:v>11</c:v>
                  </c:pt>
                  <c:pt idx="12">
                    <c:v>12</c:v>
                  </c:pt>
                </c:lvl>
              </c:multiLvlStrCache>
            </c:multiLvlStrRef>
          </c:cat>
          <c:val>
            <c:numRef>
              <c:f>Sheet1!$C$2:$C$14</c:f>
              <c:numCache>
                <c:formatCode>General</c:formatCode>
                <c:ptCount val="13"/>
                <c:pt idx="0">
                  <c:v>500</c:v>
                </c:pt>
                <c:pt idx="1">
                  <c:v>500</c:v>
                </c:pt>
                <c:pt idx="2">
                  <c:v>500</c:v>
                </c:pt>
                <c:pt idx="3">
                  <c:v>500</c:v>
                </c:pt>
                <c:pt idx="4">
                  <c:v>500</c:v>
                </c:pt>
                <c:pt idx="5">
                  <c:v>500</c:v>
                </c:pt>
                <c:pt idx="6">
                  <c:v>500</c:v>
                </c:pt>
                <c:pt idx="7">
                  <c:v>500</c:v>
                </c:pt>
                <c:pt idx="8">
                  <c:v>500</c:v>
                </c:pt>
                <c:pt idx="9">
                  <c:v>500</c:v>
                </c:pt>
                <c:pt idx="10">
                  <c:v>500</c:v>
                </c:pt>
                <c:pt idx="11">
                  <c:v>500</c:v>
                </c:pt>
                <c:pt idx="12">
                  <c:v>500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0"/>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A1A1A"/>
            </a:solidFill>
            <a:ln w="4445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110</c:v>
                </c:pt>
                <c:pt idx="3">
                  <c:v>190</c:v>
                </c:pt>
                <c:pt idx="4">
                  <c:v>290</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営業利益</c:v>
                </c:pt>
              </c:strCache>
            </c:strRef>
          </c:tx>
          <c:spPr>
            <a:solidFill>
              <a:srgbClr val="4D4D4D"/>
            </a:solidFill>
            <a:ln w="25400" cap="flat">
              <a:solidFill>
                <a:srgbClr val="4D4D4D"/>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square"/>
            <c:size val="5"/>
            <c:spPr>
              <a:solidFill>
                <a:srgbClr val="4D4D4D"/>
              </a:solidFill>
              <a:ln w="9525" cap="flat">
                <a:solidFill>
                  <a:srgbClr val="4D4D4D"/>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-32</c:v>
                </c:pt>
                <c:pt idx="1">
                  <c:v>-27</c:v>
                </c:pt>
                <c:pt idx="2">
                  <c:v>-6</c:v>
                </c:pt>
                <c:pt idx="3">
                  <c:v>28</c:v>
                </c:pt>
                <c:pt idx="4">
                  <c:v>69</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累積営業損益</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Sheet1!$D$2:$D$6</c:f>
              <c:numCache>
                <c:formatCode>General</c:formatCode>
                <c:ptCount val="5"/>
                <c:pt idx="0">
                  <c:v>-32</c:v>
                </c:pt>
                <c:pt idx="1">
                  <c:v>-59</c:v>
                </c:pt>
                <c:pt idx="2">
                  <c:v>-65</c:v>
                </c:pt>
                <c:pt idx="3">
                  <c:v>-37</c:v>
                </c:pt>
                <c:pt idx="4">
                  <c:v>32</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
          <c:min val="-10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顧客拠点／社員</c:v>
                </c:pt>
              </c:strCache>
            </c:strRef>
          </c:tx>
          <c:spPr>
            <a:solidFill>
              <a:srgbClr val="1A1A1A"/>
            </a:solidFill>
            <a:ln w="38100" cap="flat">
              <a:solidFill>
                <a:srgbClr val="1A1A1A"/>
              </a:solidFill>
              <a:prstDash val="solid"/>
              <a:round/>
            </a:ln>
            <a:effectLst/>
          </c:spPr>
          <c:invertIfNegative val="0"/>
          <c:dLbls>
            <c:numFmt formatCode="0.0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0.75</c:v>
                </c:pt>
                <c:pt idx="1">
                  <c:v>1.71</c:v>
                </c:pt>
                <c:pt idx="2">
                  <c:v>2.73</c:v>
                </c:pt>
                <c:pt idx="3">
                  <c:v>3.67</c:v>
                </c:pt>
                <c:pt idx="4">
                  <c:v>4.25</c:v>
                </c:pt>
              </c:numCache>
            </c:numRef>
          </c:val>
          <c:smooth val="0"/>
        </c:ser>
        <c:dLbls>
          <c:numFmt formatCode="0.0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損益分岐</c:v>
                </c:pt>
              </c:strCache>
            </c:strRef>
          </c:tx>
          <c:spPr>
            <a:solidFill>
              <a:srgbClr val="8C8C8C"/>
            </a:solidFill>
            <a:ln w="1905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2.8</c:v>
                </c:pt>
                <c:pt idx="1">
                  <c:v>2.8</c:v>
                </c:pt>
                <c:pt idx="2">
                  <c:v>2.8</c:v>
                </c:pt>
                <c:pt idx="3">
                  <c:v>2.8</c:v>
                </c:pt>
                <c:pt idx="4">
                  <c:v>2.8</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【0:00 - 0:50】
要約：人が減っても現場が迷わず回る仕組みをつくり、日本の品質を支える現場の勘を遺産として残す（設問③）
株式会社三現ワークスの事業構想を発表します。三現とは、現場・現物・現実のことです。メイド・イン・ジャパンの品質を支えてきたのは、現場の熟練者の勘です。ところがその勘は、記録に残らないまま、退職とともに失われつつあります。この会社の存在意義は「現場の勘を、次の担い手へ。」です。使命は、熟練者の勘を言葉にし、教材と仕組みにして次の担い手に渡すこと。5年後には85の拠点で、勘どころが教材として残り、誰でも迷わず判断できる状態を目指します。人に依存しない形で、日本の品質を遺産として残す会社です。ここから、課題、解決策、稼ぎ方の順にご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【0:50 - 2:00】
要約：熟練者の勘が、記録に残らないまま消えていく
まず、解きたい課題です。たとえば電線の押出ラインで外径が振れたとき、熟練者は音や湿度を見て、温度を少し下げて立て直します。ところが、この判断は手順書には書かれていません。数字で見ると、建設業の就業者は55歳以上が36.7%、29歳以下は11.7%です。製造業の就業者は2025年に1,033万人まで減り、技能継承がうまくいっていない企業は3社に2社にのぼります。それなのに、技能継承にデジタル技術を使っている企業は21.7%にとどまります。私は古河電気工業で地中送電線の施工管理を5年間担当し、ケーブルが使われる現場で不具合や試験値を見てきました。同時に、PythonやRAGなどを独学し、仕組みを自分で作ってきました。現場を知り、仕組みを作れる人間として、この課題に取り組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【2:00 - 3:30】
要約：引退した熟練者が、隣で教えてくれる現場をつくる。データ集めで終わらせず、教材まで当社が作る
設問①、解決策です。目指すのは、引退した熟練者が隣で教えてくれるような現場です。仕組みは三段階です。熟練者は、異常に対処したらタブレットに音声で一言残します。生成AIがそれを条件・処置・理由に分けて事例にします。そして三つ目が大事で、当社はデータを集めて終わりにしません。現場は忙しく、研修資料や教材を作る時間がありません。そこで当社が、勘どころを言葉にし、通勤中に聞ける音声番組、短い動画、研修資料まで作って届けます。音声の自動配信は、私が個人で、ニュースを要約して音声合成し毎朝配信する仕組みとしてすでに作っています。渡し方は年ごとに増やし、3年目は手順書を開くと過去の事故やヒヤリの場所が出る機能、4年目は3Dの仮想工場、5年目は音声の指示でCAD図面を描く機能です。触覚の訓練シミュレーターは研究開発として進めます。最初の2か月は、当社の担当者が現場に入って定着まで支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【3:30 - 4:40】
要約：顧客は1拠点あたり年300万円を払い、約2か月で元を取る
次に、お金の流れです。お客様の工場1拠点が毎年払うのは、アプリと基盤の利用料100万円、記録するラインの数に応じた登録料100万円、そして教材制作や危険表示など選んだ機能の料金100万円、合わせて年300万円です。初年度だけ、当社の担当者が現場に入る導入支援200万円が加わり、500万円になります。お客様から見ると、右のグラフのとおり、対象者100名の拠点で毎月240万円分の工数が浮き、約2.1か月で500万円を上回ります。ただし月6時間の削減は、建設業の書類電子化の実績を当てはめた仮定です。当社から見ると、利用料は粗利率85%で毎年積み上がり、導入支援は粗利率40%で一度きりです。お客様が増えるほど、利用料が積み上がっていく構造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【4:40 - 5:50】
要約：判断の理由を仕組みで扱う会社は、まだない
最初に自分で自分に突きつけた問いが三つありました。コンサルと何が違うのか、MESや大手SIerと何が違うのか、ロボットやAIが来たら人の判断は要らなくなるのではないか、です。左の図は、横軸が扱う情報、つまり何が起きたかという実績か、なぜそうしたかという判断の理由か。縦軸が、人の時間で提供するか、仕組みで提供するかです。MESやロボットは実績と動作を仕組みで扱います。コンサルや社内の熟練者は判断の理由を扱いますが、人に依存します。判断の理由を仕組みで扱う右上は、まだ空いています。ここを、熟練者の判断が品質を左右する電線・ケーブル工場に絞って取ります。大手が採算に乗せにくい専門領域に集中する、ニッチャーの戦い方です。弱みとして、製造現場の経験が浅いことと、営業・資金調達が未経験であることを正直に挙げ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【5:50 - 6:50】
要約：顧客数は、導入担当の人数で決まる
設問②、組織と採用です。先ほどの導入支援は人の作業なので、顧客を増やせる速さは導入担当の人数で決まります。1拠点に約2か月かかり、並行は2拠点までなので、1名あたり年6拠点が上限です。計画はその6割から8割に置き、1年目は製品が未完成のため3拠点に限定します。累計の顧客拠点は5年目に85、社員は4名から20名とします。採用は、製造や施工の現場経験者にITを教える経路を軸にし、製造知見の不足を補うため、生産技術の経験者を初期メンバーに迎えます。私は代表取締役CEOとして、現場の読み解き方を型にして渡す役割に絞り、技術の責任者は兼任し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【6:50 - 8:30】
要約：3年目の谷を1.5億円で越え、4年目に黒字化する
設問④、経営計画です。グラフの横軸が年、縦軸が金額です。売上高は1年目1,200万円から、5年目に2億9,000万円まで伸びます。営業利益は3年目まで赤字で、4年目に2,800万円の黒字に転じます。点線の累積営業損益は、3年目に6,500万円の赤字で底を打ちます。この谷を越えるための資金が1.5億円で、谷の0.65億円、運転資金0.29億円、1年遅れた場合の備え0.56億円を積み上げた額です。調達先には、電線メーカーやロボットメーカーのコーポレートベンチャーキャピタルを想定しています。資金と一緒に、実証の現場と販路を得られるためです。なぜ4年目なのか。右のグラフのとおり、社員1人あたりの顧客拠点が2.8を超えると黒字になります。3年目は2.73で届かず、4年目に3.67で超えます。積み上がる利用料が、人件費を追い越す年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【8:30 - 9:50】
要約：最大のリスクは自分。だから役割と判断基準を先に決めておく
設問⑤、経営課題です。最大のリスクは競合ではなく、創業者である自分が律速になることです。準備期は、試験導入を3拠点に限定し、生産技術の経験者を迎えます。中期は、電線業界が353事業所と小さいため、製品の出口である施工会社へ同じ基盤を広げます。後期は、私がいなくても判断できる会社にします。そのための仕組みが下段のバランスト・スコアカードで、四つの指標を先に決めておきます。最後に、この事業の顧客・商品・収益は、すべて現在の勤務先の中にも存在します。顧客は社内の工場、商品は製造記録のデータ化と技能継承、収益は工数削減と品質不良の防止です。だから復職後は、生産技術と情報システムの領域で、現場と技術のあいだを訳す役割を担いたいと考えています。そして、自らの役割を定義しきること自体が、業務を際限なく抱え込まないための再発防止策でもあります。以上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_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613648" y="201168"/>
            <a:ext cx="274320" cy="274320"/>
          </a:xfrm>
          <a:prstGeom prst="rect">
            <a:avLst/>
          </a:prstGeom>
        </p:spPr>
      </p:pic>
      <p:sp>
        <p:nvSpPr>
          <p:cNvPr id="3" name="Text 0"/>
          <p:cNvSpPr/>
          <p:nvPr/>
        </p:nvSpPr>
        <p:spPr>
          <a:xfrm>
            <a:off x="5760720" y="4846320"/>
            <a:ext cx="2651760" cy="201168"/>
          </a:xfrm>
          <a:prstGeom prst="rect">
            <a:avLst/>
          </a:prstGeom>
          <a:noFill/>
          <a:ln/>
        </p:spPr>
        <p:txBody>
          <a:bodyPr wrap="square" lIns="0" tIns="0" rIns="0" bIns="0" rtlCol="0" anchor="ctr"/>
          <a:lstStyle/>
          <a:p>
            <a:pPr algn="r" indent="0" marL="0">
              <a:buNone/>
            </a:pPr>
            <a:r>
              <a:rPr lang="en-US" sz="850" dirty="0">
                <a:solidFill>
                  <a:srgbClr val="8C8C8C"/>
                </a:solidFill>
                <a:latin typeface="Meiryo" pitchFamily="34" charset="0"/>
                <a:ea typeface="Meiryo" pitchFamily="34" charset="-122"/>
                <a:cs typeface="Meiryo" pitchFamily="34" charset="-120"/>
              </a:rPr>
              <a:t>現場の勘を、次の担い手へ。</a:t>
            </a:r>
            <a:endParaRPr lang="en-US" sz="85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cover-panel"/>
          <p:cNvSpPr/>
          <p:nvPr/>
        </p:nvSpPr>
        <p:spPr>
          <a:xfrm>
            <a:off x="0" y="0"/>
            <a:ext cx="3044952" cy="5143500"/>
          </a:xfrm>
          <a:prstGeom prst="rect">
            <a:avLst/>
          </a:prstGeom>
          <a:solidFill>
            <a:srgbClr val="1A1A1A"/>
          </a:solidFill>
          <a:ln/>
        </p:spPr>
      </p:sp>
      <p:pic>
        <p:nvPicPr>
          <p:cNvPr id="4" name="Image 0" descr="preencoded.png">    </p:cNvPr>
          <p:cNvPicPr>
            <a:picLocks noChangeAspect="1"/>
          </p:cNvPicPr>
          <p:nvPr/>
        </p:nvPicPr>
        <p:blipFill>
          <a:blip r:embed="rId1"/>
          <a:stretch>
            <a:fillRect/>
          </a:stretch>
        </p:blipFill>
        <p:spPr>
          <a:xfrm>
            <a:off x="274320" y="1097280"/>
            <a:ext cx="2514600" cy="603504"/>
          </a:xfrm>
          <a:prstGeom prst="rect">
            <a:avLst/>
          </a:prstGeom>
        </p:spPr>
      </p:pic>
      <p:sp>
        <p:nvSpPr>
          <p:cNvPr id="5" name="Text 1"/>
          <p:cNvSpPr txBox="1"/>
          <p:nvPr/>
        </p:nvSpPr>
        <p:spPr>
          <a:xfrm>
            <a:off x="320040" y="1965960"/>
            <a:ext cx="2651760" cy="219456"/>
          </a:xfrm>
          <a:prstGeom prst="rect">
            <a:avLst/>
          </a:prstGeom>
          <a:noFill/>
          <a:ln/>
        </p:spPr>
        <p:txBody>
          <a:bodyPr wrap="square" lIns="0" tIns="0" rIns="0" bIns="0" rtlCol="0" anchor="t"/>
          <a:lstStyle/>
          <a:p>
            <a:pPr algn="l" indent="0" marL="0">
              <a:lnSpc>
                <a:spcPct val="115000"/>
              </a:lnSpc>
              <a:buNone/>
            </a:pPr>
            <a:r>
              <a:rPr lang="en-US" sz="900" b="1" dirty="0">
                <a:solidFill>
                  <a:srgbClr val="FFFFFF"/>
                </a:solidFill>
                <a:latin typeface="Meiryo" pitchFamily="34" charset="0"/>
                <a:ea typeface="Meiryo" pitchFamily="34" charset="-122"/>
                <a:cs typeface="Meiryo" pitchFamily="34" charset="-120"/>
              </a:rPr>
              <a:t>PURPOSE　存在意義</a:t>
            </a:r>
            <a:endParaRPr lang="en-US" sz="900" dirty="0"/>
          </a:p>
        </p:txBody>
      </p:sp>
      <p:sp>
        <p:nvSpPr>
          <p:cNvPr id="6" name="Text 2"/>
          <p:cNvSpPr txBox="1"/>
          <p:nvPr/>
        </p:nvSpPr>
        <p:spPr>
          <a:xfrm>
            <a:off x="320040" y="2194560"/>
            <a:ext cx="2651760" cy="731520"/>
          </a:xfrm>
          <a:prstGeom prst="rect">
            <a:avLst/>
          </a:prstGeom>
          <a:noFill/>
          <a:ln/>
        </p:spPr>
        <p:txBody>
          <a:bodyPr wrap="square" lIns="0" tIns="0" rIns="0" bIns="0" rtlCol="0" anchor="t"/>
          <a:lstStyle/>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現場の勘を、</a:t>
            </a:r>
            <a:endParaRPr lang="en-US" sz="2000" dirty="0"/>
          </a:p>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次の担い手へ。</a:t>
            </a:r>
            <a:endParaRPr lang="en-US" sz="2000" dirty="0"/>
          </a:p>
        </p:txBody>
      </p:sp>
      <p:sp>
        <p:nvSpPr>
          <p:cNvPr id="7" name="Text 3"/>
          <p:cNvSpPr txBox="1"/>
          <p:nvPr/>
        </p:nvSpPr>
        <p:spPr>
          <a:xfrm>
            <a:off x="320040" y="2971800"/>
            <a:ext cx="2514600" cy="457200"/>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日本の品質を支える現場の勘を、人に依存しない遺産として残す</a:t>
            </a:r>
            <a:endParaRPr lang="en-US" sz="950" dirty="0"/>
          </a:p>
        </p:txBody>
      </p:sp>
      <p:sp>
        <p:nvSpPr>
          <p:cNvPr id="8" name="Text 4"/>
          <p:cNvSpPr txBox="1"/>
          <p:nvPr/>
        </p:nvSpPr>
        <p:spPr>
          <a:xfrm>
            <a:off x="320040" y="3520440"/>
            <a:ext cx="2651760" cy="27432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Meiryo" pitchFamily="34" charset="0"/>
                <a:ea typeface="Meiryo" pitchFamily="34" charset="-122"/>
                <a:cs typeface="Meiryo" pitchFamily="34" charset="-120"/>
              </a:rPr>
              <a:t>株式会社三現ワークス（事業構想）</a:t>
            </a:r>
            <a:endParaRPr lang="en-US" sz="1100" dirty="0"/>
          </a:p>
        </p:txBody>
      </p:sp>
      <p:sp>
        <p:nvSpPr>
          <p:cNvPr id="9" name="Text 5"/>
          <p:cNvSpPr txBox="1"/>
          <p:nvPr/>
        </p:nvSpPr>
        <p:spPr>
          <a:xfrm>
            <a:off x="320040" y="3813048"/>
            <a:ext cx="2651760" cy="256032"/>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三現＝現場・現物・現実</a:t>
            </a:r>
            <a:endParaRPr lang="en-US" sz="950" dirty="0"/>
          </a:p>
        </p:txBody>
      </p:sp>
      <p:sp>
        <p:nvSpPr>
          <p:cNvPr id="10" name="Text 6"/>
          <p:cNvSpPr txBox="1"/>
          <p:nvPr/>
        </p:nvSpPr>
        <p:spPr>
          <a:xfrm>
            <a:off x="3429000" y="457200"/>
            <a:ext cx="5074920" cy="256032"/>
          </a:xfrm>
          <a:prstGeom prst="rect">
            <a:avLst/>
          </a:prstGeom>
          <a:noFill/>
          <a:ln/>
        </p:spPr>
        <p:txBody>
          <a:bodyPr wrap="square" lIns="0" tIns="0" rIns="0" bIns="0" rtlCol="0" anchor="t"/>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リワーク実習　セルフマネジメント課題</a:t>
            </a:r>
            <a:endParaRPr lang="en-US" sz="1200" dirty="0"/>
          </a:p>
        </p:txBody>
      </p:sp>
      <p:sp>
        <p:nvSpPr>
          <p:cNvPr id="11" name="Text 7"/>
          <p:cNvSpPr txBox="1"/>
          <p:nvPr/>
        </p:nvSpPr>
        <p:spPr>
          <a:xfrm>
            <a:off x="3429000" y="777240"/>
            <a:ext cx="5074920" cy="777240"/>
          </a:xfrm>
          <a:prstGeom prst="rect">
            <a:avLst/>
          </a:prstGeom>
          <a:noFill/>
          <a:ln/>
        </p:spPr>
        <p:txBody>
          <a:bodyPr wrap="square" lIns="0" tIns="0" rIns="0" bIns="0" rtlCol="0" anchor="t"/>
          <a:lstStyle/>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人が減っても、</a:t>
            </a:r>
            <a:endParaRPr lang="en-US" sz="2200" dirty="0"/>
          </a:p>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現場が迷わず回る仕組みをつくる</a:t>
            </a:r>
            <a:endParaRPr lang="en-US" sz="2200" dirty="0"/>
          </a:p>
        </p:txBody>
      </p:sp>
      <p:sp>
        <p:nvSpPr>
          <p:cNvPr id="12" name="Text 8"/>
          <p:cNvSpPr txBox="1"/>
          <p:nvPr/>
        </p:nvSpPr>
        <p:spPr>
          <a:xfrm>
            <a:off x="3429000" y="1700784"/>
            <a:ext cx="5074920" cy="219456"/>
          </a:xfrm>
          <a:prstGeom prst="rect">
            <a:avLst/>
          </a:prstGeom>
          <a:noFill/>
          <a:ln/>
        </p:spPr>
        <p:txBody>
          <a:bodyPr wrap="square" lIns="0" tIns="0" rIns="0" bIns="0" rtlCol="0" anchor="t"/>
          <a:lstStyle/>
          <a:p>
            <a:pPr algn="l" indent="0" marL="0">
              <a:lnSpc>
                <a:spcPct val="115000"/>
              </a:lnSpc>
              <a:buNone/>
            </a:pPr>
            <a:r>
              <a:rPr lang="en-US" sz="950" b="1" dirty="0">
                <a:solidFill>
                  <a:srgbClr val="4D4D4D"/>
                </a:solidFill>
                <a:latin typeface="Meiryo" pitchFamily="34" charset="0"/>
                <a:ea typeface="Meiryo" pitchFamily="34" charset="-122"/>
                <a:cs typeface="Meiryo" pitchFamily="34" charset="-120"/>
              </a:rPr>
              <a:t>設問③　経営理念</a:t>
            </a:r>
            <a:endParaRPr lang="en-US" sz="950" dirty="0"/>
          </a:p>
        </p:txBody>
      </p:sp>
      <p:sp>
        <p:nvSpPr>
          <p:cNvPr id="13" name="Shape 9"/>
          <p:cNvSpPr/>
          <p:nvPr/>
        </p:nvSpPr>
        <p:spPr>
          <a:xfrm>
            <a:off x="3429000" y="1956816"/>
            <a:ext cx="5074920" cy="0"/>
          </a:xfrm>
          <a:prstGeom prst="line">
            <a:avLst/>
          </a:prstGeom>
          <a:noFill/>
          <a:ln w="9525">
            <a:solidFill>
              <a:srgbClr val="BFBFBF"/>
            </a:solidFill>
            <a:prstDash val="solid"/>
          </a:ln>
        </p:spPr>
      </p:sp>
      <p:sp>
        <p:nvSpPr>
          <p:cNvPr id="14" name="Text 10"/>
          <p:cNvSpPr txBox="1"/>
          <p:nvPr/>
        </p:nvSpPr>
        <p:spPr>
          <a:xfrm>
            <a:off x="3429000" y="1984248"/>
            <a:ext cx="914400" cy="402336"/>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MISSION</a:t>
            </a:r>
            <a:endParaRPr lang="en-US" sz="14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使命</a:t>
            </a:r>
            <a:endParaRPr lang="en-US" sz="1400" dirty="0"/>
          </a:p>
        </p:txBody>
      </p:sp>
      <p:sp>
        <p:nvSpPr>
          <p:cNvPr id="15" name="Text 11"/>
          <p:cNvSpPr txBox="1"/>
          <p:nvPr/>
        </p:nvSpPr>
        <p:spPr>
          <a:xfrm>
            <a:off x="4389120" y="1956816"/>
            <a:ext cx="4114800" cy="457200"/>
          </a:xfrm>
          <a:prstGeom prst="rect">
            <a:avLst/>
          </a:prstGeom>
          <a:noFill/>
          <a:ln/>
        </p:spPr>
        <p:txBody>
          <a:bodyPr wrap="square" lIns="0" tIns="0" rIns="0" bIns="0" rtlCol="0" anchor="ctr"/>
          <a:lstStyle/>
          <a:p>
            <a:pPr algn="l" indent="0" marL="0">
              <a:lnSpc>
                <a:spcPct val="115000"/>
              </a:lnSpc>
              <a:buNone/>
            </a:pPr>
            <a:r>
              <a:rPr lang="en-US" sz="1150" dirty="0">
                <a:solidFill>
                  <a:srgbClr val="1A1A1A"/>
                </a:solidFill>
                <a:latin typeface="Meiryo" pitchFamily="34" charset="0"/>
                <a:ea typeface="Meiryo" pitchFamily="34" charset="-122"/>
                <a:cs typeface="Meiryo" pitchFamily="34" charset="-120"/>
              </a:rPr>
              <a:t>熟練者の勘を言語化し、教材と仕組みで次の人へ渡す</a:t>
            </a:r>
            <a:endParaRPr lang="en-US" sz="1150" dirty="0"/>
          </a:p>
        </p:txBody>
      </p:sp>
      <p:sp>
        <p:nvSpPr>
          <p:cNvPr id="16" name="Shape 12"/>
          <p:cNvSpPr/>
          <p:nvPr/>
        </p:nvSpPr>
        <p:spPr>
          <a:xfrm>
            <a:off x="3429000" y="2414016"/>
            <a:ext cx="5074920" cy="0"/>
          </a:xfrm>
          <a:prstGeom prst="line">
            <a:avLst/>
          </a:prstGeom>
          <a:noFill/>
          <a:ln w="9525">
            <a:solidFill>
              <a:srgbClr val="BFBFBF"/>
            </a:solidFill>
            <a:prstDash val="solid"/>
          </a:ln>
        </p:spPr>
      </p:sp>
      <p:sp>
        <p:nvSpPr>
          <p:cNvPr id="17" name="Text 13"/>
          <p:cNvSpPr txBox="1"/>
          <p:nvPr/>
        </p:nvSpPr>
        <p:spPr>
          <a:xfrm>
            <a:off x="3429000" y="2441448"/>
            <a:ext cx="914400" cy="402336"/>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VISION</a:t>
            </a:r>
            <a:endParaRPr lang="en-US" sz="14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5年後</a:t>
            </a:r>
            <a:endParaRPr lang="en-US" sz="1400" dirty="0"/>
          </a:p>
        </p:txBody>
      </p:sp>
      <p:sp>
        <p:nvSpPr>
          <p:cNvPr id="18" name="Text 14"/>
          <p:cNvSpPr txBox="1"/>
          <p:nvPr/>
        </p:nvSpPr>
        <p:spPr>
          <a:xfrm>
            <a:off x="4389120" y="2414016"/>
            <a:ext cx="4114800" cy="457200"/>
          </a:xfrm>
          <a:prstGeom prst="rect">
            <a:avLst/>
          </a:prstGeom>
          <a:noFill/>
          <a:ln/>
        </p:spPr>
        <p:txBody>
          <a:bodyPr wrap="square" lIns="0" tIns="0" rIns="0" bIns="0" rtlCol="0" anchor="ctr"/>
          <a:lstStyle/>
          <a:p>
            <a:pPr algn="l" indent="0" marL="0">
              <a:lnSpc>
                <a:spcPct val="115000"/>
              </a:lnSpc>
              <a:buNone/>
            </a:pPr>
            <a:r>
              <a:rPr lang="en-US" sz="1150" dirty="0">
                <a:solidFill>
                  <a:srgbClr val="1A1A1A"/>
                </a:solidFill>
                <a:latin typeface="Meiryo" pitchFamily="34" charset="0"/>
                <a:ea typeface="Meiryo" pitchFamily="34" charset="-122"/>
                <a:cs typeface="Meiryo" pitchFamily="34" charset="-120"/>
              </a:rPr>
              <a:t>85拠点で、勘どころが教材として残っている</a:t>
            </a:r>
            <a:endParaRPr lang="en-US" sz="1150" dirty="0"/>
          </a:p>
        </p:txBody>
      </p:sp>
      <p:sp>
        <p:nvSpPr>
          <p:cNvPr id="19" name="Shape 15"/>
          <p:cNvSpPr/>
          <p:nvPr/>
        </p:nvSpPr>
        <p:spPr>
          <a:xfrm>
            <a:off x="3429000" y="2871216"/>
            <a:ext cx="5074920" cy="0"/>
          </a:xfrm>
          <a:prstGeom prst="line">
            <a:avLst/>
          </a:prstGeom>
          <a:noFill/>
          <a:ln w="9525">
            <a:solidFill>
              <a:srgbClr val="BFBFBF"/>
            </a:solidFill>
            <a:prstDash val="solid"/>
          </a:ln>
        </p:spPr>
      </p:sp>
      <p:sp>
        <p:nvSpPr>
          <p:cNvPr id="20" name="Text 16"/>
          <p:cNvSpPr txBox="1"/>
          <p:nvPr/>
        </p:nvSpPr>
        <p:spPr>
          <a:xfrm>
            <a:off x="3429000" y="2898648"/>
            <a:ext cx="914400" cy="402336"/>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VALUES</a:t>
            </a:r>
            <a:endParaRPr lang="en-US" sz="14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行動指針</a:t>
            </a:r>
            <a:endParaRPr lang="en-US" sz="1400" dirty="0"/>
          </a:p>
        </p:txBody>
      </p:sp>
      <p:sp>
        <p:nvSpPr>
          <p:cNvPr id="21" name="Text 17"/>
          <p:cNvSpPr txBox="1"/>
          <p:nvPr/>
        </p:nvSpPr>
        <p:spPr>
          <a:xfrm>
            <a:off x="4389120" y="2871216"/>
            <a:ext cx="4114800" cy="457200"/>
          </a:xfrm>
          <a:prstGeom prst="rect">
            <a:avLst/>
          </a:prstGeom>
          <a:noFill/>
          <a:ln/>
        </p:spPr>
        <p:txBody>
          <a:bodyPr wrap="square" lIns="0" tIns="0" rIns="0" bIns="0" rtlCol="0" anchor="ctr"/>
          <a:lstStyle/>
          <a:p>
            <a:pPr algn="l" indent="0" marL="0">
              <a:lnSpc>
                <a:spcPct val="115000"/>
              </a:lnSpc>
              <a:buNone/>
            </a:pPr>
            <a:r>
              <a:rPr lang="en-US" sz="1150" dirty="0">
                <a:solidFill>
                  <a:srgbClr val="1A1A1A"/>
                </a:solidFill>
                <a:latin typeface="Meiryo" pitchFamily="34" charset="0"/>
                <a:ea typeface="Meiryo" pitchFamily="34" charset="-122"/>
                <a:cs typeface="Meiryo" pitchFamily="34" charset="-120"/>
              </a:rPr>
              <a:t>現場に立つ／現物に触れる／現実で判断する</a:t>
            </a:r>
            <a:endParaRPr lang="en-US" sz="1150" dirty="0"/>
          </a:p>
        </p:txBody>
      </p:sp>
      <p:sp>
        <p:nvSpPr>
          <p:cNvPr id="22" name="Shape 18"/>
          <p:cNvSpPr/>
          <p:nvPr/>
        </p:nvSpPr>
        <p:spPr>
          <a:xfrm>
            <a:off x="3429000" y="3328416"/>
            <a:ext cx="5074920" cy="0"/>
          </a:xfrm>
          <a:prstGeom prst="line">
            <a:avLst/>
          </a:prstGeom>
          <a:noFill/>
          <a:ln w="9525">
            <a:solidFill>
              <a:srgbClr val="BFBFBF"/>
            </a:solidFill>
            <a:prstDash val="solid"/>
          </a:ln>
        </p:spPr>
      </p:sp>
      <p:sp>
        <p:nvSpPr>
          <p:cNvPr id="23" name="Text 19"/>
          <p:cNvSpPr txBox="1"/>
          <p:nvPr/>
        </p:nvSpPr>
        <p:spPr>
          <a:xfrm>
            <a:off x="3429000" y="3520440"/>
            <a:ext cx="5074920" cy="256032"/>
          </a:xfrm>
          <a:prstGeom prst="rect">
            <a:avLst/>
          </a:prstGeom>
          <a:noFill/>
          <a:ln/>
        </p:spPr>
        <p:txBody>
          <a:bodyPr wrap="square" lIns="0" tIns="0" rIns="0" bIns="0" rtlCol="0" anchor="t"/>
          <a:lstStyle/>
          <a:p>
            <a:pPr algn="l" indent="0" marL="0">
              <a:lnSpc>
                <a:spcPct val="115000"/>
              </a:lnSpc>
              <a:buNone/>
            </a:pPr>
            <a:r>
              <a:rPr lang="en-US" sz="950" dirty="0">
                <a:solidFill>
                  <a:srgbClr val="4D4D4D"/>
                </a:solidFill>
                <a:latin typeface="Meiryo" pitchFamily="34" charset="0"/>
                <a:ea typeface="Meiryo" pitchFamily="34" charset="-122"/>
                <a:cs typeface="Meiryo" pitchFamily="34" charset="-120"/>
              </a:rPr>
              <a:t>本日の流れ：課題 → 解決策 → 収益の仕組み → 競合 → 組織 → 計画 → リスク</a:t>
            </a:r>
            <a:endParaRPr lang="en-US" sz="950" dirty="0"/>
          </a:p>
        </p:txBody>
      </p:sp>
      <p:sp>
        <p:nvSpPr>
          <p:cNvPr id="24" name="Text 20"/>
          <p:cNvSpPr txBox="1"/>
          <p:nvPr/>
        </p:nvSpPr>
        <p:spPr>
          <a:xfrm>
            <a:off x="3429000" y="4251960"/>
            <a:ext cx="5074920" cy="274320"/>
          </a:xfrm>
          <a:prstGeom prst="rect">
            <a:avLst/>
          </a:prstGeom>
          <a:noFill/>
          <a:ln/>
        </p:spPr>
        <p:txBody>
          <a:bodyPr wrap="square" lIns="0" tIns="0" rIns="0" bIns="0" rtlCol="0" anchor="t"/>
          <a:lstStyle/>
          <a:p>
            <a:pPr algn="l" indent="0" marL="0">
              <a:lnSpc>
                <a:spcPct val="115000"/>
              </a:lnSpc>
              <a:buNone/>
            </a:pPr>
            <a:r>
              <a:rPr lang="en-US" sz="1050" dirty="0">
                <a:solidFill>
                  <a:srgbClr val="4D4D4D"/>
                </a:solidFill>
                <a:latin typeface="Meiryo" pitchFamily="34" charset="0"/>
                <a:ea typeface="Meiryo" pitchFamily="34" charset="-122"/>
                <a:cs typeface="Meiryo" pitchFamily="34" charset="-120"/>
              </a:rPr>
              <a:t>発表者：＿＿＿＿＿＿＿＿＿＿　　発表時間：10分</a:t>
            </a:r>
            <a:endParaRPr lang="en-US" sz="105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設問①　課題 ─ 熟練者の勘が、記録に残らないまま消えていく</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担い手は高齢化して減っているのに、技能継承にデジタルを使う企業は2割にとどまる</a:t>
            </a:r>
            <a:endParaRPr lang="en-US" sz="1200" dirty="0"/>
          </a:p>
        </p:txBody>
      </p:sp>
      <p:sp>
        <p:nvSpPr>
          <p:cNvPr id="5" name="example"/>
          <p:cNvSpPr/>
          <p:nvPr/>
        </p:nvSpPr>
        <p:spPr>
          <a:xfrm>
            <a:off x="365760" y="1051560"/>
            <a:ext cx="4343400" cy="1188720"/>
          </a:xfrm>
          <a:prstGeom prst="rect">
            <a:avLst/>
          </a:prstGeom>
          <a:solidFill>
            <a:srgbClr val="F2F2F2"/>
          </a:solidFill>
          <a:ln/>
        </p:spPr>
      </p:sp>
      <p:sp>
        <p:nvSpPr>
          <p:cNvPr id="6" name="Text 3"/>
          <p:cNvSpPr txBox="1"/>
          <p:nvPr/>
        </p:nvSpPr>
        <p:spPr>
          <a:xfrm>
            <a:off x="502920" y="1124712"/>
            <a:ext cx="4069080" cy="256032"/>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例：電線の押出ラインで外径が振れたとき</a:t>
            </a:r>
            <a:endParaRPr lang="en-US" sz="1100" dirty="0"/>
          </a:p>
        </p:txBody>
      </p:sp>
      <p:sp>
        <p:nvSpPr>
          <p:cNvPr id="7" name="Text 4"/>
          <p:cNvSpPr txBox="1"/>
          <p:nvPr/>
        </p:nvSpPr>
        <p:spPr>
          <a:xfrm>
            <a:off x="502920" y="1435608"/>
            <a:ext cx="4069080" cy="749808"/>
          </a:xfrm>
          <a:prstGeom prst="rect">
            <a:avLst/>
          </a:prstGeom>
          <a:noFill/>
          <a:ln/>
        </p:spPr>
        <p:txBody>
          <a:bodyPr wrap="square" lIns="0" tIns="0" rIns="0" bIns="0" rtlCol="0" anchor="t"/>
          <a:lstStyle/>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熟練者</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　音と湿度を見て、押出温度を少し下げて立て直す</a:t>
            </a:r>
            <a:endParaRPr lang="en-US" sz="1000" dirty="0"/>
          </a:p>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手順書</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　この判断は書かれていない</a:t>
            </a:r>
            <a:endParaRPr lang="en-US" sz="1000" dirty="0"/>
          </a:p>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退職後</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　若手は原因が分からず、ラインを止めて不良を出す</a:t>
            </a:r>
            <a:endParaRPr lang="en-US" sz="1000" dirty="0"/>
          </a:p>
        </p:txBody>
      </p:sp>
      <p:sp>
        <p:nvSpPr>
          <p:cNvPr id="8" name="Text 5"/>
          <p:cNvSpPr txBox="1"/>
          <p:nvPr/>
        </p:nvSpPr>
        <p:spPr>
          <a:xfrm>
            <a:off x="365760" y="2514600"/>
            <a:ext cx="4343400" cy="256032"/>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なぜ自分が取り組むのか</a:t>
            </a:r>
            <a:endParaRPr lang="en-US" sz="1200" dirty="0"/>
          </a:p>
        </p:txBody>
      </p:sp>
      <p:sp>
        <p:nvSpPr>
          <p:cNvPr id="9" name="Text 6"/>
          <p:cNvSpPr txBox="1"/>
          <p:nvPr/>
        </p:nvSpPr>
        <p:spPr>
          <a:xfrm>
            <a:off x="365760" y="2788920"/>
            <a:ext cx="4343400" cy="1371600"/>
          </a:xfrm>
          <a:prstGeom prst="rect">
            <a:avLst/>
          </a:prstGeom>
          <a:noFill/>
          <a:ln/>
        </p:spPr>
        <p:txBody>
          <a:bodyPr wrap="square" lIns="0" tIns="0" rIns="0" bIns="0" rtlCol="0" anchor="t"/>
          <a:lstStyle/>
          <a:p>
            <a:pPr algn="l" indent="0" marL="0">
              <a:lnSpc>
                <a:spcPct val="115000"/>
              </a:lnSpc>
              <a:spcAft>
                <a:spcPts val="400"/>
              </a:spcAft>
              <a:buNone/>
            </a:pPr>
            <a:r>
              <a:rPr lang="en-US" sz="1000" b="1" dirty="0">
                <a:solidFill>
                  <a:srgbClr val="1A1A1A"/>
                </a:solidFill>
                <a:latin typeface="Meiryo" pitchFamily="34" charset="0"/>
                <a:ea typeface="Meiryo" pitchFamily="34" charset="-122"/>
                <a:cs typeface="Meiryo" pitchFamily="34" charset="-120"/>
              </a:rPr>
              <a:t>現場を知っている：</a:t>
            </a:r>
            <a:pPr algn="l" indent="0" marL="0">
              <a:lnSpc>
                <a:spcPct val="115000"/>
              </a:lnSpc>
              <a:spcAft>
                <a:spcPts val="400"/>
              </a:spcAft>
              <a:buNone/>
            </a:pPr>
            <a:r>
              <a:rPr lang="en-US" sz="1000" dirty="0">
                <a:solidFill>
                  <a:srgbClr val="1A1A1A"/>
                </a:solidFill>
                <a:latin typeface="Meiryo" pitchFamily="34" charset="0"/>
                <a:ea typeface="Meiryo" pitchFamily="34" charset="-122"/>
                <a:cs typeface="Meiryo" pitchFamily="34" charset="-120"/>
              </a:rPr>
              <a:t>66kV／275kV 地中送電線の施工管理5年。製品が使われる現場の不具合と試験値を実地で把握</a:t>
            </a:r>
            <a:endParaRPr lang="en-US" sz="1000" dirty="0"/>
          </a:p>
          <a:p>
            <a:pPr algn="l" indent="0" marL="0">
              <a:lnSpc>
                <a:spcPct val="115000"/>
              </a:lnSpc>
              <a:spcAft>
                <a:spcPts val="400"/>
              </a:spcAft>
              <a:buNone/>
            </a:pPr>
            <a:r>
              <a:rPr lang="en-US" sz="1000" b="1" dirty="0">
                <a:solidFill>
                  <a:srgbClr val="1A1A1A"/>
                </a:solidFill>
                <a:latin typeface="Meiryo" pitchFamily="34" charset="0"/>
                <a:ea typeface="Meiryo" pitchFamily="34" charset="-122"/>
                <a:cs typeface="Meiryo" pitchFamily="34" charset="-120"/>
              </a:rPr>
              <a:t>仕組みを作れる：</a:t>
            </a:r>
            <a:pPr algn="l" indent="0" marL="0">
              <a:lnSpc>
                <a:spcPct val="115000"/>
              </a:lnSpc>
              <a:spcAft>
                <a:spcPts val="400"/>
              </a:spcAft>
              <a:buNone/>
            </a:pPr>
            <a:r>
              <a:rPr lang="en-US" sz="1000" dirty="0">
                <a:solidFill>
                  <a:srgbClr val="1A1A1A"/>
                </a:solidFill>
                <a:latin typeface="Meiryo" pitchFamily="34" charset="0"/>
                <a:ea typeface="Meiryo" pitchFamily="34" charset="-122"/>
                <a:cs typeface="Meiryo" pitchFamily="34" charset="-120"/>
              </a:rPr>
              <a:t>Python・Power BI・FastAPI・Docker・LangChain・RAG を独学し業務に実装</a:t>
            </a:r>
            <a:endParaRPr lang="en-US" sz="1000" dirty="0"/>
          </a:p>
          <a:p>
            <a:pPr algn="l" indent="0" marL="0">
              <a:lnSpc>
                <a:spcPct val="115000"/>
              </a:lnSpc>
              <a:spcAft>
                <a:spcPts val="400"/>
              </a:spcAft>
              <a:buNone/>
            </a:pPr>
            <a:r>
              <a:rPr lang="en-US" sz="1000" b="1" dirty="0">
                <a:solidFill>
                  <a:srgbClr val="1A1A1A"/>
                </a:solidFill>
                <a:latin typeface="Meiryo" pitchFamily="34" charset="0"/>
                <a:ea typeface="Meiryo" pitchFamily="34" charset="-122"/>
                <a:cs typeface="Meiryo" pitchFamily="34" charset="-120"/>
              </a:rPr>
              <a:t>資格：</a:t>
            </a:r>
            <a:pPr algn="l" indent="0" marL="0">
              <a:lnSpc>
                <a:spcPct val="115000"/>
              </a:lnSpc>
              <a:spcAft>
                <a:spcPts val="400"/>
              </a:spcAft>
              <a:buNone/>
            </a:pPr>
            <a:r>
              <a:rPr lang="en-US" sz="1000" dirty="0">
                <a:solidFill>
                  <a:srgbClr val="1A1A1A"/>
                </a:solidFill>
                <a:latin typeface="Meiryo" pitchFamily="34" charset="0"/>
                <a:ea typeface="Meiryo" pitchFamily="34" charset="-122"/>
                <a:cs typeface="Meiryo" pitchFamily="34" charset="-120"/>
              </a:rPr>
              <a:t>1級電気工事施工管理技士・G検定</a:t>
            </a:r>
            <a:endParaRPr lang="en-US" sz="1000" dirty="0"/>
          </a:p>
        </p:txBody>
      </p:sp>
      <p:sp>
        <p:nvSpPr>
          <p:cNvPr id="10" name="stat-0"/>
          <p:cNvSpPr/>
          <p:nvPr/>
        </p:nvSpPr>
        <p:spPr>
          <a:xfrm>
            <a:off x="4937760" y="1051560"/>
            <a:ext cx="1874520" cy="1481328"/>
          </a:xfrm>
          <a:prstGeom prst="rect">
            <a:avLst/>
          </a:prstGeom>
          <a:solidFill>
            <a:srgbClr val="FFFFFF"/>
          </a:solidFill>
          <a:ln w="9525">
            <a:solidFill>
              <a:srgbClr val="BFBFBF"/>
            </a:solidFill>
            <a:prstDash val="solid"/>
          </a:ln>
        </p:spPr>
      </p:sp>
      <p:sp>
        <p:nvSpPr>
          <p:cNvPr id="11" name="Text 8"/>
          <p:cNvSpPr txBox="1"/>
          <p:nvPr/>
        </p:nvSpPr>
        <p:spPr>
          <a:xfrm>
            <a:off x="5047488" y="1188720"/>
            <a:ext cx="1655064" cy="45720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36.7%</a:t>
            </a:r>
            <a:endParaRPr lang="en-US" sz="2000" dirty="0"/>
          </a:p>
        </p:txBody>
      </p:sp>
      <p:sp>
        <p:nvSpPr>
          <p:cNvPr id="12" name="Text 9"/>
          <p:cNvSpPr txBox="1"/>
          <p:nvPr/>
        </p:nvSpPr>
        <p:spPr>
          <a:xfrm>
            <a:off x="5047488" y="1737360"/>
            <a:ext cx="1655064" cy="73152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建設業就業者のうち55歳以上（29歳以下は11.7%）</a:t>
            </a:r>
            <a:endParaRPr lang="en-US" sz="950" dirty="0"/>
          </a:p>
        </p:txBody>
      </p:sp>
      <p:sp>
        <p:nvSpPr>
          <p:cNvPr id="13" name="stat-1"/>
          <p:cNvSpPr/>
          <p:nvPr/>
        </p:nvSpPr>
        <p:spPr>
          <a:xfrm>
            <a:off x="6903720" y="1051560"/>
            <a:ext cx="1874520" cy="1481328"/>
          </a:xfrm>
          <a:prstGeom prst="rect">
            <a:avLst/>
          </a:prstGeom>
          <a:solidFill>
            <a:srgbClr val="FFFFFF"/>
          </a:solidFill>
          <a:ln w="9525">
            <a:solidFill>
              <a:srgbClr val="BFBFBF"/>
            </a:solidFill>
            <a:prstDash val="solid"/>
          </a:ln>
        </p:spPr>
      </p:sp>
      <p:sp>
        <p:nvSpPr>
          <p:cNvPr id="14" name="Text 11"/>
          <p:cNvSpPr txBox="1"/>
          <p:nvPr/>
        </p:nvSpPr>
        <p:spPr>
          <a:xfrm>
            <a:off x="7013448" y="1188720"/>
            <a:ext cx="1655064" cy="45720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1,033万人</a:t>
            </a:r>
            <a:endParaRPr lang="en-US" sz="2000" dirty="0"/>
          </a:p>
        </p:txBody>
      </p:sp>
      <p:sp>
        <p:nvSpPr>
          <p:cNvPr id="15" name="Text 12"/>
          <p:cNvSpPr txBox="1"/>
          <p:nvPr/>
        </p:nvSpPr>
        <p:spPr>
          <a:xfrm>
            <a:off x="7013448" y="1737360"/>
            <a:ext cx="1655064" cy="73152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製造業就業者数（2025年。2023年の1,055万人から減少）</a:t>
            </a:r>
            <a:endParaRPr lang="en-US" sz="950" dirty="0"/>
          </a:p>
        </p:txBody>
      </p:sp>
      <p:sp>
        <p:nvSpPr>
          <p:cNvPr id="16" name="stat-2"/>
          <p:cNvSpPr/>
          <p:nvPr/>
        </p:nvSpPr>
        <p:spPr>
          <a:xfrm>
            <a:off x="4937760" y="2624328"/>
            <a:ext cx="1874520" cy="1481328"/>
          </a:xfrm>
          <a:prstGeom prst="rect">
            <a:avLst/>
          </a:prstGeom>
          <a:solidFill>
            <a:srgbClr val="FFFFFF"/>
          </a:solidFill>
          <a:ln w="9525">
            <a:solidFill>
              <a:srgbClr val="BFBFBF"/>
            </a:solidFill>
            <a:prstDash val="solid"/>
          </a:ln>
        </p:spPr>
      </p:sp>
      <p:sp>
        <p:nvSpPr>
          <p:cNvPr id="17" name="Text 14"/>
          <p:cNvSpPr txBox="1"/>
          <p:nvPr/>
        </p:nvSpPr>
        <p:spPr>
          <a:xfrm>
            <a:off x="5047488" y="2761488"/>
            <a:ext cx="1655064" cy="45720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3社に2社</a:t>
            </a:r>
            <a:endParaRPr lang="en-US" sz="2000" dirty="0"/>
          </a:p>
        </p:txBody>
      </p:sp>
      <p:sp>
        <p:nvSpPr>
          <p:cNvPr id="18" name="Text 15"/>
          <p:cNvSpPr txBox="1"/>
          <p:nvPr/>
        </p:nvSpPr>
        <p:spPr>
          <a:xfrm>
            <a:off x="5047488" y="3310128"/>
            <a:ext cx="1655064" cy="73152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技能継承がうまくいっていない製造企業</a:t>
            </a:r>
            <a:endParaRPr lang="en-US" sz="950" dirty="0"/>
          </a:p>
        </p:txBody>
      </p:sp>
      <p:sp>
        <p:nvSpPr>
          <p:cNvPr id="19" name="stat-3"/>
          <p:cNvSpPr/>
          <p:nvPr/>
        </p:nvSpPr>
        <p:spPr>
          <a:xfrm>
            <a:off x="6903720" y="2624328"/>
            <a:ext cx="1874520" cy="1481328"/>
          </a:xfrm>
          <a:prstGeom prst="rect">
            <a:avLst/>
          </a:prstGeom>
          <a:solidFill>
            <a:srgbClr val="FFFFFF"/>
          </a:solidFill>
          <a:ln w="9525">
            <a:solidFill>
              <a:srgbClr val="BFBFBF"/>
            </a:solidFill>
            <a:prstDash val="solid"/>
          </a:ln>
        </p:spPr>
      </p:sp>
      <p:sp>
        <p:nvSpPr>
          <p:cNvPr id="20" name="Text 17"/>
          <p:cNvSpPr txBox="1"/>
          <p:nvPr/>
        </p:nvSpPr>
        <p:spPr>
          <a:xfrm>
            <a:off x="7013448" y="2761488"/>
            <a:ext cx="1655064" cy="45720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21.7%</a:t>
            </a:r>
            <a:endParaRPr lang="en-US" sz="2000" dirty="0"/>
          </a:p>
        </p:txBody>
      </p:sp>
      <p:sp>
        <p:nvSpPr>
          <p:cNvPr id="21" name="Text 18"/>
          <p:cNvSpPr txBox="1"/>
          <p:nvPr/>
        </p:nvSpPr>
        <p:spPr>
          <a:xfrm>
            <a:off x="7013448" y="3310128"/>
            <a:ext cx="1655064" cy="73152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技能継承にデジタル技術を活用している企業</a:t>
            </a:r>
            <a:endParaRPr lang="en-US" sz="950" dirty="0"/>
          </a:p>
        </p:txBody>
      </p:sp>
      <p:sp>
        <p:nvSpPr>
          <p:cNvPr id="22" name="Text 19"/>
          <p:cNvSpPr txBox="1"/>
          <p:nvPr/>
        </p:nvSpPr>
        <p:spPr>
          <a:xfrm>
            <a:off x="365760" y="4480560"/>
            <a:ext cx="8412480" cy="347472"/>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出典：国土交通省（総務省「労働力調査」2024年）／経済産業省・厚生労働省・文部科学省「ものづくり白書」2026年版／労働政策研究・研修機構「ものづくり産業における人材確保・定着と技能継承に関する調査」（2026年5月）</a:t>
            </a:r>
            <a:endParaRPr lang="en-US" sz="8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設問①　解決策 ─ 引退した熟練者が、隣で教えてくれる現場</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データを集めて終わらせない。勘どころを言語化し、研修資料・音声番組・動画まで当社が作って届ける</a:t>
            </a:r>
            <a:endParaRPr lang="en-US" sz="1200" dirty="0"/>
          </a:p>
        </p:txBody>
      </p:sp>
      <p:sp>
        <p:nvSpPr>
          <p:cNvPr id="5" name="step-1"/>
          <p:cNvSpPr/>
          <p:nvPr/>
        </p:nvSpPr>
        <p:spPr>
          <a:xfrm>
            <a:off x="365760" y="1024128"/>
            <a:ext cx="2578608" cy="1371600"/>
          </a:xfrm>
          <a:prstGeom prst="rect">
            <a:avLst/>
          </a:prstGeom>
          <a:solidFill>
            <a:srgbClr val="FFFFFF"/>
          </a:solidFill>
          <a:ln w="9525">
            <a:solidFill>
              <a:srgbClr val="BFBFBF"/>
            </a:solidFill>
            <a:prstDash val="solid"/>
          </a:ln>
        </p:spPr>
      </p:sp>
      <p:sp>
        <p:nvSpPr>
          <p:cNvPr id="6" name="Shape 3"/>
          <p:cNvSpPr/>
          <p:nvPr/>
        </p:nvSpPr>
        <p:spPr>
          <a:xfrm>
            <a:off x="365760" y="1024128"/>
            <a:ext cx="2578608" cy="274320"/>
          </a:xfrm>
          <a:prstGeom prst="rect">
            <a:avLst/>
          </a:prstGeom>
          <a:solidFill>
            <a:srgbClr val="1A1A1A"/>
          </a:solidFill>
          <a:ln/>
        </p:spPr>
      </p:sp>
      <p:sp>
        <p:nvSpPr>
          <p:cNvPr id="7" name="Text 4"/>
          <p:cNvSpPr txBox="1"/>
          <p:nvPr/>
        </p:nvSpPr>
        <p:spPr>
          <a:xfrm>
            <a:off x="475488" y="1024128"/>
            <a:ext cx="2359152" cy="274320"/>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① 記録する</a:t>
            </a:r>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　熟練者</a:t>
            </a:r>
            <a:endParaRPr lang="en-US" sz="1100" dirty="0"/>
          </a:p>
        </p:txBody>
      </p:sp>
      <p:sp>
        <p:nvSpPr>
          <p:cNvPr id="8" name="Text 5"/>
          <p:cNvSpPr txBox="1"/>
          <p:nvPr/>
        </p:nvSpPr>
        <p:spPr>
          <a:xfrm>
            <a:off x="475488" y="1353312"/>
            <a:ext cx="2359152" cy="603504"/>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異常に対処したら、タブレットに音声で一言残す。例「湿度が高いので温度を2℃下げた」</a:t>
            </a:r>
            <a:endParaRPr lang="en-US" sz="950" dirty="0"/>
          </a:p>
        </p:txBody>
      </p:sp>
      <p:sp>
        <p:nvSpPr>
          <p:cNvPr id="9" name="Text 6"/>
          <p:cNvSpPr txBox="1"/>
          <p:nvPr/>
        </p:nvSpPr>
        <p:spPr>
          <a:xfrm>
            <a:off x="475488" y="2029968"/>
            <a:ext cx="2359152" cy="310896"/>
          </a:xfrm>
          <a:prstGeom prst="rect">
            <a:avLst/>
          </a:prstGeom>
          <a:noFill/>
          <a:ln/>
        </p:spPr>
        <p:txBody>
          <a:bodyPr wrap="square" lIns="0" tIns="0" rIns="0" bIns="0" rtlCol="0" anchor="t"/>
          <a:lstStyle/>
          <a:p>
            <a:pPr algn="l" indent="0" marL="0">
              <a:lnSpc>
                <a:spcPct val="115000"/>
              </a:lnSpc>
              <a:buNone/>
            </a:pPr>
            <a:r>
              <a:rPr lang="en-US" sz="850" b="1" dirty="0">
                <a:solidFill>
                  <a:srgbClr val="4D4D4D"/>
                </a:solidFill>
                <a:latin typeface="Meiryo" pitchFamily="34" charset="0"/>
                <a:ea typeface="Meiryo" pitchFamily="34" charset="-122"/>
                <a:cs typeface="Meiryo" pitchFamily="34" charset="-120"/>
              </a:rPr>
              <a:t>道具：</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記録アプリ（音声・写真）＋MES連携</a:t>
            </a:r>
            <a:endParaRPr lang="en-US" sz="850" dirty="0"/>
          </a:p>
        </p:txBody>
      </p:sp>
      <p:sp>
        <p:nvSpPr>
          <p:cNvPr id="10" name="Text 7"/>
          <p:cNvSpPr txBox="1"/>
          <p:nvPr/>
        </p:nvSpPr>
        <p:spPr>
          <a:xfrm>
            <a:off x="2944368" y="1545336"/>
            <a:ext cx="338328" cy="329184"/>
          </a:xfrm>
          <a:prstGeom prst="rect">
            <a:avLst/>
          </a:prstGeom>
          <a:noFill/>
          <a:ln/>
        </p:spPr>
        <p:txBody>
          <a:bodyPr wrap="square" lIns="0" tIns="0" rIns="0" bIns="0" rtlCol="0" anchor="ctr"/>
          <a:lstStyle/>
          <a:p>
            <a:pPr algn="ctr" indent="0" marL="0">
              <a:lnSpc>
                <a:spcPct val="115000"/>
              </a:lnSpc>
              <a:buNone/>
            </a:pPr>
            <a:r>
              <a:rPr lang="en-US" sz="1400" dirty="0">
                <a:solidFill>
                  <a:srgbClr val="1A1A1A"/>
                </a:solidFill>
                <a:latin typeface="Meiryo" pitchFamily="34" charset="0"/>
                <a:ea typeface="Meiryo" pitchFamily="34" charset="-122"/>
                <a:cs typeface="Meiryo" pitchFamily="34" charset="-120"/>
              </a:rPr>
              <a:t>▶</a:t>
            </a:r>
            <a:endParaRPr lang="en-US" sz="1400" dirty="0"/>
          </a:p>
        </p:txBody>
      </p:sp>
      <p:sp>
        <p:nvSpPr>
          <p:cNvPr id="11" name="step-2"/>
          <p:cNvSpPr/>
          <p:nvPr/>
        </p:nvSpPr>
        <p:spPr>
          <a:xfrm>
            <a:off x="3282696" y="1024128"/>
            <a:ext cx="2578608" cy="1371600"/>
          </a:xfrm>
          <a:prstGeom prst="rect">
            <a:avLst/>
          </a:prstGeom>
          <a:solidFill>
            <a:srgbClr val="FFFFFF"/>
          </a:solidFill>
          <a:ln w="9525">
            <a:solidFill>
              <a:srgbClr val="BFBFBF"/>
            </a:solidFill>
            <a:prstDash val="solid"/>
          </a:ln>
        </p:spPr>
      </p:sp>
      <p:sp>
        <p:nvSpPr>
          <p:cNvPr id="12" name="Shape 9"/>
          <p:cNvSpPr/>
          <p:nvPr/>
        </p:nvSpPr>
        <p:spPr>
          <a:xfrm>
            <a:off x="3282696" y="1024128"/>
            <a:ext cx="2578608" cy="274320"/>
          </a:xfrm>
          <a:prstGeom prst="rect">
            <a:avLst/>
          </a:prstGeom>
          <a:solidFill>
            <a:srgbClr val="1A1A1A"/>
          </a:solidFill>
          <a:ln/>
        </p:spPr>
      </p:sp>
      <p:sp>
        <p:nvSpPr>
          <p:cNvPr id="13" name="Text 10"/>
          <p:cNvSpPr txBox="1"/>
          <p:nvPr/>
        </p:nvSpPr>
        <p:spPr>
          <a:xfrm>
            <a:off x="3392424" y="1024128"/>
            <a:ext cx="2359152" cy="274320"/>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② 整理する</a:t>
            </a:r>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　生成AI</a:t>
            </a:r>
            <a:endParaRPr lang="en-US" sz="1100" dirty="0"/>
          </a:p>
        </p:txBody>
      </p:sp>
      <p:sp>
        <p:nvSpPr>
          <p:cNvPr id="14" name="Text 11"/>
          <p:cNvSpPr txBox="1"/>
          <p:nvPr/>
        </p:nvSpPr>
        <p:spPr>
          <a:xfrm>
            <a:off x="3392424" y="1353312"/>
            <a:ext cx="2359152" cy="603504"/>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一言を「条件・処置・理由」に分けて文章化し、ロット・設備データと紐づけて事例にする</a:t>
            </a:r>
            <a:endParaRPr lang="en-US" sz="950" dirty="0"/>
          </a:p>
        </p:txBody>
      </p:sp>
      <p:sp>
        <p:nvSpPr>
          <p:cNvPr id="15" name="Text 12"/>
          <p:cNvSpPr txBox="1"/>
          <p:nvPr/>
        </p:nvSpPr>
        <p:spPr>
          <a:xfrm>
            <a:off x="3392424" y="2029968"/>
            <a:ext cx="2359152" cy="310896"/>
          </a:xfrm>
          <a:prstGeom prst="rect">
            <a:avLst/>
          </a:prstGeom>
          <a:noFill/>
          <a:ln/>
        </p:spPr>
        <p:txBody>
          <a:bodyPr wrap="square" lIns="0" tIns="0" rIns="0" bIns="0" rtlCol="0" anchor="t"/>
          <a:lstStyle/>
          <a:p>
            <a:pPr algn="l" indent="0" marL="0">
              <a:lnSpc>
                <a:spcPct val="115000"/>
              </a:lnSpc>
              <a:buNone/>
            </a:pPr>
            <a:r>
              <a:rPr lang="en-US" sz="850" b="1" dirty="0">
                <a:solidFill>
                  <a:srgbClr val="4D4D4D"/>
                </a:solidFill>
                <a:latin typeface="Meiryo" pitchFamily="34" charset="0"/>
                <a:ea typeface="Meiryo" pitchFamily="34" charset="-122"/>
                <a:cs typeface="Meiryo" pitchFamily="34" charset="-120"/>
              </a:rPr>
              <a:t>道具：</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生成AI＋現場データ基盤（クラウド）</a:t>
            </a:r>
            <a:endParaRPr lang="en-US" sz="850" dirty="0"/>
          </a:p>
        </p:txBody>
      </p:sp>
      <p:sp>
        <p:nvSpPr>
          <p:cNvPr id="16" name="Text 13"/>
          <p:cNvSpPr txBox="1"/>
          <p:nvPr/>
        </p:nvSpPr>
        <p:spPr>
          <a:xfrm>
            <a:off x="5861304" y="1545336"/>
            <a:ext cx="338328" cy="329184"/>
          </a:xfrm>
          <a:prstGeom prst="rect">
            <a:avLst/>
          </a:prstGeom>
          <a:noFill/>
          <a:ln/>
        </p:spPr>
        <p:txBody>
          <a:bodyPr wrap="square" lIns="0" tIns="0" rIns="0" bIns="0" rtlCol="0" anchor="ctr"/>
          <a:lstStyle/>
          <a:p>
            <a:pPr algn="ctr" indent="0" marL="0">
              <a:lnSpc>
                <a:spcPct val="115000"/>
              </a:lnSpc>
              <a:buNone/>
            </a:pPr>
            <a:r>
              <a:rPr lang="en-US" sz="1400" dirty="0">
                <a:solidFill>
                  <a:srgbClr val="1A1A1A"/>
                </a:solidFill>
                <a:latin typeface="Meiryo" pitchFamily="34" charset="0"/>
                <a:ea typeface="Meiryo" pitchFamily="34" charset="-122"/>
                <a:cs typeface="Meiryo" pitchFamily="34" charset="-120"/>
              </a:rPr>
              <a:t>▶</a:t>
            </a:r>
            <a:endParaRPr lang="en-US" sz="1400" dirty="0"/>
          </a:p>
        </p:txBody>
      </p:sp>
      <p:sp>
        <p:nvSpPr>
          <p:cNvPr id="17" name="step-3"/>
          <p:cNvSpPr/>
          <p:nvPr/>
        </p:nvSpPr>
        <p:spPr>
          <a:xfrm>
            <a:off x="6199632" y="1024128"/>
            <a:ext cx="2578608" cy="1371600"/>
          </a:xfrm>
          <a:prstGeom prst="rect">
            <a:avLst/>
          </a:prstGeom>
          <a:solidFill>
            <a:srgbClr val="FFFFFF"/>
          </a:solidFill>
          <a:ln w="9525">
            <a:solidFill>
              <a:srgbClr val="BFBFBF"/>
            </a:solidFill>
            <a:prstDash val="solid"/>
          </a:ln>
        </p:spPr>
      </p:sp>
      <p:sp>
        <p:nvSpPr>
          <p:cNvPr id="18" name="Shape 15"/>
          <p:cNvSpPr/>
          <p:nvPr/>
        </p:nvSpPr>
        <p:spPr>
          <a:xfrm>
            <a:off x="6199632" y="1024128"/>
            <a:ext cx="2578608" cy="274320"/>
          </a:xfrm>
          <a:prstGeom prst="rect">
            <a:avLst/>
          </a:prstGeom>
          <a:solidFill>
            <a:srgbClr val="1A1A1A"/>
          </a:solidFill>
          <a:ln/>
        </p:spPr>
      </p:sp>
      <p:sp>
        <p:nvSpPr>
          <p:cNvPr id="19" name="Text 16"/>
          <p:cNvSpPr txBox="1"/>
          <p:nvPr/>
        </p:nvSpPr>
        <p:spPr>
          <a:xfrm>
            <a:off x="6309360" y="1024128"/>
            <a:ext cx="2359152" cy="274320"/>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③ 教材にして渡す</a:t>
            </a:r>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　当社</a:t>
            </a:r>
            <a:endParaRPr lang="en-US" sz="1100" dirty="0"/>
          </a:p>
        </p:txBody>
      </p:sp>
      <p:sp>
        <p:nvSpPr>
          <p:cNvPr id="20" name="Text 17"/>
          <p:cNvSpPr txBox="1"/>
          <p:nvPr/>
        </p:nvSpPr>
        <p:spPr>
          <a:xfrm>
            <a:off x="6309360" y="1353312"/>
            <a:ext cx="2359152" cy="603504"/>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現場が忙しくて作れない研修資料・音声番組・動画を当社が制作し、現場に届ける</a:t>
            </a:r>
            <a:endParaRPr lang="en-US" sz="950" dirty="0"/>
          </a:p>
        </p:txBody>
      </p:sp>
      <p:sp>
        <p:nvSpPr>
          <p:cNvPr id="21" name="Text 18"/>
          <p:cNvSpPr txBox="1"/>
          <p:nvPr/>
        </p:nvSpPr>
        <p:spPr>
          <a:xfrm>
            <a:off x="6309360" y="2029968"/>
            <a:ext cx="2359152" cy="310896"/>
          </a:xfrm>
          <a:prstGeom prst="rect">
            <a:avLst/>
          </a:prstGeom>
          <a:noFill/>
          <a:ln/>
        </p:spPr>
        <p:txBody>
          <a:bodyPr wrap="square" lIns="0" tIns="0" rIns="0" bIns="0" rtlCol="0" anchor="t"/>
          <a:lstStyle/>
          <a:p>
            <a:pPr algn="l" indent="0" marL="0">
              <a:lnSpc>
                <a:spcPct val="115000"/>
              </a:lnSpc>
              <a:buNone/>
            </a:pPr>
            <a:r>
              <a:rPr lang="en-US" sz="850" b="1" dirty="0">
                <a:solidFill>
                  <a:srgbClr val="4D4D4D"/>
                </a:solidFill>
                <a:latin typeface="Meiryo" pitchFamily="34" charset="0"/>
                <a:ea typeface="Meiryo" pitchFamily="34" charset="-122"/>
                <a:cs typeface="Meiryo" pitchFamily="34" charset="-120"/>
              </a:rPr>
              <a:t>道具：</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生成AIで台本→当社が監修→配信</a:t>
            </a:r>
            <a:endParaRPr lang="en-US" sz="850" dirty="0"/>
          </a:p>
        </p:txBody>
      </p:sp>
      <p:sp>
        <p:nvSpPr>
          <p:cNvPr id="22" name="Text 19"/>
          <p:cNvSpPr txBox="1"/>
          <p:nvPr/>
        </p:nvSpPr>
        <p:spPr>
          <a:xfrm>
            <a:off x="365760" y="2542032"/>
            <a:ext cx="4572000" cy="21945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渡し方を増やす（製品戦略：基盤が先、追加機能は年1本ずつ）</a:t>
            </a:r>
            <a:endParaRPr lang="en-US" sz="950" dirty="0"/>
          </a:p>
        </p:txBody>
      </p:sp>
      <p:sp>
        <p:nvSpPr>
          <p:cNvPr id="23" name="Shape 20"/>
          <p:cNvSpPr/>
          <p:nvPr/>
        </p:nvSpPr>
        <p:spPr>
          <a:xfrm>
            <a:off x="365760" y="2788920"/>
            <a:ext cx="4572000" cy="0"/>
          </a:xfrm>
          <a:prstGeom prst="line">
            <a:avLst/>
          </a:prstGeom>
          <a:noFill/>
          <a:ln w="9525">
            <a:solidFill>
              <a:srgbClr val="BFBFBF"/>
            </a:solidFill>
            <a:prstDash val="solid"/>
          </a:ln>
        </p:spPr>
      </p:sp>
      <p:sp>
        <p:nvSpPr>
          <p:cNvPr id="24" name="Text 21"/>
          <p:cNvSpPr txBox="1"/>
          <p:nvPr/>
        </p:nvSpPr>
        <p:spPr>
          <a:xfrm>
            <a:off x="402336" y="2788920"/>
            <a:ext cx="42062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1年目</a:t>
            </a:r>
            <a:endParaRPr lang="en-US" sz="800" dirty="0"/>
          </a:p>
        </p:txBody>
      </p:sp>
      <p:sp>
        <p:nvSpPr>
          <p:cNvPr id="25" name="Text 22"/>
          <p:cNvSpPr txBox="1"/>
          <p:nvPr/>
        </p:nvSpPr>
        <p:spPr>
          <a:xfrm>
            <a:off x="822960" y="2788920"/>
            <a:ext cx="621792" cy="228600"/>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基盤</a:t>
            </a:r>
            <a:endParaRPr lang="en-US" sz="850" dirty="0"/>
          </a:p>
        </p:txBody>
      </p:sp>
      <p:sp>
        <p:nvSpPr>
          <p:cNvPr id="26" name="Text 23"/>
          <p:cNvSpPr txBox="1"/>
          <p:nvPr/>
        </p:nvSpPr>
        <p:spPr>
          <a:xfrm>
            <a:off x="1444752" y="2788920"/>
            <a:ext cx="60350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画面</a:t>
            </a:r>
            <a:endParaRPr lang="en-US" sz="800" dirty="0"/>
          </a:p>
        </p:txBody>
      </p:sp>
      <p:sp>
        <p:nvSpPr>
          <p:cNvPr id="27" name="Text 24"/>
          <p:cNvSpPr txBox="1"/>
          <p:nvPr/>
        </p:nvSpPr>
        <p:spPr>
          <a:xfrm>
            <a:off x="2048256" y="2788920"/>
            <a:ext cx="2468880" cy="228600"/>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記録・過去事例の検索（全顧客）</a:t>
            </a:r>
            <a:endParaRPr lang="en-US" sz="800" dirty="0"/>
          </a:p>
        </p:txBody>
      </p:sp>
      <p:sp>
        <p:nvSpPr>
          <p:cNvPr id="28" name="Text 25"/>
          <p:cNvSpPr txBox="1"/>
          <p:nvPr/>
        </p:nvSpPr>
        <p:spPr>
          <a:xfrm>
            <a:off x="4517136" y="2788920"/>
            <a:ext cx="384048" cy="228600"/>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製品</a:t>
            </a:r>
            <a:endParaRPr lang="en-US" sz="800" dirty="0"/>
          </a:p>
        </p:txBody>
      </p:sp>
      <p:sp>
        <p:nvSpPr>
          <p:cNvPr id="29" name="Shape 26"/>
          <p:cNvSpPr/>
          <p:nvPr/>
        </p:nvSpPr>
        <p:spPr>
          <a:xfrm>
            <a:off x="365760" y="3017520"/>
            <a:ext cx="4572000" cy="0"/>
          </a:xfrm>
          <a:prstGeom prst="line">
            <a:avLst/>
          </a:prstGeom>
          <a:noFill/>
          <a:ln w="9525">
            <a:solidFill>
              <a:srgbClr val="BFBFBF"/>
            </a:solidFill>
            <a:prstDash val="solid"/>
          </a:ln>
        </p:spPr>
      </p:sp>
      <p:sp>
        <p:nvSpPr>
          <p:cNvPr id="30" name="Text 27"/>
          <p:cNvSpPr txBox="1"/>
          <p:nvPr/>
        </p:nvSpPr>
        <p:spPr>
          <a:xfrm>
            <a:off x="402336" y="3017520"/>
            <a:ext cx="42062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2年目</a:t>
            </a:r>
            <a:endParaRPr lang="en-US" sz="800" dirty="0"/>
          </a:p>
        </p:txBody>
      </p:sp>
      <p:sp>
        <p:nvSpPr>
          <p:cNvPr id="31" name="Text 28"/>
          <p:cNvSpPr txBox="1"/>
          <p:nvPr/>
        </p:nvSpPr>
        <p:spPr>
          <a:xfrm>
            <a:off x="822960" y="3017520"/>
            <a:ext cx="621792" cy="228600"/>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KNACK</a:t>
            </a:r>
            <a:endParaRPr lang="en-US" sz="850" dirty="0"/>
          </a:p>
        </p:txBody>
      </p:sp>
      <p:sp>
        <p:nvSpPr>
          <p:cNvPr id="32" name="Text 29"/>
          <p:cNvSpPr txBox="1"/>
          <p:nvPr/>
        </p:nvSpPr>
        <p:spPr>
          <a:xfrm>
            <a:off x="1444752" y="3017520"/>
            <a:ext cx="60350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教材</a:t>
            </a:r>
            <a:endParaRPr lang="en-US" sz="800" dirty="0"/>
          </a:p>
        </p:txBody>
      </p:sp>
      <p:sp>
        <p:nvSpPr>
          <p:cNvPr id="33" name="Text 30"/>
          <p:cNvSpPr txBox="1"/>
          <p:nvPr/>
        </p:nvSpPr>
        <p:spPr>
          <a:xfrm>
            <a:off x="2048256" y="3017520"/>
            <a:ext cx="2468880" cy="228600"/>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勘どころの音声番組・動画・研修資料を制作</a:t>
            </a:r>
            <a:endParaRPr lang="en-US" sz="800" dirty="0"/>
          </a:p>
        </p:txBody>
      </p:sp>
      <p:sp>
        <p:nvSpPr>
          <p:cNvPr id="34" name="Text 31"/>
          <p:cNvSpPr txBox="1"/>
          <p:nvPr/>
        </p:nvSpPr>
        <p:spPr>
          <a:xfrm>
            <a:off x="4517136" y="3017520"/>
            <a:ext cx="384048" cy="228600"/>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製品</a:t>
            </a:r>
            <a:endParaRPr lang="en-US" sz="800" dirty="0"/>
          </a:p>
        </p:txBody>
      </p:sp>
      <p:sp>
        <p:nvSpPr>
          <p:cNvPr id="35" name="Shape 32"/>
          <p:cNvSpPr/>
          <p:nvPr/>
        </p:nvSpPr>
        <p:spPr>
          <a:xfrm>
            <a:off x="365760" y="3246120"/>
            <a:ext cx="4572000" cy="0"/>
          </a:xfrm>
          <a:prstGeom prst="line">
            <a:avLst/>
          </a:prstGeom>
          <a:noFill/>
          <a:ln w="9525">
            <a:solidFill>
              <a:srgbClr val="BFBFBF"/>
            </a:solidFill>
            <a:prstDash val="solid"/>
          </a:ln>
        </p:spPr>
      </p:sp>
      <p:sp>
        <p:nvSpPr>
          <p:cNvPr id="36" name="Text 33"/>
          <p:cNvSpPr txBox="1"/>
          <p:nvPr/>
        </p:nvSpPr>
        <p:spPr>
          <a:xfrm>
            <a:off x="402336" y="3246120"/>
            <a:ext cx="42062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3年目</a:t>
            </a:r>
            <a:endParaRPr lang="en-US" sz="800" dirty="0"/>
          </a:p>
        </p:txBody>
      </p:sp>
      <p:sp>
        <p:nvSpPr>
          <p:cNvPr id="37" name="Text 34"/>
          <p:cNvSpPr txBox="1"/>
          <p:nvPr/>
        </p:nvSpPr>
        <p:spPr>
          <a:xfrm>
            <a:off x="822960" y="3246120"/>
            <a:ext cx="621792" cy="228600"/>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SAFE</a:t>
            </a:r>
            <a:endParaRPr lang="en-US" sz="850" dirty="0"/>
          </a:p>
        </p:txBody>
      </p:sp>
      <p:sp>
        <p:nvSpPr>
          <p:cNvPr id="38" name="Text 35"/>
          <p:cNvSpPr txBox="1"/>
          <p:nvPr/>
        </p:nvSpPr>
        <p:spPr>
          <a:xfrm>
            <a:off x="1444752" y="3246120"/>
            <a:ext cx="60350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警告</a:t>
            </a:r>
            <a:endParaRPr lang="en-US" sz="800" dirty="0"/>
          </a:p>
        </p:txBody>
      </p:sp>
      <p:sp>
        <p:nvSpPr>
          <p:cNvPr id="39" name="Text 36"/>
          <p:cNvSpPr txBox="1"/>
          <p:nvPr/>
        </p:nvSpPr>
        <p:spPr>
          <a:xfrm>
            <a:off x="2048256" y="3246120"/>
            <a:ext cx="2468880" cy="228600"/>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手順書を開くと過去の事故・ヒヤリ地点を表示</a:t>
            </a:r>
            <a:endParaRPr lang="en-US" sz="800" dirty="0"/>
          </a:p>
        </p:txBody>
      </p:sp>
      <p:sp>
        <p:nvSpPr>
          <p:cNvPr id="40" name="Text 37"/>
          <p:cNvSpPr txBox="1"/>
          <p:nvPr/>
        </p:nvSpPr>
        <p:spPr>
          <a:xfrm>
            <a:off x="4517136" y="3246120"/>
            <a:ext cx="384048" cy="228600"/>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製品</a:t>
            </a:r>
            <a:endParaRPr lang="en-US" sz="800" dirty="0"/>
          </a:p>
        </p:txBody>
      </p:sp>
      <p:sp>
        <p:nvSpPr>
          <p:cNvPr id="41" name="Shape 38"/>
          <p:cNvSpPr/>
          <p:nvPr/>
        </p:nvSpPr>
        <p:spPr>
          <a:xfrm>
            <a:off x="365760" y="3474720"/>
            <a:ext cx="4572000" cy="0"/>
          </a:xfrm>
          <a:prstGeom prst="line">
            <a:avLst/>
          </a:prstGeom>
          <a:noFill/>
          <a:ln w="9525">
            <a:solidFill>
              <a:srgbClr val="BFBFBF"/>
            </a:solidFill>
            <a:prstDash val="solid"/>
          </a:ln>
        </p:spPr>
      </p:sp>
      <p:sp>
        <p:nvSpPr>
          <p:cNvPr id="42" name="Text 39"/>
          <p:cNvSpPr txBox="1"/>
          <p:nvPr/>
        </p:nvSpPr>
        <p:spPr>
          <a:xfrm>
            <a:off x="402336" y="3474720"/>
            <a:ext cx="42062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4年目</a:t>
            </a:r>
            <a:endParaRPr lang="en-US" sz="800" dirty="0"/>
          </a:p>
        </p:txBody>
      </p:sp>
      <p:sp>
        <p:nvSpPr>
          <p:cNvPr id="43" name="Text 40"/>
          <p:cNvSpPr txBox="1"/>
          <p:nvPr/>
        </p:nvSpPr>
        <p:spPr>
          <a:xfrm>
            <a:off x="822960" y="3474720"/>
            <a:ext cx="621792" cy="228600"/>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TWIN</a:t>
            </a:r>
            <a:endParaRPr lang="en-US" sz="850" dirty="0"/>
          </a:p>
        </p:txBody>
      </p:sp>
      <p:sp>
        <p:nvSpPr>
          <p:cNvPr id="44" name="Text 41"/>
          <p:cNvSpPr txBox="1"/>
          <p:nvPr/>
        </p:nvSpPr>
        <p:spPr>
          <a:xfrm>
            <a:off x="1444752" y="3474720"/>
            <a:ext cx="60350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3D</a:t>
            </a:r>
            <a:endParaRPr lang="en-US" sz="800" dirty="0"/>
          </a:p>
        </p:txBody>
      </p:sp>
      <p:sp>
        <p:nvSpPr>
          <p:cNvPr id="45" name="Text 42"/>
          <p:cNvSpPr txBox="1"/>
          <p:nvPr/>
        </p:nvSpPr>
        <p:spPr>
          <a:xfrm>
            <a:off x="2048256" y="3474720"/>
            <a:ext cx="2468880" cy="228600"/>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3D仮想工場でレイアウト・ラインの流れを試算</a:t>
            </a:r>
            <a:endParaRPr lang="en-US" sz="800" dirty="0"/>
          </a:p>
        </p:txBody>
      </p:sp>
      <p:sp>
        <p:nvSpPr>
          <p:cNvPr id="46" name="Text 43"/>
          <p:cNvSpPr txBox="1"/>
          <p:nvPr/>
        </p:nvSpPr>
        <p:spPr>
          <a:xfrm>
            <a:off x="4517136" y="3474720"/>
            <a:ext cx="384048" cy="228600"/>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製品</a:t>
            </a:r>
            <a:endParaRPr lang="en-US" sz="800" dirty="0"/>
          </a:p>
        </p:txBody>
      </p:sp>
      <p:sp>
        <p:nvSpPr>
          <p:cNvPr id="47" name="Shape 44"/>
          <p:cNvSpPr/>
          <p:nvPr/>
        </p:nvSpPr>
        <p:spPr>
          <a:xfrm>
            <a:off x="365760" y="3703320"/>
            <a:ext cx="4572000" cy="0"/>
          </a:xfrm>
          <a:prstGeom prst="line">
            <a:avLst/>
          </a:prstGeom>
          <a:noFill/>
          <a:ln w="9525">
            <a:solidFill>
              <a:srgbClr val="BFBFBF"/>
            </a:solidFill>
            <a:prstDash val="solid"/>
          </a:ln>
        </p:spPr>
      </p:sp>
      <p:sp>
        <p:nvSpPr>
          <p:cNvPr id="48" name="Text 45"/>
          <p:cNvSpPr txBox="1"/>
          <p:nvPr/>
        </p:nvSpPr>
        <p:spPr>
          <a:xfrm>
            <a:off x="402336" y="3703320"/>
            <a:ext cx="42062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5年目</a:t>
            </a:r>
            <a:endParaRPr lang="en-US" sz="800" dirty="0"/>
          </a:p>
        </p:txBody>
      </p:sp>
      <p:sp>
        <p:nvSpPr>
          <p:cNvPr id="49" name="Text 46"/>
          <p:cNvSpPr txBox="1"/>
          <p:nvPr/>
        </p:nvSpPr>
        <p:spPr>
          <a:xfrm>
            <a:off x="822960" y="3703320"/>
            <a:ext cx="621792" cy="228600"/>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DRAW</a:t>
            </a:r>
            <a:endParaRPr lang="en-US" sz="850" dirty="0"/>
          </a:p>
        </p:txBody>
      </p:sp>
      <p:sp>
        <p:nvSpPr>
          <p:cNvPr id="50" name="Text 47"/>
          <p:cNvSpPr txBox="1"/>
          <p:nvPr/>
        </p:nvSpPr>
        <p:spPr>
          <a:xfrm>
            <a:off x="1444752" y="3703320"/>
            <a:ext cx="60350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図面</a:t>
            </a:r>
            <a:endParaRPr lang="en-US" sz="800" dirty="0"/>
          </a:p>
        </p:txBody>
      </p:sp>
      <p:sp>
        <p:nvSpPr>
          <p:cNvPr id="51" name="Text 48"/>
          <p:cNvSpPr txBox="1"/>
          <p:nvPr/>
        </p:nvSpPr>
        <p:spPr>
          <a:xfrm>
            <a:off x="2048256" y="3703320"/>
            <a:ext cx="2468880" cy="228600"/>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登録したパターンを音声指示でCAD作図</a:t>
            </a:r>
            <a:endParaRPr lang="en-US" sz="800" dirty="0"/>
          </a:p>
        </p:txBody>
      </p:sp>
      <p:sp>
        <p:nvSpPr>
          <p:cNvPr id="52" name="Text 49"/>
          <p:cNvSpPr txBox="1"/>
          <p:nvPr/>
        </p:nvSpPr>
        <p:spPr>
          <a:xfrm>
            <a:off x="4517136" y="3703320"/>
            <a:ext cx="384048" cy="228600"/>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製品</a:t>
            </a:r>
            <a:endParaRPr lang="en-US" sz="800" dirty="0"/>
          </a:p>
        </p:txBody>
      </p:sp>
      <p:sp>
        <p:nvSpPr>
          <p:cNvPr id="53" name="Shape 50"/>
          <p:cNvSpPr/>
          <p:nvPr/>
        </p:nvSpPr>
        <p:spPr>
          <a:xfrm>
            <a:off x="365760" y="3931920"/>
            <a:ext cx="4572000" cy="228600"/>
          </a:xfrm>
          <a:prstGeom prst="rect">
            <a:avLst/>
          </a:prstGeom>
          <a:solidFill>
            <a:srgbClr val="F2F2F2"/>
          </a:solidFill>
          <a:ln/>
        </p:spPr>
      </p:sp>
      <p:sp>
        <p:nvSpPr>
          <p:cNvPr id="54" name="Shape 51"/>
          <p:cNvSpPr/>
          <p:nvPr/>
        </p:nvSpPr>
        <p:spPr>
          <a:xfrm>
            <a:off x="365760" y="3931920"/>
            <a:ext cx="4572000" cy="0"/>
          </a:xfrm>
          <a:prstGeom prst="line">
            <a:avLst/>
          </a:prstGeom>
          <a:noFill/>
          <a:ln w="9525">
            <a:solidFill>
              <a:srgbClr val="BFBFBF"/>
            </a:solidFill>
            <a:prstDash val="solid"/>
          </a:ln>
        </p:spPr>
      </p:sp>
      <p:sp>
        <p:nvSpPr>
          <p:cNvPr id="55" name="Text 52"/>
          <p:cNvSpPr txBox="1"/>
          <p:nvPr/>
        </p:nvSpPr>
        <p:spPr>
          <a:xfrm>
            <a:off x="402336" y="3931920"/>
            <a:ext cx="42062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研究</a:t>
            </a:r>
            <a:endParaRPr lang="en-US" sz="800" dirty="0"/>
          </a:p>
        </p:txBody>
      </p:sp>
      <p:sp>
        <p:nvSpPr>
          <p:cNvPr id="56" name="Text 53"/>
          <p:cNvSpPr txBox="1"/>
          <p:nvPr/>
        </p:nvSpPr>
        <p:spPr>
          <a:xfrm>
            <a:off x="822960" y="3931920"/>
            <a:ext cx="621792" cy="228600"/>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HAPTIC</a:t>
            </a:r>
            <a:endParaRPr lang="en-US" sz="850" dirty="0"/>
          </a:p>
        </p:txBody>
      </p:sp>
      <p:sp>
        <p:nvSpPr>
          <p:cNvPr id="57" name="Text 54"/>
          <p:cNvSpPr txBox="1"/>
          <p:nvPr/>
        </p:nvSpPr>
        <p:spPr>
          <a:xfrm>
            <a:off x="1444752" y="3931920"/>
            <a:ext cx="60350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触覚</a:t>
            </a:r>
            <a:endParaRPr lang="en-US" sz="800" dirty="0"/>
          </a:p>
        </p:txBody>
      </p:sp>
      <p:sp>
        <p:nvSpPr>
          <p:cNvPr id="58" name="Text 55"/>
          <p:cNvSpPr txBox="1"/>
          <p:nvPr/>
        </p:nvSpPr>
        <p:spPr>
          <a:xfrm>
            <a:off x="2048256" y="3931920"/>
            <a:ext cx="2468880" cy="228600"/>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力加減を体験できる訓練シミュレーター</a:t>
            </a:r>
            <a:endParaRPr lang="en-US" sz="800" dirty="0"/>
          </a:p>
        </p:txBody>
      </p:sp>
      <p:sp>
        <p:nvSpPr>
          <p:cNvPr id="59" name="Text 56"/>
          <p:cNvSpPr txBox="1"/>
          <p:nvPr/>
        </p:nvSpPr>
        <p:spPr>
          <a:xfrm>
            <a:off x="4517136" y="3931920"/>
            <a:ext cx="384048" cy="228600"/>
          </a:xfrm>
          <a:prstGeom prst="rect">
            <a:avLst/>
          </a:prstGeom>
          <a:noFill/>
          <a:ln/>
        </p:spPr>
        <p:txBody>
          <a:bodyPr wrap="square" lIns="0" tIns="0" rIns="0" bIns="0" rtlCol="0" anchor="ctr"/>
          <a:lstStyle/>
          <a:p>
            <a:pPr algn="r" indent="0" marL="0">
              <a:lnSpc>
                <a:spcPct val="115000"/>
              </a:lnSpc>
              <a:buNone/>
            </a:pPr>
            <a:r>
              <a:rPr lang="en-US" sz="800" b="1" dirty="0">
                <a:solidFill>
                  <a:srgbClr val="1A1A1A"/>
                </a:solidFill>
                <a:latin typeface="Meiryo" pitchFamily="34" charset="0"/>
                <a:ea typeface="Meiryo" pitchFamily="34" charset="-122"/>
                <a:cs typeface="Meiryo" pitchFamily="34" charset="-120"/>
              </a:rPr>
              <a:t>R&amp;D</a:t>
            </a:r>
            <a:endParaRPr lang="en-US" sz="800" dirty="0"/>
          </a:p>
        </p:txBody>
      </p:sp>
      <p:sp>
        <p:nvSpPr>
          <p:cNvPr id="60" name="Shape 57"/>
          <p:cNvSpPr/>
          <p:nvPr/>
        </p:nvSpPr>
        <p:spPr>
          <a:xfrm>
            <a:off x="365760" y="4160520"/>
            <a:ext cx="4572000" cy="228600"/>
          </a:xfrm>
          <a:prstGeom prst="rect">
            <a:avLst/>
          </a:prstGeom>
          <a:solidFill>
            <a:srgbClr val="F2F2F2"/>
          </a:solidFill>
          <a:ln/>
        </p:spPr>
      </p:sp>
      <p:sp>
        <p:nvSpPr>
          <p:cNvPr id="61" name="Shape 58"/>
          <p:cNvSpPr/>
          <p:nvPr/>
        </p:nvSpPr>
        <p:spPr>
          <a:xfrm>
            <a:off x="365760" y="4160520"/>
            <a:ext cx="4572000" cy="0"/>
          </a:xfrm>
          <a:prstGeom prst="line">
            <a:avLst/>
          </a:prstGeom>
          <a:noFill/>
          <a:ln w="9525">
            <a:solidFill>
              <a:srgbClr val="BFBFBF"/>
            </a:solidFill>
            <a:prstDash val="solid"/>
          </a:ln>
        </p:spPr>
      </p:sp>
      <p:sp>
        <p:nvSpPr>
          <p:cNvPr id="62" name="Text 59"/>
          <p:cNvSpPr txBox="1"/>
          <p:nvPr/>
        </p:nvSpPr>
        <p:spPr>
          <a:xfrm>
            <a:off x="402336" y="4160520"/>
            <a:ext cx="42062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研究</a:t>
            </a:r>
            <a:endParaRPr lang="en-US" sz="800" dirty="0"/>
          </a:p>
        </p:txBody>
      </p:sp>
      <p:sp>
        <p:nvSpPr>
          <p:cNvPr id="63" name="Text 60"/>
          <p:cNvSpPr txBox="1"/>
          <p:nvPr/>
        </p:nvSpPr>
        <p:spPr>
          <a:xfrm>
            <a:off x="822960" y="4160520"/>
            <a:ext cx="621792" cy="228600"/>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FLOW</a:t>
            </a:r>
            <a:endParaRPr lang="en-US" sz="850" dirty="0"/>
          </a:p>
        </p:txBody>
      </p:sp>
      <p:sp>
        <p:nvSpPr>
          <p:cNvPr id="64" name="Text 61"/>
          <p:cNvSpPr txBox="1"/>
          <p:nvPr/>
        </p:nvSpPr>
        <p:spPr>
          <a:xfrm>
            <a:off x="1444752" y="4160520"/>
            <a:ext cx="603504" cy="228600"/>
          </a:xfrm>
          <a:prstGeom prst="rect">
            <a:avLst/>
          </a:prstGeom>
          <a:noFill/>
          <a:ln/>
        </p:spPr>
        <p:txBody>
          <a:bodyPr wrap="square" lIns="0" tIns="0" rIns="0" bIns="0" rtlCol="0" anchor="ctr"/>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機械</a:t>
            </a:r>
            <a:endParaRPr lang="en-US" sz="800" dirty="0"/>
          </a:p>
        </p:txBody>
      </p:sp>
      <p:sp>
        <p:nvSpPr>
          <p:cNvPr id="65" name="Text 62"/>
          <p:cNvSpPr txBox="1"/>
          <p:nvPr/>
        </p:nvSpPr>
        <p:spPr>
          <a:xfrm>
            <a:off x="2048256" y="4160520"/>
            <a:ext cx="2468880" cy="228600"/>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搬送ロボット・検査AIへ条件を直接渡す</a:t>
            </a:r>
            <a:endParaRPr lang="en-US" sz="800" dirty="0"/>
          </a:p>
        </p:txBody>
      </p:sp>
      <p:sp>
        <p:nvSpPr>
          <p:cNvPr id="66" name="Text 63"/>
          <p:cNvSpPr txBox="1"/>
          <p:nvPr/>
        </p:nvSpPr>
        <p:spPr>
          <a:xfrm>
            <a:off x="4517136" y="4160520"/>
            <a:ext cx="384048" cy="228600"/>
          </a:xfrm>
          <a:prstGeom prst="rect">
            <a:avLst/>
          </a:prstGeom>
          <a:noFill/>
          <a:ln/>
        </p:spPr>
        <p:txBody>
          <a:bodyPr wrap="square" lIns="0" tIns="0" rIns="0" bIns="0" rtlCol="0" anchor="ctr"/>
          <a:lstStyle/>
          <a:p>
            <a:pPr algn="r" indent="0" marL="0">
              <a:lnSpc>
                <a:spcPct val="115000"/>
              </a:lnSpc>
              <a:buNone/>
            </a:pPr>
            <a:r>
              <a:rPr lang="en-US" sz="800" b="1" dirty="0">
                <a:solidFill>
                  <a:srgbClr val="1A1A1A"/>
                </a:solidFill>
                <a:latin typeface="Meiryo" pitchFamily="34" charset="0"/>
                <a:ea typeface="Meiryo" pitchFamily="34" charset="-122"/>
                <a:cs typeface="Meiryo" pitchFamily="34" charset="-120"/>
              </a:rPr>
              <a:t>R&amp;D</a:t>
            </a:r>
            <a:endParaRPr lang="en-US" sz="800" dirty="0"/>
          </a:p>
        </p:txBody>
      </p:sp>
      <p:sp>
        <p:nvSpPr>
          <p:cNvPr id="67" name="Shape 64"/>
          <p:cNvSpPr/>
          <p:nvPr/>
        </p:nvSpPr>
        <p:spPr>
          <a:xfrm>
            <a:off x="365760" y="4389120"/>
            <a:ext cx="4572000" cy="0"/>
          </a:xfrm>
          <a:prstGeom prst="line">
            <a:avLst/>
          </a:prstGeom>
          <a:noFill/>
          <a:ln w="9525">
            <a:solidFill>
              <a:srgbClr val="BFBFBF"/>
            </a:solidFill>
            <a:prstDash val="solid"/>
          </a:ln>
        </p:spPr>
      </p:sp>
      <p:sp>
        <p:nvSpPr>
          <p:cNvPr id="68" name="rnd"/>
          <p:cNvSpPr/>
          <p:nvPr/>
        </p:nvSpPr>
        <p:spPr>
          <a:xfrm>
            <a:off x="5120640" y="2542032"/>
            <a:ext cx="3657600" cy="1207008"/>
          </a:xfrm>
          <a:prstGeom prst="rect">
            <a:avLst/>
          </a:prstGeom>
          <a:solidFill>
            <a:srgbClr val="1A1A1A"/>
          </a:solidFill>
          <a:ln/>
        </p:spPr>
      </p:sp>
      <p:sp>
        <p:nvSpPr>
          <p:cNvPr id="69" name="Text 66"/>
          <p:cNvSpPr txBox="1"/>
          <p:nvPr/>
        </p:nvSpPr>
        <p:spPr>
          <a:xfrm>
            <a:off x="5230368" y="2587752"/>
            <a:ext cx="3438144" cy="237744"/>
          </a:xfrm>
          <a:prstGeom prst="rect">
            <a:avLst/>
          </a:prstGeom>
          <a:noFill/>
          <a:ln/>
        </p:spPr>
        <p:txBody>
          <a:bodyPr wrap="square" lIns="0" tIns="0" rIns="0" bIns="0" rtlCol="0" anchor="t"/>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R&amp;D戦略（技術開発）</a:t>
            </a:r>
            <a:endParaRPr lang="en-US" sz="1050" dirty="0"/>
          </a:p>
        </p:txBody>
      </p:sp>
      <p:sp>
        <p:nvSpPr>
          <p:cNvPr id="70" name="Text 67"/>
          <p:cNvSpPr txBox="1"/>
          <p:nvPr/>
        </p:nvSpPr>
        <p:spPr>
          <a:xfrm>
            <a:off x="5230368" y="2834640"/>
            <a:ext cx="3438144" cy="896112"/>
          </a:xfrm>
          <a:prstGeom prst="rect">
            <a:avLst/>
          </a:prstGeom>
          <a:noFill/>
          <a:ln/>
        </p:spPr>
        <p:txBody>
          <a:bodyPr wrap="square" lIns="0" tIns="0" rIns="0" bIns="0" rtlCol="0" anchor="t"/>
          <a:lstStyle/>
          <a:p>
            <a:pPr algn="l" indent="0" marL="0">
              <a:lnSpc>
                <a:spcPct val="115000"/>
              </a:lnSpc>
              <a:spcAft>
                <a:spcPts val="100"/>
              </a:spcAft>
              <a:buNone/>
            </a:pPr>
            <a:r>
              <a:rPr lang="en-US" sz="850" b="1" dirty="0">
                <a:solidFill>
                  <a:srgbClr val="FFFFFF"/>
                </a:solidFill>
                <a:latin typeface="Meiryo" pitchFamily="34" charset="0"/>
                <a:ea typeface="Meiryo" pitchFamily="34" charset="-122"/>
                <a:cs typeface="Meiryo" pitchFamily="34" charset="-120"/>
              </a:rPr>
              <a:t>作る：</a:t>
            </a:r>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記録の構造化（生成AI）と、渡し方の設計</a:t>
            </a:r>
            <a:endParaRPr lang="en-US" sz="850" dirty="0"/>
          </a:p>
          <a:p>
            <a:pPr algn="l" indent="0" marL="0">
              <a:lnSpc>
                <a:spcPct val="115000"/>
              </a:lnSpc>
              <a:spcAft>
                <a:spcPts val="100"/>
              </a:spcAft>
              <a:buNone/>
            </a:pPr>
            <a:r>
              <a:rPr lang="en-US" sz="850" b="1" dirty="0">
                <a:solidFill>
                  <a:srgbClr val="FFFFFF"/>
                </a:solidFill>
                <a:latin typeface="Meiryo" pitchFamily="34" charset="0"/>
                <a:ea typeface="Meiryo" pitchFamily="34" charset="-122"/>
                <a:cs typeface="Meiryo" pitchFamily="34" charset="-120"/>
              </a:rPr>
              <a:t>組む：</a:t>
            </a:r>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CAD・3D・触覚デバイスはベンダー・大学と共同研究</a:t>
            </a:r>
            <a:endParaRPr lang="en-US" sz="850" dirty="0"/>
          </a:p>
          <a:p>
            <a:pPr algn="l" indent="0" marL="0">
              <a:lnSpc>
                <a:spcPct val="115000"/>
              </a:lnSpc>
              <a:spcAft>
                <a:spcPts val="100"/>
              </a:spcAft>
              <a:buNone/>
            </a:pPr>
            <a:r>
              <a:rPr lang="en-US" sz="850" b="1" dirty="0">
                <a:solidFill>
                  <a:srgbClr val="FFFFFF"/>
                </a:solidFill>
                <a:latin typeface="Meiryo" pitchFamily="34" charset="0"/>
                <a:ea typeface="Meiryo" pitchFamily="34" charset="-122"/>
                <a:cs typeface="Meiryo" pitchFamily="34" charset="-120"/>
              </a:rPr>
              <a:t>試す：</a:t>
            </a:r>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CVC出資元の工場を実証の場にする</a:t>
            </a:r>
            <a:endParaRPr lang="en-US" sz="850" dirty="0"/>
          </a:p>
          <a:p>
            <a:pPr algn="l" indent="0" marL="0">
              <a:lnSpc>
                <a:spcPct val="115000"/>
              </a:lnSpc>
              <a:spcAft>
                <a:spcPts val="100"/>
              </a:spcAft>
              <a:buNone/>
            </a:pPr>
            <a:r>
              <a:rPr lang="en-US" sz="850" b="1" dirty="0">
                <a:solidFill>
                  <a:srgbClr val="FFFFFF"/>
                </a:solidFill>
                <a:latin typeface="Meiryo" pitchFamily="34" charset="0"/>
                <a:ea typeface="Meiryo" pitchFamily="34" charset="-122"/>
                <a:cs typeface="Meiryo" pitchFamily="34" charset="-120"/>
              </a:rPr>
              <a:t>試作済み：</a:t>
            </a:r>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ニュース要約→音声合成→ポッドキャスト自動配信を個人で実装</a:t>
            </a:r>
            <a:endParaRPr lang="en-US" sz="850" dirty="0"/>
          </a:p>
        </p:txBody>
      </p:sp>
      <p:sp>
        <p:nvSpPr>
          <p:cNvPr id="71" name="onboarding"/>
          <p:cNvSpPr/>
          <p:nvPr/>
        </p:nvSpPr>
        <p:spPr>
          <a:xfrm>
            <a:off x="5120640" y="3840480"/>
            <a:ext cx="3657600" cy="658368"/>
          </a:xfrm>
          <a:prstGeom prst="rect">
            <a:avLst/>
          </a:prstGeom>
          <a:solidFill>
            <a:srgbClr val="F2F2F2"/>
          </a:solidFill>
          <a:ln/>
        </p:spPr>
      </p:sp>
      <p:sp>
        <p:nvSpPr>
          <p:cNvPr id="72" name="Text 69"/>
          <p:cNvSpPr txBox="1"/>
          <p:nvPr/>
        </p:nvSpPr>
        <p:spPr>
          <a:xfrm>
            <a:off x="5230368" y="3877056"/>
            <a:ext cx="3438144"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道具以外：導入支援（初年度・約2か月）</a:t>
            </a:r>
            <a:endParaRPr lang="en-US" sz="1000" dirty="0"/>
          </a:p>
        </p:txBody>
      </p:sp>
      <p:sp>
        <p:nvSpPr>
          <p:cNvPr id="73" name="Text 70"/>
          <p:cNvSpPr txBox="1"/>
          <p:nvPr/>
        </p:nvSpPr>
        <p:spPr>
          <a:xfrm>
            <a:off x="5230368" y="4114800"/>
            <a:ext cx="3438144" cy="36576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当社の担当者が現場に入り、熟練者への聞き取り・帳票の移行・現場研修まで行う</a:t>
            </a:r>
            <a:endParaRPr lang="en-US" sz="850" dirty="0"/>
          </a:p>
        </p:txBody>
      </p:sp>
      <p:sp>
        <p:nvSpPr>
          <p:cNvPr id="74" name="Text 71"/>
          <p:cNvSpPr txBox="1"/>
          <p:nvPr/>
        </p:nvSpPr>
        <p:spPr>
          <a:xfrm>
            <a:off x="365760" y="4517136"/>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対象：電線・ケーブル工場の生産技術・製造部門（のちに、その製品を施工する工事会社）。R&amp;D行はエンジニア2→9名の範囲で進め、製品化前の売上は計画に含めない</a:t>
            </a:r>
            <a:endParaRPr lang="en-US" sz="8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収益の仕組み ─ 顧客は年300万円を払い、約2か月で元を取る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当社の収入は、毎年積み上がる利用料と、初年度だけの導入支援の二本</a:t>
            </a:r>
            <a:endParaRPr lang="en-US" sz="1200" dirty="0"/>
          </a:p>
        </p:txBody>
      </p:sp>
      <p:sp>
        <p:nvSpPr>
          <p:cNvPr id="5" name="Text 2"/>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1拠点が払う金額（万円）</a:t>
            </a:r>
            <a:endParaRPr lang="en-US" sz="1050" dirty="0"/>
          </a:p>
        </p:txBody>
      </p:sp>
      <p:sp>
        <p:nvSpPr>
          <p:cNvPr id="6" name="Text 3"/>
          <p:cNvSpPr txBox="1"/>
          <p:nvPr/>
        </p:nvSpPr>
        <p:spPr>
          <a:xfrm>
            <a:off x="365760" y="1380744"/>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初年度</a:t>
            </a:r>
            <a:endParaRPr lang="en-US" sz="950" dirty="0"/>
          </a:p>
        </p:txBody>
      </p:sp>
      <p:sp>
        <p:nvSpPr>
          <p:cNvPr id="7" name="seg-基盤0"/>
          <p:cNvSpPr/>
          <p:nvPr/>
        </p:nvSpPr>
        <p:spPr>
          <a:xfrm>
            <a:off x="1143000" y="1380744"/>
            <a:ext cx="621792" cy="384048"/>
          </a:xfrm>
          <a:prstGeom prst="rect">
            <a:avLst/>
          </a:prstGeom>
          <a:solidFill>
            <a:srgbClr val="1A1A1A"/>
          </a:solidFill>
          <a:ln w="9525">
            <a:solidFill>
              <a:srgbClr val="1A1A1A"/>
            </a:solidFill>
            <a:prstDash val="solid"/>
          </a:ln>
        </p:spPr>
      </p:sp>
      <p:sp>
        <p:nvSpPr>
          <p:cNvPr id="8" name="Text 5"/>
          <p:cNvSpPr txBox="1"/>
          <p:nvPr/>
        </p:nvSpPr>
        <p:spPr>
          <a:xfrm>
            <a:off x="1143000" y="1380744"/>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基盤 100</a:t>
            </a:r>
            <a:endParaRPr lang="en-US" sz="850" dirty="0"/>
          </a:p>
        </p:txBody>
      </p:sp>
      <p:sp>
        <p:nvSpPr>
          <p:cNvPr id="9" name="seg-ライン登録0"/>
          <p:cNvSpPr/>
          <p:nvPr/>
        </p:nvSpPr>
        <p:spPr>
          <a:xfrm>
            <a:off x="1764792" y="1380744"/>
            <a:ext cx="621792" cy="384048"/>
          </a:xfrm>
          <a:prstGeom prst="rect">
            <a:avLst/>
          </a:prstGeom>
          <a:solidFill>
            <a:srgbClr val="4D4D4D"/>
          </a:solidFill>
          <a:ln w="9525">
            <a:solidFill>
              <a:srgbClr val="1A1A1A"/>
            </a:solidFill>
            <a:prstDash val="solid"/>
          </a:ln>
        </p:spPr>
      </p:sp>
      <p:sp>
        <p:nvSpPr>
          <p:cNvPr id="10" name="Text 7"/>
          <p:cNvSpPr txBox="1"/>
          <p:nvPr/>
        </p:nvSpPr>
        <p:spPr>
          <a:xfrm>
            <a:off x="1764792" y="1380744"/>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ライン登録 100</a:t>
            </a:r>
            <a:endParaRPr lang="en-US" sz="850" dirty="0"/>
          </a:p>
        </p:txBody>
      </p:sp>
      <p:sp>
        <p:nvSpPr>
          <p:cNvPr id="11" name="seg-追加機能0"/>
          <p:cNvSpPr/>
          <p:nvPr/>
        </p:nvSpPr>
        <p:spPr>
          <a:xfrm>
            <a:off x="2386584" y="1380744"/>
            <a:ext cx="621792" cy="384048"/>
          </a:xfrm>
          <a:prstGeom prst="rect">
            <a:avLst/>
          </a:prstGeom>
          <a:solidFill>
            <a:srgbClr val="8C8C8C"/>
          </a:solidFill>
          <a:ln w="9525">
            <a:solidFill>
              <a:srgbClr val="1A1A1A"/>
            </a:solidFill>
            <a:prstDash val="solid"/>
          </a:ln>
        </p:spPr>
      </p:sp>
      <p:sp>
        <p:nvSpPr>
          <p:cNvPr id="12" name="Text 9"/>
          <p:cNvSpPr txBox="1"/>
          <p:nvPr/>
        </p:nvSpPr>
        <p:spPr>
          <a:xfrm>
            <a:off x="2386584" y="1380744"/>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追加機能 100</a:t>
            </a:r>
            <a:endParaRPr lang="en-US" sz="850" dirty="0"/>
          </a:p>
        </p:txBody>
      </p:sp>
      <p:sp>
        <p:nvSpPr>
          <p:cNvPr id="13" name="seg-導入支援0"/>
          <p:cNvSpPr/>
          <p:nvPr/>
        </p:nvSpPr>
        <p:spPr>
          <a:xfrm>
            <a:off x="3008376" y="1380744"/>
            <a:ext cx="1243584" cy="384048"/>
          </a:xfrm>
          <a:prstGeom prst="rect">
            <a:avLst/>
          </a:prstGeom>
          <a:solidFill>
            <a:srgbClr val="FFFFFF"/>
          </a:solidFill>
          <a:ln w="9525">
            <a:solidFill>
              <a:srgbClr val="1A1A1A"/>
            </a:solidFill>
            <a:prstDash val="solid"/>
          </a:ln>
        </p:spPr>
      </p:sp>
      <p:sp>
        <p:nvSpPr>
          <p:cNvPr id="14" name="Text 11"/>
          <p:cNvSpPr txBox="1"/>
          <p:nvPr/>
        </p:nvSpPr>
        <p:spPr>
          <a:xfrm>
            <a:off x="3008376" y="1380744"/>
            <a:ext cx="1243584"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導入支援 200</a:t>
            </a:r>
            <a:endParaRPr lang="en-US" sz="850" dirty="0"/>
          </a:p>
        </p:txBody>
      </p:sp>
      <p:sp>
        <p:nvSpPr>
          <p:cNvPr id="15" name="Text 12"/>
          <p:cNvSpPr txBox="1"/>
          <p:nvPr/>
        </p:nvSpPr>
        <p:spPr>
          <a:xfrm>
            <a:off x="4288536" y="1380744"/>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500</a:t>
            </a:r>
            <a:endParaRPr lang="en-US" sz="1100" dirty="0"/>
          </a:p>
        </p:txBody>
      </p:sp>
      <p:sp>
        <p:nvSpPr>
          <p:cNvPr id="16" name="Text 13"/>
          <p:cNvSpPr txBox="1"/>
          <p:nvPr/>
        </p:nvSpPr>
        <p:spPr>
          <a:xfrm>
            <a:off x="365760" y="1892808"/>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2年目以降</a:t>
            </a:r>
            <a:endParaRPr lang="en-US" sz="950" dirty="0"/>
          </a:p>
        </p:txBody>
      </p:sp>
      <p:sp>
        <p:nvSpPr>
          <p:cNvPr id="17" name="seg-基盤1"/>
          <p:cNvSpPr/>
          <p:nvPr/>
        </p:nvSpPr>
        <p:spPr>
          <a:xfrm>
            <a:off x="1143000" y="1892808"/>
            <a:ext cx="621792" cy="384048"/>
          </a:xfrm>
          <a:prstGeom prst="rect">
            <a:avLst/>
          </a:prstGeom>
          <a:solidFill>
            <a:srgbClr val="1A1A1A"/>
          </a:solidFill>
          <a:ln w="9525">
            <a:solidFill>
              <a:srgbClr val="1A1A1A"/>
            </a:solidFill>
            <a:prstDash val="solid"/>
          </a:ln>
        </p:spPr>
      </p:sp>
      <p:sp>
        <p:nvSpPr>
          <p:cNvPr id="18" name="Text 15"/>
          <p:cNvSpPr txBox="1"/>
          <p:nvPr/>
        </p:nvSpPr>
        <p:spPr>
          <a:xfrm>
            <a:off x="1143000" y="1892808"/>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基盤 100</a:t>
            </a:r>
            <a:endParaRPr lang="en-US" sz="850" dirty="0"/>
          </a:p>
        </p:txBody>
      </p:sp>
      <p:sp>
        <p:nvSpPr>
          <p:cNvPr id="19" name="seg-ライン登録1"/>
          <p:cNvSpPr/>
          <p:nvPr/>
        </p:nvSpPr>
        <p:spPr>
          <a:xfrm>
            <a:off x="1764792" y="1892808"/>
            <a:ext cx="621792" cy="384048"/>
          </a:xfrm>
          <a:prstGeom prst="rect">
            <a:avLst/>
          </a:prstGeom>
          <a:solidFill>
            <a:srgbClr val="4D4D4D"/>
          </a:solidFill>
          <a:ln w="9525">
            <a:solidFill>
              <a:srgbClr val="1A1A1A"/>
            </a:solidFill>
            <a:prstDash val="solid"/>
          </a:ln>
        </p:spPr>
      </p:sp>
      <p:sp>
        <p:nvSpPr>
          <p:cNvPr id="20" name="Text 17"/>
          <p:cNvSpPr txBox="1"/>
          <p:nvPr/>
        </p:nvSpPr>
        <p:spPr>
          <a:xfrm>
            <a:off x="1764792" y="1892808"/>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ライン登録 100</a:t>
            </a:r>
            <a:endParaRPr lang="en-US" sz="850" dirty="0"/>
          </a:p>
        </p:txBody>
      </p:sp>
      <p:sp>
        <p:nvSpPr>
          <p:cNvPr id="21" name="seg-追加機能1"/>
          <p:cNvSpPr/>
          <p:nvPr/>
        </p:nvSpPr>
        <p:spPr>
          <a:xfrm>
            <a:off x="2386584" y="1892808"/>
            <a:ext cx="621792" cy="384048"/>
          </a:xfrm>
          <a:prstGeom prst="rect">
            <a:avLst/>
          </a:prstGeom>
          <a:solidFill>
            <a:srgbClr val="8C8C8C"/>
          </a:solidFill>
          <a:ln w="9525">
            <a:solidFill>
              <a:srgbClr val="1A1A1A"/>
            </a:solidFill>
            <a:prstDash val="solid"/>
          </a:ln>
        </p:spPr>
      </p:sp>
      <p:sp>
        <p:nvSpPr>
          <p:cNvPr id="22" name="Text 19"/>
          <p:cNvSpPr txBox="1"/>
          <p:nvPr/>
        </p:nvSpPr>
        <p:spPr>
          <a:xfrm>
            <a:off x="2386584" y="1892808"/>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追加機能 100</a:t>
            </a:r>
            <a:endParaRPr lang="en-US" sz="850" dirty="0"/>
          </a:p>
        </p:txBody>
      </p:sp>
      <p:sp>
        <p:nvSpPr>
          <p:cNvPr id="23" name="Text 20"/>
          <p:cNvSpPr txBox="1"/>
          <p:nvPr/>
        </p:nvSpPr>
        <p:spPr>
          <a:xfrm>
            <a:off x="3044952" y="1892808"/>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300</a:t>
            </a:r>
            <a:endParaRPr lang="en-US" sz="1100" dirty="0"/>
          </a:p>
        </p:txBody>
      </p:sp>
      <p:sp>
        <p:nvSpPr>
          <p:cNvPr id="24" name="Shape 21"/>
          <p:cNvSpPr/>
          <p:nvPr/>
        </p:nvSpPr>
        <p:spPr>
          <a:xfrm>
            <a:off x="365760" y="2468880"/>
            <a:ext cx="4069080" cy="0"/>
          </a:xfrm>
          <a:prstGeom prst="line">
            <a:avLst/>
          </a:prstGeom>
          <a:noFill/>
          <a:ln w="9525">
            <a:solidFill>
              <a:srgbClr val="BFBFBF"/>
            </a:solidFill>
            <a:prstDash val="solid"/>
          </a:ln>
        </p:spPr>
      </p:sp>
      <p:sp>
        <p:nvSpPr>
          <p:cNvPr id="25" name="Text 22"/>
          <p:cNvSpPr txBox="1"/>
          <p:nvPr/>
        </p:nvSpPr>
        <p:spPr>
          <a:xfrm>
            <a:off x="365760" y="2487168"/>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基盤</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100万円／年</a:t>
            </a:r>
            <a:endParaRPr lang="en-US" sz="900" dirty="0"/>
          </a:p>
        </p:txBody>
      </p:sp>
      <p:sp>
        <p:nvSpPr>
          <p:cNvPr id="26" name="Text 23"/>
          <p:cNvSpPr txBox="1"/>
          <p:nvPr/>
        </p:nvSpPr>
        <p:spPr>
          <a:xfrm>
            <a:off x="1737360" y="2468880"/>
            <a:ext cx="2697480" cy="329184"/>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アプリと現場データ基盤の利用料（1拠点）</a:t>
            </a:r>
            <a:endParaRPr lang="en-US" sz="900" dirty="0"/>
          </a:p>
        </p:txBody>
      </p:sp>
      <p:sp>
        <p:nvSpPr>
          <p:cNvPr id="27" name="Shape 24"/>
          <p:cNvSpPr/>
          <p:nvPr/>
        </p:nvSpPr>
        <p:spPr>
          <a:xfrm>
            <a:off x="365760" y="2798064"/>
            <a:ext cx="4069080" cy="0"/>
          </a:xfrm>
          <a:prstGeom prst="line">
            <a:avLst/>
          </a:prstGeom>
          <a:noFill/>
          <a:ln w="9525">
            <a:solidFill>
              <a:srgbClr val="BFBFBF"/>
            </a:solidFill>
            <a:prstDash val="solid"/>
          </a:ln>
        </p:spPr>
      </p:sp>
      <p:sp>
        <p:nvSpPr>
          <p:cNvPr id="28" name="Text 25"/>
          <p:cNvSpPr txBox="1"/>
          <p:nvPr/>
        </p:nvSpPr>
        <p:spPr>
          <a:xfrm>
            <a:off x="365760" y="2816352"/>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ライン登録</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20万円×5ライン</a:t>
            </a:r>
            <a:endParaRPr lang="en-US" sz="900" dirty="0"/>
          </a:p>
        </p:txBody>
      </p:sp>
      <p:sp>
        <p:nvSpPr>
          <p:cNvPr id="29" name="Text 26"/>
          <p:cNvSpPr txBox="1"/>
          <p:nvPr/>
        </p:nvSpPr>
        <p:spPr>
          <a:xfrm>
            <a:off x="1737360" y="2798064"/>
            <a:ext cx="2697480" cy="329184"/>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記録の対象にする生産ライン・工区の数に比例</a:t>
            </a:r>
            <a:endParaRPr lang="en-US" sz="900" dirty="0"/>
          </a:p>
        </p:txBody>
      </p:sp>
      <p:sp>
        <p:nvSpPr>
          <p:cNvPr id="30" name="Shape 27"/>
          <p:cNvSpPr/>
          <p:nvPr/>
        </p:nvSpPr>
        <p:spPr>
          <a:xfrm>
            <a:off x="365760" y="3127248"/>
            <a:ext cx="4069080" cy="0"/>
          </a:xfrm>
          <a:prstGeom prst="line">
            <a:avLst/>
          </a:prstGeom>
          <a:noFill/>
          <a:ln w="9525">
            <a:solidFill>
              <a:srgbClr val="BFBFBF"/>
            </a:solidFill>
            <a:prstDash val="solid"/>
          </a:ln>
        </p:spPr>
      </p:sp>
      <p:sp>
        <p:nvSpPr>
          <p:cNvPr id="31" name="Text 28"/>
          <p:cNvSpPr txBox="1"/>
          <p:nvPr/>
        </p:nvSpPr>
        <p:spPr>
          <a:xfrm>
            <a:off x="365760" y="3145536"/>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追加機能</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50万円×2本</a:t>
            </a:r>
            <a:endParaRPr lang="en-US" sz="900" dirty="0"/>
          </a:p>
        </p:txBody>
      </p:sp>
      <p:sp>
        <p:nvSpPr>
          <p:cNvPr id="32" name="Text 29"/>
          <p:cNvSpPr txBox="1"/>
          <p:nvPr/>
        </p:nvSpPr>
        <p:spPr>
          <a:xfrm>
            <a:off x="1737360" y="3127248"/>
            <a:ext cx="2697480" cy="329184"/>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教材制作（KNACK）・危険表示（SAFE）など、選んだ数に比例</a:t>
            </a:r>
            <a:endParaRPr lang="en-US" sz="900" dirty="0"/>
          </a:p>
        </p:txBody>
      </p:sp>
      <p:sp>
        <p:nvSpPr>
          <p:cNvPr id="33" name="Shape 30"/>
          <p:cNvSpPr/>
          <p:nvPr/>
        </p:nvSpPr>
        <p:spPr>
          <a:xfrm>
            <a:off x="365760" y="3456432"/>
            <a:ext cx="4069080" cy="0"/>
          </a:xfrm>
          <a:prstGeom prst="line">
            <a:avLst/>
          </a:prstGeom>
          <a:noFill/>
          <a:ln w="9525">
            <a:solidFill>
              <a:srgbClr val="BFBFBF"/>
            </a:solidFill>
            <a:prstDash val="solid"/>
          </a:ln>
        </p:spPr>
      </p:sp>
      <p:sp>
        <p:nvSpPr>
          <p:cNvPr id="34" name="Text 31"/>
          <p:cNvSpPr txBox="1"/>
          <p:nvPr/>
        </p:nvSpPr>
        <p:spPr>
          <a:xfrm>
            <a:off x="365760" y="3474720"/>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導入支援</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200万円（初年度のみ）</a:t>
            </a:r>
            <a:endParaRPr lang="en-US" sz="900" dirty="0"/>
          </a:p>
        </p:txBody>
      </p:sp>
      <p:sp>
        <p:nvSpPr>
          <p:cNvPr id="35" name="Text 32"/>
          <p:cNvSpPr txBox="1"/>
          <p:nvPr/>
        </p:nvSpPr>
        <p:spPr>
          <a:xfrm>
            <a:off x="1737360" y="3456432"/>
            <a:ext cx="2697480" cy="329184"/>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当社の担当者が約2か月、現場に入る作業</a:t>
            </a:r>
            <a:endParaRPr lang="en-US" sz="900" dirty="0"/>
          </a:p>
        </p:txBody>
      </p:sp>
      <p:sp>
        <p:nvSpPr>
          <p:cNvPr id="36" name="Shape 33"/>
          <p:cNvSpPr/>
          <p:nvPr/>
        </p:nvSpPr>
        <p:spPr>
          <a:xfrm>
            <a:off x="365760" y="3785616"/>
            <a:ext cx="4069080" cy="0"/>
          </a:xfrm>
          <a:prstGeom prst="line">
            <a:avLst/>
          </a:prstGeom>
          <a:noFill/>
          <a:ln w="9525">
            <a:solidFill>
              <a:srgbClr val="BFBFBF"/>
            </a:solidFill>
            <a:prstDash val="solid"/>
          </a:ln>
        </p:spPr>
      </p:sp>
      <p:sp>
        <p:nvSpPr>
          <p:cNvPr id="37" name="Shape 34"/>
          <p:cNvSpPr/>
          <p:nvPr/>
        </p:nvSpPr>
        <p:spPr>
          <a:xfrm>
            <a:off x="365760" y="3895344"/>
            <a:ext cx="4069080" cy="475488"/>
          </a:xfrm>
          <a:prstGeom prst="rect">
            <a:avLst/>
          </a:prstGeom>
          <a:solidFill>
            <a:srgbClr val="1A1A1A"/>
          </a:solidFill>
          <a:ln/>
        </p:spPr>
      </p:sp>
      <p:sp>
        <p:nvSpPr>
          <p:cNvPr id="38" name="Text 35"/>
          <p:cNvSpPr txBox="1"/>
          <p:nvPr/>
        </p:nvSpPr>
        <p:spPr>
          <a:xfrm>
            <a:off x="475488" y="3895344"/>
            <a:ext cx="3849624" cy="475488"/>
          </a:xfrm>
          <a:prstGeom prst="rect">
            <a:avLst/>
          </a:prstGeom>
          <a:noFill/>
          <a:ln/>
        </p:spPr>
        <p:txBody>
          <a:bodyPr wrap="square" lIns="0" tIns="0" rIns="0" bIns="0" rtlCol="0" anchor="ctr"/>
          <a:lstStyle/>
          <a:p>
            <a:pPr algn="l" indent="0" marL="0">
              <a:lnSpc>
                <a:spcPct val="115000"/>
              </a:lnSpc>
              <a:buNone/>
            </a:pPr>
            <a:r>
              <a:rPr lang="en-US" sz="900" b="1" dirty="0">
                <a:solidFill>
                  <a:srgbClr val="FFFFFF"/>
                </a:solidFill>
                <a:latin typeface="Meiryo" pitchFamily="34" charset="0"/>
                <a:ea typeface="Meiryo" pitchFamily="34" charset="-122"/>
                <a:cs typeface="Meiryo" pitchFamily="34" charset="-120"/>
              </a:rPr>
              <a:t>当社の利益：</a:t>
            </a:r>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利用料300万円は粗利率85%で毎年積み上がり、導入支援は粗利率40%で一度きり。顧客が増えるほど利用料が積み上がる</a:t>
            </a:r>
            <a:endParaRPr lang="en-US" sz="900" dirty="0"/>
          </a:p>
        </p:txBody>
      </p:sp>
      <p:sp>
        <p:nvSpPr>
          <p:cNvPr id="39" name="Text 36"/>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顧客から見た回収（対象者100名の拠点・万円）</a:t>
            </a:r>
            <a:endParaRPr lang="en-US" sz="1050" dirty="0"/>
          </a:p>
        </p:txBody>
      </p:sp>
      <p:graphicFrame>
        <p:nvGraphicFramePr>
          <p:cNvPr id="40" name="roi-chart" descr=""/>
          <p:cNvGraphicFramePr/>
          <p:nvPr/>
        </p:nvGraphicFramePr>
        <p:xfrm>
          <a:off x="4617720" y="1307592"/>
          <a:ext cx="4160520" cy="2395728"/>
        </p:xfrm>
        <a:graphic xmlns:a="http://schemas.openxmlformats.org/drawingml/2006/main">
          <a:graphicData uri="http://schemas.openxmlformats.org/drawingml/2006/chart">
            <c:chart xmlns:c="http://schemas.openxmlformats.org/drawingml/2006/chart" r:id="rId1"/>
          </a:graphicData>
        </a:graphic>
      </p:graphicFrame>
      <p:sp>
        <p:nvSpPr>
          <p:cNvPr id="41" name="Text 37"/>
          <p:cNvSpPr txBox="1"/>
          <p:nvPr/>
        </p:nvSpPr>
        <p:spPr>
          <a:xfrm>
            <a:off x="5577840" y="3154680"/>
            <a:ext cx="1463040" cy="201168"/>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 約2.1か月で回収</a:t>
            </a:r>
            <a:endParaRPr lang="en-US" sz="950" dirty="0"/>
          </a:p>
        </p:txBody>
      </p:sp>
      <p:sp>
        <p:nvSpPr>
          <p:cNvPr id="42" name="Text 38"/>
          <p:cNvSpPr txBox="1"/>
          <p:nvPr/>
        </p:nvSpPr>
        <p:spPr>
          <a:xfrm>
            <a:off x="7223760" y="3154680"/>
            <a:ext cx="1463040" cy="201168"/>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初年度費用 500万円</a:t>
            </a:r>
            <a:endParaRPr lang="en-US" sz="850" dirty="0"/>
          </a:p>
        </p:txBody>
      </p:sp>
      <p:sp>
        <p:nvSpPr>
          <p:cNvPr id="43" name="Text 39"/>
          <p:cNvSpPr txBox="1"/>
          <p:nvPr/>
        </p:nvSpPr>
        <p:spPr>
          <a:xfrm>
            <a:off x="5212080" y="1417320"/>
            <a:ext cx="3291840"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浮いた工数の累計：12か月で2,880万円（5.8倍）</a:t>
            </a:r>
            <a:endParaRPr lang="en-US" sz="1000" dirty="0"/>
          </a:p>
        </p:txBody>
      </p:sp>
      <p:sp>
        <p:nvSpPr>
          <p:cNvPr id="44" name="Text 40"/>
          <p:cNvSpPr txBox="1"/>
          <p:nvPr/>
        </p:nvSpPr>
        <p:spPr>
          <a:xfrm>
            <a:off x="4617720" y="3739896"/>
            <a:ext cx="4160520" cy="45720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横軸は経過月数。時間単価4,000円（780万円÷1,950h）×月6h×100名＝月240万円。月6hは建設業の書類電子化実績を準用した仮定。年300万円は顧客効果の約1割（価値基準価格）</a:t>
            </a:r>
            <a:endParaRPr lang="en-US" sz="8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競合 ─ 判断の理由を仕組みで扱う会社は、まだない</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空いている右上を、電線工場に絞って取る（ニッチャー・差別化集中）</a:t>
            </a:r>
            <a:endParaRPr lang="en-US" sz="1200" dirty="0"/>
          </a:p>
        </p:txBody>
      </p:sp>
      <p:sp>
        <p:nvSpPr>
          <p:cNvPr id="5" name="Text 2"/>
          <p:cNvSpPr txBox="1"/>
          <p:nvPr/>
        </p:nvSpPr>
        <p:spPr>
          <a:xfrm>
            <a:off x="365760" y="1051560"/>
            <a:ext cx="41148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ポジショニングマップ</a:t>
            </a:r>
            <a:endParaRPr lang="en-US" sz="1050" dirty="0"/>
          </a:p>
        </p:txBody>
      </p:sp>
      <p:sp>
        <p:nvSpPr>
          <p:cNvPr id="6" name="target-quadrant"/>
          <p:cNvSpPr/>
          <p:nvPr/>
        </p:nvSpPr>
        <p:spPr>
          <a:xfrm>
            <a:off x="2514600" y="1435608"/>
            <a:ext cx="1828800" cy="1234440"/>
          </a:xfrm>
          <a:prstGeom prst="rect">
            <a:avLst/>
          </a:prstGeom>
          <a:solidFill>
            <a:srgbClr val="F2F2F2"/>
          </a:solidFill>
          <a:ln/>
        </p:spPr>
      </p:sp>
      <p:sp>
        <p:nvSpPr>
          <p:cNvPr id="7" name="Shape 4"/>
          <p:cNvSpPr/>
          <p:nvPr/>
        </p:nvSpPr>
        <p:spPr>
          <a:xfrm>
            <a:off x="685800" y="2670048"/>
            <a:ext cx="3657600" cy="0"/>
          </a:xfrm>
          <a:prstGeom prst="line">
            <a:avLst/>
          </a:prstGeom>
          <a:noFill/>
          <a:ln w="9525">
            <a:solidFill>
              <a:srgbClr val="8C8C8C"/>
            </a:solidFill>
            <a:prstDash val="solid"/>
          </a:ln>
        </p:spPr>
      </p:sp>
      <p:sp>
        <p:nvSpPr>
          <p:cNvPr id="8" name="Shape 5"/>
          <p:cNvSpPr/>
          <p:nvPr/>
        </p:nvSpPr>
        <p:spPr>
          <a:xfrm>
            <a:off x="2514600" y="1435608"/>
            <a:ext cx="0" cy="2468880"/>
          </a:xfrm>
          <a:prstGeom prst="line">
            <a:avLst/>
          </a:prstGeom>
          <a:noFill/>
          <a:ln w="9525">
            <a:solidFill>
              <a:srgbClr val="8C8C8C"/>
            </a:solidFill>
            <a:prstDash val="solid"/>
          </a:ln>
        </p:spPr>
      </p:sp>
      <p:sp>
        <p:nvSpPr>
          <p:cNvPr id="9" name="Text 6"/>
          <p:cNvSpPr txBox="1"/>
          <p:nvPr/>
        </p:nvSpPr>
        <p:spPr>
          <a:xfrm>
            <a:off x="1600200" y="1216152"/>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仕組み（プロダクト）</a:t>
            </a:r>
            <a:endParaRPr lang="en-US" sz="850" dirty="0"/>
          </a:p>
        </p:txBody>
      </p:sp>
      <p:sp>
        <p:nvSpPr>
          <p:cNvPr id="10" name="Text 7"/>
          <p:cNvSpPr txBox="1"/>
          <p:nvPr/>
        </p:nvSpPr>
        <p:spPr>
          <a:xfrm>
            <a:off x="1600200" y="3941064"/>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人の時間（労働集約）</a:t>
            </a:r>
            <a:endParaRPr lang="en-US" sz="850" dirty="0"/>
          </a:p>
        </p:txBody>
      </p:sp>
      <p:sp>
        <p:nvSpPr>
          <p:cNvPr id="11" name="Text 8"/>
          <p:cNvSpPr txBox="1"/>
          <p:nvPr/>
        </p:nvSpPr>
        <p:spPr>
          <a:xfrm>
            <a:off x="685800" y="2697480"/>
            <a:ext cx="1737360" cy="18288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 実績（何が起きたか）</a:t>
            </a:r>
            <a:endParaRPr lang="en-US" sz="800" dirty="0"/>
          </a:p>
        </p:txBody>
      </p:sp>
      <p:sp>
        <p:nvSpPr>
          <p:cNvPr id="12" name="Text 9"/>
          <p:cNvSpPr txBox="1"/>
          <p:nvPr/>
        </p:nvSpPr>
        <p:spPr>
          <a:xfrm>
            <a:off x="2606040" y="2697480"/>
            <a:ext cx="1737360" cy="182880"/>
          </a:xfrm>
          <a:prstGeom prst="rect">
            <a:avLst/>
          </a:prstGeom>
          <a:noFill/>
          <a:ln/>
        </p:spPr>
        <p:txBody>
          <a:bodyPr wrap="square" lIns="0" tIns="0" rIns="0" bIns="0" rtlCol="0" anchor="t"/>
          <a:lstStyle/>
          <a:p>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判断の理由（なぜ）→</a:t>
            </a:r>
            <a:endParaRPr lang="en-US" sz="800" dirty="0"/>
          </a:p>
        </p:txBody>
      </p:sp>
      <p:sp>
        <p:nvSpPr>
          <p:cNvPr id="13" name="pos-MES・ERP"/>
          <p:cNvSpPr/>
          <p:nvPr/>
        </p:nvSpPr>
        <p:spPr>
          <a:xfrm>
            <a:off x="1051560" y="1757477"/>
            <a:ext cx="146304" cy="146304"/>
          </a:xfrm>
          <a:prstGeom prst="ellipse">
            <a:avLst/>
          </a:prstGeom>
          <a:solidFill>
            <a:srgbClr val="FFFFFF"/>
          </a:solidFill>
          <a:ln w="15875">
            <a:solidFill>
              <a:srgbClr val="1A1A1A"/>
            </a:solidFill>
            <a:prstDash val="solid"/>
          </a:ln>
        </p:spPr>
      </p:sp>
      <p:sp>
        <p:nvSpPr>
          <p:cNvPr id="14" name="Text 11"/>
          <p:cNvSpPr txBox="1"/>
          <p:nvPr/>
        </p:nvSpPr>
        <p:spPr>
          <a:xfrm>
            <a:off x="1243584" y="1720901"/>
            <a:ext cx="1463040" cy="219456"/>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MES・ERP</a:t>
            </a:r>
            <a:endParaRPr lang="en-US" sz="850" dirty="0"/>
          </a:p>
        </p:txBody>
      </p:sp>
      <p:sp>
        <p:nvSpPr>
          <p:cNvPr id="15" name="pos-搬送ロボット・検査AI"/>
          <p:cNvSpPr/>
          <p:nvPr/>
        </p:nvSpPr>
        <p:spPr>
          <a:xfrm>
            <a:off x="978408" y="2251253"/>
            <a:ext cx="146304" cy="146304"/>
          </a:xfrm>
          <a:prstGeom prst="ellipse">
            <a:avLst/>
          </a:prstGeom>
          <a:solidFill>
            <a:srgbClr val="FFFFFF"/>
          </a:solidFill>
          <a:ln w="15875">
            <a:solidFill>
              <a:srgbClr val="1A1A1A"/>
            </a:solidFill>
            <a:prstDash val="solid"/>
          </a:ln>
        </p:spPr>
      </p:sp>
      <p:sp>
        <p:nvSpPr>
          <p:cNvPr id="16" name="Text 13"/>
          <p:cNvSpPr txBox="1"/>
          <p:nvPr/>
        </p:nvSpPr>
        <p:spPr>
          <a:xfrm>
            <a:off x="1170432" y="2214677"/>
            <a:ext cx="1463040" cy="219456"/>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搬送ロボット・検査AI</a:t>
            </a:r>
            <a:endParaRPr lang="en-US" sz="850" dirty="0"/>
          </a:p>
        </p:txBody>
      </p:sp>
      <p:sp>
        <p:nvSpPr>
          <p:cNvPr id="17" name="pos-コンサル（BPR）"/>
          <p:cNvSpPr/>
          <p:nvPr/>
        </p:nvSpPr>
        <p:spPr>
          <a:xfrm>
            <a:off x="2660904" y="3436315"/>
            <a:ext cx="146304" cy="146304"/>
          </a:xfrm>
          <a:prstGeom prst="ellipse">
            <a:avLst/>
          </a:prstGeom>
          <a:solidFill>
            <a:srgbClr val="FFFFFF"/>
          </a:solidFill>
          <a:ln w="15875">
            <a:solidFill>
              <a:srgbClr val="1A1A1A"/>
            </a:solidFill>
            <a:prstDash val="solid"/>
          </a:ln>
        </p:spPr>
      </p:sp>
      <p:sp>
        <p:nvSpPr>
          <p:cNvPr id="18" name="Text 15"/>
          <p:cNvSpPr txBox="1"/>
          <p:nvPr/>
        </p:nvSpPr>
        <p:spPr>
          <a:xfrm>
            <a:off x="2852928" y="3399739"/>
            <a:ext cx="1463040" cy="219456"/>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コンサル（BPR）</a:t>
            </a:r>
            <a:endParaRPr lang="en-US" sz="850" dirty="0"/>
          </a:p>
        </p:txBody>
      </p:sp>
      <p:sp>
        <p:nvSpPr>
          <p:cNvPr id="19" name="pos-社内の熟練者（属人）"/>
          <p:cNvSpPr/>
          <p:nvPr/>
        </p:nvSpPr>
        <p:spPr>
          <a:xfrm>
            <a:off x="3685032" y="2991917"/>
            <a:ext cx="146304" cy="146304"/>
          </a:xfrm>
          <a:prstGeom prst="ellipse">
            <a:avLst/>
          </a:prstGeom>
          <a:solidFill>
            <a:srgbClr val="FFFFFF"/>
          </a:solidFill>
          <a:ln w="15875">
            <a:solidFill>
              <a:srgbClr val="1A1A1A"/>
            </a:solidFill>
            <a:prstDash val="solid"/>
          </a:ln>
        </p:spPr>
      </p:sp>
      <p:sp>
        <p:nvSpPr>
          <p:cNvPr id="20" name="Text 17"/>
          <p:cNvSpPr txBox="1"/>
          <p:nvPr/>
        </p:nvSpPr>
        <p:spPr>
          <a:xfrm>
            <a:off x="2660904" y="3156509"/>
            <a:ext cx="1280160" cy="219456"/>
          </a:xfrm>
          <a:prstGeom prst="rect">
            <a:avLst/>
          </a:prstGeom>
          <a:noFill/>
          <a:ln/>
        </p:spPr>
        <p:txBody>
          <a:bodyPr wrap="square" lIns="0" tIns="0" rIns="0" bIns="0" rtlCol="0" anchor="ctr"/>
          <a:lstStyle/>
          <a:p>
            <a:pPr algn="r" indent="0" marL="0">
              <a:lnSpc>
                <a:spcPct val="115000"/>
              </a:lnSpc>
              <a:buNone/>
            </a:pPr>
            <a:r>
              <a:rPr lang="en-US" sz="850" dirty="0">
                <a:solidFill>
                  <a:srgbClr val="1A1A1A"/>
                </a:solidFill>
                <a:latin typeface="Meiryo" pitchFamily="34" charset="0"/>
                <a:ea typeface="Meiryo" pitchFamily="34" charset="-122"/>
                <a:cs typeface="Meiryo" pitchFamily="34" charset="-120"/>
              </a:rPr>
              <a:t>社内の熟練者（属人）</a:t>
            </a:r>
            <a:endParaRPr lang="en-US" sz="850" dirty="0"/>
          </a:p>
        </p:txBody>
      </p:sp>
      <p:sp>
        <p:nvSpPr>
          <p:cNvPr id="21" name="pos-三現ワークス"/>
          <p:cNvSpPr/>
          <p:nvPr/>
        </p:nvSpPr>
        <p:spPr>
          <a:xfrm>
            <a:off x="3511296" y="1828800"/>
            <a:ext cx="201168" cy="201168"/>
          </a:xfrm>
          <a:prstGeom prst="ellipse">
            <a:avLst/>
          </a:prstGeom>
          <a:solidFill>
            <a:srgbClr val="1A1A1A"/>
          </a:solidFill>
          <a:ln w="15875">
            <a:solidFill>
              <a:srgbClr val="1A1A1A"/>
            </a:solidFill>
            <a:prstDash val="solid"/>
          </a:ln>
        </p:spPr>
      </p:sp>
      <p:sp>
        <p:nvSpPr>
          <p:cNvPr id="22" name="Text 19"/>
          <p:cNvSpPr txBox="1"/>
          <p:nvPr/>
        </p:nvSpPr>
        <p:spPr>
          <a:xfrm>
            <a:off x="2002536" y="1819656"/>
            <a:ext cx="1463040" cy="219456"/>
          </a:xfrm>
          <a:prstGeom prst="rect">
            <a:avLst/>
          </a:prstGeom>
          <a:noFill/>
          <a:ln/>
        </p:spPr>
        <p:txBody>
          <a:bodyPr wrap="square" lIns="0" tIns="0" rIns="0" bIns="0" rtlCol="0" anchor="ctr"/>
          <a:lstStyle/>
          <a:p>
            <a:pPr algn="r" indent="0" marL="0">
              <a:lnSpc>
                <a:spcPct val="115000"/>
              </a:lnSpc>
              <a:buNone/>
            </a:pPr>
            <a:r>
              <a:rPr lang="en-US" sz="1000" b="1" dirty="0">
                <a:solidFill>
                  <a:srgbClr val="1A1A1A"/>
                </a:solidFill>
                <a:latin typeface="Meiryo" pitchFamily="34" charset="0"/>
                <a:ea typeface="Meiryo" pitchFamily="34" charset="-122"/>
                <a:cs typeface="Meiryo" pitchFamily="34" charset="-120"/>
              </a:rPr>
              <a:t>三現ワークス</a:t>
            </a:r>
            <a:endParaRPr lang="en-US" sz="1000" dirty="0"/>
          </a:p>
        </p:txBody>
      </p:sp>
      <p:sp>
        <p:nvSpPr>
          <p:cNvPr id="23" name="Text 20"/>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STP</a:t>
            </a:r>
            <a:endParaRPr lang="en-US" sz="1050" dirty="0"/>
          </a:p>
        </p:txBody>
      </p:sp>
      <p:sp>
        <p:nvSpPr>
          <p:cNvPr id="24" name="Shape 21"/>
          <p:cNvSpPr/>
          <p:nvPr/>
        </p:nvSpPr>
        <p:spPr>
          <a:xfrm>
            <a:off x="4617720" y="1335024"/>
            <a:ext cx="274320" cy="274320"/>
          </a:xfrm>
          <a:prstGeom prst="rect">
            <a:avLst/>
          </a:prstGeom>
          <a:solidFill>
            <a:srgbClr val="1A1A1A"/>
          </a:solidFill>
          <a:ln/>
        </p:spPr>
      </p:sp>
      <p:sp>
        <p:nvSpPr>
          <p:cNvPr id="25" name="Text 22"/>
          <p:cNvSpPr txBox="1"/>
          <p:nvPr/>
        </p:nvSpPr>
        <p:spPr>
          <a:xfrm>
            <a:off x="4617720" y="1335024"/>
            <a:ext cx="274320" cy="27432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S</a:t>
            </a:r>
            <a:endParaRPr lang="en-US" sz="900" dirty="0"/>
          </a:p>
        </p:txBody>
      </p:sp>
      <p:sp>
        <p:nvSpPr>
          <p:cNvPr id="26" name="Text 23"/>
          <p:cNvSpPr txBox="1"/>
          <p:nvPr/>
        </p:nvSpPr>
        <p:spPr>
          <a:xfrm>
            <a:off x="4983480" y="1307592"/>
            <a:ext cx="379476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製造業を工程の形で区分：連続工程（電線・素材）／組立／施工現場</a:t>
            </a:r>
            <a:endParaRPr lang="en-US" sz="850" dirty="0"/>
          </a:p>
        </p:txBody>
      </p:sp>
      <p:sp>
        <p:nvSpPr>
          <p:cNvPr id="27" name="Shape 24"/>
          <p:cNvSpPr/>
          <p:nvPr/>
        </p:nvSpPr>
        <p:spPr>
          <a:xfrm>
            <a:off x="4617720" y="1682496"/>
            <a:ext cx="274320" cy="274320"/>
          </a:xfrm>
          <a:prstGeom prst="rect">
            <a:avLst/>
          </a:prstGeom>
          <a:solidFill>
            <a:srgbClr val="1A1A1A"/>
          </a:solidFill>
          <a:ln/>
        </p:spPr>
      </p:sp>
      <p:sp>
        <p:nvSpPr>
          <p:cNvPr id="28" name="Text 25"/>
          <p:cNvSpPr txBox="1"/>
          <p:nvPr/>
        </p:nvSpPr>
        <p:spPr>
          <a:xfrm>
            <a:off x="4617720" y="1682496"/>
            <a:ext cx="274320" cy="27432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T</a:t>
            </a:r>
            <a:endParaRPr lang="en-US" sz="900" dirty="0"/>
          </a:p>
        </p:txBody>
      </p:sp>
      <p:sp>
        <p:nvSpPr>
          <p:cNvPr id="29" name="Text 26"/>
          <p:cNvSpPr txBox="1"/>
          <p:nvPr/>
        </p:nvSpPr>
        <p:spPr>
          <a:xfrm>
            <a:off x="4983480" y="1655064"/>
            <a:ext cx="379476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電線・ケーブル工場。長尺・ロット・試験値が揃い、熟練者の判断が品質を左右</a:t>
            </a:r>
            <a:endParaRPr lang="en-US" sz="850" dirty="0"/>
          </a:p>
        </p:txBody>
      </p:sp>
      <p:sp>
        <p:nvSpPr>
          <p:cNvPr id="30" name="Shape 27"/>
          <p:cNvSpPr/>
          <p:nvPr/>
        </p:nvSpPr>
        <p:spPr>
          <a:xfrm>
            <a:off x="4617720" y="2029968"/>
            <a:ext cx="274320" cy="274320"/>
          </a:xfrm>
          <a:prstGeom prst="rect">
            <a:avLst/>
          </a:prstGeom>
          <a:solidFill>
            <a:srgbClr val="1A1A1A"/>
          </a:solidFill>
          <a:ln/>
        </p:spPr>
      </p:sp>
      <p:sp>
        <p:nvSpPr>
          <p:cNvPr id="31" name="Text 28"/>
          <p:cNvSpPr txBox="1"/>
          <p:nvPr/>
        </p:nvSpPr>
        <p:spPr>
          <a:xfrm>
            <a:off x="4617720" y="2029968"/>
            <a:ext cx="274320" cy="27432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P</a:t>
            </a:r>
            <a:endParaRPr lang="en-US" sz="900" dirty="0"/>
          </a:p>
        </p:txBody>
      </p:sp>
      <p:sp>
        <p:nvSpPr>
          <p:cNvPr id="32" name="Text 29"/>
          <p:cNvSpPr txBox="1"/>
          <p:nvPr/>
        </p:nvSpPr>
        <p:spPr>
          <a:xfrm>
            <a:off x="4983480" y="2002536"/>
            <a:ext cx="379476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実績はMES・ERPに任せ、判断の理由を教材と仕組みにして渡す層</a:t>
            </a:r>
            <a:endParaRPr lang="en-US" sz="850" dirty="0"/>
          </a:p>
        </p:txBody>
      </p:sp>
      <p:sp>
        <p:nvSpPr>
          <p:cNvPr id="33" name="Text 30"/>
          <p:cNvSpPr txBox="1"/>
          <p:nvPr/>
        </p:nvSpPr>
        <p:spPr>
          <a:xfrm>
            <a:off x="4617720" y="2404872"/>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競争戦略</a:t>
            </a:r>
            <a:endParaRPr lang="en-US" sz="1050" dirty="0"/>
          </a:p>
        </p:txBody>
      </p:sp>
      <p:sp>
        <p:nvSpPr>
          <p:cNvPr id="34" name="Text 31"/>
          <p:cNvSpPr txBox="1"/>
          <p:nvPr/>
        </p:nvSpPr>
        <p:spPr>
          <a:xfrm>
            <a:off x="4617720" y="2660904"/>
            <a:ext cx="4160520" cy="457200"/>
          </a:xfrm>
          <a:prstGeom prst="rect">
            <a:avLst/>
          </a:prstGeom>
          <a:noFill/>
          <a:ln/>
        </p:spPr>
        <p:txBody>
          <a:bodyPr wrap="square" lIns="0" tIns="0" rIns="0" bIns="0" rtlCol="0" anchor="t"/>
          <a:lstStyle/>
          <a:p>
            <a:pPr algn="l" indent="0" marL="0">
              <a:lnSpc>
                <a:spcPct val="115000"/>
              </a:lnSpc>
              <a:spcAft>
                <a:spcPts val="200"/>
              </a:spcAft>
              <a:buNone/>
            </a:pPr>
            <a:r>
              <a:rPr lang="en-US" sz="850" b="1" dirty="0">
                <a:solidFill>
                  <a:srgbClr val="1A1A1A"/>
                </a:solidFill>
                <a:latin typeface="Meiryo" pitchFamily="34" charset="0"/>
                <a:ea typeface="Meiryo" pitchFamily="34" charset="-122"/>
                <a:cs typeface="Meiryo" pitchFamily="34" charset="-120"/>
              </a:rPr>
              <a:t>コトラーの競争地位：</a:t>
            </a:r>
            <a:pPr algn="l" indent="0" marL="0">
              <a:lnSpc>
                <a:spcPct val="115000"/>
              </a:lnSpc>
              <a:spcAft>
                <a:spcPts val="200"/>
              </a:spcAft>
              <a:buNone/>
            </a:pPr>
            <a:r>
              <a:rPr lang="en-US" sz="850" dirty="0">
                <a:solidFill>
                  <a:srgbClr val="1A1A1A"/>
                </a:solidFill>
                <a:latin typeface="Meiryo" pitchFamily="34" charset="0"/>
                <a:ea typeface="Meiryo" pitchFamily="34" charset="-122"/>
                <a:cs typeface="Meiryo" pitchFamily="34" charset="-120"/>
              </a:rPr>
              <a:t>ニッチャー。大手が採算に乗せにくい専門領域に絞る</a:t>
            </a:r>
            <a:endParaRPr lang="en-US" sz="850" dirty="0"/>
          </a:p>
          <a:p>
            <a:pPr algn="l" indent="0" marL="0">
              <a:lnSpc>
                <a:spcPct val="115000"/>
              </a:lnSpc>
              <a:spcAft>
                <a:spcPts val="200"/>
              </a:spcAft>
              <a:buNone/>
            </a:pPr>
            <a:r>
              <a:rPr lang="en-US" sz="850" b="1" dirty="0">
                <a:solidFill>
                  <a:srgbClr val="1A1A1A"/>
                </a:solidFill>
                <a:latin typeface="Meiryo" pitchFamily="34" charset="0"/>
                <a:ea typeface="Meiryo" pitchFamily="34" charset="-122"/>
                <a:cs typeface="Meiryo" pitchFamily="34" charset="-120"/>
              </a:rPr>
              <a:t>ポーターの基本戦略：</a:t>
            </a:r>
            <a:pPr algn="l" indent="0" marL="0">
              <a:lnSpc>
                <a:spcPct val="115000"/>
              </a:lnSpc>
              <a:spcAft>
                <a:spcPts val="200"/>
              </a:spcAft>
              <a:buNone/>
            </a:pPr>
            <a:r>
              <a:rPr lang="en-US" sz="850" dirty="0">
                <a:solidFill>
                  <a:srgbClr val="1A1A1A"/>
                </a:solidFill>
                <a:latin typeface="Meiryo" pitchFamily="34" charset="0"/>
                <a:ea typeface="Meiryo" pitchFamily="34" charset="-122"/>
                <a:cs typeface="Meiryo" pitchFamily="34" charset="-120"/>
              </a:rPr>
              <a:t>差別化集中。価格ではなく現場の知見で選ばれる</a:t>
            </a:r>
            <a:endParaRPr lang="en-US" sz="850" dirty="0"/>
          </a:p>
        </p:txBody>
      </p:sp>
      <p:sp>
        <p:nvSpPr>
          <p:cNvPr id="35" name="Text 32"/>
          <p:cNvSpPr txBox="1"/>
          <p:nvPr/>
        </p:nvSpPr>
        <p:spPr>
          <a:xfrm>
            <a:off x="4617720" y="3172968"/>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SWOT</a:t>
            </a:r>
            <a:endParaRPr lang="en-US" sz="1050" dirty="0"/>
          </a:p>
        </p:txBody>
      </p:sp>
      <p:sp>
        <p:nvSpPr>
          <p:cNvPr id="36" name="Shape 33"/>
          <p:cNvSpPr/>
          <p:nvPr/>
        </p:nvSpPr>
        <p:spPr>
          <a:xfrm>
            <a:off x="4617720" y="3456432"/>
            <a:ext cx="274320" cy="201168"/>
          </a:xfrm>
          <a:prstGeom prst="rect">
            <a:avLst/>
          </a:prstGeom>
          <a:solidFill>
            <a:srgbClr val="1A1A1A"/>
          </a:solidFill>
          <a:ln/>
        </p:spPr>
      </p:sp>
      <p:sp>
        <p:nvSpPr>
          <p:cNvPr id="37" name="Text 34"/>
          <p:cNvSpPr txBox="1"/>
          <p:nvPr/>
        </p:nvSpPr>
        <p:spPr>
          <a:xfrm>
            <a:off x="4617720" y="3456432"/>
            <a:ext cx="274320" cy="20116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S</a:t>
            </a:r>
            <a:endParaRPr lang="en-US" sz="900" dirty="0"/>
          </a:p>
        </p:txBody>
      </p:sp>
      <p:sp>
        <p:nvSpPr>
          <p:cNvPr id="38" name="Text 35"/>
          <p:cNvSpPr txBox="1"/>
          <p:nvPr/>
        </p:nvSpPr>
        <p:spPr>
          <a:xfrm>
            <a:off x="4983480" y="3429000"/>
            <a:ext cx="3794760" cy="256032"/>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施工管理5年と自作開発の両立／製品が使われる現場からの逆算</a:t>
            </a:r>
            <a:endParaRPr lang="en-US" sz="850" dirty="0"/>
          </a:p>
        </p:txBody>
      </p:sp>
      <p:sp>
        <p:nvSpPr>
          <p:cNvPr id="39" name="Shape 36"/>
          <p:cNvSpPr/>
          <p:nvPr/>
        </p:nvSpPr>
        <p:spPr>
          <a:xfrm>
            <a:off x="4617720" y="3721608"/>
            <a:ext cx="274320" cy="201168"/>
          </a:xfrm>
          <a:prstGeom prst="rect">
            <a:avLst/>
          </a:prstGeom>
          <a:solidFill>
            <a:srgbClr val="1A1A1A"/>
          </a:solidFill>
          <a:ln/>
        </p:spPr>
      </p:sp>
      <p:sp>
        <p:nvSpPr>
          <p:cNvPr id="40" name="Text 37"/>
          <p:cNvSpPr txBox="1"/>
          <p:nvPr/>
        </p:nvSpPr>
        <p:spPr>
          <a:xfrm>
            <a:off x="4617720" y="3721608"/>
            <a:ext cx="274320" cy="20116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W</a:t>
            </a:r>
            <a:endParaRPr lang="en-US" sz="900" dirty="0"/>
          </a:p>
        </p:txBody>
      </p:sp>
      <p:sp>
        <p:nvSpPr>
          <p:cNvPr id="41" name="Text 38"/>
          <p:cNvSpPr txBox="1"/>
          <p:nvPr/>
        </p:nvSpPr>
        <p:spPr>
          <a:xfrm>
            <a:off x="4983480" y="3694176"/>
            <a:ext cx="3794760" cy="256032"/>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製造現場の実務経験が浅い／営業・資金調達が未経験／創業者依存</a:t>
            </a:r>
            <a:endParaRPr lang="en-US" sz="850" dirty="0"/>
          </a:p>
        </p:txBody>
      </p:sp>
      <p:sp>
        <p:nvSpPr>
          <p:cNvPr id="42" name="Shape 39"/>
          <p:cNvSpPr/>
          <p:nvPr/>
        </p:nvSpPr>
        <p:spPr>
          <a:xfrm>
            <a:off x="4617720" y="3986784"/>
            <a:ext cx="274320" cy="201168"/>
          </a:xfrm>
          <a:prstGeom prst="rect">
            <a:avLst/>
          </a:prstGeom>
          <a:solidFill>
            <a:srgbClr val="1A1A1A"/>
          </a:solidFill>
          <a:ln/>
        </p:spPr>
      </p:sp>
      <p:sp>
        <p:nvSpPr>
          <p:cNvPr id="43" name="Text 40"/>
          <p:cNvSpPr txBox="1"/>
          <p:nvPr/>
        </p:nvSpPr>
        <p:spPr>
          <a:xfrm>
            <a:off x="4617720" y="3986784"/>
            <a:ext cx="274320" cy="20116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O</a:t>
            </a:r>
            <a:endParaRPr lang="en-US" sz="900" dirty="0"/>
          </a:p>
        </p:txBody>
      </p:sp>
      <p:sp>
        <p:nvSpPr>
          <p:cNvPr id="44" name="Text 41"/>
          <p:cNvSpPr txBox="1"/>
          <p:nvPr/>
        </p:nvSpPr>
        <p:spPr>
          <a:xfrm>
            <a:off x="4983480" y="3959352"/>
            <a:ext cx="3794760" cy="256032"/>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担い手の高齢化による技能継承需要／フィジカルAIの実用化</a:t>
            </a:r>
            <a:endParaRPr lang="en-US" sz="850" dirty="0"/>
          </a:p>
        </p:txBody>
      </p:sp>
      <p:sp>
        <p:nvSpPr>
          <p:cNvPr id="45" name="Shape 42"/>
          <p:cNvSpPr/>
          <p:nvPr/>
        </p:nvSpPr>
        <p:spPr>
          <a:xfrm>
            <a:off x="4617720" y="4251960"/>
            <a:ext cx="274320" cy="201168"/>
          </a:xfrm>
          <a:prstGeom prst="rect">
            <a:avLst/>
          </a:prstGeom>
          <a:solidFill>
            <a:srgbClr val="1A1A1A"/>
          </a:solidFill>
          <a:ln/>
        </p:spPr>
      </p:sp>
      <p:sp>
        <p:nvSpPr>
          <p:cNvPr id="46" name="Text 43"/>
          <p:cNvSpPr txBox="1"/>
          <p:nvPr/>
        </p:nvSpPr>
        <p:spPr>
          <a:xfrm>
            <a:off x="4617720" y="4251960"/>
            <a:ext cx="274320" cy="20116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T</a:t>
            </a:r>
            <a:endParaRPr lang="en-US" sz="900" dirty="0"/>
          </a:p>
        </p:txBody>
      </p:sp>
      <p:sp>
        <p:nvSpPr>
          <p:cNvPr id="47" name="Text 44"/>
          <p:cNvSpPr txBox="1"/>
          <p:nvPr/>
        </p:nvSpPr>
        <p:spPr>
          <a:xfrm>
            <a:off x="4983480" y="4224528"/>
            <a:ext cx="3794760" cy="256032"/>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大手SIer・ロボットベンダーの参入／内製化／母数が小さい</a:t>
            </a:r>
            <a:endParaRPr lang="en-US" sz="850" dirty="0"/>
          </a:p>
        </p:txBody>
      </p:sp>
      <p:sp>
        <p:nvSpPr>
          <p:cNvPr id="48" name="Text 45"/>
          <p:cNvSpPr txBox="1"/>
          <p:nvPr/>
        </p:nvSpPr>
        <p:spPr>
          <a:xfrm>
            <a:off x="365760" y="4498848"/>
            <a:ext cx="8412480" cy="310896"/>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 ERP・MES・SCMとはAPI連携で併存し、置き換えない。電線業界：353事業所・出荷額1兆8,822億円（経済構造実態調査 2024年、従業者10人以上）</a:t>
            </a:r>
            <a:endParaRPr lang="en-US" sz="8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設問②　組織 ─ 顧客数は、導入担当の人数で決まる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導入担当1名あたり年6拠点。代表（CEO）は型を渡す役割に絞り、抱え込まない</a:t>
            </a:r>
            <a:endParaRPr lang="en-US" sz="1200" dirty="0"/>
          </a:p>
        </p:txBody>
      </p:sp>
      <p:sp>
        <p:nvSpPr>
          <p:cNvPr id="5" name="Shape 2"/>
          <p:cNvSpPr/>
          <p:nvPr/>
        </p:nvSpPr>
        <p:spPr>
          <a:xfrm>
            <a:off x="365760" y="1051560"/>
            <a:ext cx="4114800" cy="914400"/>
          </a:xfrm>
          <a:prstGeom prst="rect">
            <a:avLst/>
          </a:prstGeom>
          <a:solidFill>
            <a:srgbClr val="FFFFFF"/>
          </a:solidFill>
          <a:ln w="19050">
            <a:solidFill>
              <a:srgbClr val="1A1A1A"/>
            </a:solidFill>
            <a:prstDash val="solid"/>
          </a:ln>
        </p:spPr>
      </p:sp>
      <p:sp>
        <p:nvSpPr>
          <p:cNvPr id="6" name="Text 3"/>
          <p:cNvSpPr txBox="1"/>
          <p:nvPr/>
        </p:nvSpPr>
        <p:spPr>
          <a:xfrm>
            <a:off x="502920" y="1124712"/>
            <a:ext cx="3840480" cy="292608"/>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設計基準　導入担当1名あたり 年6拠点</a:t>
            </a:r>
            <a:endParaRPr lang="en-US" sz="1300" dirty="0"/>
          </a:p>
        </p:txBody>
      </p:sp>
      <p:sp>
        <p:nvSpPr>
          <p:cNvPr id="7" name="Text 4"/>
          <p:cNvSpPr txBox="1"/>
          <p:nvPr/>
        </p:nvSpPr>
        <p:spPr>
          <a:xfrm>
            <a:off x="502920" y="1435608"/>
            <a:ext cx="3840480" cy="493776"/>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1拠点の導入＝帳票・試験記録の作り込み・過去データ移行・現場研修で約2か月。並行2拠点が上限 → 12か月÷2か月×1拠点＝年6拠点。計画値は上限の6〜8割</a:t>
            </a:r>
            <a:endParaRPr lang="en-US" sz="950" dirty="0"/>
          </a:p>
        </p:txBody>
      </p:sp>
      <p:graphicFrame>
        <p:nvGraphicFramePr>
          <p:cNvPr id="7" name="customers"/>
          <p:cNvGraphicFramePr>
            <a:graphicFrameLocks noGrp="1"/>
          </p:cNvGraphicFramePr>
          <p:nvPr>
            <p:extLst>
              <p:ext uri="{D42A27DB-BD31-4B8C-83A1-F6EECF244321}">
                <p14:modId xmlns:p14="http://schemas.microsoft.com/office/powerpoint/2010/main" val="1579011935"/>
              </p:ext>
            </p:extLst>
          </p:nvPr>
        </p:nvGraphicFramePr>
        <p:xfrm>
          <a:off x="365760" y="2103120"/>
          <a:ext cx="4114800" cy="914400"/>
        </p:xfrm>
        <a:graphic>
          <a:graphicData uri="http://schemas.openxmlformats.org/drawingml/2006/table">
            <a:tbl>
              <a:tblPr/>
              <a:tblGrid>
                <a:gridCol w="1371600"/>
                <a:gridCol w="548640"/>
                <a:gridCol w="548640"/>
                <a:gridCol w="548640"/>
                <a:gridCol w="548640"/>
                <a:gridCol w="548640"/>
              </a:tblGrid>
              <a:tr h="246888">
                <a:tc>
                  <a:txBody>
                    <a:bodyPr/>
                    <a:lstStyle/>
                    <a:p>
                      <a:pPr algn="l" indent="0" marL="0">
                        <a:buNone/>
                      </a:pP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2年目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4年目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5年目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導入担当（名）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7.0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理論上限（×6拠点）</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9</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42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新規獲得（計画）</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9</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18</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解約</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累計顧客拠点数</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55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85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3657600"/>
            <a:ext cx="4114800" cy="27432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※1年目は製品が未完成のため、上限9拠点に対し3拠点に限定する（能力ではなく意図的な制約）</a:t>
            </a:r>
            <a:endParaRPr lang="en-US" sz="800" dirty="0"/>
          </a:p>
        </p:txBody>
      </p:sp>
      <p:graphicFrame>
        <p:nvGraphicFramePr>
          <p:cNvPr id="13" name="staffing"/>
          <p:cNvGraphicFramePr>
            <a:graphicFrameLocks noGrp="1"/>
          </p:cNvGraphicFramePr>
          <p:nvPr>
            <p:extLst>
              <p:ext uri="{D42A27DB-BD31-4B8C-83A1-F6EECF244321}">
                <p14:modId xmlns:p14="http://schemas.microsoft.com/office/powerpoint/2010/main" val="1579011935"/>
              </p:ext>
            </p:extLst>
          </p:nvPr>
        </p:nvGraphicFramePr>
        <p:xfrm>
          <a:off x="4663440" y="1051560"/>
          <a:ext cx="4114800" cy="914400"/>
        </p:xfrm>
        <a:graphic>
          <a:graphicData uri="http://schemas.openxmlformats.org/drawingml/2006/table">
            <a:tbl>
              <a:tblPr/>
              <a:tblGrid>
                <a:gridCol w="1371600"/>
                <a:gridCol w="548640"/>
                <a:gridCol w="548640"/>
                <a:gridCol w="548640"/>
                <a:gridCol w="548640"/>
                <a:gridCol w="548640"/>
              </a:tblGrid>
              <a:tr h="24688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人員計画（名）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2年目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4年目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5年目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代表</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エンジニア</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9</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カスタマーサクセス</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4</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営業</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管理（業務委託含む）</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合計</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4</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20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Text 6"/>
          <p:cNvSpPr txBox="1"/>
          <p:nvPr/>
        </p:nvSpPr>
        <p:spPr>
          <a:xfrm>
            <a:off x="4663440" y="2953512"/>
            <a:ext cx="4114800" cy="256032"/>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採用基準と代表（CEO）の役割</a:t>
            </a:r>
            <a:endParaRPr lang="en-US" sz="1200" dirty="0"/>
          </a:p>
        </p:txBody>
      </p:sp>
      <p:sp>
        <p:nvSpPr>
          <p:cNvPr id="12" name="Text 7"/>
          <p:cNvSpPr txBox="1"/>
          <p:nvPr/>
        </p:nvSpPr>
        <p:spPr>
          <a:xfrm>
            <a:off x="4663440" y="3246120"/>
            <a:ext cx="4114800" cy="1554480"/>
          </a:xfrm>
          <a:prstGeom prst="rect">
            <a:avLst/>
          </a:prstGeom>
          <a:noFill/>
          <a:ln/>
        </p:spPr>
        <p:txBody>
          <a:bodyPr wrap="square" lIns="0" tIns="0" rIns="0" bIns="0" rtlCol="0" anchor="t"/>
          <a:lstStyle/>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採用の軸：</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製造・施工の現場経験者にITを教える経路</a:t>
            </a:r>
            <a:endParaRPr lang="en-US" sz="1000" dirty="0"/>
          </a:p>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初期メンバー：</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生産技術経験者を迎え、製造知見の不足を補う</a:t>
            </a:r>
            <a:endParaRPr lang="en-US" sz="1000" dirty="0"/>
          </a:p>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選考基準：</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現場に出ることを厭わない／「作らない」判断ができる</a:t>
            </a:r>
            <a:endParaRPr lang="en-US" sz="1000" dirty="0"/>
          </a:p>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代表（CEO）：</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現場の読み解き方を型にして渡す（CTO兼任なし）</a:t>
            </a:r>
            <a:endParaRPr lang="en-US" sz="1000" dirty="0"/>
          </a:p>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5年目の到達目標：</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創業者が1か月不在でも事業が回る状態</a:t>
            </a:r>
            <a:endParaRPr lang="en-US" sz="10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設問④　経営計画 ─ 3年目の谷を越え、4年目に黒字化する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売上は5年で2.9億円へ。累積損益の谷 0.65億円を、必要資金 1.5億円で越える</a:t>
            </a:r>
            <a:endParaRPr lang="en-US" sz="1200" dirty="0"/>
          </a:p>
        </p:txBody>
      </p:sp>
      <p:sp>
        <p:nvSpPr>
          <p:cNvPr id="5" name="Text 2"/>
          <p:cNvSpPr txBox="1"/>
          <p:nvPr/>
        </p:nvSpPr>
        <p:spPr>
          <a:xfrm>
            <a:off x="365760" y="1051560"/>
            <a:ext cx="5166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成長曲線（単位：百万円）</a:t>
            </a:r>
            <a:endParaRPr lang="en-US" sz="1050" dirty="0"/>
          </a:p>
        </p:txBody>
      </p:sp>
      <p:graphicFrame>
        <p:nvGraphicFramePr>
          <p:cNvPr id="6" name="growth-chart" descr=""/>
          <p:cNvGraphicFramePr/>
          <p:nvPr/>
        </p:nvGraphicFramePr>
        <p:xfrm>
          <a:off x="365760" y="1307592"/>
          <a:ext cx="5166360" cy="278892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2011680" y="1051560"/>
            <a:ext cx="3520440" cy="237744"/>
          </a:xfrm>
          <a:prstGeom prst="rect">
            <a:avLst/>
          </a:prstGeom>
          <a:noFill/>
          <a:ln/>
        </p:spPr>
        <p:txBody>
          <a:bodyPr wrap="square" lIns="0" tIns="0" rIns="0" bIns="0" rtlCol="0" anchor="ctr"/>
          <a:lstStyle/>
          <a:p>
            <a:pPr algn="r" indent="0" marL="0">
              <a:lnSpc>
                <a:spcPct val="115000"/>
              </a:lnSpc>
              <a:buNone/>
            </a:pPr>
            <a:r>
              <a:rPr lang="en-US" sz="850" b="1" dirty="0">
                <a:solidFill>
                  <a:srgbClr val="1A1A1A"/>
                </a:solidFill>
                <a:latin typeface="Meiryo" pitchFamily="34" charset="0"/>
                <a:ea typeface="Meiryo" pitchFamily="34" charset="-122"/>
                <a:cs typeface="Meiryo" pitchFamily="34" charset="-120"/>
              </a:rPr>
              <a:t>━ 売上高</a:t>
            </a:r>
            <a:pPr algn="r" indent="0" marL="0">
              <a:lnSpc>
                <a:spcPct val="115000"/>
              </a:lnSpc>
              <a:buNone/>
            </a:pPr>
            <a:r>
              <a:rPr lang="en-US" sz="850" dirty="0">
                <a:solidFill>
                  <a:srgbClr val="4D4D4D"/>
                </a:solidFill>
                <a:latin typeface="Meiryo" pitchFamily="34" charset="0"/>
                <a:ea typeface="Meiryo" pitchFamily="34" charset="-122"/>
                <a:cs typeface="Meiryo" pitchFamily="34" charset="-120"/>
              </a:rPr>
              <a:t>　■ 営業利益</a:t>
            </a:r>
            <a:pPr algn="r" indent="0" marL="0">
              <a:lnSpc>
                <a:spcPct val="115000"/>
              </a:lnSpc>
              <a:buNone/>
            </a:pPr>
            <a:r>
              <a:rPr lang="en-US" sz="850" dirty="0">
                <a:solidFill>
                  <a:srgbClr val="4D4D4D"/>
                </a:solidFill>
                <a:latin typeface="Meiryo" pitchFamily="34" charset="0"/>
                <a:ea typeface="Meiryo" pitchFamily="34" charset="-122"/>
                <a:cs typeface="Meiryo" pitchFamily="34" charset="-120"/>
              </a:rPr>
              <a:t>　┅ 累積営業損益（谷 ▲65）</a:t>
            </a:r>
            <a:endParaRPr lang="en-US" sz="850" dirty="0"/>
          </a:p>
        </p:txBody>
      </p:sp>
      <p:sp>
        <p:nvSpPr>
          <p:cNvPr id="8" name="Text 4"/>
          <p:cNvSpPr txBox="1"/>
          <p:nvPr/>
        </p:nvSpPr>
        <p:spPr>
          <a:xfrm>
            <a:off x="5715000" y="1051560"/>
            <a:ext cx="30632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黒字化の条件：社員1人あたり顧客拠点数</a:t>
            </a:r>
            <a:endParaRPr lang="en-US" sz="1050" dirty="0"/>
          </a:p>
        </p:txBody>
      </p:sp>
      <p:graphicFrame>
        <p:nvGraphicFramePr>
          <p:cNvPr id="9" name="breakeven-chart" descr=""/>
          <p:cNvGraphicFramePr/>
          <p:nvPr/>
        </p:nvGraphicFramePr>
        <p:xfrm>
          <a:off x="5715000" y="1307592"/>
          <a:ext cx="3063240" cy="1737360"/>
        </p:xfrm>
        <a:graphic xmlns:a="http://schemas.openxmlformats.org/drawingml/2006/main">
          <a:graphicData uri="http://schemas.openxmlformats.org/drawingml/2006/chart">
            <c:chart xmlns:c="http://schemas.openxmlformats.org/drawingml/2006/chart" r:id="rId2"/>
          </a:graphicData>
        </a:graphic>
      </p:graphicFrame>
      <p:sp>
        <p:nvSpPr>
          <p:cNvPr id="10" name="Text 5"/>
          <p:cNvSpPr txBox="1"/>
          <p:nvPr/>
        </p:nvSpPr>
        <p:spPr>
          <a:xfrm>
            <a:off x="6126480" y="1508760"/>
            <a:ext cx="1463040" cy="182880"/>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損益分岐 2.8（点線）</a:t>
            </a:r>
            <a:endParaRPr lang="en-US" sz="850" dirty="0"/>
          </a:p>
        </p:txBody>
      </p:sp>
      <p:sp>
        <p:nvSpPr>
          <p:cNvPr id="11" name="Text 6"/>
          <p:cNvSpPr txBox="1"/>
          <p:nvPr/>
        </p:nvSpPr>
        <p:spPr>
          <a:xfrm>
            <a:off x="5715000" y="3063240"/>
            <a:ext cx="3063240" cy="310896"/>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713万円（販管費／人）÷255万円（粗利／拠点）＝2.8。4年目に初めて超える</a:t>
            </a:r>
            <a:endParaRPr lang="en-US" sz="800" dirty="0"/>
          </a:p>
        </p:txBody>
      </p:sp>
      <p:sp>
        <p:nvSpPr>
          <p:cNvPr id="12" name="funding"/>
          <p:cNvSpPr/>
          <p:nvPr/>
        </p:nvSpPr>
        <p:spPr>
          <a:xfrm>
            <a:off x="5715000" y="3447288"/>
            <a:ext cx="3063240" cy="987552"/>
          </a:xfrm>
          <a:prstGeom prst="rect">
            <a:avLst/>
          </a:prstGeom>
          <a:solidFill>
            <a:srgbClr val="1A1A1A"/>
          </a:solidFill>
          <a:ln/>
        </p:spPr>
      </p:sp>
      <p:sp>
        <p:nvSpPr>
          <p:cNvPr id="13" name="Text 8"/>
          <p:cNvSpPr txBox="1"/>
          <p:nvPr/>
        </p:nvSpPr>
        <p:spPr>
          <a:xfrm>
            <a:off x="5852160" y="3502152"/>
            <a:ext cx="2788920" cy="292608"/>
          </a:xfrm>
          <a:prstGeom prst="rect">
            <a:avLst/>
          </a:prstGeom>
          <a:noFill/>
          <a:ln/>
        </p:spPr>
        <p:txBody>
          <a:bodyPr wrap="square" lIns="0" tIns="0" rIns="0" bIns="0" rtlCol="0" anchor="t"/>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必要資金 1.5億円</a:t>
            </a:r>
            <a:endParaRPr lang="en-US" sz="1300" dirty="0"/>
          </a:p>
        </p:txBody>
      </p:sp>
      <p:sp>
        <p:nvSpPr>
          <p:cNvPr id="14" name="Text 9"/>
          <p:cNvSpPr txBox="1"/>
          <p:nvPr/>
        </p:nvSpPr>
        <p:spPr>
          <a:xfrm>
            <a:off x="5852160" y="3776472"/>
            <a:ext cx="2788920" cy="621792"/>
          </a:xfrm>
          <a:prstGeom prst="rect">
            <a:avLst/>
          </a:prstGeom>
          <a:noFill/>
          <a:ln/>
        </p:spPr>
        <p:txBody>
          <a:bodyPr wrap="square" lIns="0" tIns="0" rIns="0" bIns="0" rtlCol="0" anchor="t"/>
          <a:lstStyle/>
          <a:p>
            <a:pPr algn="l" indent="0" marL="0">
              <a:lnSpc>
                <a:spcPct val="115000"/>
              </a:lnSpc>
              <a:spcAft>
                <a:spcPts val="300"/>
              </a:spcAft>
              <a:buNone/>
            </a:pPr>
            <a:r>
              <a:rPr lang="en-US" sz="850" dirty="0">
                <a:solidFill>
                  <a:srgbClr val="FFFFFF"/>
                </a:solidFill>
                <a:latin typeface="Meiryo" pitchFamily="34" charset="0"/>
                <a:ea typeface="Meiryo" pitchFamily="34" charset="-122"/>
                <a:cs typeface="Meiryo" pitchFamily="34" charset="-120"/>
              </a:rPr>
              <a:t>谷 0.65億＋運転資金 0.29億＋1年遅延の備え 0.56億</a:t>
            </a:r>
            <a:endParaRPr lang="en-US" sz="850" dirty="0"/>
          </a:p>
          <a:p>
            <a:pPr algn="l" indent="0" marL="0">
              <a:lnSpc>
                <a:spcPct val="115000"/>
              </a:lnSpc>
              <a:spcAft>
                <a:spcPts val="300"/>
              </a:spcAft>
              <a:buNone/>
            </a:pPr>
            <a:r>
              <a:rPr lang="en-US" sz="850" dirty="0">
                <a:solidFill>
                  <a:srgbClr val="FFFFFF"/>
                </a:solidFill>
                <a:latin typeface="Meiryo" pitchFamily="34" charset="0"/>
                <a:ea typeface="Meiryo" pitchFamily="34" charset="-122"/>
                <a:cs typeface="Meiryo" pitchFamily="34" charset="-120"/>
              </a:rPr>
              <a:t>調達：電線・ロボットメーカーのCVCから。資金と実証フィールド・販路を同時に得る</a:t>
            </a:r>
            <a:endParaRPr lang="en-US" sz="850" dirty="0"/>
          </a:p>
        </p:txBody>
      </p:sp>
      <p:sp>
        <p:nvSpPr>
          <p:cNvPr id="15" name="Text 10"/>
          <p:cNvSpPr txBox="1"/>
          <p:nvPr/>
        </p:nvSpPr>
        <p:spPr>
          <a:xfrm>
            <a:off x="365760" y="4498848"/>
            <a:ext cx="8412480" cy="329184"/>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算出根拠：顧客拠点 3→12→30→55→85／売上総利益 5・29・73・135・213（ライセンス粗利率85%、導入支援・受託40%）／販管費 37・56・79・107・144（人件費800万円×社員数 4→20名−原価振替＋経費）</a:t>
            </a:r>
            <a:endParaRPr lang="en-US" sz="8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設問⑤　リスク ─ 最大のリスクは自分。判断基準を先に決める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創業者が1か月不在でも回る状態を5年目に置き、BSCの4指標で任せる</a:t>
            </a:r>
            <a:endParaRPr lang="en-US" sz="1200" dirty="0"/>
          </a:p>
        </p:txBody>
      </p:sp>
      <p:sp>
        <p:nvSpPr>
          <p:cNvPr id="5" name="stage-0"/>
          <p:cNvSpPr/>
          <p:nvPr/>
        </p:nvSpPr>
        <p:spPr>
          <a:xfrm>
            <a:off x="365760" y="1024128"/>
            <a:ext cx="2724912" cy="1847088"/>
          </a:xfrm>
          <a:prstGeom prst="rect">
            <a:avLst/>
          </a:prstGeom>
          <a:solidFill>
            <a:srgbClr val="FFFFFF"/>
          </a:solidFill>
          <a:ln w="9525">
            <a:solidFill>
              <a:srgbClr val="BFBFBF"/>
            </a:solidFill>
            <a:prstDash val="solid"/>
          </a:ln>
        </p:spPr>
      </p:sp>
      <p:sp>
        <p:nvSpPr>
          <p:cNvPr id="6" name="Shape 3"/>
          <p:cNvSpPr/>
          <p:nvPr/>
        </p:nvSpPr>
        <p:spPr>
          <a:xfrm>
            <a:off x="365760" y="1024128"/>
            <a:ext cx="2724912" cy="274320"/>
          </a:xfrm>
          <a:prstGeom prst="rect">
            <a:avLst/>
          </a:prstGeom>
          <a:solidFill>
            <a:srgbClr val="1A1A1A"/>
          </a:solidFill>
          <a:ln/>
        </p:spPr>
      </p:sp>
      <p:sp>
        <p:nvSpPr>
          <p:cNvPr id="7" name="Text 4"/>
          <p:cNvSpPr txBox="1"/>
          <p:nvPr/>
        </p:nvSpPr>
        <p:spPr>
          <a:xfrm>
            <a:off x="475488" y="1024128"/>
            <a:ext cx="2505456" cy="274320"/>
          </a:xfrm>
          <a:prstGeom prst="rect">
            <a:avLst/>
          </a:prstGeom>
          <a:noFill/>
          <a:ln/>
        </p:spPr>
        <p:txBody>
          <a:bodyPr wrap="square" lIns="0" tIns="0" rIns="0" bIns="0" rtlCol="0" anchor="ctr"/>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準備期（1年目）</a:t>
            </a:r>
            <a:endParaRPr lang="en-US" sz="1050" dirty="0"/>
          </a:p>
        </p:txBody>
      </p:sp>
      <p:sp>
        <p:nvSpPr>
          <p:cNvPr id="8" name="Text 5"/>
          <p:cNvSpPr txBox="1"/>
          <p:nvPr/>
        </p:nvSpPr>
        <p:spPr>
          <a:xfrm>
            <a:off x="475488" y="135331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製品がない段階での受注</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有償試験導入を3拠点に限定。1拠点に完全対応し横展開の型を先に構築</a:t>
            </a:r>
            <a:endParaRPr lang="en-US" sz="1400" dirty="0"/>
          </a:p>
        </p:txBody>
      </p:sp>
      <p:sp>
        <p:nvSpPr>
          <p:cNvPr id="9" name="Text 6"/>
          <p:cNvSpPr txBox="1"/>
          <p:nvPr/>
        </p:nvSpPr>
        <p:spPr>
          <a:xfrm>
            <a:off x="475488" y="185623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創業者が律速になる</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現場ヒアリングを手順書化。1年目末にCSが単独で運用できる状態へ</a:t>
            </a:r>
            <a:endParaRPr lang="en-US" sz="1400" dirty="0"/>
          </a:p>
        </p:txBody>
      </p:sp>
      <p:sp>
        <p:nvSpPr>
          <p:cNvPr id="10" name="Text 7"/>
          <p:cNvSpPr txBox="1"/>
          <p:nvPr/>
        </p:nvSpPr>
        <p:spPr>
          <a:xfrm>
            <a:off x="475488" y="235915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製造現場の知見不足</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生産技術経験者を初期メンバーに迎え、顧客工場に入って学ぶ</a:t>
            </a:r>
            <a:endParaRPr lang="en-US" sz="1400" dirty="0"/>
          </a:p>
        </p:txBody>
      </p:sp>
      <p:sp>
        <p:nvSpPr>
          <p:cNvPr id="11" name="stage-1"/>
          <p:cNvSpPr/>
          <p:nvPr/>
        </p:nvSpPr>
        <p:spPr>
          <a:xfrm>
            <a:off x="3209544" y="1024128"/>
            <a:ext cx="2724912" cy="1847088"/>
          </a:xfrm>
          <a:prstGeom prst="rect">
            <a:avLst/>
          </a:prstGeom>
          <a:solidFill>
            <a:srgbClr val="FFFFFF"/>
          </a:solidFill>
          <a:ln w="9525">
            <a:solidFill>
              <a:srgbClr val="BFBFBF"/>
            </a:solidFill>
            <a:prstDash val="solid"/>
          </a:ln>
        </p:spPr>
      </p:sp>
      <p:sp>
        <p:nvSpPr>
          <p:cNvPr id="12" name="Shape 9"/>
          <p:cNvSpPr/>
          <p:nvPr/>
        </p:nvSpPr>
        <p:spPr>
          <a:xfrm>
            <a:off x="3209544" y="1024128"/>
            <a:ext cx="2724912" cy="274320"/>
          </a:xfrm>
          <a:prstGeom prst="rect">
            <a:avLst/>
          </a:prstGeom>
          <a:solidFill>
            <a:srgbClr val="1A1A1A"/>
          </a:solidFill>
          <a:ln/>
        </p:spPr>
      </p:sp>
      <p:sp>
        <p:nvSpPr>
          <p:cNvPr id="13" name="Text 10"/>
          <p:cNvSpPr txBox="1"/>
          <p:nvPr/>
        </p:nvSpPr>
        <p:spPr>
          <a:xfrm>
            <a:off x="3319272" y="1024128"/>
            <a:ext cx="2505456" cy="274320"/>
          </a:xfrm>
          <a:prstGeom prst="rect">
            <a:avLst/>
          </a:prstGeom>
          <a:noFill/>
          <a:ln/>
        </p:spPr>
        <p:txBody>
          <a:bodyPr wrap="square" lIns="0" tIns="0" rIns="0" bIns="0" rtlCol="0" anchor="ctr"/>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中期（2〜3年目）</a:t>
            </a:r>
            <a:endParaRPr lang="en-US" sz="1050" dirty="0"/>
          </a:p>
        </p:txBody>
      </p:sp>
      <p:sp>
        <p:nvSpPr>
          <p:cNvPr id="14" name="Text 11"/>
          <p:cNvSpPr txBox="1"/>
          <p:nvPr/>
        </p:nvSpPr>
        <p:spPr>
          <a:xfrm>
            <a:off x="3319272" y="135331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個社対応による受託化</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共通機能8割・個社対応2割を明文化。受注を断る基準を保持</a:t>
            </a:r>
            <a:endParaRPr lang="en-US" sz="1400" dirty="0"/>
          </a:p>
        </p:txBody>
      </p:sp>
      <p:sp>
        <p:nvSpPr>
          <p:cNvPr id="15" name="Text 12"/>
          <p:cNvSpPr txBox="1"/>
          <p:nvPr/>
        </p:nvSpPr>
        <p:spPr>
          <a:xfrm>
            <a:off x="3319272" y="185623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採用の難しさ</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製造・施工の現場経験者にITを教える経路に限定</a:t>
            </a:r>
            <a:endParaRPr lang="en-US" sz="1400" dirty="0"/>
          </a:p>
        </p:txBody>
      </p:sp>
      <p:sp>
        <p:nvSpPr>
          <p:cNvPr id="16" name="Text 13"/>
          <p:cNvSpPr txBox="1"/>
          <p:nvPr/>
        </p:nvSpPr>
        <p:spPr>
          <a:xfrm>
            <a:off x="3319272" y="235915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母数の小ささ</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アンゾフの新市場開拓。施工会社へ同じ基盤を展開、CRMで解約兆候を検知</a:t>
            </a:r>
            <a:endParaRPr lang="en-US" sz="1400" dirty="0"/>
          </a:p>
        </p:txBody>
      </p:sp>
      <p:sp>
        <p:nvSpPr>
          <p:cNvPr id="17" name="stage-2"/>
          <p:cNvSpPr/>
          <p:nvPr/>
        </p:nvSpPr>
        <p:spPr>
          <a:xfrm>
            <a:off x="6053328" y="1024128"/>
            <a:ext cx="2724912" cy="1847088"/>
          </a:xfrm>
          <a:prstGeom prst="rect">
            <a:avLst/>
          </a:prstGeom>
          <a:solidFill>
            <a:srgbClr val="FFFFFF"/>
          </a:solidFill>
          <a:ln w="9525">
            <a:solidFill>
              <a:srgbClr val="BFBFBF"/>
            </a:solidFill>
            <a:prstDash val="solid"/>
          </a:ln>
        </p:spPr>
      </p:sp>
      <p:sp>
        <p:nvSpPr>
          <p:cNvPr id="18" name="Shape 15"/>
          <p:cNvSpPr/>
          <p:nvPr/>
        </p:nvSpPr>
        <p:spPr>
          <a:xfrm>
            <a:off x="6053328" y="1024128"/>
            <a:ext cx="2724912" cy="274320"/>
          </a:xfrm>
          <a:prstGeom prst="rect">
            <a:avLst/>
          </a:prstGeom>
          <a:solidFill>
            <a:srgbClr val="1A1A1A"/>
          </a:solidFill>
          <a:ln/>
        </p:spPr>
      </p:sp>
      <p:sp>
        <p:nvSpPr>
          <p:cNvPr id="19" name="Text 16"/>
          <p:cNvSpPr txBox="1"/>
          <p:nvPr/>
        </p:nvSpPr>
        <p:spPr>
          <a:xfrm>
            <a:off x="6163056" y="1024128"/>
            <a:ext cx="2505456" cy="274320"/>
          </a:xfrm>
          <a:prstGeom prst="rect">
            <a:avLst/>
          </a:prstGeom>
          <a:noFill/>
          <a:ln/>
        </p:spPr>
        <p:txBody>
          <a:bodyPr wrap="square" lIns="0" tIns="0" rIns="0" bIns="0" rtlCol="0" anchor="ctr"/>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後期（4〜5年目）</a:t>
            </a:r>
            <a:endParaRPr lang="en-US" sz="1050" dirty="0"/>
          </a:p>
        </p:txBody>
      </p:sp>
      <p:sp>
        <p:nvSpPr>
          <p:cNvPr id="20" name="Text 17"/>
          <p:cNvSpPr txBox="1"/>
          <p:nvPr/>
        </p:nvSpPr>
        <p:spPr>
          <a:xfrm>
            <a:off x="6163056" y="135331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大手SIer・ロボットベンダーの参入</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蓄積した判断記録が障壁。機能は模倣可能、現場の履歴は移設不能</a:t>
            </a:r>
            <a:endParaRPr lang="en-US" sz="1400" dirty="0"/>
          </a:p>
        </p:txBody>
      </p:sp>
      <p:sp>
        <p:nvSpPr>
          <p:cNvPr id="21" name="Text 18"/>
          <p:cNvSpPr txBox="1"/>
          <p:nvPr/>
        </p:nvSpPr>
        <p:spPr>
          <a:xfrm>
            <a:off x="6163056" y="185623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顧客の内製化</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囲い込まない方針のもと、基盤の維持と標準化で課金</a:t>
            </a:r>
            <a:endParaRPr lang="en-US" sz="1400" dirty="0"/>
          </a:p>
        </p:txBody>
      </p:sp>
      <p:sp>
        <p:nvSpPr>
          <p:cNvPr id="22" name="Text 19"/>
          <p:cNvSpPr txBox="1"/>
          <p:nvPr/>
        </p:nvSpPr>
        <p:spPr>
          <a:xfrm>
            <a:off x="6163056" y="235915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属人経営からの脱却</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BSCでCSF・KPIを明文化し、判断を権限委譲</a:t>
            </a:r>
            <a:endParaRPr lang="en-US" sz="1400" dirty="0"/>
          </a:p>
        </p:txBody>
      </p:sp>
      <p:sp>
        <p:nvSpPr>
          <p:cNvPr id="23" name="Text 20"/>
          <p:cNvSpPr txBox="1"/>
          <p:nvPr/>
        </p:nvSpPr>
        <p:spPr>
          <a:xfrm>
            <a:off x="365760" y="2944368"/>
            <a:ext cx="914400" cy="51206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BSC</a:t>
            </a:r>
            <a:endParaRPr lang="en-US" sz="14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CSF・KPI</a:t>
            </a:r>
            <a:endParaRPr lang="en-US" sz="1400" dirty="0"/>
          </a:p>
        </p:txBody>
      </p:sp>
      <p:sp>
        <p:nvSpPr>
          <p:cNvPr id="24" name="bsc-0"/>
          <p:cNvSpPr/>
          <p:nvPr/>
        </p:nvSpPr>
        <p:spPr>
          <a:xfrm>
            <a:off x="1316736" y="2944368"/>
            <a:ext cx="1801368" cy="512064"/>
          </a:xfrm>
          <a:prstGeom prst="rect">
            <a:avLst/>
          </a:prstGeom>
          <a:solidFill>
            <a:srgbClr val="F2F2F2"/>
          </a:solidFill>
          <a:ln/>
        </p:spPr>
      </p:sp>
      <p:sp>
        <p:nvSpPr>
          <p:cNvPr id="25" name="Text 22"/>
          <p:cNvSpPr txBox="1"/>
          <p:nvPr/>
        </p:nvSpPr>
        <p:spPr>
          <a:xfrm>
            <a:off x="1408176" y="2980944"/>
            <a:ext cx="1618488" cy="43891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財務</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1人あたり顧客拠点 2.8以上</a:t>
            </a:r>
            <a:endParaRPr lang="en-US" sz="1400" dirty="0"/>
          </a:p>
        </p:txBody>
      </p:sp>
      <p:sp>
        <p:nvSpPr>
          <p:cNvPr id="26" name="bsc-1"/>
          <p:cNvSpPr/>
          <p:nvPr/>
        </p:nvSpPr>
        <p:spPr>
          <a:xfrm>
            <a:off x="3191256" y="2944368"/>
            <a:ext cx="1801368" cy="512064"/>
          </a:xfrm>
          <a:prstGeom prst="rect">
            <a:avLst/>
          </a:prstGeom>
          <a:solidFill>
            <a:srgbClr val="F2F2F2"/>
          </a:solidFill>
          <a:ln/>
        </p:spPr>
      </p:sp>
      <p:sp>
        <p:nvSpPr>
          <p:cNvPr id="27" name="Text 24"/>
          <p:cNvSpPr txBox="1"/>
          <p:nvPr/>
        </p:nvSpPr>
        <p:spPr>
          <a:xfrm>
            <a:off x="3282696" y="2980944"/>
            <a:ext cx="1618488" cy="43891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顧客</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初年度費用の回収 約2.1か月</a:t>
            </a:r>
            <a:endParaRPr lang="en-US" sz="1400" dirty="0"/>
          </a:p>
        </p:txBody>
      </p:sp>
      <p:sp>
        <p:nvSpPr>
          <p:cNvPr id="28" name="bsc-2"/>
          <p:cNvSpPr/>
          <p:nvPr/>
        </p:nvSpPr>
        <p:spPr>
          <a:xfrm>
            <a:off x="5065776" y="2944368"/>
            <a:ext cx="1801368" cy="512064"/>
          </a:xfrm>
          <a:prstGeom prst="rect">
            <a:avLst/>
          </a:prstGeom>
          <a:solidFill>
            <a:srgbClr val="F2F2F2"/>
          </a:solidFill>
          <a:ln/>
        </p:spPr>
      </p:sp>
      <p:sp>
        <p:nvSpPr>
          <p:cNvPr id="29" name="Text 26"/>
          <p:cNvSpPr txBox="1"/>
          <p:nvPr/>
        </p:nvSpPr>
        <p:spPr>
          <a:xfrm>
            <a:off x="5157216" y="2980944"/>
            <a:ext cx="1618488" cy="43891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業務プロセス</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導入2か月／共通機能8割</a:t>
            </a:r>
            <a:endParaRPr lang="en-US" sz="1400" dirty="0"/>
          </a:p>
        </p:txBody>
      </p:sp>
      <p:sp>
        <p:nvSpPr>
          <p:cNvPr id="30" name="bsc-3"/>
          <p:cNvSpPr/>
          <p:nvPr/>
        </p:nvSpPr>
        <p:spPr>
          <a:xfrm>
            <a:off x="6940296" y="2944368"/>
            <a:ext cx="1801368" cy="512064"/>
          </a:xfrm>
          <a:prstGeom prst="rect">
            <a:avLst/>
          </a:prstGeom>
          <a:solidFill>
            <a:srgbClr val="F2F2F2"/>
          </a:solidFill>
          <a:ln/>
        </p:spPr>
      </p:sp>
      <p:sp>
        <p:nvSpPr>
          <p:cNvPr id="31" name="Text 28"/>
          <p:cNvSpPr txBox="1"/>
          <p:nvPr/>
        </p:nvSpPr>
        <p:spPr>
          <a:xfrm>
            <a:off x="7031736" y="2980944"/>
            <a:ext cx="1618488" cy="43891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学習と成長</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創業者1か月不在で事業継続</a:t>
            </a:r>
            <a:endParaRPr lang="en-US" sz="1400" dirty="0"/>
          </a:p>
        </p:txBody>
      </p:sp>
      <p:sp>
        <p:nvSpPr>
          <p:cNvPr id="32" name="closing"/>
          <p:cNvSpPr/>
          <p:nvPr/>
        </p:nvSpPr>
        <p:spPr>
          <a:xfrm>
            <a:off x="365760" y="3566160"/>
            <a:ext cx="8412480" cy="1188720"/>
          </a:xfrm>
          <a:prstGeom prst="rect">
            <a:avLst/>
          </a:prstGeom>
          <a:solidFill>
            <a:srgbClr val="1A1A1A"/>
          </a:solidFill>
          <a:ln/>
        </p:spPr>
      </p:sp>
      <p:sp>
        <p:nvSpPr>
          <p:cNvPr id="33" name="Text 30"/>
          <p:cNvSpPr txBox="1"/>
          <p:nvPr/>
        </p:nvSpPr>
        <p:spPr>
          <a:xfrm>
            <a:off x="548640" y="3657600"/>
            <a:ext cx="8046720" cy="329184"/>
          </a:xfrm>
          <a:prstGeom prst="rect">
            <a:avLst/>
          </a:prstGeom>
          <a:noFill/>
          <a:ln/>
        </p:spPr>
        <p:txBody>
          <a:bodyPr wrap="square" lIns="0" tIns="0" rIns="0" bIns="0" rtlCol="0" anchor="t"/>
          <a:lstStyle/>
          <a:p>
            <a:pPr algn="l" indent="0" marL="0">
              <a:lnSpc>
                <a:spcPct val="115000"/>
              </a:lnSpc>
              <a:buNone/>
            </a:pPr>
            <a:r>
              <a:rPr lang="en-US" sz="1400" b="1" dirty="0">
                <a:solidFill>
                  <a:srgbClr val="FFFFFF"/>
                </a:solidFill>
                <a:latin typeface="Meiryo" pitchFamily="34" charset="0"/>
                <a:ea typeface="Meiryo" pitchFamily="34" charset="-122"/>
                <a:cs typeface="Meiryo" pitchFamily="34" charset="-120"/>
              </a:rPr>
              <a:t>この事業計画の三つの柱は、すべて現在の勤務先の中にも存在する</a:t>
            </a:r>
            <a:endParaRPr lang="en-US" sz="1400" dirty="0"/>
          </a:p>
        </p:txBody>
      </p:sp>
      <p:sp>
        <p:nvSpPr>
          <p:cNvPr id="34" name="Text 31"/>
          <p:cNvSpPr txBox="1"/>
          <p:nvPr/>
        </p:nvSpPr>
        <p:spPr>
          <a:xfrm>
            <a:off x="548640" y="4041648"/>
            <a:ext cx="8046720" cy="658368"/>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FFFFFF"/>
                </a:solidFill>
                <a:latin typeface="Meiryo" pitchFamily="34" charset="0"/>
                <a:ea typeface="Meiryo" pitchFamily="34" charset="-122"/>
                <a:cs typeface="Meiryo" pitchFamily="34" charset="-120"/>
              </a:rPr>
              <a:t>顧客＝社内の工場（生産技術・製造部門）　／　商品＝製造記録のデータ化と技能継承　／　収益＝間接工数の削減と品質不良の防止</a:t>
            </a:r>
            <a:endParaRPr lang="en-US" sz="1000" dirty="0"/>
          </a:p>
          <a:p>
            <a:pPr algn="l" indent="0" marL="0">
              <a:lnSpc>
                <a:spcPct val="115000"/>
              </a:lnSpc>
              <a:spcAft>
                <a:spcPts val="500"/>
              </a:spcAft>
              <a:buNone/>
            </a:pPr>
            <a:r>
              <a:rPr lang="en-US" sz="1000" dirty="0">
                <a:solidFill>
                  <a:srgbClr val="FFFFFF"/>
                </a:solidFill>
                <a:latin typeface="Meiryo" pitchFamily="34" charset="0"/>
                <a:ea typeface="Meiryo" pitchFamily="34" charset="-122"/>
                <a:cs typeface="Meiryo" pitchFamily="34" charset="-120"/>
              </a:rPr>
              <a:t>復職後は生産技術・情報システムの領域でこの役割を担いたい。役割を定義しきることが、抱え込まないための再発防止策でもある。</a:t>
            </a:r>
            <a:endParaRPr lang="en-US" sz="10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株式会社三現ワークス 事業構想</dc:title>
  <dc:subject>PptxGenJS Presentation</dc:subject>
  <dc:creator>PptxGenJS</dc:creator>
  <cp:lastModifiedBy>PptxGenJS</cp:lastModifiedBy>
  <cp:revision>1</cp:revision>
  <dcterms:created xsi:type="dcterms:W3CDTF">2026-10-08T11:36:03Z</dcterms:created>
  <dcterms:modified xsi:type="dcterms:W3CDTF">2026-10-08T11:36:03Z</dcterms:modified>
</cp:coreProperties>
</file>