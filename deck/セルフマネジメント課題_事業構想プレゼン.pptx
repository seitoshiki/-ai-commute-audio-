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浮いた工数の累計</c:v>
                </c:pt>
              </c:strCache>
            </c:strRef>
          </c:tx>
          <c:spPr>
            <a:solidFill>
              <a:srgbClr val="1A1A1A"/>
            </a:solidFill>
            <a:ln w="381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240</c:v>
                </c:pt>
                <c:pt idx="2">
                  <c:v>480</c:v>
                </c:pt>
                <c:pt idx="3">
                  <c:v>720</c:v>
                </c:pt>
                <c:pt idx="4">
                  <c:v>960</c:v>
                </c:pt>
                <c:pt idx="5">
                  <c:v>1200</c:v>
                </c:pt>
                <c:pt idx="6">
                  <c:v>1440</c:v>
                </c:pt>
                <c:pt idx="7">
                  <c:v>1680</c:v>
                </c:pt>
                <c:pt idx="8">
                  <c:v>1920</c:v>
                </c:pt>
                <c:pt idx="9">
                  <c:v>2160</c:v>
                </c:pt>
                <c:pt idx="10">
                  <c:v>2400</c:v>
                </c:pt>
                <c:pt idx="11">
                  <c:v>2640</c:v>
                </c:pt>
                <c:pt idx="12">
                  <c:v>2880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初年度費用</c:v>
                </c:pt>
              </c:strCache>
            </c:strRef>
          </c:tx>
          <c:spPr>
            <a:solidFill>
              <a:srgbClr val="8C8C8C"/>
            </a:solidFill>
            <a:ln w="2540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500</c:v>
                </c:pt>
                <c:pt idx="1">
                  <c:v>500</c:v>
                </c:pt>
                <c:pt idx="2">
                  <c:v>500</c:v>
                </c:pt>
                <c:pt idx="3">
                  <c:v>500</c:v>
                </c:pt>
                <c:pt idx="4">
                  <c:v>500</c:v>
                </c:pt>
                <c:pt idx="5">
                  <c:v>500</c:v>
                </c:pt>
                <c:pt idx="6">
                  <c:v>500</c:v>
                </c:pt>
                <c:pt idx="7">
                  <c:v>500</c:v>
                </c:pt>
                <c:pt idx="8">
                  <c:v>500</c:v>
                </c:pt>
                <c:pt idx="9">
                  <c:v>500</c:v>
                </c:pt>
                <c:pt idx="10">
                  <c:v>500</c:v>
                </c:pt>
                <c:pt idx="11">
                  <c:v>500</c:v>
                </c:pt>
                <c:pt idx="12">
                  <c:v>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1A1A1A"/>
            </a:solidFill>
            <a:ln w="444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48</c:v>
                </c:pt>
                <c:pt idx="2">
                  <c:v>110</c:v>
                </c:pt>
                <c:pt idx="3">
                  <c:v>190</c:v>
                </c:pt>
                <c:pt idx="4">
                  <c:v>290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4D4D4D"/>
            </a:solidFill>
            <a:ln w="25400" cap="flat">
              <a:solidFill>
                <a:srgbClr val="4D4D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4D4D4D"/>
              </a:solidFill>
              <a:ln w="9525" cap="flat">
                <a:solidFill>
                  <a:srgbClr val="4D4D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-32</c:v>
                </c:pt>
                <c:pt idx="1">
                  <c:v>-27</c:v>
                </c:pt>
                <c:pt idx="2">
                  <c:v>-6</c:v>
                </c:pt>
                <c:pt idx="3">
                  <c:v>28</c:v>
                </c:pt>
                <c:pt idx="4">
                  <c:v>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累積営業損益</c:v>
                </c:pt>
              </c:strCache>
            </c:strRef>
          </c:tx>
          <c:spPr>
            <a:solidFill>
              <a:srgbClr val="8C8C8C"/>
            </a:solidFill>
            <a:ln w="2540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-32</c:v>
                </c:pt>
                <c:pt idx="1">
                  <c:v>-59</c:v>
                </c:pt>
                <c:pt idx="2">
                  <c:v>-65</c:v>
                </c:pt>
                <c:pt idx="3">
                  <c:v>-37</c:v>
                </c:pt>
                <c:pt idx="4">
                  <c:v>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10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顧客拠点／社員</c:v>
                </c:pt>
              </c:strCache>
            </c:strRef>
          </c:tx>
          <c:spPr>
            <a:solidFill>
              <a:srgbClr val="1A1A1A"/>
            </a:solidFill>
            <a:ln w="381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</c:v>
                </c:pt>
                <c:pt idx="1">
                  <c:v>1.71</c:v>
                </c:pt>
                <c:pt idx="2">
                  <c:v>2.73</c:v>
                </c:pt>
                <c:pt idx="3">
                  <c:v>3.67</c:v>
                </c:pt>
                <c:pt idx="4">
                  <c:v>4.25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損益分岐</c:v>
                </c:pt>
              </c:strCache>
            </c:strRef>
          </c:tx>
          <c:spPr>
            <a:solidFill>
              <a:srgbClr val="8C8C8C"/>
            </a:solidFill>
            <a:ln w="19050" cap="flat">
              <a:solidFill>
                <a:srgbClr val="8C8C8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2.8</c:v>
                </c:pt>
                <c:pt idx="1">
                  <c:v>2.8</c:v>
                </c:pt>
                <c:pt idx="2">
                  <c:v>2.8</c:v>
                </c:pt>
                <c:pt idx="3">
                  <c:v>2.8</c:v>
                </c:pt>
                <c:pt idx="4">
                  <c:v>2.8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+mn-lt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【0:00 - 0:50】
要約：人が減っても現場が迷わず回る仕組みをつくり、日本の品質を支える現場の勘を遺産として残す（設問③）
株式会社カンツギの事業構想を発表します。カンツギは「勘を継ぐ」。金継ぎのように、途切れそうな現場の勘をデータで継ぎます。メイド・イン・ジャパンの品質を支えてきたのは、現場の熟練者の勘です。その勘は、記録に残らないまま、退職とともに失われつつあります。この会社の存在意義は「現場の勘を、次の担い手へ。」です。使命は、熟練者の勘を言葉にし、教材と仕組みで次の人へ渡すこと。5年後には85の拠点で、勘どころが教材として残っている状態を目指します。今年7月に閣議決定された国の人工知能基本計画も、暗黙知が豊富な現場へのAIの実装を推進すると明記しています。この会社は、その現場の側に立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【0:50 - 2:00】
要約：デジタル化は進んだのに、技能継承は人頼みのまま
まず、解きたい課題です。たとえば押出ラインで外径が振れたとき、熟練者は音や湿度を見て温度を少し下げて立て直します。この判断は手順書に書かれていません。国の調査を見ると、製造業で業務改善にデジタル技術を使っている企業は77.2%にのぼります。ところが、その効果として技能継承が円滑になった企業は8.7%しかありません。デジタル化は進んだのに、技能継承にはほとんど効いていないのです。実際、技能継承の取り組みで最も多いのは、再雇用や勤務延長でベテランに居続けてもらうことで、54.8%です。継承は、いまも人に頼ったままです。さらに製造業の62.8%が、指導する人材が足りないと答えています。私は施工管理として製品が使われる現場を見てきました。そして、仕組みを自分で作れます。だからこの課題に取り組み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【2:00 - 3:30】
要約：一人称の作業データを撮り続け、報告を自動にし、人とAIの教材にする
設問①、解決策です。目指すのは、引退した熟練者が隣で教えてくれるような現場です。道具はスマートグラスやヘルメットカメラです。作業者の一人称の動画と会話を、常に撮り続けます。記録のために写真を撮ったり、入力したりする必要はありません。生成AIが映像と会話から、条件・処置・理由を取り出し、ロットや設備のデータ、図面と紐づけます。使い道は三つです。若手には、図面や作業手順を現物に重ねて、違いを知らせます。管理者には、報告書の手順に沿って写真を抜き出し、当日の作業報告書を自動で作ります。現場代理人が立会に行けなくても、遠隔で確認できます。そして後からは、勘どころを教材にして当社が届けます。これを3段階で進めます。まず記録と報告の自動化、次に図面との照合と品質管理、手順ごとの解説動画の自動生成。最後に、蓄積した一人称の動画で作業そのものをAIに学ばせ、ロボットに渡すフィジカルAIへ進みます。ここで大事なのは、記録することと理解することは違う、という点です。映像のどの場面が重要かを見分けられるのは、現場を知る人です。当社は、現場経験者が映像に意味を付け、人のレビューで学習を回し続ける仕組みを作ります。常時収録は、作業時間と作業エリアに限り、本人の同意のもとで行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【3:30 - 4:40】
要約：顧客は1拠点あたり年300万円を払い、約2か月で元を取る
次に、お金の流れです。お客様の工場1拠点が毎年払うのは、アプリと基盤の利用料100万円、記録するラインの数に応じた登録料100万円、そして教材制作や危険表示など選んだ機能の料金100万円、合わせて年300万円です。初年度だけ、当社の担当者が現場に入る導入支援200万円が加わり、500万円になります。お客様から見ると、右のグラフのとおり、対象者100名の拠点で毎月240万円分の工数が浮き、約2.1か月で500万円を上回ります。浮く工数の中心は、日報や進捗報告といった書類作業で、グラスの自動報告で置き換わる部分です。月6時間という値は、建設業の書類電子化の実績を当てはめた仮定です。当社から見ると、利用料は粗利率85%で毎年積み上がり、導入支援は粗利率40%で一度きりです。なお、スマートグラス端末の費用はこの試算に含め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【4:40 - 5:50】
要約：「貯める」会社は現れた。当社は「渡す」で分かれる
最初に自分で自分に突きつけた問いが三つありました。コンサルと何が違うのか、同じことをしている会社はないのか、大手が降りてきたらどうするのか、です。調べると、判断の理由を扱う会社はすでに現れています。東大発のAirionは、ベテランとAIの対話で知識を構造化します。キャディのCADDiは、設計意図や判断履歴をデータ化しています。スマートグラスで手順を表示するAR作業支援も各社にあります。正直に言えば、それぞれの部品は他社にもあります。分かれるのは組み合わせと対象です。連続工程の現場で、会話から自動で貯め、現物に重ねてその場で渡し、さらに教材にまでする会社はまだありません。CADDiの対象は組立の製造業で、扱うのは図面とBOMです。電線のような連続工程の現場処置は、図面には現れません。最大の脅威は、CADDiが連続工程に降りてくることです。防御線は、図面に現れない現場処置の蓄積と、現場で監修できる人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【5:50 - 6:50】
要約：顧客数は、導入担当の人数で決まる
設問②、組織と採用です。先ほどの導入支援は人の作業なので、顧客を増やせる速さは導入担当の人数で決まります。1拠点に約2か月かかり、並行は2拠点までなので、1名あたり年6拠点が上限です。計画はその6割から8割に置き、1年目は製品が未完成のため3拠点に限定します。累計の顧客拠点は5年目に85、社員は4名から20名とします。採用は、製造や施工の現場経験者にITを教える経路を軸にし、製造知見の不足を補うため、生産技術の経験者を初期メンバーに迎えます。私は代表取締役CEOとして、現場の読み解き方を型にして渡す役割に絞り、技術の責任者は兼任し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【6:50 - 8:30】
要約：3年目の谷を1.5億円で越え、4年目に黒字化する
設問④、経営計画です。グラフの横軸が年、縦軸が金額です。売上高は1年目1,200万円から、5年目に2億9,000万円まで伸びます。営業利益は3年目まで赤字で、4年目に2,800万円の黒字に転じます。点線の累積営業損益は、3年目に6,500万円の赤字で底を打ちます。この谷を越えるための資金が1.5億円で、谷の0.65億円、運転資金0.29億円、1年遅れた場合の備え0.56億円を積み上げた額です。調達先には、電線メーカーやロボットメーカーのコーポレートベンチャーキャピタルを想定しています。資金と一緒に、実証の現場と販路を得られるためです。なぜ4年目なのか。右のグラフのとおり、社員1人あたりの顧客拠点が2.8を超えると黒字になります。3年目は2.73で届かず、4年目に3.67で超えます。積み上がる利用料が、人件費を追い越す年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【8:30 - 9:50】
要約：最大のリスクは自分。判断基準を先に決めておく
設問⑤、経営課題です。最大のリスクは競合ではなく、創業者である自分がボトルネックになることです。準備期は、試験導入を3拠点に限定し、生産技術の経験者を迎えます。中期は、電線業界が353事業所と小さいため、製品の出口である施工会社へ同じ基盤を広げます。後期は、大手のデータ基盤が連続工程に降りてくることへの備えと、私がいなくても判断できる会社にすることです。そのための仕組みが下段のバランスト・スコアカードで、四つの指標を先に決めておきます。最後に、この事業の顧客・商品・収益は、すべて現在の勤務先の中にも存在します。だから復職後は、生産技術と情報システムの領域で、現場と技術のあいだを訳す役割を担いたいと考えています。そして、自らの役割を定義しきること自体が、業務を際限なく抱え込まないための再発防止策でもあります。以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201168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0" y="4846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ver-panel"/>
          <p:cNvSpPr/>
          <p:nvPr/>
        </p:nvSpPr>
        <p:spPr>
          <a:xfrm>
            <a:off x="0" y="0"/>
            <a:ext cx="3044952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2514600" cy="6035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20040" y="19659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PURPOSE　存在意義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320040" y="2194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次の担い手へ。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320040" y="2971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日本の品質を支える現場の勘を、人に依存しない遺産として残す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32004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株式会社カンツギ（事業構想）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20040" y="3813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勘継＝金継ぎのように現場の勘を継ぐ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4572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リワーク実習　セルフマネジメント課題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777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人が減っても、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現場が迷わず回る仕組みをつくる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007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設問③　経営理念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429000" y="1956816"/>
            <a:ext cx="5074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29000" y="19842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MISSION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使命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389120" y="19568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熟練者の勘を言語化し、教材と仕組みで次の人へ渡す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29000" y="2414016"/>
            <a:ext cx="5074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429000" y="24414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VISION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5年後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389120" y="24140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85拠点で、勘どころが教材として残っている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429000" y="2871216"/>
            <a:ext cx="5074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429000" y="2898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VALUES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行動指針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4389120" y="28712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現場に立つ／現物に触れる／現実で判断する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429000" y="3328416"/>
            <a:ext cx="50749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3" name="policy-quote"/>
          <p:cNvSpPr/>
          <p:nvPr/>
        </p:nvSpPr>
        <p:spPr>
          <a:xfrm>
            <a:off x="3429000" y="3456432"/>
            <a:ext cx="5074920" cy="6583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538728" y="3456432"/>
            <a:ext cx="4855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「暗黙知が豊富な現場へのバーティカルAIの開発・実装を推進し、輸出も促進する」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 内閣府「人工知能基本計画 ～日本AX、より強く、より豊かに～」（令和8年7月14日 閣議決定）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3429000" y="42519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発表時間：10分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設問①　課題 ─ デジタル化は進んだのに、技能継承は人頼みのまま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技能継承の主流は「ベテランに居続けてもらう」。デジタル活用で継承が円滑になった企業は8.7%</a:t>
            </a:r>
            <a:endParaRPr lang="en-US" sz="1200" dirty="0"/>
          </a:p>
        </p:txBody>
      </p:sp>
      <p:sp>
        <p:nvSpPr>
          <p:cNvPr id="5" name="example"/>
          <p:cNvSpPr/>
          <p:nvPr/>
        </p:nvSpPr>
        <p:spPr>
          <a:xfrm>
            <a:off x="365760" y="1051560"/>
            <a:ext cx="4206240" cy="11155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24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例：電線の押出ラインで外径が振れたとき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音と湿度を見て、押出温度を少し下げて立て直す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この判断は書かれていない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退職後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若手は原因が分からず、ラインを止めて不良を出す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423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なぜ自分が取り組むのか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6974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現場を知っている：</a:t>
            </a:r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66kV／275kV 地中送電線の施工管理5年。製品が使われる現場の不具合と試験値を実地で把握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仕組みを作れる：</a:t>
            </a:r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Python・FastAPI・Docker・LangChain・RAG を独学し業務に実装。音声の自動配信も個人で構築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資格：</a:t>
            </a:r>
            <a:pPr algn="l"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1級電気工事施工管理技士・G検定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051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デジタル化と技能継承のギャップ（製造業）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3624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業務改善にデジタル技術を活用している企業 (1)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46320" y="1581912"/>
            <a:ext cx="329184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bar-0"/>
          <p:cNvSpPr/>
          <p:nvPr/>
        </p:nvSpPr>
        <p:spPr>
          <a:xfrm>
            <a:off x="4846320" y="1581912"/>
            <a:ext cx="25413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42484" y="156362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77.2%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1984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その効果として、技能継承が円滑になった企業 (2)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46320" y="2203704"/>
            <a:ext cx="3291840" cy="274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bar-1"/>
          <p:cNvSpPr/>
          <p:nvPr/>
        </p:nvSpPr>
        <p:spPr>
          <a:xfrm>
            <a:off x="4846320" y="2203704"/>
            <a:ext cx="286390" cy="2743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187574" y="21854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8.7%</a:t>
            </a:r>
            <a:endParaRPr lang="en-US" sz="1400" dirty="0"/>
          </a:p>
        </p:txBody>
      </p:sp>
      <p:sp>
        <p:nvSpPr>
          <p:cNvPr id="19" name="stat-0"/>
          <p:cNvSpPr/>
          <p:nvPr/>
        </p:nvSpPr>
        <p:spPr>
          <a:xfrm>
            <a:off x="4800600" y="2715768"/>
            <a:ext cx="19431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0328" y="2807208"/>
            <a:ext cx="1723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54.8%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910328" y="3264408"/>
            <a:ext cx="1723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技能継承の取組で最も多いのは「再雇用・勤務延長でベテランに居続けてもらう」(3)</a:t>
            </a:r>
            <a:endParaRPr lang="en-US" sz="900" dirty="0"/>
          </a:p>
        </p:txBody>
      </p:sp>
      <p:sp>
        <p:nvSpPr>
          <p:cNvPr id="22" name="stat-1"/>
          <p:cNvSpPr/>
          <p:nvPr/>
        </p:nvSpPr>
        <p:spPr>
          <a:xfrm>
            <a:off x="6835140" y="2715768"/>
            <a:ext cx="19431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4868" y="2807208"/>
            <a:ext cx="17236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62.8%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944868" y="3264408"/>
            <a:ext cx="17236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製造業の育成上の問題「指導する人材が不足」。「育成する時間がない」も45.4% (3)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労働政策研究・研修機構 調査シリーズNo.267（2026年4月）　(2) 同 No.265（2026年3月）　(3) 経済産業省・厚生労働省・文部科学省「2026年版 ものづくり白書」（令和8年5月）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設問①　解決策 ─ 引退した熟練者が、隣で教えてくれる現場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一人称の動画と会話を撮り続け、報告は自動に。データは人の教材になり、やがてフィジカルAIの先生になる</a:t>
            </a:r>
            <a:endParaRPr lang="en-US" sz="1200" dirty="0"/>
          </a:p>
        </p:txBody>
      </p:sp>
      <p:sp>
        <p:nvSpPr>
          <p:cNvPr id="5" name="step-1"/>
          <p:cNvSpPr/>
          <p:nvPr/>
        </p:nvSpPr>
        <p:spPr>
          <a:xfrm>
            <a:off x="365760" y="1005840"/>
            <a:ext cx="257860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2578608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75488" y="10058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自動で記録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グラス・カメラ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1335024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作業者の一人称動画と会話を常時収録。記録のための撮影や入力は不要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75488" y="196596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市販の端末。構造化を現場に求めない (1)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944368" y="1490472"/>
            <a:ext cx="338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tep-2"/>
          <p:cNvSpPr/>
          <p:nvPr/>
        </p:nvSpPr>
        <p:spPr>
          <a:xfrm>
            <a:off x="3282696" y="1005840"/>
            <a:ext cx="257860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82696" y="1005840"/>
            <a:ext cx="2578608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92424" y="10058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整理する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生成AI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92424" y="1335024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映像と会話から「条件・処置・理由」を取り出し、ロット・設備データ・図面と紐づける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392424" y="196596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生成AI＋現場データ基盤（クラウド）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861304" y="1490472"/>
            <a:ext cx="338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tep-3"/>
          <p:cNvSpPr/>
          <p:nvPr/>
        </p:nvSpPr>
        <p:spPr>
          <a:xfrm>
            <a:off x="6199632" y="1005840"/>
            <a:ext cx="2578608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9632" y="1005840"/>
            <a:ext cx="2578608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09360" y="10058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渡す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若手・管理者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1335024"/>
            <a:ext cx="2359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若手へ：図面・手順を現物に重ね、差異を表示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管理者へ：写真を抽出し、報告書を自動作成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後から：教材を当社が制作 (2)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196596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道具：</a:t>
            </a:r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グラス表示・自動報告・当社の監修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23957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3段階で進化する（製品戦略：記録と報告から始め、フィジカルAIへ）</a:t>
            </a:r>
            <a:endParaRPr lang="en-US" sz="950" dirty="0"/>
          </a:p>
        </p:txBody>
      </p:sp>
      <p:sp>
        <p:nvSpPr>
          <p:cNvPr id="23" name="stage-1"/>
          <p:cNvSpPr/>
          <p:nvPr/>
        </p:nvSpPr>
        <p:spPr>
          <a:xfrm>
            <a:off x="365760" y="2651760"/>
            <a:ext cx="146304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5760" y="2651760"/>
            <a:ext cx="1463040" cy="4023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38912" y="267004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段階1　1〜2年目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記録と報告を自動に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38912" y="3108960"/>
            <a:ext cx="1316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・一人称動画と会話を常時収録。写真撮影は不要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・報告書の手順に沿って写真を抽出し、日報を自動作成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・立会できなくても遠隔で確認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" y="415137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基盤・KNACK（教材）</a:t>
            </a:r>
            <a:endParaRPr lang="en-US" sz="800" dirty="0"/>
          </a:p>
        </p:txBody>
      </p:sp>
      <p:sp>
        <p:nvSpPr>
          <p:cNvPr id="28" name="stage-2"/>
          <p:cNvSpPr/>
          <p:nvPr/>
        </p:nvSpPr>
        <p:spPr>
          <a:xfrm>
            <a:off x="1920240" y="2651760"/>
            <a:ext cx="146304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20240" y="2651760"/>
            <a:ext cx="1463040" cy="4023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993392" y="267004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段階2　3〜4年目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照合して品質を守る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993392" y="3108960"/>
            <a:ext cx="1316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・図面・手順と現物を照合し差異を検出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・手順ミスを履歴で後追い確認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・手順ごとの解説動画をAIが生成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1993392" y="415137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SAFE・GLASS・TWIN・DRAW</a:t>
            </a:r>
            <a:endParaRPr lang="en-US" sz="800" dirty="0"/>
          </a:p>
        </p:txBody>
      </p:sp>
      <p:sp>
        <p:nvSpPr>
          <p:cNvPr id="33" name="stage-3"/>
          <p:cNvSpPr/>
          <p:nvPr/>
        </p:nvSpPr>
        <p:spPr>
          <a:xfrm>
            <a:off x="3474720" y="2651760"/>
            <a:ext cx="1463040" cy="184708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74720" y="2651760"/>
            <a:ext cx="1463040" cy="4023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547872" y="267004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段階3　5年目〜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作業をAIが学ぶ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3547872" y="3108960"/>
            <a:ext cx="1316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・蓄積した一人称動画で作業をAIが学習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・学んだ手順をロボット・検査AIへ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・力加減は触覚シミュレーターで訓練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3547872" y="415137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HAPTIC・FLOW（R&amp;D）</a:t>
            </a:r>
            <a:endParaRPr lang="en-US" sz="800" dirty="0"/>
          </a:p>
        </p:txBody>
      </p:sp>
      <p:sp>
        <p:nvSpPr>
          <p:cNvPr id="38" name="rnd"/>
          <p:cNvSpPr/>
          <p:nvPr/>
        </p:nvSpPr>
        <p:spPr>
          <a:xfrm>
            <a:off x="5120640" y="2395728"/>
            <a:ext cx="3657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230368" y="244144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R&amp;D戦略：記録ではなく「理解」をつくる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230368" y="2688336"/>
            <a:ext cx="3438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記録と理解は違う。どの場面が重要かを見分けられるのは、現場を知る人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作らない：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映像・音声の記録とAI構造化は汎用技術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作る：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現場経験者が映像に意味（手順・重要場面）を付け、人のレビューで学習を回し続ける仕組み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組む：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グラス・ヘルメットカメラ・CAD・3Dはメーカー・大学と</a:t>
            </a:r>
            <a:endParaRPr lang="en-US" sz="850" dirty="0"/>
          </a:p>
        </p:txBody>
      </p:sp>
      <p:sp>
        <p:nvSpPr>
          <p:cNvPr id="41" name="onboarding"/>
          <p:cNvSpPr/>
          <p:nvPr/>
        </p:nvSpPr>
        <p:spPr>
          <a:xfrm>
            <a:off x="5120640" y="3858768"/>
            <a:ext cx="365760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230368" y="3858768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道具以外：導入支援（初年度・約2か月）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当社の担当者が現場に入り、聞き取り・帳票の移行・研修まで行う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365760" y="45171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内閣府「人工知能基本計画」（令和8年7月14日 閣議決定）「完全なデータの構造化をしない形での現場データの活用を推進する」　(2) 指導役不足59.5%・育成時間なし47.4%：厚生労働省「令和6年度 能力開発基本調査」（2025年6月公表）。常時収録は作業時間・作業エリアに限り、本人同意のもとで行う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収益の仕組み ─ 顧客は年300万円を払い、約2か月で元を取る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当社の収入は、毎年積み上がる利用料と、初年度だけの導入支援の二本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1拠点が払う金額（万円）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3807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</a:t>
            </a:r>
            <a:endParaRPr lang="en-US" sz="950" dirty="0"/>
          </a:p>
        </p:txBody>
      </p:sp>
      <p:sp>
        <p:nvSpPr>
          <p:cNvPr id="7" name="seg-基盤0"/>
          <p:cNvSpPr/>
          <p:nvPr/>
        </p:nvSpPr>
        <p:spPr>
          <a:xfrm>
            <a:off x="1143000" y="1380744"/>
            <a:ext cx="621792" cy="384048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3807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 100</a:t>
            </a:r>
            <a:endParaRPr lang="en-US" sz="850" dirty="0"/>
          </a:p>
        </p:txBody>
      </p:sp>
      <p:sp>
        <p:nvSpPr>
          <p:cNvPr id="9" name="seg-ライン登録0"/>
          <p:cNvSpPr/>
          <p:nvPr/>
        </p:nvSpPr>
        <p:spPr>
          <a:xfrm>
            <a:off x="1764792" y="1380744"/>
            <a:ext cx="621792" cy="384048"/>
          </a:xfrm>
          <a:prstGeom prst="rect">
            <a:avLst/>
          </a:prstGeom>
          <a:solidFill>
            <a:srgbClr val="4D4D4D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64792" y="13807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ライン登録 100</a:t>
            </a:r>
            <a:endParaRPr lang="en-US" sz="850" dirty="0"/>
          </a:p>
        </p:txBody>
      </p:sp>
      <p:sp>
        <p:nvSpPr>
          <p:cNvPr id="11" name="seg-追加機能0"/>
          <p:cNvSpPr/>
          <p:nvPr/>
        </p:nvSpPr>
        <p:spPr>
          <a:xfrm>
            <a:off x="2386584" y="1380744"/>
            <a:ext cx="621792" cy="384048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86584" y="1380744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 100</a:t>
            </a:r>
            <a:endParaRPr lang="en-US" sz="850" dirty="0"/>
          </a:p>
        </p:txBody>
      </p:sp>
      <p:sp>
        <p:nvSpPr>
          <p:cNvPr id="13" name="seg-導入支援0"/>
          <p:cNvSpPr/>
          <p:nvPr/>
        </p:nvSpPr>
        <p:spPr>
          <a:xfrm>
            <a:off x="3008376" y="1380744"/>
            <a:ext cx="124358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08376" y="138074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 200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288536" y="13807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1892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2年目以降</a:t>
            </a:r>
            <a:endParaRPr lang="en-US" sz="950" dirty="0"/>
          </a:p>
        </p:txBody>
      </p:sp>
      <p:sp>
        <p:nvSpPr>
          <p:cNvPr id="17" name="seg-基盤1"/>
          <p:cNvSpPr/>
          <p:nvPr/>
        </p:nvSpPr>
        <p:spPr>
          <a:xfrm>
            <a:off x="1143000" y="1892808"/>
            <a:ext cx="621792" cy="384048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18928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 100</a:t>
            </a:r>
            <a:endParaRPr lang="en-US" sz="850" dirty="0"/>
          </a:p>
        </p:txBody>
      </p:sp>
      <p:sp>
        <p:nvSpPr>
          <p:cNvPr id="19" name="seg-ライン登録1"/>
          <p:cNvSpPr/>
          <p:nvPr/>
        </p:nvSpPr>
        <p:spPr>
          <a:xfrm>
            <a:off x="1764792" y="1892808"/>
            <a:ext cx="621792" cy="384048"/>
          </a:xfrm>
          <a:prstGeom prst="rect">
            <a:avLst/>
          </a:prstGeom>
          <a:solidFill>
            <a:srgbClr val="4D4D4D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764792" y="18928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ライン登録 100</a:t>
            </a:r>
            <a:endParaRPr lang="en-US" sz="850" dirty="0"/>
          </a:p>
        </p:txBody>
      </p:sp>
      <p:sp>
        <p:nvSpPr>
          <p:cNvPr id="21" name="seg-追加機能1"/>
          <p:cNvSpPr/>
          <p:nvPr/>
        </p:nvSpPr>
        <p:spPr>
          <a:xfrm>
            <a:off x="2386584" y="1892808"/>
            <a:ext cx="621792" cy="384048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386584" y="1892808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 100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3044952" y="18928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2468880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5760" y="24871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100万円／年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737360" y="24688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アプリと現場データ基盤の利用料（1拠点）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2798064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" y="28163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ライン登録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20万円×5ライン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737360" y="279806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記録の対象にする生産ライン・工区の数に比例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3127248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5760" y="314553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50万円×2本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737360" y="312724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教材制作（KNACK）・危険表示（SAFE）など、選んだ数に比例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3456432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65760" y="34747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200万円（初年度のみ）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737360" y="34564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当社の担当者が約2か月、現場に入る作業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3785616"/>
            <a:ext cx="40690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65760" y="3895344"/>
            <a:ext cx="4069080" cy="4754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75488" y="3895344"/>
            <a:ext cx="3849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当社の利益：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利用料300万円は粗利率85%で毎年積み上がり、導入支援は粗利率40%で一度きり。顧客が増えるほど利用料が積み上がる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617720" y="105156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顧客から見た回収（対象者100名の拠点・万円）</a:t>
            </a:r>
            <a:endParaRPr lang="en-US" sz="1050" dirty="0"/>
          </a:p>
        </p:txBody>
      </p:sp>
      <p:graphicFrame>
        <p:nvGraphicFramePr>
          <p:cNvPr id="40" name="roi-chart" descr=""/>
          <p:cNvGraphicFramePr/>
          <p:nvPr/>
        </p:nvGraphicFramePr>
        <p:xfrm>
          <a:off x="4617720" y="1307592"/>
          <a:ext cx="4160520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1" name="Text 37"/>
          <p:cNvSpPr txBox="1"/>
          <p:nvPr/>
        </p:nvSpPr>
        <p:spPr>
          <a:xfrm>
            <a:off x="5577840" y="3154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約2.1か月で回収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7223760" y="3154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初年度費用 500万円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5212080" y="14173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浮いた工数の累計：12か月で2,880万円（5.8倍）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4617720" y="373989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横軸は経過月数。時間単価4,000円（780万円÷1,950h）×月6h×100名＝月240万円。月6hは日報・進捗報告などの書類作業の削減分で、建設業の書類電子化実績（月6.5h）を準用した仮定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 ─ 「貯める」会社は現れた。当社は「渡す」で分かれる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判断の理由を扱う会社は現れた。連続工程の現場で、現物に重ねて渡し、教材にまでする会社はまだない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ポジショニングマップ</a:t>
            </a:r>
            <a:endParaRPr lang="en-US" sz="1050" dirty="0"/>
          </a:p>
        </p:txBody>
      </p:sp>
      <p:sp>
        <p:nvSpPr>
          <p:cNvPr id="6" name="target-quadrant"/>
          <p:cNvSpPr/>
          <p:nvPr/>
        </p:nvSpPr>
        <p:spPr>
          <a:xfrm>
            <a:off x="2446020" y="1435608"/>
            <a:ext cx="180594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670048"/>
            <a:ext cx="3611880" cy="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46020" y="1435608"/>
            <a:ext cx="0" cy="2468880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531620" y="1216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仕組み（プロダクト）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531620" y="3941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人の時間（労働集約）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6974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実績・手順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26974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判断の理由 →</a:t>
            </a:r>
            <a:endParaRPr lang="en-US" sz="800" dirty="0"/>
          </a:p>
        </p:txBody>
      </p:sp>
      <p:sp>
        <p:nvSpPr>
          <p:cNvPr id="13" name="pos-MES・ERP"/>
          <p:cNvSpPr/>
          <p:nvPr/>
        </p:nvSpPr>
        <p:spPr>
          <a:xfrm>
            <a:off x="932688" y="1663294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06424" y="163129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MES・ERP</a:t>
            </a:r>
            <a:endParaRPr lang="en-US" sz="800" dirty="0"/>
          </a:p>
        </p:txBody>
      </p:sp>
      <p:sp>
        <p:nvSpPr>
          <p:cNvPr id="15" name="pos-tebiki・Teachme Biz（器）"/>
          <p:cNvSpPr/>
          <p:nvPr/>
        </p:nvSpPr>
        <p:spPr>
          <a:xfrm>
            <a:off x="860450" y="2157070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34186" y="212506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tebiki・Teachme Biz（器）</a:t>
            </a:r>
            <a:endParaRPr lang="en-US" sz="800" dirty="0"/>
          </a:p>
        </p:txBody>
      </p:sp>
      <p:sp>
        <p:nvSpPr>
          <p:cNvPr id="17" name="pos-AR作業支援"/>
          <p:cNvSpPr/>
          <p:nvPr/>
        </p:nvSpPr>
        <p:spPr>
          <a:xfrm>
            <a:off x="1799539" y="2428646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8483" y="239664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AR作業支援</a:t>
            </a:r>
            <a:endParaRPr lang="en-US" sz="800" dirty="0"/>
          </a:p>
        </p:txBody>
      </p:sp>
      <p:sp>
        <p:nvSpPr>
          <p:cNvPr id="19" name="pos-CADDi（組立・図面）"/>
          <p:cNvSpPr/>
          <p:nvPr/>
        </p:nvSpPr>
        <p:spPr>
          <a:xfrm>
            <a:off x="2666390" y="1613916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40126" y="15819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CADDi（組立・図面）</a:t>
            </a:r>
            <a:endParaRPr lang="en-US" sz="800" dirty="0"/>
          </a:p>
        </p:txBody>
      </p:sp>
      <p:sp>
        <p:nvSpPr>
          <p:cNvPr id="21" name="pos-Airion（貯めるまで）"/>
          <p:cNvSpPr/>
          <p:nvPr/>
        </p:nvSpPr>
        <p:spPr>
          <a:xfrm>
            <a:off x="3099816" y="2255825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73552" y="2223821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Airion（貯めるまで）</a:t>
            </a:r>
            <a:endParaRPr lang="en-US" sz="800" dirty="0"/>
          </a:p>
        </p:txBody>
      </p:sp>
      <p:sp>
        <p:nvSpPr>
          <p:cNvPr id="23" name="pos-カンツギ"/>
          <p:cNvSpPr/>
          <p:nvPr/>
        </p:nvSpPr>
        <p:spPr>
          <a:xfrm>
            <a:off x="3790188" y="1927555"/>
            <a:ext cx="201168" cy="201168"/>
          </a:xfrm>
          <a:prstGeom prst="ellipse">
            <a:avLst/>
          </a:prstGeom>
          <a:solidFill>
            <a:srgbClr val="1A1A1A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99132" y="1927555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カンツギ</a:t>
            </a:r>
            <a:endParaRPr lang="en-US" sz="1000" dirty="0"/>
          </a:p>
        </p:txBody>
      </p:sp>
      <p:sp>
        <p:nvSpPr>
          <p:cNvPr id="25" name="pos-三菱総研 匠AI"/>
          <p:cNvSpPr/>
          <p:nvPr/>
        </p:nvSpPr>
        <p:spPr>
          <a:xfrm>
            <a:off x="2810866" y="3095244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984602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三菱総研 匠AI</a:t>
            </a:r>
            <a:endParaRPr lang="en-US" sz="800" dirty="0"/>
          </a:p>
        </p:txBody>
      </p:sp>
      <p:sp>
        <p:nvSpPr>
          <p:cNvPr id="27" name="pos-社内の熟練者（属人）"/>
          <p:cNvSpPr/>
          <p:nvPr/>
        </p:nvSpPr>
        <p:spPr>
          <a:xfrm>
            <a:off x="3677717" y="3539642"/>
            <a:ext cx="137160" cy="1371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86661" y="350763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社内の熟練者（属人）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10515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貯める（記録・構造化）と、渡す（教材にして届ける）</a:t>
            </a:r>
            <a:endParaRPr lang="en-US" sz="1050" dirty="0"/>
          </a:p>
        </p:txBody>
      </p:sp>
      <p:graphicFrame>
        <p:nvGraphicFramePr>
          <p:cNvPr id="6" name="store-hando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25880"/>
          <a:ext cx="4251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  <a:gridCol w="8686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会社・サービス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貯める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渡す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Airion 技能継承くん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AI対話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 顧客任せ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キャディ CADDi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判断履歴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組立・図面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三菱総研 匠AI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コンサル型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個別案件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FRONTEO KIBIT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既存文書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tebiki／Teachme Biz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器のみ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AR作業支援（各社）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手順表示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業種横断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カンツギ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常時収録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現物照合＋教材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連続工程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hreat"/>
          <p:cNvSpPr/>
          <p:nvPr/>
        </p:nvSpPr>
        <p:spPr>
          <a:xfrm>
            <a:off x="4526280" y="3374136"/>
            <a:ext cx="4251960" cy="6035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636008" y="3374136"/>
            <a:ext cx="4032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最大の脅威：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CADDiが連続工程に降りてくること。課題認識は同じ（「製造業の叡智の8割以上は暗黙知」）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防御線：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図面に現れない現場処置の蓄積と、現場で監修できる人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STP：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工程の形（連続／組立／施工）×規模で区分し、中堅の電線工場を狙う</a:t>
            </a:r>
            <a:endParaRPr lang="en-US" sz="80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競争戦略：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ニッチャー（コトラー）×差別化集中（ポーター）。大手の内製は個別開発で中堅に届かない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出典：各社公表資料（Airion 2025年7月、キャディ 2026年8月6日、三菱総合研究所、FRONTEO、tebiki、スタディスト）。詳細と大手の内製事例は補足資料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設問②　組織 ─ 顧客数は、導入担当の人数で決まる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導入担当1名あたり年6拠点。代表（CEO）は型を渡す役割に絞り、抱え込まない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41148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1247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設計基準　導入担当1名あたり 年6拠点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3560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1拠点の導入＝帳票・試験記録の作り込み・過去データ移行・現場研修で約2か月。並行2拠点が上限 → 12か月÷2か月×1拠点＝年6拠点。計画値は上限の6〜8割</a:t>
            </a:r>
            <a:endParaRPr lang="en-US" sz="950" dirty="0"/>
          </a:p>
        </p:txBody>
      </p:sp>
      <p:graphicFrame>
        <p:nvGraphicFramePr>
          <p:cNvPr id="7" name="custome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  <a:gridCol w="548640"/>
                <a:gridCol w="548640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導入担当（名）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2.5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5.5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7.0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理論上限（×6拠点）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新規獲得（計画）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解約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累計顧客拠点数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6576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※1年目は製品が未完成のため、上限9拠点に対し3拠点に限定する（能力ではなく意図的な制約）</a:t>
            </a:r>
            <a:endParaRPr lang="en-US" sz="800" dirty="0"/>
          </a:p>
        </p:txBody>
      </p:sp>
      <p:graphicFrame>
        <p:nvGraphicFramePr>
          <p:cNvPr id="13" name="staff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548640"/>
                <a:gridCol w="548640"/>
                <a:gridCol w="548640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人員計画（名）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エンジニア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カスタマーサクセス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管理（業務委託含む）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合計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4663440" y="2953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採用基準と代表（CEO）の役割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4663440" y="32461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採用の軸：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製造・施工の現場経験者にITを教える経路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初期メンバー：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生産技術経験者を迎え、製造知見の不足を補う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選考基準：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現場に出ることを厭わない／「作らない」判断ができる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代表（CEO）：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現場の読み解き方を型にして渡す（CTO兼任なし）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5年目の到達目標：</a:t>
            </a:r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創業者が1か月不在でも事業が回る状態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設問④　経営計画 ─ 3年目の谷を越え、4年目に黒字化する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売上は5年で2.9億円へ。累積損益の谷 0.65億円を、必要資金 1.5億円で越える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05156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成長曲線（単位：百万円）</a:t>
            </a:r>
            <a:endParaRPr lang="en-US" sz="1050" dirty="0"/>
          </a:p>
        </p:txBody>
      </p:sp>
      <p:graphicFrame>
        <p:nvGraphicFramePr>
          <p:cNvPr id="6" name="growth-chart" descr=""/>
          <p:cNvGraphicFramePr/>
          <p:nvPr/>
        </p:nvGraphicFramePr>
        <p:xfrm>
          <a:off x="365760" y="1307592"/>
          <a:ext cx="51663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2011680" y="10515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━ 売上高</a:t>
            </a:r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■ 営業利益</a:t>
            </a:r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┅ 累積営業損益（谷 ▲65）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5715000" y="10515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黒字化の条件：社員1人あたり顧客拠点数</a:t>
            </a:r>
            <a:endParaRPr lang="en-US" sz="1050" dirty="0"/>
          </a:p>
        </p:txBody>
      </p:sp>
      <p:graphicFrame>
        <p:nvGraphicFramePr>
          <p:cNvPr id="9" name="breakeven-chart" descr=""/>
          <p:cNvGraphicFramePr/>
          <p:nvPr/>
        </p:nvGraphicFramePr>
        <p:xfrm>
          <a:off x="5715000" y="1307592"/>
          <a:ext cx="3063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126480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損益分岐 2.8（点線）</a:t>
            </a:r>
            <a:endParaRPr lang="en-US" sz="850" dirty="0"/>
          </a:p>
        </p:txBody>
      </p:sp>
      <p:sp>
        <p:nvSpPr>
          <p:cNvPr id="11" name="Text 6"/>
          <p:cNvSpPr txBox="1"/>
          <p:nvPr/>
        </p:nvSpPr>
        <p:spPr>
          <a:xfrm>
            <a:off x="5715000" y="306324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713万円（販管費／人）÷255万円（粗利／拠点）＝2.8。4年目に初めて超える</a:t>
            </a:r>
            <a:endParaRPr lang="en-US" sz="800" dirty="0"/>
          </a:p>
        </p:txBody>
      </p:sp>
      <p:sp>
        <p:nvSpPr>
          <p:cNvPr id="12" name="funding"/>
          <p:cNvSpPr/>
          <p:nvPr/>
        </p:nvSpPr>
        <p:spPr>
          <a:xfrm>
            <a:off x="5715000" y="3447288"/>
            <a:ext cx="3063240" cy="9875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852160" y="3502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必要資金 1.5億円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852160" y="377647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谷 0.65億＋運転資金 0.29億＋1年遅延の備え 0.56億</a:t>
            </a:r>
            <a:endParaRPr lang="en-US" sz="85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調達：電線・ロボットメーカーのCVCから。資金と実証フィールド・販路を同時に得る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365760" y="44988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算出根拠：顧客拠点 3→12→30→55→85／売上総利益 5・29・73・135・213（ライセンス粗利率85%、導入支援・受託40%）／販管費 37・56・79・107・144（人件費800万円×社員数 4→20名−原価振替＋経費）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設問⑤　リスク ─ 最大のリスクは自分。判断基準を先に決める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創業者が1か月不在でも回る状態を5年目に置き、BSCの4指標で任せる</a:t>
            </a:r>
            <a:endParaRPr lang="en-US" sz="1200" dirty="0"/>
          </a:p>
        </p:txBody>
      </p:sp>
      <p:sp>
        <p:nvSpPr>
          <p:cNvPr id="5" name="stage-0"/>
          <p:cNvSpPr/>
          <p:nvPr/>
        </p:nvSpPr>
        <p:spPr>
          <a:xfrm>
            <a:off x="365760" y="1024128"/>
            <a:ext cx="2724912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2724912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75488" y="10241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準備期（1年目）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13533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製品がない段階での受注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有償試験導入を3拠点に限定。1拠点に完全対応し横展開の型を先に構築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75488" y="185623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創業者がボトルネックになる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現場ヒアリングを手順書化。1年目末にCSが単独で運用できる状態へ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" y="235915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製造現場の知見不足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生産技術経験者を初期メンバーに迎え、顧客工場に入って学ぶ</a:t>
            </a:r>
            <a:endParaRPr lang="en-US" sz="1400" dirty="0"/>
          </a:p>
        </p:txBody>
      </p:sp>
      <p:sp>
        <p:nvSpPr>
          <p:cNvPr id="11" name="stage-1"/>
          <p:cNvSpPr/>
          <p:nvPr/>
        </p:nvSpPr>
        <p:spPr>
          <a:xfrm>
            <a:off x="3209544" y="1024128"/>
            <a:ext cx="2724912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9544" y="1024128"/>
            <a:ext cx="2724912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19272" y="10241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中期（2〜3年目）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319272" y="13533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個社対応による受託化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共通機能8割・個社対応2割を明文化。受注を断る基準を保持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319272" y="185623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採用の難しさ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製造・施工の現場経験者にITを教える経路に限定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319272" y="235915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母数の小ささ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アンゾフの新市場開拓。施工会社へ同じ基盤を展開、CRMで解約兆候を検知</a:t>
            </a:r>
            <a:endParaRPr lang="en-US" sz="1400" dirty="0"/>
          </a:p>
        </p:txBody>
      </p:sp>
      <p:sp>
        <p:nvSpPr>
          <p:cNvPr id="17" name="stage-2"/>
          <p:cNvSpPr/>
          <p:nvPr/>
        </p:nvSpPr>
        <p:spPr>
          <a:xfrm>
            <a:off x="6053328" y="1024128"/>
            <a:ext cx="2724912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53328" y="1024128"/>
            <a:ext cx="2724912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63056" y="1024128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後期（4〜5年目）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163056" y="135331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CADDiなど大手基盤の連続工程参入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図面に現れない現場処置の蓄積と監修人材が障壁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163056" y="185623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顧客の内製化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囲い込まない方針のもと、基盤の維持と標準化で課金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163056" y="2359152"/>
            <a:ext cx="2505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属人経営からの脱却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BSCでCSF・KPIを明文化し、判断を権限委譲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65760" y="2944368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BSC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CSF・KPI</a:t>
            </a:r>
            <a:endParaRPr lang="en-US" sz="1400" dirty="0"/>
          </a:p>
        </p:txBody>
      </p:sp>
      <p:sp>
        <p:nvSpPr>
          <p:cNvPr id="24" name="bsc-0"/>
          <p:cNvSpPr/>
          <p:nvPr/>
        </p:nvSpPr>
        <p:spPr>
          <a:xfrm>
            <a:off x="1316736" y="2944368"/>
            <a:ext cx="1801368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408176" y="298094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1人あたり顧客拠点 2.8以上</a:t>
            </a:r>
            <a:endParaRPr lang="en-US" sz="1400" dirty="0"/>
          </a:p>
        </p:txBody>
      </p:sp>
      <p:sp>
        <p:nvSpPr>
          <p:cNvPr id="26" name="bsc-1"/>
          <p:cNvSpPr/>
          <p:nvPr/>
        </p:nvSpPr>
        <p:spPr>
          <a:xfrm>
            <a:off x="3191256" y="2944368"/>
            <a:ext cx="1801368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282696" y="298094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初年度費用の回収 約2.1か月</a:t>
            </a:r>
            <a:endParaRPr lang="en-US" sz="1400" dirty="0"/>
          </a:p>
        </p:txBody>
      </p:sp>
      <p:sp>
        <p:nvSpPr>
          <p:cNvPr id="28" name="bsc-2"/>
          <p:cNvSpPr/>
          <p:nvPr/>
        </p:nvSpPr>
        <p:spPr>
          <a:xfrm>
            <a:off x="5065776" y="2944368"/>
            <a:ext cx="1801368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157216" y="298094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業務プロセス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導入2か月／共通機能8割</a:t>
            </a:r>
            <a:endParaRPr lang="en-US" sz="1400" dirty="0"/>
          </a:p>
        </p:txBody>
      </p:sp>
      <p:sp>
        <p:nvSpPr>
          <p:cNvPr id="30" name="bsc-3"/>
          <p:cNvSpPr/>
          <p:nvPr/>
        </p:nvSpPr>
        <p:spPr>
          <a:xfrm>
            <a:off x="6940296" y="2944368"/>
            <a:ext cx="1801368" cy="5120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031736" y="2980944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学習と成長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創業者1か月不在で事業継続</a:t>
            </a:r>
            <a:endParaRPr lang="en-US" sz="1400" dirty="0"/>
          </a:p>
        </p:txBody>
      </p:sp>
      <p:sp>
        <p:nvSpPr>
          <p:cNvPr id="32" name="closing"/>
          <p:cNvSpPr/>
          <p:nvPr/>
        </p:nvSpPr>
        <p:spPr>
          <a:xfrm>
            <a:off x="365760" y="3566160"/>
            <a:ext cx="841248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48640" y="36576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この事業計画の三つの柱は、すべて現在の勤務先の中にも存在する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40416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顧客＝社内の工場（生産技術・製造部門）　／　商品＝製造記録のデータ化と技能継承　／　収益＝間接工数の削減と品質不良の防止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復職後は生産技術・情報システムの領域でこの役割を担いたい。役割を定義しきることが、抱え込まないための再発防止策でもある。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株式会社カンツギ 事業構想</dc:title>
  <dc:subject>PptxGenJS Presentation</dc:subject>
  <dc:creator>PptxGenJS</dc:creator>
  <cp:lastModifiedBy>PptxGenJS</cp:lastModifiedBy>
  <cp:revision>1</cp:revision>
  <dcterms:created xsi:type="dcterms:W3CDTF">2026-10-17T06:16:14Z</dcterms:created>
  <dcterms:modified xsi:type="dcterms:W3CDTF">2026-10-17T06:16:14Z</dcterms:modified>
</cp:coreProperties>
</file>