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33</c:v>
                </c:pt>
                <c:pt idx="3">
                  <c:v>78</c:v>
                </c:pt>
                <c:pt idx="4">
                  <c:v>144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2F6D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7B87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個社設定</c:v>
                </c:pt>
              </c:strCache>
            </c:strRef>
          </c:tx>
          <c:spPr>
            <a:solidFill>
              <a:srgbClr val="B8C4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8C4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要約：数字は3つだけ。300万円、216万円、約4拠点
カンツギです。今日はお金の仕組みを、3つの数字だけでお話しします。お客様が1拠点でメガネ10台分、年300万円払う。そのうち216万円が当社に残る。社員1人で約4拠点を見られれば黒字。この3つです。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要約：お金を払うのは電気工事会社。窓口は工事部長
登場人物は4人です。来年定年の熟練の電工、田中さん。入社2年目の施工管理、佐藤くん。報告書と育成で手一杯の山本工事部長。そして私です。ここで大事なのは、お金を払うのは現場の人ではなく会社、つまり工事部長や社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の工事現場。ケーブルの接続で、田中さんは、端末の寸法はテープの巻き始めから測れと言う。佐藤くんには理由が分からない。手順書にも書いていない。工事部長は、来年田中さんが辞めたらどうなるのかと青ざめる。しかも2024年から残業に上限がかかり、工事写真と報告書で教える時間もない。建設業で働く人の3人に1人以上が55歳以上です。これが、全国の工事会社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普段のメガネと同じ軽さのAIグラスを掛けてもらいます。全員ではなく、1つの班に1台、職長が掛け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【第3話・40秒】
要約：壁の図面が手元に出る。ミスしやすい所では止めてくれる
今の現場では、2メートル近いケーブルのジョイントの組立図を、わら半紙で壁に貼っています。佐藤くんは壁を見に行って、戻ったら寸法を忘れてしまう。ARグラスなら、実物大の完成形がケーブルの横に出ます。過去にミスがあった所では、赤を切るか青を切るかのように、声とレーザーで止めてくれます。火花や異物から目も守ります。ただし、寸法の最終確認はスケールで。測る道具ではなく、間違いに気づく道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【第4話・40秒】
要約：会う → 試す → 決める → 広がる
最初のお客様は、関東の中堅の電気工事会社です。中でも、電力会社や官公庁の工事が多く、写真台帳と報告書が多い会社を狙います。業界の勉強会で、2024年からの残業の上限と書類の削減について話します。展示会では、デモを自分の現場に当てはめて試してもらいます。次に、3か月の有償の試験導入で、報告書の時間が本当に減るかを数字で確かめます。本契約になったら、効果が出た班から台数を増やし、協力会社にも同じ形で使っ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要約：会社の基盤 月5万円＋メガネ1台 月2万円。10台で年300万円
では、誰が何にいくら払うのか。払うのは電気工事会社です。1拠点、つまり1つの支店や営業所で、会社のデータ置き場や管理画面の基盤に月5万円、メガネ1台ごとに月2万円。標準の10台なら月25万円、年300万円です。報告書の形に整えるところまで、この中に入っています。メガネ本体は、お客様の名前でリースし、手続きは私たちが代わりにします。10台で年約32万円です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要約：1台1日35分減ると年499万円。23分減れば元が取れる
なぜ工事部長は払うのか。メガネを掛けた班では、職長の日報と撮影が1日15分、施工管理者の写真整理と写真台帳が20分減ると考えています。10台を年240日使うと、浮く時間の価値は年約499万円。1時間の人件費は、国の統計の年収に会社が払う社会保険料を足し、残業を含む年1,938時間で割った約3,560円です。お客様が払うのは利用料とリースで年約332万円なので、約1.5倍。逆に言えば、1台1日23分減れば元が取れます。これを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【お金の話2つづき・40秒】
要約：計画に入れるのは確かな分だけ。手戻りは測れたら上乗せ
工事部長にとっての効果は、書類の時間だけではありません。やり直しが減れば、ARが効く工種だけでも年約360万円。ただ、これはAIの出来と私たちの監修次第なので、実証で測れるまで計画には入れません。新人の指導は、他の仕事と混ざっていて測れないので、金額にせず、独り立ちまでの月数で測ります。確かな分だけで約1.5倍、手戻りも減れば約2.6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要約：利用料300万円のうち216万円が残る。だから利用料を積み上げる
次に、当社の財布に何が残るか。300万円の利用料のうち、AIの文字起こしや画像の解析、動画の保存の費用が、メガネ1台あたり月約6,000円、会社ごとのデータ置き場が月1万円で、10台なら年84万円。216万円が残ります。導入支援の200万円は、担当者が42人日現場に入り、交通費もかかるので、残るのは約59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要約：社員1人で約4拠点を見れば黒字。10台のままでは5年目でも届かない
なぜ赤字が続くのか。社員1人にかかる費用は、給料と会社負担、採用費、家賃などを合わせて年約753万円。1拠点から残るのは216万円。割ると約3.5。新しいお客様は最初の年は半年分しか払わないので、年度末に数えると1人約4拠点が目安です。社員は、営業だけでなく技術や導入コンサルタントも含めた全員です。人を先に雇うので、10台のままでは5年目でも3.52で届きません。だから、効果が出た班からメガネを増やし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解約は毎年1割と控えめに見ています。5年目の売上約269百万円のうち、54%は前の年までのお客様からの利用料です。新しいお客様が増えるたびに、雪だるまのように大きくなります。10台のままでは5年目もまだ赤字で、1拠点15台に増やせれば5年目に黒字です。10年で見ると、10台のままでも6年目に黒字になり、8年目に5年間の赤字を取り戻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要約：86万円かけて連れてきたお客様が、1,571万円残してくれる
お客様1拠点を連れてくる費用は約86万円。営業3人の人件費と広告費を、新しいお客様の数で割った数字です。一方、1拠点が7年間で残してくれる粗利は約1,571万円。約18倍です。86万円は約5か月で回収できます。解約が年1割なら平均10年続くので、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【お金の話7・40秒】
要約：黒字化の条件は、1拠点の台数。止まる線も先に決める
うまくいかなかったらどうするか。計算すると、1拠点10台のままだと、計画どおりにお客様が増えても5年以内に黒字になりません。でも、効果が出た班から台数を増やして15台にできれば、新しいお客様が計画の6割でも5年目に黒字です。だから大事なのは、拠点の数より、1拠点で使ってもらう台数です。そして止まる線を先に決めます。実証で1台1日23分減れば進む、15分未満なら撤退。1年目の終わりに、試してくれた3社のうち本契約が0社なら撤退か方向転換。2年目の終わりに平均12台に届かなければ、採用を止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【準備期・30秒】
要約：準備期の6か月で、最初の1拠点を動かす
最初の6か月は準備期です。費用は約500万円で、自己資金でまかないます。私の給料はゼロです。3か月で試作品、6か月で1拠点の実証。1台1日23分減ったか、メガネで1日記録できるかを確かめます。合格したら、自己資金の2億円を入れて、仲間を採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お客様の現場から記録が来て、照合・報告書・教材にして返す。下の流れがお金。お客様から10台で年300万円が入り、84万円がAIと保存の費用、216万円が残って社員の費用をまかなう。社員1人で約4拠点を超えたら黒字。そして記録が貯まるほど、他社がすぐには真似できな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【ツッコミ対策・50秒】
要約：4つのツッコミには、この一言で返す
よく聞かれる4つの質問への答えです。本当に300万円も払うのか。1台1日23分減れば元が取れます。想定は35分で、実証で測ります。なぜ赤字が続くのか。人を先に雇うからで、社員1人約4拠点を超えたら黒字になります。だから台数を増やしてもらいます。真似されないか。現場の記録は使うほど貯まり、後から来た会社には移せません。日立と同じではないか。日立は自社の保守契約の中で、安全や点検にAIを使っています。当社は中堅の電気工事会社の施工の書類と若手の育成に絞り、月額で提供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要約：300万・216万・4。この3つで話せる
まとめです。お客様が10台で年300万円払う。216万円が残る。社員1人約4拠点で黒字。この3つの数字で、すべて説明できます。10年で見ると、10台のままでも6年目に黒字になります。詳しい計算の過程は、別冊の計算詳細版にまとめています。以上で終わります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42048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644" y="4802429"/>
            <a:ext cx="868680" cy="18614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7731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現場の勘を、次の担い手へ。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554480" cy="333103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057400" y="27432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事業計画書　やさしい版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6" name="pass-line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F6DB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55080" y="4754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元が取れる条件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</a:t>
            </a:r>
            <a:endParaRPr lang="en-US" sz="2400" dirty="0"/>
          </a:p>
        </p:txBody>
      </p:sp>
      <p:sp>
        <p:nvSpPr>
          <p:cNvPr id="9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1拠点・10台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1年あたり</a:t>
            </a:r>
            <a:endParaRPr lang="en-US" sz="800" dirty="0"/>
          </a:p>
        </p:txBody>
      </p:sp>
      <p:sp>
        <p:nvSpPr>
          <p:cNvPr id="13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216万円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費用を引いた粗利</a:t>
            </a:r>
            <a:endParaRPr lang="en-US" sz="800" dirty="0"/>
          </a:p>
        </p:txBody>
      </p:sp>
      <p:sp>
        <p:nvSpPr>
          <p:cNvPr id="17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約4拠点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</a:t>
            </a:r>
            <a:endParaRPr lang="en-US" sz="9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工事部長</a:t>
            </a:r>
            <a:endParaRPr lang="en-US" sz="9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9" name="cover-bubble"/>
          <p:cNvSpPr/>
          <p:nvPr/>
        </p:nvSpPr>
        <p:spPr>
          <a:xfrm>
            <a:off x="5120640" y="301752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193792" y="305409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これで全部、説明できます！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6108192" y="4754880"/>
            <a:ext cx="23774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件名 </a:t>
            </a:r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 事業計画書 やさしい版</a:t>
            </a:r>
            <a:endParaRPr lang="en-US" sz="800" dirty="0"/>
          </a:p>
        </p:txBody>
      </p:sp>
      <p:sp>
        <p:nvSpPr>
          <p:cNvPr id="33" name="Text 25"/>
          <p:cNvSpPr txBox="1"/>
          <p:nvPr/>
        </p:nvSpPr>
        <p:spPr>
          <a:xfrm>
            <a:off x="8503920" y="4754880"/>
            <a:ext cx="53035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1／18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登場人物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登場人物：お金を払うのは「会社」。窓口は工事部長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この4人で、困りごと → 解決 → お金の流れを追いかける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熟練の電工。来年、定年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3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入社2年目の施工管理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9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2F6DB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山本工事部長（50歳）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7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カンツギ。元・施工管理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使うのは現場、払うのは会社。だから「会社にとって効果があるか」で値段を決める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このままだと、現場が止まる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熟練者の勘は手順書に書かれていない。辞めたら消える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起　ある日の工事現場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端末の寸法は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テープの巻き始め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から測るんじゃ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632350" y="1024128"/>
            <a:ext cx="1559052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4696358" y="1024128"/>
            <a:ext cx="14676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転　工事部長、青ざめる</a:t>
            </a:r>
            <a:endParaRPr lang="en-US" sz="9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9" name="Shape 22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工事写真と報告書で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毎晩残業。教える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8" name="Text 28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建設業で働く人の36.7%が55歳以上、29歳以下は11.7%（国交省、2024年）。2024年4月から残業にも上限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メガネを掛けて、いつも通り働くだけ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動画と会話をAIが整理して、3つの形で渡す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6" name="Shape 25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8" name="Shape 27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9" name="Text 28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第3話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壁の図面が、手元に出る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約2mのケーブルジョイント。わら半紙の組立図を見に行く往復をなくす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いつもの現場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solidFill>
            <a:srgbClr val="FFF4C2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組立図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（壁）</a:t>
            </a:r>
            <a:endParaRPr lang="en-US" sz="8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852928"/>
            <a:ext cx="1066800" cy="12801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壁の図面を見に行って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戻ったら寸法を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忘れた…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ARで手元に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2636215" y="3721608"/>
            <a:ext cx="521208" cy="18288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19" name="Shape 15"/>
          <p:cNvSpPr/>
          <p:nvPr/>
        </p:nvSpPr>
        <p:spPr>
          <a:xfrm>
            <a:off x="3157423" y="3721608"/>
            <a:ext cx="694944" cy="182880"/>
          </a:xfrm>
          <a:prstGeom prst="rect">
            <a:avLst/>
          </a:prstGeom>
          <a:solidFill>
            <a:srgbClr val="B8C4D0"/>
          </a:solidFill>
          <a:ln/>
        </p:spPr>
      </p:sp>
      <p:sp>
        <p:nvSpPr>
          <p:cNvPr id="20" name="Shape 16"/>
          <p:cNvSpPr/>
          <p:nvPr/>
        </p:nvSpPr>
        <p:spPr>
          <a:xfrm>
            <a:off x="3852367" y="3721608"/>
            <a:ext cx="521208" cy="18288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21" name="Shape 17"/>
          <p:cNvSpPr/>
          <p:nvPr/>
        </p:nvSpPr>
        <p:spPr>
          <a:xfrm>
            <a:off x="3157423" y="3584448"/>
            <a:ext cx="694944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2F6DB5"/>
            </a:solidFill>
            <a:prstDash val="dash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2441448"/>
            <a:ext cx="876300" cy="105156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2590495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663647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実物大の完成形が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ケーブルの横に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出た！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赤を切るか、青か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4906670" y="3127248"/>
            <a:ext cx="1463040" cy="0"/>
          </a:xfrm>
          <a:prstGeom prst="line">
            <a:avLst/>
          </a:prstGeom>
          <a:noFill/>
          <a:ln w="63500">
            <a:solidFill>
              <a:srgbClr val="C62828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906670" y="3447288"/>
            <a:ext cx="1463040" cy="0"/>
          </a:xfrm>
          <a:prstGeom prst="line">
            <a:avLst/>
          </a:prstGeom>
          <a:noFill/>
          <a:ln w="63500">
            <a:solidFill>
              <a:srgbClr val="2F6DB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409590" y="36301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✂</a:t>
            </a:r>
            <a:endParaRPr lang="en-US" sz="2200" dirty="0"/>
          </a:p>
        </p:txBody>
      </p:sp>
      <p:sp>
        <p:nvSpPr>
          <p:cNvPr id="31" name="Shape 26"/>
          <p:cNvSpPr/>
          <p:nvPr/>
        </p:nvSpPr>
        <p:spPr>
          <a:xfrm flipH="1">
            <a:off x="4723790" y="1408176"/>
            <a:ext cx="1828800" cy="82296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796942" y="1444752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ここは過去にミスあり。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赤を切れ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 rot="-480000">
            <a:off x="486095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ピピッ</a:t>
            </a:r>
            <a:endParaRPr lang="en-US" sz="1800" dirty="0"/>
          </a:p>
        </p:txBody>
      </p:sp>
      <p:sp>
        <p:nvSpPr>
          <p:cNvPr id="34" name="Shape 29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765646" y="1024128"/>
            <a:ext cx="941832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29654" y="102412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目も守る</a:t>
            </a:r>
            <a:endParaRPr lang="en-US" sz="9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126" y="2715768"/>
            <a:ext cx="1143000" cy="137160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 rot="-480000">
            <a:off x="7771486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バチッ</a:t>
            </a:r>
            <a:endParaRPr lang="en-US" sz="1600" dirty="0"/>
          </a:p>
        </p:txBody>
      </p:sp>
      <p:sp>
        <p:nvSpPr>
          <p:cNvPr id="39" name="Shape 33"/>
          <p:cNvSpPr/>
          <p:nvPr/>
        </p:nvSpPr>
        <p:spPr>
          <a:xfrm>
            <a:off x="6857086" y="1408176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930238" y="1444752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火花が飛んでも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目は守られとる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約束：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寸法の最終確認はスケールで。ARは「測る道具」ではなく「理解して、間違いに気づく道具」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第4話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最初のお客様に、どう会う？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関東の中堅電気工事会社（施工管理者30人以上）から。会う → 試す → 決める → 広がる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勉強会で話す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24328"/>
            <a:ext cx="1181100" cy="1417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2024年からの残業上限、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書類の時間を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減らしませんか？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展示会で試す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75" y="2350008"/>
            <a:ext cx="1005840" cy="100584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75" y="3035808"/>
            <a:ext cx="876300" cy="10515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590495" y="1408176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663647" y="1444752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自分の現場で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試してみたい！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3か月の試験導入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70048"/>
            <a:ext cx="1143000" cy="137160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報告書の時間が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本当に減るか、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数字で見たい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72963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実測！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本契約と紹介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086" y="2807208"/>
            <a:ext cx="990600" cy="118872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206" y="2944368"/>
            <a:ext cx="876300" cy="105156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7086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930238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協力会社にも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同じ形で使って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もらおう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5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5年の見込み：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条件に合う約180社を中心に5年で約85拠点（解約を引いて81）。効果が出た班から台数を増やす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誰が、何に、いくら払う？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払うのは電気工事会社。会社の基盤＋メガネの台数。10台で年300万円、初年度だけ導入支援200万円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005840" cy="10058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7160" y="36576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電気工事会社（お客様）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12" name="Shape 6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2F6DB5"/>
            </a:solidFill>
            <a:prstDash val="solid"/>
            <a:tailEnd type="triangle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（10台・月25万円）</a:t>
            </a:r>
            <a:endParaRPr lang="en-US" sz="1400" dirty="0"/>
          </a:p>
        </p:txBody>
      </p:sp>
      <p:sp>
        <p:nvSpPr>
          <p:cNvPr id="15" name="Shape 8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16" name="Text 9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7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257800" y="1554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会社の基盤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データ置き場・管理画面 月5万円×12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155448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60万円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52578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メガネの利用料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 月2万円×10台×12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7635240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240万円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257800" y="2606040"/>
            <a:ext cx="333756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257800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086600" y="267004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257800" y="3108960"/>
            <a:ext cx="333756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</a:ln>
        </p:spPr>
      </p:sp>
      <p:sp>
        <p:nvSpPr>
          <p:cNvPr id="28" name="Text 21"/>
          <p:cNvSpPr txBox="1"/>
          <p:nvPr/>
        </p:nvSpPr>
        <p:spPr>
          <a:xfrm>
            <a:off x="5257800" y="3172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メガネ本体はお客様の名前でリース、手続きは当社（10台で年約32万円）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初期設定（導入支援）は最初だけ。月額料金（利用料）は毎月入ってくる。台数が増えれば、そのぶん月額も増える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工事部長は、なぜ払うの？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メガネを掛けた班の書類の時間が減る。1台1日23分減れば元が取れる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5760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メガネの数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499616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810512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810512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240日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810512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1年に使う日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2944368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3255264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255264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35分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255264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1台1日減る時間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0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4700016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0016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約3,560円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700016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1時間の人件費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5833872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6144768" y="1097280"/>
            <a:ext cx="1600200" cy="8229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144768" y="11704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1609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浮く時間の価値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365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1年あたり（2年目以降）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365760" y="24505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554480" y="2450592"/>
            <a:ext cx="2274661" cy="365760"/>
          </a:xfrm>
          <a:prstGeom prst="rect">
            <a:avLst/>
          </a:prstGeom>
          <a:solidFill>
            <a:srgbClr val="7B879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902293" y="24505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年332万円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29077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554480" y="2907792"/>
            <a:ext cx="3422354" cy="36576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049986" y="29077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endParaRPr lang="en-US" sz="10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148840"/>
            <a:ext cx="1028700" cy="1234440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 flipH="1">
            <a:off x="5989320" y="2011680"/>
            <a:ext cx="1600200" cy="6400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062472" y="2048256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1日23分減れば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元が取れるのか！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365760" y="3566160"/>
            <a:ext cx="8412480" cy="107899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502920" y="3566160"/>
            <a:ext cx="8138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元が取れる条件：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払うお金332万円 ÷（10台×240日）÷ 1時間の人件費 ＝ 1台1日約23分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35分って？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職長の日報・撮影15分＋施工管理者の写真整理・写真台帳20分（実証で測る）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1時間の人件費って？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国の統計の年収×会社負担1.17÷残業を含む年1,938時間（電工約3,300円・施工管理約3,700円）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初年度は？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導入支援200万円も払うので、約13か月で元が取れる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つづき：計画に入れるのは、確かな分だけ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確かな分（書類の時間）で約1.5倍。手戻りも減れば約2.6倍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1737360" cy="1920240"/>
          </a:xfrm>
          <a:prstGeom prst="rect">
            <a:avLst/>
          </a:prstGeom>
          <a:solidFill>
            <a:srgbClr val="EAF0F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61288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891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書類・写真整理の時間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3891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3891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計画に入れる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43891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10台×240日×（職長15分＋施工管理20分）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224028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161288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31343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手戻り（上振れ）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231343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年360万円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231343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測れたら上乗せ</a:t>
            </a:r>
            <a:endParaRPr lang="en-US" sz="850" dirty="0"/>
          </a:p>
        </p:txBody>
      </p:sp>
      <p:sp>
        <p:nvSpPr>
          <p:cNvPr id="18" name="Text 13"/>
          <p:cNvSpPr txBox="1"/>
          <p:nvPr/>
        </p:nvSpPr>
        <p:spPr>
          <a:xfrm>
            <a:off x="231343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完成工事高30億円×2%×対象工種30%×削減20%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411480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61288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18795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新人の指導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418795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月数で測る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18795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金額にしない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418795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金額にせず、独り立ちの月数で測る</a:t>
            </a:r>
            <a:endParaRPr lang="en-US" sz="700" dirty="0"/>
          </a:p>
        </p:txBody>
      </p:sp>
      <p:sp>
        <p:nvSpPr>
          <p:cNvPr id="25" name="Shape 19"/>
          <p:cNvSpPr/>
          <p:nvPr/>
        </p:nvSpPr>
        <p:spPr>
          <a:xfrm>
            <a:off x="365760" y="3108960"/>
            <a:ext cx="5532120" cy="6858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02920" y="3108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計画に入れる効果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払うのは332万円 → 約1.5倍</a:t>
            </a:r>
            <a:endParaRPr lang="en-US" sz="12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463040"/>
            <a:ext cx="1181100" cy="1417320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 flipH="1">
            <a:off x="6126480" y="1024128"/>
            <a:ext cx="146304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199632" y="1060704"/>
            <a:ext cx="13167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確かな分だけで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元が取れるなら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安心だ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126480" y="2971800"/>
            <a:ext cx="26517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浮く時間 年1,400時間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10台分。掛けた班の時間だけを数える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大きく言わない：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効果を数えるのは全員ではなく、メガネを掛けた班だけ。手戻りはAIの出来と当社の監修しだいなので、測れてから足す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うちの財布に、何が残る？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利用料は72%が残る。導入支援は約3割しか残らない。だから利用料を積み上げる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B365D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463040" y="1691640"/>
            <a:ext cx="868680" cy="601675"/>
          </a:xfrm>
          <a:prstGeom prst="rect">
            <a:avLst/>
          </a:prstGeom>
          <a:solidFill>
            <a:srgbClr val="7B8794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−84万円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468880" y="2293315"/>
            <a:ext cx="868680" cy="1547165"/>
          </a:xfrm>
          <a:prstGeom prst="rect">
            <a:avLst/>
          </a:prstGeom>
          <a:solidFill>
            <a:srgbClr val="2F6DB5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86000" y="2000707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216万円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AI・保存の費用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B365D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343400" y="3417875"/>
            <a:ext cx="640080" cy="422605"/>
          </a:xfrm>
          <a:prstGeom prst="rect">
            <a:avLst/>
          </a:prstGeom>
          <a:solidFill>
            <a:srgbClr val="7B8794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60520" y="3125267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59万円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残る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141万円は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担当者42人日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と交通費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1拠点10台あたり。AI・保存の費用＝メガネ1台 月約6,000円＋会社ごとのデータ置き場 月1万円（大事な場面だけ送る前提）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なぜ赤字が続く？ 合言葉は「4」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社員1人で約4拠点を見られれば黒字。10台のままでは5年目でも3.52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年753万円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÷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年216万円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18470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 3.5　→　</a:t>
            </a:r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目安 約4拠点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2402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新しいお客様は最初の年は半年分しか払わないので、年度末に数えると約4</a:t>
            </a:r>
            <a:endParaRPr lang="en-US" sz="8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63240"/>
            <a:ext cx="548640" cy="5486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992" y="3063240"/>
            <a:ext cx="548640" cy="548640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784" y="3063240"/>
            <a:ext cx="548640" cy="54864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3063240"/>
            <a:ext cx="548640" cy="5486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1人で、約4拠点（支店・営業所）を見る</a:t>
            </a:r>
            <a:endParaRPr lang="en-US" sz="1000" dirty="0"/>
          </a:p>
        </p:txBody>
      </p:sp>
      <p:sp>
        <p:nvSpPr>
          <p:cNvPr id="19" name="Text 11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4800600" y="3514344"/>
            <a:ext cx="502920" cy="28041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14"/>
          <p:cNvSpPr txBox="1"/>
          <p:nvPr/>
        </p:nvSpPr>
        <p:spPr>
          <a:xfrm>
            <a:off x="4663440" y="32766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0.60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1年目</a:t>
            </a:r>
            <a:endParaRPr lang="en-US" sz="900" dirty="0"/>
          </a:p>
        </p:txBody>
      </p:sp>
      <p:sp>
        <p:nvSpPr>
          <p:cNvPr id="24" name="Text 16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3拠点÷5人</a:t>
            </a:r>
            <a:endParaRPr lang="en-US" sz="750" dirty="0"/>
          </a:p>
        </p:txBody>
      </p:sp>
      <p:sp>
        <p:nvSpPr>
          <p:cNvPr id="25" name="Shape 17"/>
          <p:cNvSpPr/>
          <p:nvPr/>
        </p:nvSpPr>
        <p:spPr>
          <a:xfrm>
            <a:off x="5586984" y="3093720"/>
            <a:ext cx="502920" cy="701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5449824" y="2855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1.50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2年目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12拠点÷8人</a:t>
            </a:r>
            <a:endParaRPr lang="en-US" sz="750" dirty="0"/>
          </a:p>
        </p:txBody>
      </p:sp>
      <p:sp>
        <p:nvSpPr>
          <p:cNvPr id="29" name="Shape 21"/>
          <p:cNvSpPr/>
          <p:nvPr/>
        </p:nvSpPr>
        <p:spPr>
          <a:xfrm>
            <a:off x="6373368" y="2665307"/>
            <a:ext cx="502920" cy="1129453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236208" y="2427563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2.42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3年目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29拠点÷12人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7159752" y="2418644"/>
            <a:ext cx="502920" cy="137611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7022592" y="21809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2.94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4年目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53拠点÷18人</a:t>
            </a:r>
            <a:endParaRPr lang="en-US" sz="750" dirty="0"/>
          </a:p>
        </p:txBody>
      </p:sp>
      <p:sp>
        <p:nvSpPr>
          <p:cNvPr id="37" name="Shape 29"/>
          <p:cNvSpPr/>
          <p:nvPr/>
        </p:nvSpPr>
        <p:spPr>
          <a:xfrm>
            <a:off x="7946136" y="2148840"/>
            <a:ext cx="502920" cy="16459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7808976" y="19110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3.52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81拠点÷23人</a:t>
            </a:r>
            <a:endParaRPr lang="en-US" sz="750" dirty="0"/>
          </a:p>
        </p:txBody>
      </p:sp>
      <p:sp>
        <p:nvSpPr>
          <p:cNvPr id="41" name="Shape 33"/>
          <p:cNvSpPr/>
          <p:nvPr/>
        </p:nvSpPr>
        <p:spPr>
          <a:xfrm>
            <a:off x="4617720" y="1925320"/>
            <a:ext cx="4160520" cy="0"/>
          </a:xfrm>
          <a:prstGeom prst="line">
            <a:avLst/>
          </a:prstGeom>
          <a:noFill/>
          <a:ln w="22225">
            <a:solidFill>
              <a:srgbClr val="2F6DB5"/>
            </a:solidFill>
            <a:prstDash val="dash"/>
          </a:ln>
        </p:spPr>
      </p:sp>
      <p:sp>
        <p:nvSpPr>
          <p:cNvPr id="42" name="Text 34"/>
          <p:cNvSpPr txBox="1"/>
          <p:nvPr/>
        </p:nvSpPr>
        <p:spPr>
          <a:xfrm>
            <a:off x="4663440" y="1678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目安 4</a:t>
            </a:r>
            <a:endParaRPr lang="en-US" sz="950" dirty="0"/>
          </a:p>
        </p:txBody>
      </p:sp>
      <p:sp>
        <p:nvSpPr>
          <p:cNvPr id="43" name="Shape 35"/>
          <p:cNvSpPr/>
          <p:nvPr/>
        </p:nvSpPr>
        <p:spPr>
          <a:xfrm>
            <a:off x="4663440" y="1325880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4736592" y="1362456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人を先に雇うから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5年目でもまだ赤字。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台数を増やして届かせる！</a:t>
            </a:r>
            <a:endParaRPr lang="en-US" sz="950" dirty="0"/>
          </a:p>
        </p:txBody>
      </p:sp>
      <p:sp>
        <p:nvSpPr>
          <p:cNvPr id="45" name="Text 37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社員1人の費用＝5年目の販管費17,313万円÷23人（営業・技術・導入コンサルタントの全員。給料・会社負担・採用費・家賃などを含む）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去年のお客様が今年も払う。売上は雪だるま式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5年目の売上約269百万円のうち54%は、前の年までのお客様の利用料（解約は年1割で引く）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7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3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売上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営業利益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107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▲37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178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▲39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269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▲11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715000" y="2852928"/>
            <a:ext cx="3063240" cy="237744"/>
          </a:xfrm>
          <a:prstGeom prst="rect">
            <a:avLst/>
          </a:prstGeom>
          <a:solidFill>
            <a:srgbClr val="FFF4C2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10年なら：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6年目に黒字、8年目に赤字を回収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154680"/>
            <a:ext cx="990600" cy="118872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 flipH="1">
            <a:off x="5715000" y="320040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788152" y="323697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86万円のエサで、1,571万円の魚を釣る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1拠点を連れてくる費用（CAC）と、1拠点が残してくれる粗利（LTV）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約86万円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（営業3人の人件費2,340万円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約18倍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2F6DB5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B365D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約1,571万円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年216万円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＋ 導入支援の粗利59万円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7年は控えめ。解約が年1割なら平均10年続く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EAF0F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86万円は約5か月で回収（86万円 ÷ 月18万円の粗利）。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目安は「LTVがCACの3倍以上」。当社は約18倍なので、お客様を増やすほど会社が強くなる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お金の話7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どうすれば黒字？ 条件は1拠点の台数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10台のままだと計画どおりでも5年で黒字にならない。15台に増やせれば6割でも5年目に黒字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102412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新規拠点が計画に届かなかったら（採用も拠点数に合わせて遅らせる・百万円）</a:t>
            </a:r>
            <a:endParaRPr lang="en-US" sz="1000" dirty="0"/>
          </a:p>
        </p:txBody>
      </p:sp>
      <p:graphicFrame>
        <p:nvGraphicFramePr>
          <p:cNvPr id="15" name="shortfal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27048"/>
          <a:ext cx="8412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960120"/>
                <a:gridCol w="960120"/>
                <a:gridCol w="868680"/>
                <a:gridCol w="960120"/>
                <a:gridCol w="105156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新規の達成度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新規拠点（1〜5年目）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黒字化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5年目利益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最低現金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黒字化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5年目利益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最低現金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計画どおり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3・9・18・27・33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110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計画の9割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3・8・16・24・30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計画の8割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2・7・14・22・26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▲22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計画の7割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2・6・13・19・23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▲26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計画の6割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2・5・11・16・20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108960" y="1298448"/>
            <a:ext cx="2788920" cy="210312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1拠点10台のまま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5897880" y="1298448"/>
            <a:ext cx="2880360" cy="210312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1拠点15台に増やせた場合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65760" y="2962656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進む・直す・止まるの線（案）</a:t>
            </a:r>
            <a:endParaRPr lang="en-US" sz="1000" dirty="0"/>
          </a:p>
        </p:txBody>
      </p:sp>
      <p:graphicFrame>
        <p:nvGraphicFramePr>
          <p:cNvPr id="29" name="ga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218688"/>
          <a:ext cx="8412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463040"/>
                <a:gridCol w="22860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時期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測るもの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進む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直す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止まる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実証（準備期）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1台1日の削減時間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23分以上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15〜23分：機能を写真台帳に絞る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15分未満：撤退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試験導入3社の本契約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2社以上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1社：値段と顧客を見直す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0社：撤退か方向転換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新規拠点・1拠点の台数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5拠点以上・平均12台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5拠点未満：採用を止める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追加の5,000万円を入れるか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継続率90%以上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未達：追加額と採用を絞る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上の表：新しい拠点が計画の何割だったら、何年目に黒字になるか（百万円）。下の表：進む・直す・止まるを先に決めておく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準備期の6か月で、最初の1拠点を動かす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費用は約500万円。自己資金でまかない、創業者の給料はゼロ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はじまり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自己資金で約500万円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EAF0F6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3か月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EAF0F6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6か月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1台1日23分減ったかを測る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EAF0F6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自己資金2億円を入れる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実証に合格したら採用を始める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準備期の費用（万円）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250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メガネ・機材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80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40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予備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2F6DB5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実証の合格ライン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1台1日23分以上減れば進む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15分未満なら撤退。その間なら機能を写真台帳に絞る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お願い：実証先の電気工事会社のご紹介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1枚で言うと：上は記録とサービス、下はお金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記録が貯まるほど他社がすぐに真似できなくなり、お客様が増えるほど黒字が厚くなる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電気工事会社（お客様）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熟練者・若手・工事部長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</a:t>
            </a:r>
            <a:endParaRPr lang="en-US" sz="12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記録が貯まるほど、他社が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すぐに真似できなくなる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1拠点の粗利 216万円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（300万円 − AI・保存84万円）</a:t>
            </a:r>
            <a:endParaRPr lang="en-US" sz="950" dirty="0"/>
          </a:p>
        </p:txBody>
      </p:sp>
      <p:sp>
        <p:nvSpPr>
          <p:cNvPr id="18" name="Shape 11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1" name="Text 14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2F6DB5"/>
            </a:solidFill>
            <a:prstDash val="solid"/>
            <a:tailEnd type="triangle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年300万円（10台）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6" name="Shape 18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AI・保存：メガネ1台 月約6,000円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社員1人：年753万円（給料・家賃など）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2F6DB5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 × 約4拠点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10台のままでは5年目でも3.52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15台に増やせれば5年目に黒字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よくあるツッコミ4つ：この一言で返す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答えは必ず数字から言う。理由は後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24128"/>
            <a:ext cx="647700" cy="777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97280" y="1078992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111556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本当に年300万円も払うの？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 flipH="1">
            <a:off x="3611880" y="1042416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685032" y="1078992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1台1日23分減れば元が取れます。想定は35分で、実証で測ります</a:t>
            </a:r>
            <a:endParaRPr lang="en-US" sz="9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024128"/>
            <a:ext cx="64770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657600" y="165506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根拠：332万円÷（10台×240日）÷1時間の人件費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83664"/>
            <a:ext cx="647700" cy="7772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097280" y="1938528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170432" y="1975104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なんで赤字が続くの？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 flipH="1">
            <a:off x="3611880" y="1901952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685032" y="1938528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人を先に雇うからです。社員1人約4拠点で黒字。台数を増やして早めます</a:t>
            </a:r>
            <a:endParaRPr lang="en-US" sz="9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883664"/>
            <a:ext cx="647700" cy="7772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657600" y="251460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根拠：753万円÷216万円＝3.5、半年分を見て約4</a:t>
            </a:r>
            <a:endParaRPr lang="en-US" sz="8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2743200"/>
            <a:ext cx="647700" cy="77724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1097280" y="2798064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1170432" y="2834640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真似されたら終わりでは？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 flipH="1">
            <a:off x="3611880" y="2761488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685032" y="2798064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現場の記録は使うほど貯まり、後から来た会社には移せません</a:t>
            </a:r>
            <a:endParaRPr lang="en-US" sz="9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80" y="2743200"/>
            <a:ext cx="647700" cy="7772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657600" y="337413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根拠：貯まる・意味づけ・業界の型</a:t>
            </a:r>
            <a:endParaRPr lang="en-US" sz="8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602736"/>
            <a:ext cx="647700" cy="77724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1097280" y="3657600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1170432" y="3694176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日立と同じでは？</a:t>
            </a:r>
            <a:endParaRPr lang="en-US" sz="1000" dirty="0"/>
          </a:p>
        </p:txBody>
      </p:sp>
      <p:sp>
        <p:nvSpPr>
          <p:cNvPr id="31" name="Shape 21"/>
          <p:cNvSpPr/>
          <p:nvPr/>
        </p:nvSpPr>
        <p:spPr>
          <a:xfrm flipH="1">
            <a:off x="3611880" y="3621024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3685032" y="3657600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日立は保守契約の中の安全・点検。当社は中堅の電気工事会社の書類と育成を月額で</a:t>
            </a:r>
            <a:endParaRPr lang="en-US" sz="9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5280" y="3602736"/>
            <a:ext cx="647700" cy="77724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3657600" y="4233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根拠：公表資料で比べた（本編 p.15）</a:t>
            </a:r>
            <a:endParaRPr lang="en-US" sz="800" dirty="0"/>
          </a:p>
        </p:txBody>
      </p:sp>
      <p:sp>
        <p:nvSpPr>
          <p:cNvPr id="35" name="Text 24"/>
          <p:cNvSpPr txBox="1"/>
          <p:nvPr/>
        </p:nvSpPr>
        <p:spPr>
          <a:xfrm>
            <a:off x="365760" y="4498848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左：聞き手　右：社長（わたし）。細かい計算は「計算詳細版」に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まとめ：この3つの数字だけ覚えれば、話せる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300万・216万・4。順番に言えば、お金の仕組みが全部つながる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お客様が10台で毎年払う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1台1日23分減れば元が取れる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216万円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AI・保存の84万円を引いた残り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約4拠点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10台のままでは5年目3.52、15台なら5年目に黒字</a:t>
            </a:r>
            <a:endParaRPr lang="en-US" sz="950" dirty="0"/>
          </a:p>
        </p:txBody>
      </p:sp>
      <p:sp>
        <p:nvSpPr>
          <p:cNvPr id="21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980944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会社が、メガネ10台で年300万円を払います。掛けた班の書類の時間が1台1日23分減れば元が取れ、想定の35分なら約1.5倍の効果です。当社にはAIと保存の費用を引いた216万円が残り、社員1人で約4拠点を見れば黒字です。人を先に雇うので10台のままでは5年目も赤字ですが、効果が出た班から15台に増やせば5年目に黒字になります。10年で見ると、10台のままでも6年目に黒字です。</a:t>
            </a:r>
            <a:endParaRPr lang="en-US" sz="10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2926080" y="44622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ご清聴ありがとうございました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カンツギのもうけの仕組み</dc:title>
  <dc:subject>PptxGenJS Presentation</dc:subject>
  <dc:creator>PptxGenJS</dc:creator>
  <cp:lastModifiedBy>PptxGenJS</cp:lastModifiedBy>
  <cp:revision>1</cp:revision>
  <dcterms:created xsi:type="dcterms:W3CDTF">2026-10-17T06:16:13Z</dcterms:created>
  <dcterms:modified xsi:type="dcterms:W3CDTF">2026-10-17T06:16:13Z</dcterms:modified>
</cp:coreProperties>
</file>