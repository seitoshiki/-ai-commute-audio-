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前の年までのお客様の利用料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33</c:v>
                </c:pt>
                <c:pt idx="3">
                  <c:v>78</c:v>
                </c:pt>
                <c:pt idx="4">
                  <c:v>144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新しいお客様の利用料</c:v>
                </c:pt>
              </c:strCache>
            </c:strRef>
          </c:tx>
          <c:spPr>
            <a:solidFill>
              <a:srgbClr val="4D4D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13.5</c:v>
                </c:pt>
                <c:pt idx="2">
                  <c:v>27</c:v>
                </c:pt>
                <c:pt idx="3">
                  <c:v>40.5</c:v>
                </c:pt>
                <c:pt idx="4">
                  <c:v>49.5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導入支援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18</c:v>
                </c:pt>
                <c:pt idx="2">
                  <c:v>36</c:v>
                </c:pt>
                <c:pt idx="3">
                  <c:v>54</c:v>
                </c:pt>
                <c:pt idx="4">
                  <c:v>66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受託開発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</c:v>
                </c:pt>
                <c:pt idx="1">
                  <c:v>7.5</c:v>
                </c:pt>
                <c:pt idx="2">
                  <c:v>11</c:v>
                </c:pt>
                <c:pt idx="3">
                  <c:v>5.5</c:v>
                </c:pt>
                <c:pt idx="4">
                  <c:v>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【表紙・20秒】
要約：数字は3つだけ。300万円、216万円、約4拠点
カンツギです。今日はお金の仕組みを、3つの数字だけでお話しします。お客様が1拠点でメガネ10台分、年300万円払う。そのうち216万円が当社に残る。社員1人で約4拠点を見られれば黒字。この3つです。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【登場人物・30秒】
要約：お金を払うのは電気工事会社。窓口は工事部長
登場人物は4人です。来年定年の熟練の電工、田中さん。入社2年目の施工管理、佐藤くん。報告書と育成で手一杯の山本工事部長。そして私です。ここで大事なのは、お金を払うのは現場の人ではなく会社、つまり工事部長や社長だ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【第1話・40秒】
要約：熟練者の勘は書かれていない。辞めたら止まる
ある日の工事現場。ケーブルの接続で、田中さんは、端末の寸法はテープの巻き始めから測れと言う。佐藤くんには理由が分からない。手順書にも書いていない。工事部長は、来年田中さんが辞めたらどうなるのかと青ざめる。しかも2024年から残業に上限がかかり、工事写真と報告書で教える時間もない。建設業で働く人の3人に1人以上が55歳以上です。これが、全国の工事会社で起きてい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【第2話・40秒】
要約：メガネを掛けて、いつも通り働くだけ
そこで、スマートグラスを掛けてもらいます。全員ではなく、1つの班に1台、職長が掛けます。田中さんは、いつも通り作業するだけ。動画と会話をAIが整理して、三つの形で渡します。若手には、図面とのズレをその場で表示。管理者には、報告書を自動で作成。そして後から、教材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【第3話・40秒】
要約：壁の図面が手元に出る。ミスしやすい所では止めてくれる
今の現場では、2メートル近いケーブルのジョイントの組立図を、わら半紙で壁に貼っています。佐藤くんは壁を見に行って、戻ったら寸法を忘れてしまう。ARグラスなら、実物大の完成形がケーブルの横に出ます。過去にミスがあった所では、赤を切るか青を切るかのように、声とレーザーで止めてくれます。火花や異物から目も守ります。ただし、寸法の最終確認はスケールで。測る道具ではなく、間違いに気づく道具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【第4話・40秒】
要約：会う → 試す → 決める → 広がる
最初のお客様は、関東の中堅の電気工事会社です。中でも、電力会社や官公庁の工事が多く、写真台帳と報告書が多い会社を狙います。業界の勉強会で、2024年からの残業の上限と書類の削減について話します。展示会では、デモを自分の現場に当てはめて試してもらいます。次に、3か月の有償の試験導入で、報告書の時間が本当に減るかを数字で確かめます。本契約になったら、効果が出た班から台数を増やし、協力会社にも同じ形で使っ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【お金の話1・40秒】
要約：会社の基盤 月5万円＋メガネ1台 月2万円。10台で年300万円
では、誰が何にいくら払うのか。払うのは電気工事会社です。1拠点、つまり1つの支店や営業所で、会社のデータ置き場や管理画面の基盤に月5万円、メガネ1台ごとに月2万円。標準の10台なら月25万円、年300万円です。メガネ本体は、お客様がリース会社から借ります。10台で年約53万円です。初年度だけ、私たちが2か月現場に入る導入支援に200万円いただきます。スマホの契約と同じで、初期設定は最初だけ、月額は毎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【お金の話2・40秒】
要約：1台1日35分減ると年479万円。26分減れば元が取れる
なぜ工事部長は払うのか。メガネを掛けた班では、職長の日報と撮影が1日15分、施工管理者の写真整理と写真台帳が20分減ると考えています。10台を年240日使うと、浮く時間の価値は年約479万円。1時間の人件費は、国の統計の年収に会社が払う社会保険料を足し、残業を含む年2,000時間で割った約3,400円です。お客様が払うのは利用料とリースで年約353万円なので、約1.4倍。逆に言えば、1台1日26分減れば元が取れます。これを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【お金の話2つづき・40秒】
要約：計画に入れるのは確かな分だけ。手戻りは測れたら上乗せ
工事部長が得するのは、書類の時間だけではありません。やり直しが減れば、ARが効く工種だけでも年約360万円。ただ、これはAIの出来と私たちの監修次第なので、実証で測れるまで計画には入れません。新人の指導は、他の仕事と混ざっていて測れないので、金額にせず、独り立ちまでの月数で測ります。確かな分だけで約1.4倍、手戻りも減れば約2.4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【お金の話3・40秒】
要約：利用料300万円のうち216万円が残る。だから利用料を積み上げる
次に、当社の財布に何が残るか。300万円の利用料のうち、AIの文字起こしや画像の解析、動画の保存の費用が、メガネ1台あたり月約6,000円、会社ごとのデータ置き場が月1万円で、10台なら年84万円。216万円が残ります。導入支援の200万円は、担当者が42人日現場に入り、交通費もかかるので、残るのは約59万円。だから当社は、人が動く仕事ではなく、利用料を積み上げる会社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【お金の話4・40秒】
要約：社員1人で約4拠点を見れば黒字。5年目に届く
なぜ最初は赤字なのか。社員1人にかかる費用は、給料と会社負担、採用費、家賃などを合わせて年約730万円。1拠点から残るのは216万円。割ると約3.4。新しいお客様は最初の年は半年分しか払わないので、年度末に数えると1人約4拠点が目安です。社員は、営業だけでなく技術やサポートの人も含めた全員です。人を先に雇うので4年目までは赤字、5年目に3.86となって黒字に届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【お金の話5・40秒】
要約：去年のお客様が今年も払う。売上は雪だるま式
利用料は毎年いただくので、去年までのお客様の分が今年の売上に乗ります。解約は毎年1割と控えめに見ています。5年目の売上約269百万円のうち、54%は前の年までのお客様からの利用料です。新しいお客様が増えるたびに、雪だるまのように大きくなります。営業利益は5年目に黒字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【お金の話6・30秒】
要約：86万円かけて連れてきたお客様が、1,571万円残してくれる
お客様1拠点を連れてくる費用は約86万円。営業3人の人件費と広告費を、新しいお客様の数で割った数字です。一方、1拠点が7年間で残してくれる粗利は約1,571万円。約18倍です。86万円は約5か月で回収できます。解約が年1割なら平均10年続くので、7年は控えめに見た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【お金の話7・40秒】
要約：黒字の鍵は、1拠点の台数。止まる線も先に決める
うまくいかなかったらどうするか。新しいお客様が計画に届かなかった場合を計算しました。1拠点10台のままだと、計画の9割を割ると5年以内に黒字になりません。でも、効果が出た班から台数を増やして15台にできれば、計画の6割でも5年目に黒字です。だから大事なのは、拠点の数より、1拠点で使ってもらう台数です。そして止まる線を先に決めます。実証で1台1日26分減れば進む、15分未満なら撤退。1年目の終わりに、試してくれた3社のうち本契約が0社なら撤退か方向転換。2年目に新しい拠点が5つに届かなければ、採用を止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【準備期・30秒】
要約：準備期の6か月で、最初の1拠点を動かす
最初の6か月は準備期です。費用は約500万円で、自己資金と補助金でまかないます。私の給料はゼロです。3か月で試作品、6か月で1拠点の実証。1台1日26分減ったかどうかを確かめます。その結果を持って、公庫の融資とベンチャーキャピタルの出資を受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【全体図・30秒】
要約：上の矢印は記録とサービス、下の矢印はお金
1枚にまとめるとこうなります。上の流れが記録とサービス。お客様の現場から記録が来て、照合・報告書・教材にして返す。下の流れがお金。お客様から10台で年300万円が入り、84万円がAIと保存の費用、216万円が残って社員の費用をまかなう。社員1人で約4拠点を超えたら黒字。そして記録が貯まるほど、真似されにく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【ツッコミ対策・40秒】
要約：3つのツッコミには、この一言で返す
よく聞かれる3つの質問への答えです。本当に300万円も払うのか。1台1日26分減れば元が取れます。想定は35分で、実証で測ります。なぜ赤字が続くのか。人を先に雇うからで、社員1人約4拠点を超えたら黒字になります。真似されないか。現場の記録は使うほど貯まり、後から来た会社には移せ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【まとめ・30秒】
要約：300万・216万・4。この3つで話せる
まとめです。お客様が10台で年300万円払う。216万円が残る。社員1人約4拠点で黒字。この3つの数字で、すべて説明できます。詳しい計算の過程は、別冊の計算詳細版にまとめています。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320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　事業計画書　やさしい版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2179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マンガでわかる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カンツギの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もうけの仕組み</a:t>
            </a:r>
            <a:endParaRPr lang="en-US" sz="2800" dirty="0"/>
          </a:p>
        </p:txBody>
      </p:sp>
      <p:sp>
        <p:nvSpPr>
          <p:cNvPr id="5" name="pass-line"/>
          <p:cNvSpPr/>
          <p:nvPr/>
        </p:nvSpPr>
        <p:spPr>
          <a:xfrm>
            <a:off x="6172200" y="411480"/>
            <a:ext cx="260604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4754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元が取れる条件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731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1台1日26分</a:t>
            </a:r>
            <a:endParaRPr lang="en-US" sz="2400" dirty="0"/>
          </a:p>
        </p:txBody>
      </p:sp>
      <p:sp>
        <p:nvSpPr>
          <p:cNvPr id="8" name="num-0"/>
          <p:cNvSpPr/>
          <p:nvPr/>
        </p:nvSpPr>
        <p:spPr>
          <a:xfrm>
            <a:off x="36576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1拠点・10台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1年あたり</a:t>
            </a:r>
            <a:endParaRPr lang="en-US" sz="800" dirty="0"/>
          </a:p>
        </p:txBody>
      </p:sp>
      <p:sp>
        <p:nvSpPr>
          <p:cNvPr id="12" name="num-1"/>
          <p:cNvSpPr/>
          <p:nvPr/>
        </p:nvSpPr>
        <p:spPr>
          <a:xfrm>
            <a:off x="3200400" y="1828800"/>
            <a:ext cx="2697480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375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216万円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費用を引いた粗利</a:t>
            </a:r>
            <a:endParaRPr lang="en-US" sz="800" dirty="0"/>
          </a:p>
        </p:txBody>
      </p:sp>
      <p:sp>
        <p:nvSpPr>
          <p:cNvPr id="16" name="num-2"/>
          <p:cNvSpPr/>
          <p:nvPr/>
        </p:nvSpPr>
        <p:spPr>
          <a:xfrm>
            <a:off x="603504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黒字のライン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約4拠点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</a:t>
            </a:r>
            <a:endParaRPr lang="en-US" sz="8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971800"/>
            <a:ext cx="1143000" cy="1371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65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71800"/>
            <a:ext cx="1143000" cy="13716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08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971800"/>
            <a:ext cx="1143000" cy="13716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651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</a:t>
            </a:r>
            <a:endParaRPr lang="en-US" sz="9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297180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794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900" dirty="0"/>
          </a:p>
        </p:txBody>
      </p:sp>
      <p:sp>
        <p:nvSpPr>
          <p:cNvPr id="28" name="cover-bubble"/>
          <p:cNvSpPr/>
          <p:nvPr/>
        </p:nvSpPr>
        <p:spPr>
          <a:xfrm>
            <a:off x="5120640" y="3154680"/>
            <a:ext cx="310896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193792" y="3191256"/>
            <a:ext cx="29626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数字は3つだけ。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これで全部、説明できます！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登場人物 ─ お金を払うのは「会社」。窓口は工事部長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この4人で、困りごと → 解決 → お金の流れを追いかける</a:t>
            </a:r>
            <a:endParaRPr lang="en-US" sz="1200" dirty="0"/>
          </a:p>
        </p:txBody>
      </p:sp>
      <p:sp>
        <p:nvSpPr>
          <p:cNvPr id="5" name="cast-0"/>
          <p:cNvSpPr/>
          <p:nvPr/>
        </p:nvSpPr>
        <p:spPr>
          <a:xfrm>
            <a:off x="365760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234440"/>
            <a:ext cx="1143000" cy="1371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田中さん（62歳）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熟練の電工。来年、定年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 flipV="1">
            <a:off x="50292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勘で分かる。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でも説明はできん</a:t>
            </a:r>
            <a:endParaRPr lang="en-US" sz="1000" dirty="0"/>
          </a:p>
        </p:txBody>
      </p:sp>
      <p:sp>
        <p:nvSpPr>
          <p:cNvPr id="11" name="cast-1"/>
          <p:cNvSpPr/>
          <p:nvPr/>
        </p:nvSpPr>
        <p:spPr>
          <a:xfrm>
            <a:off x="2499055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95" y="1234440"/>
            <a:ext cx="114300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90495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佐藤くん（24歳）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590495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入社2年目の施工管理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 flipV="1">
            <a:off x="2636215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2709367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田中さんが辞めたら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どうしよう…</a:t>
            </a:r>
            <a:endParaRPr lang="en-US" sz="1000" dirty="0"/>
          </a:p>
        </p:txBody>
      </p:sp>
      <p:sp>
        <p:nvSpPr>
          <p:cNvPr id="17" name="cast-2"/>
          <p:cNvSpPr/>
          <p:nvPr/>
        </p:nvSpPr>
        <p:spPr>
          <a:xfrm>
            <a:off x="4632350" y="1051560"/>
            <a:ext cx="2011680" cy="3154680"/>
          </a:xfrm>
          <a:prstGeom prst="rect">
            <a:avLst/>
          </a:prstGeom>
          <a:solidFill>
            <a:srgbClr val="FFFFFF"/>
          </a:solidFill>
          <a:ln w="31750">
            <a:solidFill>
              <a:srgbClr val="B8692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お金を払う人</a:t>
            </a:r>
            <a:endParaRPr lang="en-US" sz="8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690" y="1234440"/>
            <a:ext cx="1143000" cy="1371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72379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山本工事部長（50歳）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472379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管理者。お金を払う人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 flipV="1">
            <a:off x="476951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84266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報告書と育成で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手一杯だ</a:t>
            </a:r>
            <a:endParaRPr lang="en-US" sz="1000" dirty="0"/>
          </a:p>
        </p:txBody>
      </p:sp>
      <p:sp>
        <p:nvSpPr>
          <p:cNvPr id="25" name="cast-3"/>
          <p:cNvSpPr/>
          <p:nvPr/>
        </p:nvSpPr>
        <p:spPr>
          <a:xfrm>
            <a:off x="6765646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986" y="123444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857086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6857086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カンツギ。元・施工管理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 flipV="1">
            <a:off x="6902806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975958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使うのは現場、払うのは会社。だから「会社にとって得か」で値段を決める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このままだと、現場が止まる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熟練者の勘は手順書に書かれていない。辞めたら消える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　ある日の工事現場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87168"/>
            <a:ext cx="1219200" cy="14630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75488" y="1435608"/>
            <a:ext cx="1792224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472184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端末の寸法は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テープの巻き始め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から測るんじゃ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　若手は分からない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495" y="2715768"/>
            <a:ext cx="1028700" cy="12344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289864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35608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7218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えっ、なんで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分かるんですか！？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 flipH="1">
            <a:off x="3596335" y="2322576"/>
            <a:ext cx="777240" cy="4114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669487" y="235915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勘じゃ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632350" y="1024128"/>
            <a:ext cx="1559052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4696358" y="1024128"/>
            <a:ext cx="14676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　工事部長、青ざめる</a:t>
            </a:r>
            <a:endParaRPr lang="en-US" sz="9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24328"/>
            <a:ext cx="1181100" cy="14173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723790" y="1435608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796942" y="1472184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田中さんは来年定年…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手順書に書いてない！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 rot="-480000">
            <a:off x="5683910" y="2258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ガーン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　しかも時間がない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806" y="2715768"/>
            <a:ext cx="1104900" cy="1325880"/>
          </a:xfrm>
          <a:prstGeom prst="rect">
            <a:avLst/>
          </a:prstGeom>
        </p:spPr>
      </p:pic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086" y="2944368"/>
            <a:ext cx="548640" cy="54864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806" y="3538728"/>
            <a:ext cx="457200" cy="45720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工事写真と報告書で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毎晩残業。教える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時間もない…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現実も同じ：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建設業で働く人の36.7%が55歳以上、29歳以下は11.7%（国交省、2024年）。2024年4月から残業にも上限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メガネを掛けて、いつも通り働くだけ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動画と会話をAIが整理して、3つの形で渡す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掛けるだけ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1097280" cy="109728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876300" cy="105156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1408176"/>
            <a:ext cx="182880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30352" y="14447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いつも通り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やるだけでええんか？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499055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2563063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AIが整理</a:t>
            </a:r>
            <a:endParaRPr lang="en-US" sz="9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935" y="1572768"/>
            <a:ext cx="731520" cy="73152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3459175" y="1938528"/>
            <a:ext cx="32004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495" y="1572768"/>
            <a:ext cx="685800" cy="6858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54477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350489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 rot="-480000">
            <a:off x="2727655" y="2624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ピコン！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2636215" y="317296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「どの場面で」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「何を見て」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「どう判断したか」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を自動で切り出す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463235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469635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若手へ：照合</a:t>
            </a:r>
            <a:endParaRPr lang="en-US" sz="9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3830" y="2715768"/>
            <a:ext cx="1143000" cy="1371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723790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4796942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図面と8mmズレてる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って、その場で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教えてくれた！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管理者へ：報告書</a:t>
            </a:r>
            <a:endParaRPr lang="en-US" sz="9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086" y="2715768"/>
            <a:ext cx="1104900" cy="132588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7518" y="2807208"/>
            <a:ext cx="548640" cy="548640"/>
          </a:xfrm>
          <a:prstGeom prst="rect">
            <a:avLst/>
          </a:prstGeom>
        </p:spPr>
      </p:pic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0086" y="3447288"/>
            <a:ext cx="594360" cy="594360"/>
          </a:xfrm>
          <a:prstGeom prst="rect">
            <a:avLst/>
          </a:prstGeom>
        </p:spPr>
      </p:pic>
      <p:sp>
        <p:nvSpPr>
          <p:cNvPr id="34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報告書が勝手に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できてる！教材にも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なるのか</a:t>
            </a:r>
            <a:endParaRPr lang="en-US" sz="1000" dirty="0"/>
          </a:p>
        </p:txBody>
      </p:sp>
      <p:sp>
        <p:nvSpPr>
          <p:cNvPr id="36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7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渡す先は3つ：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若手へ（図面と照合）　管理者へ（報告書を自動作成）　あとから（教材・研修資料）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壁の図面が、手元に出る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約2mのケーブルジョイント。わら半紙の組立図を見に行く往復をなくす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いつもの現場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solidFill>
            <a:srgbClr val="F3EBDD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組立図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（壁）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852928"/>
            <a:ext cx="1066800" cy="1280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壁の図面を見に行って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戻ったら寸法を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忘れた…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ARで手元に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636215" y="3721608"/>
            <a:ext cx="521208" cy="182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7" name="Shape 13"/>
          <p:cNvSpPr/>
          <p:nvPr/>
        </p:nvSpPr>
        <p:spPr>
          <a:xfrm>
            <a:off x="3157423" y="3721608"/>
            <a:ext cx="694944" cy="182880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Shape 14"/>
          <p:cNvSpPr/>
          <p:nvPr/>
        </p:nvSpPr>
        <p:spPr>
          <a:xfrm>
            <a:off x="3852367" y="3721608"/>
            <a:ext cx="521208" cy="182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9" name="Shape 15"/>
          <p:cNvSpPr/>
          <p:nvPr/>
        </p:nvSpPr>
        <p:spPr>
          <a:xfrm>
            <a:off x="3157423" y="3584448"/>
            <a:ext cx="694944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B8692E"/>
            </a:solidFill>
            <a:prstDash val="dash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2441448"/>
            <a:ext cx="876300" cy="105156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590495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63647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実物大の完成形が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ケーブルの横に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出た！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赤を切るか、青か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4906670" y="3127248"/>
            <a:ext cx="1463040" cy="0"/>
          </a:xfrm>
          <a:prstGeom prst="line">
            <a:avLst/>
          </a:prstGeom>
          <a:noFill/>
          <a:ln w="63500">
            <a:solidFill>
              <a:srgbClr val="C0392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906670" y="3447288"/>
            <a:ext cx="1463040" cy="0"/>
          </a:xfrm>
          <a:prstGeom prst="line">
            <a:avLst/>
          </a:prstGeom>
          <a:noFill/>
          <a:ln w="63500">
            <a:solidFill>
              <a:srgbClr val="2E5C9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409590" y="36301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✂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 flipH="1">
            <a:off x="4723790" y="1408176"/>
            <a:ext cx="1828800" cy="82296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796942" y="1444752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ここは過去にミスあり。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赤を切れ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 rot="-480000">
            <a:off x="486095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ピピッ</a:t>
            </a:r>
            <a:endParaRPr lang="en-US" sz="1800" dirty="0"/>
          </a:p>
        </p:txBody>
      </p:sp>
      <p:sp>
        <p:nvSpPr>
          <p:cNvPr id="32" name="Shape 27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765646" y="1024128"/>
            <a:ext cx="941832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6829654" y="1024128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目も守る</a:t>
            </a:r>
            <a:endParaRPr lang="en-US" sz="9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126" y="2715768"/>
            <a:ext cx="1143000" cy="137160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 rot="-480000">
            <a:off x="7771486" y="2304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バチッ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857086" y="1408176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930238" y="1444752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火花が飛んでも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目は守られとる</a:t>
            </a:r>
            <a:endParaRPr lang="en-US" sz="1000" dirty="0"/>
          </a:p>
        </p:txBody>
      </p:sp>
      <p:sp>
        <p:nvSpPr>
          <p:cNvPr id="39" name="Shape 33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約束：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寸法の最終確認はスケールで。ARは「測る道具」ではなく「理解して、間違いに気づく道具」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最初のお客様に、どう会う？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関東の中堅電気工事会社（施工管理者30人以上）から。会う → 試す → 決める → 広がる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勉強会で話す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24328"/>
            <a:ext cx="1181100" cy="1417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2024年からの残業上限、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書類の時間を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減らしませんか？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展示会で試す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975" y="2350008"/>
            <a:ext cx="1005840" cy="10058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75" y="303580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08176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44752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自分の現場で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試してみたい！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3か月の試験導入</a:t>
            </a:r>
            <a:endParaRPr lang="en-US" sz="9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70048"/>
            <a:ext cx="1143000" cy="13716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72379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79694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報告書の時間が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本当に減るか、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数字で見たい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 rot="-480000">
            <a:off x="572963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実測！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765646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829654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本契約と紹介</a:t>
            </a:r>
            <a:endParaRPr lang="en-US" sz="9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086" y="2807208"/>
            <a:ext cx="990600" cy="1188720"/>
          </a:xfrm>
          <a:prstGeom prst="rect">
            <a:avLst/>
          </a:prstGeom>
        </p:spPr>
      </p:pic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7206" y="2944368"/>
            <a:ext cx="876300" cy="1051560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6857086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6930238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協力会社にも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同じ形で使って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もらおう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5年の見込み：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条件に合う約180社を中心に5年で約85拠点（解約を引いて81）。効果が出た班から台数を増やす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誰が、何に、いくら払う？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払うのは電気工事会社。会社の基盤＋メガネの台数。10台で年300万円、初年度だけ導入支援200万円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005840" cy="100584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60320"/>
            <a:ext cx="876300" cy="1051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37160" y="36576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011680"/>
            <a:ext cx="1181100" cy="141732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3429000" y="3474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10" name="Shape 4"/>
          <p:cNvSpPr/>
          <p:nvPr/>
        </p:nvSpPr>
        <p:spPr>
          <a:xfrm>
            <a:off x="1783080" y="2011680"/>
            <a:ext cx="173736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1325880"/>
            <a:ext cx="548640" cy="5486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37360" y="2121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（10台・月25万円）</a:t>
            </a:r>
            <a:endParaRPr lang="en-US" sz="1400" dirty="0"/>
          </a:p>
        </p:txBody>
      </p:sp>
      <p:sp>
        <p:nvSpPr>
          <p:cNvPr id="13" name="Shape 6"/>
          <p:cNvSpPr/>
          <p:nvPr/>
        </p:nvSpPr>
        <p:spPr>
          <a:xfrm>
            <a:off x="1783080" y="3017520"/>
            <a:ext cx="1737360" cy="0"/>
          </a:xfrm>
          <a:prstGeom prst="line">
            <a:avLst/>
          </a:prstGeom>
          <a:noFill/>
          <a:ln w="254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14" name="Text 7"/>
          <p:cNvSpPr txBox="1"/>
          <p:nvPr/>
        </p:nvSpPr>
        <p:spPr>
          <a:xfrm>
            <a:off x="1737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 ＋200万円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（導入支援）</a:t>
            </a:r>
            <a:endParaRPr lang="en-US" sz="950" dirty="0"/>
          </a:p>
        </p:txBody>
      </p:sp>
      <p:sp>
        <p:nvSpPr>
          <p:cNvPr id="15" name="receipt"/>
          <p:cNvSpPr/>
          <p:nvPr/>
        </p:nvSpPr>
        <p:spPr>
          <a:xfrm>
            <a:off x="5074920" y="1051560"/>
            <a:ext cx="3703320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257800" y="11430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御請求書（1拠点・1年分）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5257800" y="1481328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257800" y="1554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会社の基盤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データ置き場・管理画面 月5万円×12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7635240" y="155448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60万円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52578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メガネの利用料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 月2万円×10台×12</a:t>
            </a:r>
            <a:endParaRPr lang="en-US" sz="1050" dirty="0"/>
          </a:p>
        </p:txBody>
      </p:sp>
      <p:sp>
        <p:nvSpPr>
          <p:cNvPr id="21" name="Text 14"/>
          <p:cNvSpPr txBox="1"/>
          <p:nvPr/>
        </p:nvSpPr>
        <p:spPr>
          <a:xfrm>
            <a:off x="7635240" y="20574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240万円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5257800" y="2606040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5257800" y="2670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合計（毎年）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7086600" y="267004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257800" y="3108960"/>
            <a:ext cx="33375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6" name="Text 19"/>
          <p:cNvSpPr txBox="1"/>
          <p:nvPr/>
        </p:nvSpPr>
        <p:spPr>
          <a:xfrm>
            <a:off x="5257800" y="3172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　導入支援 200万円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メガネ本体はリース会社から（10台で年約53万円）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365760" y="4069080"/>
            <a:ext cx="841248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たとえるなら、スマホの契約と同じ。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初期設定（導入支援）は最初だけ。月額料金（利用料）は毎月入ってくる。台数が増えれば、そのぶん月額も増える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工事部長は、なぜ払うの？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メガネを掛けた班の書類の時間が減る。1台1日26分減れば元が取れる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0972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5760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メガネの数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499616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1810512" y="1097280"/>
            <a:ext cx="10972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810512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240日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810512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1年に使う日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3255264" y="1097280"/>
            <a:ext cx="10972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255264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35分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255264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1台1日減る時間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389120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700016" y="1097280"/>
            <a:ext cx="10972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700016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約3,420円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0016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1時間の人件費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5833872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44768" y="1097280"/>
            <a:ext cx="1600200" cy="8229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144768" y="11704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年479万円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144768" y="1609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浮く時間の価値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1年あたり（2年目以降）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24505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払うお金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554480" y="2450592"/>
            <a:ext cx="2419502" cy="36576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047134" y="24505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年353万円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29077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浮くお金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1554480" y="2907792"/>
            <a:ext cx="3287917" cy="36576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915549" y="29077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年479万円</a:t>
            </a:r>
            <a:endParaRPr lang="en-US" sz="1000" dirty="0"/>
          </a:p>
        </p:txBody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148840"/>
            <a:ext cx="1028700" cy="1234440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 flipH="1">
            <a:off x="5989320" y="2011680"/>
            <a:ext cx="1600200" cy="6400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062472" y="2048256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1日26分減れば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元が取れるのか！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365760" y="3566160"/>
            <a:ext cx="8412480" cy="107899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502920" y="3566160"/>
            <a:ext cx="8138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元が取れる条件：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払うお金353万円 ÷（10台×240日）÷ 1時間の人件費 ＝ 1台1日約26分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35分って？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職長の日報・撮影15分＋施工管理者の写真整理・写真台帳20分（実証で測る）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1時間の人件費って？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国の統計の年収×会社負担1.16÷残業を含む年2,000時間（電工約3,200円・施工管理約3,600円）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初年度は？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導入支援200万円も払うので、約14か月で元が取れる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つづき ─ 計画に入れるのは、確かな分だけ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確かな分（書類の時間）で約1.4倍。手戻りも減れば約2.4倍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1737360" cy="192024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16128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891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書類・写真整理の時間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43891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年479万円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3891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計画に入れる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43891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10台×240日×（職長15分＋施工管理20分）</a:t>
            </a:r>
            <a:endParaRPr lang="en-US" sz="700" dirty="0"/>
          </a:p>
        </p:txBody>
      </p:sp>
      <p:sp>
        <p:nvSpPr>
          <p:cNvPr id="11" name="Shape 7"/>
          <p:cNvSpPr/>
          <p:nvPr/>
        </p:nvSpPr>
        <p:spPr>
          <a:xfrm>
            <a:off x="2240280" y="1051560"/>
            <a:ext cx="17373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161288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31343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手戻り（上振れ）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231343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年360万円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231343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測れたら上乗せ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231343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完成工事高30億円×2%×対象工種30%×削減20%</a:t>
            </a:r>
            <a:endParaRPr lang="en-US" sz="700" dirty="0"/>
          </a:p>
        </p:txBody>
      </p:sp>
      <p:sp>
        <p:nvSpPr>
          <p:cNvPr id="17" name="Shape 12"/>
          <p:cNvSpPr/>
          <p:nvPr/>
        </p:nvSpPr>
        <p:spPr>
          <a:xfrm>
            <a:off x="4114800" y="1051560"/>
            <a:ext cx="17373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61288"/>
            <a:ext cx="640080" cy="6400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18795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新人の指導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418795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月数で測る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418795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金額にしない</a:t>
            </a:r>
            <a:endParaRPr lang="en-US" sz="850" dirty="0"/>
          </a:p>
        </p:txBody>
      </p:sp>
      <p:sp>
        <p:nvSpPr>
          <p:cNvPr id="22" name="Text 16"/>
          <p:cNvSpPr txBox="1"/>
          <p:nvPr/>
        </p:nvSpPr>
        <p:spPr>
          <a:xfrm>
            <a:off x="418795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金額にせず、独り立ちの月数で測る</a:t>
            </a:r>
            <a:endParaRPr lang="en-US" sz="700" dirty="0"/>
          </a:p>
        </p:txBody>
      </p:sp>
      <p:sp>
        <p:nvSpPr>
          <p:cNvPr id="23" name="Shape 17"/>
          <p:cNvSpPr/>
          <p:nvPr/>
        </p:nvSpPr>
        <p:spPr>
          <a:xfrm>
            <a:off x="365760" y="3108960"/>
            <a:ext cx="553212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502920" y="3108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計画に入れる得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年479万円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払うのは353万円 → 約1.4倍</a:t>
            </a:r>
            <a:endParaRPr lang="en-US" sz="12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463040"/>
            <a:ext cx="1181100" cy="141732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 flipH="1">
            <a:off x="6126480" y="1024128"/>
            <a:ext cx="146304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199632" y="1060704"/>
            <a:ext cx="13167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確かな分だけで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元が取れるなら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安心だ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6126480" y="2971800"/>
            <a:ext cx="26517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浮く時間 年1,400時間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10台分。掛けた班の時間だけを数える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502920" y="40690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大きく言わない：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得をするのは全員ではなく、メガネを掛けた班だけ。手戻りはAIの出来と当社の監修しだいなので、測れてから足す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うちの財布に、何が残る？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利用料は72%が残る。導入支援は約3割しか残らない。だから利用料を積み上げる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3840480"/>
            <a:ext cx="49377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利用料（毎年）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868680" cy="214884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463040" y="1691640"/>
            <a:ext cx="868680" cy="601675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−84万円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468880" y="2293315"/>
            <a:ext cx="868680" cy="1547165"/>
          </a:xfrm>
          <a:prstGeom prst="rect">
            <a:avLst/>
          </a:prstGeom>
          <a:solidFill>
            <a:srgbClr val="B8692E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86000" y="2000707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216万円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AI・保存の費用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残る（粗利）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導入支援（初年度だけ）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566160" y="2407920"/>
            <a:ext cx="640080" cy="143256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83280" y="211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343400" y="3417875"/>
            <a:ext cx="640080" cy="422605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3125267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59万円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38328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416052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2407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141万円は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担当者42人日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と交通費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 flipH="1">
            <a:off x="5623560" y="1051560"/>
            <a:ext cx="228600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96712" y="1088136"/>
            <a:ext cx="2139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人が動く仕事は残りが少ない。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だから利用料を積み上げる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会社にします！</a:t>
            </a:r>
            <a:endParaRPr lang="en-US" sz="10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63040"/>
            <a:ext cx="952500" cy="114300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623560" y="2697480"/>
            <a:ext cx="31546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5760720" y="274320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粗利（あらり）とは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売上から、そのサービスを作るのに直接かかったお金を引いた残り。ここから社員の給料や家賃を払う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1拠点10台あたり。AI・保存の費用＝メガネ1台 月約6,000円＋会社ごとのデータ置き場 月1万円（大事な場面だけ送る前提）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なぜ最初は赤字？ 合言葉は「4」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社員1人で約4拠点を見られれば黒字。5年目に届く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93192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社員1人にかかる費用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年734万円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325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42316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1拠点から残る粗利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年216万円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8470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3.4　→　</a:t>
            </a:r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 約4拠点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2402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新しいお客様は最初の年は半年分しか払わないので、年度末に数えると約4</a:t>
            </a:r>
            <a:endParaRPr lang="en-US" sz="8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697480"/>
            <a:ext cx="990600" cy="118872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063240"/>
            <a:ext cx="548640" cy="54864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992" y="3063240"/>
            <a:ext cx="548640" cy="54864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784" y="3063240"/>
            <a:ext cx="548640" cy="548640"/>
          </a:xfrm>
          <a:prstGeom prst="rect">
            <a:avLst/>
          </a:prstGeom>
        </p:spPr>
      </p:pic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576" y="3063240"/>
            <a:ext cx="548640" cy="54864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554480" y="3703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1人で、約4拠点（支店・営業所）を見る</a:t>
            </a:r>
            <a:endParaRPr lang="en-US" sz="1000" dirty="0"/>
          </a:p>
        </p:txBody>
      </p:sp>
      <p:sp>
        <p:nvSpPr>
          <p:cNvPr id="17" name="Text 9"/>
          <p:cNvSpPr txBox="1"/>
          <p:nvPr/>
        </p:nvSpPr>
        <p:spPr>
          <a:xfrm>
            <a:off x="4617720" y="109728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社員1人あたりの拠点数</a:t>
            </a:r>
            <a:endParaRPr lang="en-US" sz="1050" dirty="0"/>
          </a:p>
        </p:txBody>
      </p:sp>
      <p:sp>
        <p:nvSpPr>
          <p:cNvPr id="18" name="Shape 10"/>
          <p:cNvSpPr/>
          <p:nvPr/>
        </p:nvSpPr>
        <p:spPr>
          <a:xfrm>
            <a:off x="4617720" y="3794760"/>
            <a:ext cx="4160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4800600" y="3444240"/>
            <a:ext cx="502920" cy="350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2"/>
          <p:cNvSpPr txBox="1"/>
          <p:nvPr/>
        </p:nvSpPr>
        <p:spPr>
          <a:xfrm>
            <a:off x="4663440" y="32064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0.75</a:t>
            </a:r>
            <a:endParaRPr lang="en-US" sz="1000" dirty="0"/>
          </a:p>
        </p:txBody>
      </p:sp>
      <p:sp>
        <p:nvSpPr>
          <p:cNvPr id="21" name="Text 13"/>
          <p:cNvSpPr txBox="1"/>
          <p:nvPr/>
        </p:nvSpPr>
        <p:spPr>
          <a:xfrm>
            <a:off x="4663440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900" dirty="0"/>
          </a:p>
        </p:txBody>
      </p:sp>
      <p:sp>
        <p:nvSpPr>
          <p:cNvPr id="22" name="Text 14"/>
          <p:cNvSpPr txBox="1"/>
          <p:nvPr/>
        </p:nvSpPr>
        <p:spPr>
          <a:xfrm>
            <a:off x="4617720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3拠点÷4人</a:t>
            </a:r>
            <a:endParaRPr lang="en-US" sz="750" dirty="0"/>
          </a:p>
        </p:txBody>
      </p:sp>
      <p:sp>
        <p:nvSpPr>
          <p:cNvPr id="23" name="Shape 15"/>
          <p:cNvSpPr/>
          <p:nvPr/>
        </p:nvSpPr>
        <p:spPr>
          <a:xfrm>
            <a:off x="5586984" y="2993571"/>
            <a:ext cx="502920" cy="801189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5449824" y="275582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1.71</a:t>
            </a:r>
            <a:endParaRPr lang="en-US" sz="1000" dirty="0"/>
          </a:p>
        </p:txBody>
      </p:sp>
      <p:sp>
        <p:nvSpPr>
          <p:cNvPr id="25" name="Text 17"/>
          <p:cNvSpPr txBox="1"/>
          <p:nvPr/>
        </p:nvSpPr>
        <p:spPr>
          <a:xfrm>
            <a:off x="5449824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900" dirty="0"/>
          </a:p>
        </p:txBody>
      </p:sp>
      <p:sp>
        <p:nvSpPr>
          <p:cNvPr id="26" name="Text 18"/>
          <p:cNvSpPr txBox="1"/>
          <p:nvPr/>
        </p:nvSpPr>
        <p:spPr>
          <a:xfrm>
            <a:off x="5404104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12拠点÷7人</a:t>
            </a:r>
            <a:endParaRPr lang="en-US" sz="750" dirty="0"/>
          </a:p>
        </p:txBody>
      </p:sp>
      <p:sp>
        <p:nvSpPr>
          <p:cNvPr id="27" name="Shape 19"/>
          <p:cNvSpPr/>
          <p:nvPr/>
        </p:nvSpPr>
        <p:spPr>
          <a:xfrm>
            <a:off x="6373368" y="2562629"/>
            <a:ext cx="502920" cy="12321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236208" y="2324885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2.64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236208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6190488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29拠点÷11人</a:t>
            </a:r>
            <a:endParaRPr lang="en-US" sz="750" dirty="0"/>
          </a:p>
        </p:txBody>
      </p:sp>
      <p:sp>
        <p:nvSpPr>
          <p:cNvPr id="31" name="Shape 23"/>
          <p:cNvSpPr/>
          <p:nvPr/>
        </p:nvSpPr>
        <p:spPr>
          <a:xfrm>
            <a:off x="7159752" y="2337696"/>
            <a:ext cx="502920" cy="145706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7022592" y="209995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3.12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7022592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6976872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53拠点÷17人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7946136" y="1992086"/>
            <a:ext cx="502920" cy="1802674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808976" y="175434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3.86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7808976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7763256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81拠点÷21人</a:t>
            </a:r>
            <a:endParaRPr lang="en-US" sz="750" dirty="0"/>
          </a:p>
        </p:txBody>
      </p:sp>
      <p:sp>
        <p:nvSpPr>
          <p:cNvPr id="39" name="Shape 31"/>
          <p:cNvSpPr/>
          <p:nvPr/>
        </p:nvSpPr>
        <p:spPr>
          <a:xfrm>
            <a:off x="4617720" y="1925320"/>
            <a:ext cx="4160520" cy="0"/>
          </a:xfrm>
          <a:prstGeom prst="line">
            <a:avLst/>
          </a:prstGeom>
          <a:noFill/>
          <a:ln w="22225">
            <a:solidFill>
              <a:srgbClr val="B8692E"/>
            </a:solidFill>
            <a:prstDash val="dash"/>
          </a:ln>
        </p:spPr>
      </p:sp>
      <p:sp>
        <p:nvSpPr>
          <p:cNvPr id="40" name="Text 32"/>
          <p:cNvSpPr txBox="1"/>
          <p:nvPr/>
        </p:nvSpPr>
        <p:spPr>
          <a:xfrm>
            <a:off x="4663440" y="16784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 4</a:t>
            </a:r>
            <a:endParaRPr lang="en-US" sz="950" dirty="0"/>
          </a:p>
        </p:txBody>
      </p:sp>
      <p:sp>
        <p:nvSpPr>
          <p:cNvPr id="41" name="Shape 33"/>
          <p:cNvSpPr/>
          <p:nvPr/>
        </p:nvSpPr>
        <p:spPr>
          <a:xfrm>
            <a:off x="4663440" y="1325880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4736592" y="1362456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人を先に雇うから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4年目までは赤字。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5年目に黒字！</a:t>
            </a:r>
            <a:endParaRPr lang="en-US" sz="950" dirty="0"/>
          </a:p>
        </p:txBody>
      </p:sp>
      <p:sp>
        <p:nvSpPr>
          <p:cNvPr id="43" name="Text 3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社員1人の費用＝5年目の販管費15,423万円÷21人（営業・技術・サポートの全員。給料・会社負担・採用費・家賃などを含む）。銅色は黒字の年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お金の話5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去年のお客様が今年も払う。売上は雪だるま式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5年目の売上約269百万円のうち54%は、前の年までのお客様の利用料（解約は年1割で引く）</a:t>
            </a:r>
            <a:endParaRPr lang="en-US" sz="1200" dirty="0"/>
          </a:p>
        </p:txBody>
      </p:sp>
      <p:graphicFrame>
        <p:nvGraphicFramePr>
          <p:cNvPr id="5" name="snowball" descr=""/>
          <p:cNvGraphicFramePr/>
          <p:nvPr/>
        </p:nvGraphicFramePr>
        <p:xfrm>
          <a:off x="365760" y="105156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売上（百万円）</a:t>
            </a:r>
            <a:endParaRPr lang="en-US" sz="1050" dirty="0"/>
          </a:p>
        </p:txBody>
      </p:sp>
      <p:graphicFrame>
        <p:nvGraphicFramePr>
          <p:cNvPr id="13" name="sales-o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325880"/>
          <a:ext cx="3063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0584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063240"/>
            <a:ext cx="990600" cy="11887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 flipH="1">
            <a:off x="5715000" y="3108960"/>
            <a:ext cx="178308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5788152" y="3145536"/>
            <a:ext cx="16367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増えるたびに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大きくなる！</a:t>
            </a:r>
            <a:endParaRPr lang="en-US" sz="1000" dirty="0"/>
          </a:p>
        </p:txBody>
      </p:sp>
      <p:sp>
        <p:nvSpPr>
          <p:cNvPr id="11" name="Text 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新しいお客様は年の途中で始めるので、初年度の利用料は半年分で計算。1年目の3拠点は試験導入（利用料なし）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お金の話6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86万円のエサで、1,571万円の魚を釣る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1拠点を連れてくる費用（CAC）と、1拠点が残してくれる粗利（LTV）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291840" cy="260604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325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連れてくる費用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CAC（キャック）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5544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約86万円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（営業3人の人件費2,340万円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＋広告・展示会500万円）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 新しいお客様33拠点（5年目）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03320" y="1874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約18倍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3749040" y="2468880"/>
            <a:ext cx="1280160" cy="0"/>
          </a:xfrm>
          <a:prstGeom prst="line">
            <a:avLst/>
          </a:prstGeom>
          <a:noFill/>
          <a:ln w="38100">
            <a:solidFill>
              <a:srgbClr val="B8692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5120640" y="1097280"/>
            <a:ext cx="3657600" cy="260604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016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55080" y="1325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残してくれる粗利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LTV（エルティーブイ）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355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約1,571万円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5257800" y="25146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年216万円 × 7年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導入支援の粗利59万円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7年は控えめ。解約が年1割なら平均10年続く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365760" y="3886200"/>
            <a:ext cx="8412480" cy="73152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5715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4300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86万円は約5か月で回収（86万円 ÷ 月18万円の粗利）。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目安は「LTVがCACの3倍以上」。当社は約18倍なので、お客様を増やすほど会社が強くなる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お金の話7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うまくいかなかったら？ 鍵は1拠点の台数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10台のままだと計画の9割を割ると黒字にならない。15台に増やせれば6割でも黒字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2412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新規拠点が計画に届かなかったら（採用も拠点数に合わせて遅らせる・百万円）</a:t>
            </a:r>
            <a:endParaRPr lang="en-US" sz="1000" dirty="0"/>
          </a:p>
        </p:txBody>
      </p:sp>
      <p:graphicFrame>
        <p:nvGraphicFramePr>
          <p:cNvPr id="15" name="shortfal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27048"/>
          <a:ext cx="8412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960120"/>
                <a:gridCol w="960120"/>
                <a:gridCol w="868680"/>
                <a:gridCol w="960120"/>
                <a:gridCol w="105156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新規の達成度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新規拠点（1〜5年目）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黒字化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5年目利益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最低現金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黒字化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5年目利益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最低現金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計画どおり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3・9・18・27・33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計画の9割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3・8・16・24・30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計画の8割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2・7・14・22・26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計画の7割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2・6・13・19・23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計画の6割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2・5・11・16・20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5年でしない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108960" y="1298448"/>
            <a:ext cx="2788920" cy="210312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1拠点10台のまま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5897880" y="1298448"/>
            <a:ext cx="2880360" cy="210312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1拠点15台に増やせた場合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365760" y="2962656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進む・直す・止まるの線（案）</a:t>
            </a:r>
            <a:endParaRPr lang="en-US" sz="1000" dirty="0"/>
          </a:p>
        </p:txBody>
      </p:sp>
      <p:graphicFrame>
        <p:nvGraphicFramePr>
          <p:cNvPr id="29" name="ga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218688"/>
          <a:ext cx="8412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463040"/>
                <a:gridCol w="228600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測るもの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進む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止まる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実証（準備期）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1台1日の削減時間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26分以上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15〜26分：機能を写真台帳に絞る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15分未満：撤退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試験導入3社の本契約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2社以上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1社：値段と顧客を見直す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0社：撤退か方向転換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新規拠点・1拠点の台数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5拠点以上・平均12台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5拠点未満：採用を止める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シリーズAの交渉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継続率90%以上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未達：調達額と採用を絞る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上の表：新しい拠点が計画の何割だったら、何年目に黒字になるか（百万円）。下の表：進む・直す・止まるを先に決めておく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準備期の6か月で、最初の1拠点を動かす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費用は約500万円。自己資金と補助金でまかない、創業者の給料はゼロ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96596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はじまり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自己資金と補助金で約500万円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350008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96312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06040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試作品ができる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記録→写真抽出→報告書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26864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36592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36592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1台1日26分減ったかを測る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611112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757416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67144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867144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公庫1,000万円＋VC1.15億円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67144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実証の結果を持って調達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2697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準備期の費用（万円）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29900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011680" y="3026664"/>
            <a:ext cx="2194560" cy="18288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51960" y="2990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3291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実証（1拠点・3か月）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011680" y="3328416"/>
            <a:ext cx="877824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935224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365760" y="35935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端末・機材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011680" y="3630168"/>
            <a:ext cx="702259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759659" y="35935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365760" y="3895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2011680" y="3931920"/>
            <a:ext cx="351130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408530" y="38953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365760" y="41970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011680" y="4233672"/>
            <a:ext cx="263347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320747" y="419709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0" y="2697480"/>
            <a:ext cx="4206240" cy="178308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926080"/>
            <a:ext cx="1066800" cy="12801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852160" y="278892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実証の合格ライン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1台1日26分以上減れば進む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15分未満なら撤退。その間なら機能を写真台帳に絞る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お願い：実証先の電気工事会社のご紹介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1枚で言うと ─ 上は記録とサービス、下はお金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記録が貯まるほど真似されにくく、お客様が増えるほど黒字が厚くなる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26517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0"/>
            <a:ext cx="72390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723900" cy="8686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6576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熟練者・若手・工事部長</a:t>
            </a:r>
            <a:endParaRPr lang="en-US" sz="850" dirty="0"/>
          </a:p>
        </p:txBody>
      </p:sp>
      <p:sp>
        <p:nvSpPr>
          <p:cNvPr id="11" name="Shape 5"/>
          <p:cNvSpPr/>
          <p:nvPr/>
        </p:nvSpPr>
        <p:spPr>
          <a:xfrm>
            <a:off x="3429000" y="1371600"/>
            <a:ext cx="2240280" cy="2926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34290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82880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520440" y="25146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真似されにくくなる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3520440" y="3383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1拠点の粗利 216万円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（300万円 − AI・保存84万円）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2377440" y="173736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2286000" y="14356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動画と会話</a:t>
            </a:r>
            <a:endParaRPr lang="en-US" sz="900" dirty="0"/>
          </a:p>
        </p:txBody>
      </p:sp>
      <p:sp>
        <p:nvSpPr>
          <p:cNvPr id="18" name="Shape 11"/>
          <p:cNvSpPr/>
          <p:nvPr/>
        </p:nvSpPr>
        <p:spPr>
          <a:xfrm flipH="1">
            <a:off x="2377440" y="251460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9" name="Text 12"/>
          <p:cNvSpPr txBox="1"/>
          <p:nvPr/>
        </p:nvSpPr>
        <p:spPr>
          <a:xfrm>
            <a:off x="228600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照合・報告書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・教材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2377440" y="3749040"/>
            <a:ext cx="96012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315468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286000" y="3840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年300万円（10台）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5705856" y="201168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4" name="Shape 16"/>
          <p:cNvSpPr/>
          <p:nvPr/>
        </p:nvSpPr>
        <p:spPr>
          <a:xfrm>
            <a:off x="5705856" y="356616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080760" y="1371600"/>
            <a:ext cx="2697480" cy="1280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6190488" y="141732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出ていくお金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AI・保存：メガネ1台 月約6,000円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社員1人：年734万円（給料・家賃など）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080760" y="2880360"/>
            <a:ext cx="26974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190488" y="2926080"/>
            <a:ext cx="24780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黒字の条件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 × 約4拠点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5年目に3.86となり黒字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台数を15台に増やせれば1年早まる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365760" y="44348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将来：貯まった作業の記録で、ロボットに作業を教える（フィジカルAI）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よくあるツッコミ3つ ─ この一言で返す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答えは必ず数字から言う。理由は後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800100" cy="960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143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07592" y="1179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本当に年300万円も払うの？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 flipH="1">
            <a:off x="3703320" y="1143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776472" y="1179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1台1日26分減れば元が取れます。想定は35分で、実証で測ります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51560"/>
            <a:ext cx="800100" cy="9601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749040" y="1856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根拠：353万円÷（10台×240日）÷1時間の人件費</a:t>
            </a:r>
            <a:endParaRPr lang="en-US" sz="8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194560"/>
            <a:ext cx="800100" cy="96012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286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07592" y="2322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なんで赤字が続くの？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 flipH="1">
            <a:off x="3703320" y="2286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3776472" y="2322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人を先に雇うからです。社員1人約4拠点を超えたら黒字です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194560"/>
            <a:ext cx="800100" cy="9601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749040" y="2999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根拠：734万円÷216万円＝3.4、半年分を見て約4</a:t>
            </a:r>
            <a:endParaRPr lang="en-US" sz="8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3337560"/>
            <a:ext cx="800100" cy="96012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234440" y="3429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307592" y="3465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真似されたら終わりでは？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 flipH="1">
            <a:off x="3703320" y="3429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776472" y="3465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現場の記録は使うほど貯まり、後から来た会社には移せません</a:t>
            </a:r>
            <a:endParaRPr lang="en-US" sz="10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3337560"/>
            <a:ext cx="800100" cy="9601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749040" y="4142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根拠：貯まる・意味づけ・業界の型</a:t>
            </a:r>
            <a:endParaRPr lang="en-US" sz="850" dirty="0"/>
          </a:p>
        </p:txBody>
      </p:sp>
      <p:sp>
        <p:nvSpPr>
          <p:cNvPr id="26" name="Text 17"/>
          <p:cNvSpPr txBox="1"/>
          <p:nvPr/>
        </p:nvSpPr>
        <p:spPr>
          <a:xfrm>
            <a:off x="365760" y="448056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左：投資家　右：社長（わたし）。細かい計算は「計算詳細版」に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─ この3つの数字だけ覚えれば、話せる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300万・216万・4。順番に言えば、お金の仕組みが全部つながる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お客様が10台で毎年払う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1台1日26分減れば元が取れる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08152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0040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216万円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そのうち当社に残る粗利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AI・保存の84万円を引いた残り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1616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035040" y="1051560"/>
            <a:ext cx="269748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7220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約4拠点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社員1人で見れば黒字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5年目に3.86で届く</a:t>
            </a:r>
            <a:endParaRPr lang="en-US" sz="950" dirty="0"/>
          </a:p>
        </p:txBody>
      </p:sp>
      <p:sp>
        <p:nvSpPr>
          <p:cNvPr id="19" name="script30"/>
          <p:cNvSpPr/>
          <p:nvPr/>
        </p:nvSpPr>
        <p:spPr>
          <a:xfrm>
            <a:off x="365760" y="2651760"/>
            <a:ext cx="841248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715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30秒で言うと（そのまま読める台本）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999232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が、メガネ10台で年300万円を払います。掛けた班の書類の時間が1台1日26分減れば元が取れ、想定の35分なら約1.4倍の得です。当社にはAIと保存の費用を引いた216万円が残り、社員1人で約4拠点を見れば黒字です。人を先に雇うので4年目までは赤字ですが、去年のお客様が今年も払う積み上げ型なので、5年目に黒字になります。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017520"/>
            <a:ext cx="102870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マンガでわかる カンツギのもうけの仕組み</dc:title>
  <dc:subject>PptxGenJS Presentation</dc:subject>
  <dc:creator>PptxGenJS</dc:creator>
  <cp:lastModifiedBy>PptxGenJS</cp:lastModifiedBy>
  <cp:revision>1</cp:revision>
  <dcterms:created xsi:type="dcterms:W3CDTF">2026-10-16T03:49:36Z</dcterms:created>
  <dcterms:modified xsi:type="dcterms:W3CDTF">2026-10-16T03:49:36Z</dcterms:modified>
</cp:coreProperties>
</file>