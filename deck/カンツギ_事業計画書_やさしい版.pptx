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前の年までのお客様の利用料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9</c:v>
                </c:pt>
                <c:pt idx="2">
                  <c:v>33</c:v>
                </c:pt>
                <c:pt idx="3">
                  <c:v>78</c:v>
                </c:pt>
                <c:pt idx="4">
                  <c:v>144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新しいお客様の利用料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13.5</c:v>
                </c:pt>
                <c:pt idx="2">
                  <c:v>27</c:v>
                </c:pt>
                <c:pt idx="3">
                  <c:v>40.5</c:v>
                </c:pt>
                <c:pt idx="4">
                  <c:v>49.5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導入支援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</c:v>
                </c:pt>
                <c:pt idx="1">
                  <c:v>18</c:v>
                </c:pt>
                <c:pt idx="2">
                  <c:v>36</c:v>
                </c:pt>
                <c:pt idx="3">
                  <c:v>54</c:v>
                </c:pt>
                <c:pt idx="4">
                  <c:v>66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個社設定</c:v>
                </c:pt>
              </c:strCache>
            </c:strRef>
          </c:tx>
          <c:spPr>
            <a:solidFill>
              <a:srgbClr val="B8C4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1年目</c:v>
                  </c:pt>
                  <c:pt idx="1">
                    <c:v>2年目</c:v>
                  </c:pt>
                  <c:pt idx="2">
                    <c:v>3年目</c:v>
                  </c:pt>
                  <c:pt idx="3">
                    <c:v>4年目</c:v>
                  </c:pt>
                  <c:pt idx="4">
                    <c:v>5年目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</c:v>
                </c:pt>
                <c:pt idx="1">
                  <c:v>7.5</c:v>
                </c:pt>
                <c:pt idx="2">
                  <c:v>11</c:v>
                </c:pt>
                <c:pt idx="3">
                  <c:v>5.5</c:v>
                </c:pt>
                <c:pt idx="4">
                  <c:v>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6350" cap="flat">
              <a:solidFill>
                <a:srgbClr val="B8C4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【表紙・20秒】
要約：数字は3つだけ。300万円、216万円、約4拠点
カンツギです。今日はお金の仕組みを、3つの数字だけでお話しします。お客様が1拠点でメガネ10台分、年300万円払う。そのうち216万円が当社に残る。社員1人で約4拠点を見られれば黒字。この3つです。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【登場人物・30秒】
要約：お金を払うのは電気工事会社。窓口は工事部長
登場人物は4人です。来年定年の熟練の電工、田中さん。入社2年目の施工管理、佐藤くん。報告書と育成で手一杯の山本工事部長。そして私です。ここで大事なのは、お金を払うのは現場の人ではなく会社、つまり工事部長や社長だ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【第1話・40秒】
要約：熟練者の勘は書かれていない。辞めたら止まる
ある日の工事現場。ケーブルの接続で、田中さんは、端末の寸法はテープの巻き始めから測れと言う。佐藤くんには理由が分からない。手順書にも書いていない。工事部長は、来年田中さんが辞めたらどうなるのかと青ざめる。しかも2024年から残業に上限がかかり、工事写真と報告書で教える時間もない。建設業で働く人の3人に1人以上が55歳以上です。これが、全国の工事会社で起きている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【第2話・40秒】
要約：メガネを掛けて、いつも通り働くだけ
そこで、普段のメガネと同じ軽さのAIグラスを掛けてもらいます。全員ではなく、1つの班に1台、職長が掛けます。田中さんは、いつも通り作業するだけ。動画と会話をAIが整理して、三つの形で渡します。若手には、図面とのズレをその場で表示。管理者には、報告書を自動で作成。そして後から、教材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【第3話・40秒】
要約：壁の図面が手元に出る。ミスしやすい所では止めてくれる
今の現場では、2メートル近いケーブルのジョイントの組立図を、わら半紙で壁に貼っています。佐藤くんは壁を見に行って、戻ったら寸法を忘れてしまう。ARグラスなら、実物大の完成形がケーブルの横に出ます。過去にミスがあった所では、赤を切るか青を切るかのように、声とレーザーで止めてくれます。火花や異物から目も守ります。ただし、寸法の最終確認はスケールで。測る道具ではなく、間違いに気づく道具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【第4話・40秒】
要約：会う → 試す → 決める → 広がる
最初のお客様は、関東の中堅の電気工事会社です。中でも、電力会社や官公庁の工事が多く、写真台帳と報告書が多い会社を狙います。業界の勉強会で、2024年からの残業の上限と書類の削減について話します。展示会では、デモを自分の現場に当てはめて試してもらいます。次に、3か月の有償の試験導入で、報告書の時間が本当に減るかを数字で確かめます。本契約になったら、効果が出た班から台数を増やし、協力会社にも同じ形で使ってもら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【お金の話1・40秒】
要約：会社の基盤 月5万円＋メガネ1台 月2万円。10台で年300万円
では、誰が何にいくら払うのか。払うのは電気工事会社です。1拠点、つまり1つの支店や営業所で、会社のデータ置き場や管理画面の基盤に月5万円、メガネ1台ごとに月2万円。標準の10台なら月25万円、年300万円です。報告書の形に整えるところまで、この中に入っています。メガネ本体は、お客様の名前でリースし、手続きは私たちが代わりにします。10台で年約32万円です。初年度だけ、私たちが2か月現場に入る導入支援に200万円いただきます。スマホの契約と同じで、初期設定は最初だけ、月額は毎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【お金の話2・40秒】
要約：1台1日35分減ると年499万円。23分減れば元が取れる
なぜ工事部長は払うのか。メガネを掛けた班では、職長の日報と撮影が1日15分、施工管理者の写真整理と写真台帳が20分減ると考えています。10台を年240日使うと、浮く時間の価値は年約499万円。1時間の人件費は、国の統計の年収に会社が払う社会保険料を足し、残業を含む年1,938時間で割った約3,560円です。お客様が払うのは利用料とリースで年約332万円なので、約1.5倍。逆に言えば、1台1日23分減れば元が取れます。これを実証の合格ライン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【お金の話2つづき・40秒】
要約：計画に入れるのは確かな分だけ。手戻りは測れたら上乗せ
工事部長にとっての効果は、書類の時間だけではありません。やり直しが減れば、ARが効く工種だけでも年約360万円。ただ、これはAIの出来と私たちの監修次第なので、実証で測れるまで計画には入れません。新人の指導は、他の仕事と混ざっていて測れないので、金額にせず、独り立ちまでの月数で測ります。確かな分だけで約1.5倍、手戻りも減れば約2.6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【お金の話3・40秒】
要約：利用料300万円のうち216万円が残る。だから利用料を積み上げる
次に、当社の財布に何が残るか。300万円の利用料のうち、AIの文字起こしや画像の解析、動画の保存の費用が、メガネ1台あたり月約6,000円、会社ごとのデータ置き場が月1万円で、10台なら年84万円。216万円が残ります。導入支援の200万円は、担当者が42人日現場に入り、交通費もかかるので、残るのは約59万円。だから当社は、人が動く仕事ではなく、利用料を積み上げる会社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【お金の話4・40秒】
要約：社員1人で約4拠点を見れば黒字。10台のままでは5年目でも届かない
なぜ赤字が続くのか。社員1人にかかる費用は、給料と会社負担、採用費、家賃などを合わせて年約753万円。1拠点から残るのは216万円。割ると約3.5。新しいお客様は最初の年は半年分しか払わないので、年度末に数えると1人約4拠点が目安です。社員は、営業だけでなく技術や導入コンサルタントも含めた全員です。人を先に雇うので、10台のままでは5年目でも3.52で届きません。だから、効果が出た班からメガネを増やしてもら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【お金の話5・40秒】
要約：去年のお客様が今年も払う。売上は雪だるま式
利用料は毎年いただくので、去年までのお客様の分が今年の売上に乗ります。解約は毎年1割と控えめに見ています。5年目の売上約269百万円のうち、54%は前の年までのお客様からの利用料です。新しいお客様が増えるたびに、雪だるまのように大きくなります。10台のままでは5年目もまだ赤字で、1拠点15台に増やせれば5年目に黒字です。10年で見ると、10台のままでも6年目に黒字になり、8年目に5年間の赤字を取り戻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【お金の話6・30秒】
要約：86万円かけて連れてきたお客様が、1,571万円残してくれる
お客様1拠点を連れてくる費用は約86万円。営業3人の人件費と広告費を、新しいお客様の数で割った数字です。一方、1拠点が7年間で残してくれる粗利は約1,571万円。約18倍です。86万円は約5か月で回収できます。解約が年1割なら平均10年続くので、7年は控えめに見た数字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【お金の話7・40秒】
要約：黒字化の条件は、1拠点の台数。止まる線も先に決める
うまくいかなかったらどうするか。計算すると、1拠点10台のままだと、計画どおりにお客様が増えても5年以内に黒字になりません。でも、効果が出た班から台数を増やして15台にできれば、新しいお客様が計画の6割でも5年目に黒字です。だから大事なのは、拠点の数より、1拠点で使ってもらう台数です。そして止まる線を先に決めます。実証で1台1日23分減れば進む、15分未満なら撤退。1年目の終わりに、試してくれた3社のうち本契約が0社なら撤退か方向転換。2年目の終わりに平均12台に届かなければ、採用を止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【準備期・30秒】
要約：準備期の6か月で、最初の1拠点を動かす
最初の6か月は準備期です。費用は約500万円で、自己資金でまかないます。私の給料はゼロです。3か月で試作品、6か月で1拠点の実証。1台1日23分減ったか、メガネで1日記録できるかを確かめます。合格したら、自己資金の2億円を入れて、仲間を採用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【全体図・30秒】
要約：上の矢印は記録とサービス、下の矢印はお金
1枚にまとめるとこうなります。上の流れが記録とサービス。お客様の現場から記録が来て、照合・報告書・教材にして返す。下の流れがお金。お客様から10台で年300万円が入り、84万円がAIと保存の費用、216万円が残って社員の費用をまかなう。社員1人で約4拠点を超えたら黒字。そして記録が貯まるほど、他社がすぐには真似できな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【ツッコミ対策・50秒】
要約：4つのツッコミには、この一言で返す
よく聞かれる4つの質問への答えです。本当に300万円も払うのか。1台1日23分減れば元が取れます。想定は35分で、実証で測ります。なぜ赤字が続くのか。人を先に雇うからで、社員1人約4拠点を超えたら黒字になります。だから台数を増やしてもらいます。真似されないか。現場の記録は使うほど貯まり、後から来た会社には移せません。日立と同じではないか。日立は自社の保守契約の中で、安全や点検にAIを使っています。当社は中堅の電気工事会社の施工の書類と若手の育成に絞り、月額で提供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【まとめ・30秒】
要約：300万・216万・4。この3つで話せる
まとめです。お客様が10台で年300万円払う。216万円が残る。社員1人約4拠点で黒字。この3つの数字で、すべて説明できます。10年で見ると、10台のままでも6年目に黒字になります。詳しい計算の過程は、別冊の計算詳細版にまとめています。以上で終わります。ご清聴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40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4754880"/>
            <a:ext cx="2999232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42048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8644" y="4802429"/>
            <a:ext cx="868680" cy="1861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7731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現場の勘を次の担い手へ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T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4044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1B365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554480" cy="33310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057400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事業計画書　やさしい版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365760" y="62179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マンガでわかる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カンツギの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もうけの仕組み</a:t>
            </a:r>
            <a:endParaRPr lang="en-US" sz="2800" dirty="0"/>
          </a:p>
        </p:txBody>
      </p:sp>
      <p:sp>
        <p:nvSpPr>
          <p:cNvPr id="6" name="pass-line"/>
          <p:cNvSpPr/>
          <p:nvPr/>
        </p:nvSpPr>
        <p:spPr>
          <a:xfrm>
            <a:off x="6172200" y="411480"/>
            <a:ext cx="26060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F6DB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355080" y="475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元が取れる条件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6355080" y="731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1台1日23分</a:t>
            </a:r>
            <a:endParaRPr lang="en-US" sz="2400" dirty="0"/>
          </a:p>
        </p:txBody>
      </p:sp>
      <p:sp>
        <p:nvSpPr>
          <p:cNvPr id="9" name="num-0"/>
          <p:cNvSpPr/>
          <p:nvPr/>
        </p:nvSpPr>
        <p:spPr>
          <a:xfrm>
            <a:off x="365760" y="1828800"/>
            <a:ext cx="2697480" cy="9144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0292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お客様が払う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300万円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87452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1拠点・10台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1年あたり</a:t>
            </a:r>
            <a:endParaRPr lang="en-US" sz="800" dirty="0"/>
          </a:p>
        </p:txBody>
      </p:sp>
      <p:sp>
        <p:nvSpPr>
          <p:cNvPr id="13" name="num-1"/>
          <p:cNvSpPr/>
          <p:nvPr/>
        </p:nvSpPr>
        <p:spPr>
          <a:xfrm>
            <a:off x="3200400" y="1828800"/>
            <a:ext cx="2697480" cy="9144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33756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当社に残る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33756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216万円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AI・保存の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費用を引いた粗利</a:t>
            </a:r>
            <a:endParaRPr lang="en-US" sz="800" dirty="0"/>
          </a:p>
        </p:txBody>
      </p:sp>
      <p:sp>
        <p:nvSpPr>
          <p:cNvPr id="17" name="num-2"/>
          <p:cNvSpPr/>
          <p:nvPr/>
        </p:nvSpPr>
        <p:spPr>
          <a:xfrm>
            <a:off x="6035040" y="1828800"/>
            <a:ext cx="2697480" cy="9144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17220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黒字のライン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172200" y="21579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約4拠点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54380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社員1人あたり</a:t>
            </a:r>
            <a:endParaRPr lang="en-US" sz="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71800"/>
            <a:ext cx="1143000" cy="1371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65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71800"/>
            <a:ext cx="1143000" cy="1371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若手</a:t>
            </a:r>
            <a:endParaRPr lang="en-US" sz="9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971800"/>
            <a:ext cx="1143000" cy="1371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651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工事部長</a:t>
            </a:r>
            <a:endParaRPr lang="en-US" sz="9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971800"/>
            <a:ext cx="1143000" cy="1371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794760" y="43708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社長（わたし）</a:t>
            </a:r>
            <a:endParaRPr lang="en-US" sz="900" dirty="0"/>
          </a:p>
        </p:txBody>
      </p:sp>
      <p:sp>
        <p:nvSpPr>
          <p:cNvPr id="29" name="cover-bubble"/>
          <p:cNvSpPr/>
          <p:nvPr/>
        </p:nvSpPr>
        <p:spPr>
          <a:xfrm>
            <a:off x="5120640" y="3017520"/>
            <a:ext cx="310896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193792" y="3054096"/>
            <a:ext cx="29626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数字は3つだけ。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これで全部、説明できます！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6035040" y="4754880"/>
            <a:ext cx="2999232" cy="278892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108192" y="4754880"/>
            <a:ext cx="23774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件名 </a:t>
            </a:r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カンツギ 事業計画書 やさしい版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8503920" y="4754880"/>
            <a:ext cx="530352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1／18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8503920" y="4754880"/>
            <a:ext cx="0" cy="278892"/>
          </a:xfrm>
          <a:prstGeom prst="line">
            <a:avLst/>
          </a:prstGeom>
          <a:noFill/>
          <a:ln w="9525">
            <a:solidFill>
              <a:srgbClr val="1B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登場人物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登場人物：お金を払うのは「会社」。窓口は工事部長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この4人で、困りごと → 解決 → お金の流れを追いかける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cast-0"/>
          <p:cNvSpPr/>
          <p:nvPr/>
        </p:nvSpPr>
        <p:spPr>
          <a:xfrm>
            <a:off x="365760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234440"/>
            <a:ext cx="1143000" cy="1371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田中さん（62歳）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熟練の電工。来年、定年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 flipV="1">
            <a:off x="502920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6072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勘で分かる。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でも説明はできん</a:t>
            </a:r>
            <a:endParaRPr lang="en-US" sz="1000" dirty="0"/>
          </a:p>
        </p:txBody>
      </p:sp>
      <p:sp>
        <p:nvSpPr>
          <p:cNvPr id="13" name="cast-1"/>
          <p:cNvSpPr/>
          <p:nvPr/>
        </p:nvSpPr>
        <p:spPr>
          <a:xfrm>
            <a:off x="2499055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395" y="1234440"/>
            <a:ext cx="1143000" cy="1371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590495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佐藤くん（24歳）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590495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入社2年目の施工管理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 flipV="1">
            <a:off x="2636215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709367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田中さんが辞めたら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どうしよう…</a:t>
            </a:r>
            <a:endParaRPr lang="en-US" sz="1000" dirty="0"/>
          </a:p>
        </p:txBody>
      </p:sp>
      <p:sp>
        <p:nvSpPr>
          <p:cNvPr id="19" name="cast-2"/>
          <p:cNvSpPr/>
          <p:nvPr/>
        </p:nvSpPr>
        <p:spPr>
          <a:xfrm>
            <a:off x="4632350" y="1051560"/>
            <a:ext cx="2011680" cy="3154680"/>
          </a:xfrm>
          <a:prstGeom prst="rect">
            <a:avLst/>
          </a:prstGeom>
          <a:solidFill>
            <a:srgbClr val="FFFFFF"/>
          </a:solidFill>
          <a:ln w="31750">
            <a:solidFill>
              <a:srgbClr val="2F6DB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83910" y="1051560"/>
            <a:ext cx="960120" cy="237744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683910" y="10515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お金を払う人</a:t>
            </a:r>
            <a:endParaRPr lang="en-US" sz="8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690" y="1234440"/>
            <a:ext cx="1143000" cy="1371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72379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山本工事部長（50歳）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723790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管理者。お金を払う人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 flipV="1">
            <a:off x="4769510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42662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報告書と育成で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手一杯だ</a:t>
            </a:r>
            <a:endParaRPr lang="en-US" sz="1000" dirty="0"/>
          </a:p>
        </p:txBody>
      </p:sp>
      <p:sp>
        <p:nvSpPr>
          <p:cNvPr id="27" name="cast-3"/>
          <p:cNvSpPr/>
          <p:nvPr/>
        </p:nvSpPr>
        <p:spPr>
          <a:xfrm>
            <a:off x="6765646" y="1051560"/>
            <a:ext cx="201168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986" y="1234440"/>
            <a:ext cx="1143000" cy="1371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857086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社長（わたし）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857086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カンツギ。元・施工管理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 flipV="1">
            <a:off x="6902806" y="3337560"/>
            <a:ext cx="173736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975958" y="3374136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現場の勘を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次の担い手へ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ポイント：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使うのは現場、払うのは会社。だから「会社にとって効果があるか」で値段を決める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現場の物語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第1話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このままだと、現場が止まる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熟練者の勘は手順書に書かれていない。辞めたら消える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24128"/>
            <a:ext cx="1435608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起　ある日の工事現場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87168"/>
            <a:ext cx="1219200" cy="1463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" y="1435608"/>
            <a:ext cx="1792224" cy="7772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147218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端末の寸法は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テープの巻き始め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から測るんじゃ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99055" y="1024128"/>
            <a:ext cx="1435608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563063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承　若手は分からない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495" y="2715768"/>
            <a:ext cx="1028700" cy="123444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615" y="2898648"/>
            <a:ext cx="876300" cy="10515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590495" y="1435608"/>
            <a:ext cx="182880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663647" y="1472184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えっ、なんで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分かるんですか！？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 flipH="1">
            <a:off x="3596335" y="2322576"/>
            <a:ext cx="777240" cy="4114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3669487" y="2359152"/>
            <a:ext cx="630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勘じゃ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632350" y="1024128"/>
            <a:ext cx="1559052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4696358" y="1024128"/>
            <a:ext cx="14676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転　工事部長、青ざめる</a:t>
            </a:r>
            <a:endParaRPr lang="en-US" sz="9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830" y="2624328"/>
            <a:ext cx="1181100" cy="1417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723790" y="1435608"/>
            <a:ext cx="1828800" cy="7772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796942" y="1472184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田中さんは来年定年…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手順書に書いてない！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 rot="-480000">
            <a:off x="5683910" y="22585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ガーン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EAF0F6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765646" y="1024128"/>
            <a:ext cx="1435608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829654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　しかも時間がない</a:t>
            </a:r>
            <a:endParaRPr lang="en-US" sz="9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806" y="2715768"/>
            <a:ext cx="1104900" cy="1325880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0086" y="2944368"/>
            <a:ext cx="548640" cy="548640"/>
          </a:xfrm>
          <a:prstGeom prst="rect">
            <a:avLst/>
          </a:prstGeom>
        </p:spPr>
      </p:pic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806" y="3538728"/>
            <a:ext cx="457200" cy="45720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6857086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6930238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工事写真と報告書で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毎晩残業。教える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時間もない…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8" name="Text 28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現実も同じ：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建設業で働く人の36.7%が55歳以上、29歳以下は11.7%（国交省、2024年）。2024年4月から残業にも上限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現場の物語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第2話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メガネを掛けて、いつも通り働くだけ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動画と会話をAIが整理して、3つの形で渡す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24128"/>
            <a:ext cx="1065276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" y="1024128"/>
            <a:ext cx="9738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掛けるだけ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2848"/>
            <a:ext cx="1097280" cy="10972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35808"/>
            <a:ext cx="876300" cy="10515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57200" y="1408176"/>
            <a:ext cx="1828800" cy="713232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30352" y="14447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いつも通り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やるだけでええんか？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499055" y="1024128"/>
            <a:ext cx="1065276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2563063" y="1024128"/>
            <a:ext cx="9738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AIが整理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935" y="1572768"/>
            <a:ext cx="731520" cy="7315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459175" y="1938528"/>
            <a:ext cx="32004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495" y="1572768"/>
            <a:ext cx="685800" cy="6858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544775" y="2322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動画と会話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3504895" y="23225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AIが整理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 rot="-480000">
            <a:off x="2727655" y="2624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ピコン！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2636215" y="317296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「どの場面で」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「何を見て」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「どう判断したか」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を自動で切り出す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632350" y="1024128"/>
            <a:ext cx="1188720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4696358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若手へ：照合</a:t>
            </a:r>
            <a:endParaRPr lang="en-US" sz="9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830" y="2715768"/>
            <a:ext cx="1143000" cy="13716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723790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4796942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図面と8mmズレてる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って、その場で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教えてくれた！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EAF0F6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765646" y="1024128"/>
            <a:ext cx="1435608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6829654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管理者へ：報告書</a:t>
            </a:r>
            <a:endParaRPr lang="en-US" sz="9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086" y="2715768"/>
            <a:ext cx="1104900" cy="1325880"/>
          </a:xfrm>
          <a:prstGeom prst="rect">
            <a:avLst/>
          </a:prstGeom>
        </p:spPr>
      </p:pic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7518" y="2807208"/>
            <a:ext cx="548640" cy="548640"/>
          </a:xfrm>
          <a:prstGeom prst="rect">
            <a:avLst/>
          </a:prstGeom>
        </p:spPr>
      </p:pic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0086" y="3447288"/>
            <a:ext cx="594360" cy="59436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6857086" y="1408176"/>
            <a:ext cx="1828800" cy="9601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7" name="Text 26"/>
          <p:cNvSpPr txBox="1"/>
          <p:nvPr/>
        </p:nvSpPr>
        <p:spPr>
          <a:xfrm>
            <a:off x="6930238" y="1444752"/>
            <a:ext cx="16824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報告書が勝手に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できてる！教材にも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なるのか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9" name="Text 28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渡す先は3つ：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若手へ（図面と照合）　管理者へ（報告書を自動作成）　あとから（教材・研修資料）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現場の物語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第3話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壁の図面が、手元に出る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約2mのケーブルジョイント。わら半紙の組立図を見に行く往復をなくす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24128"/>
            <a:ext cx="1188720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いつもの現場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08760" y="2441448"/>
            <a:ext cx="731520" cy="914400"/>
          </a:xfrm>
          <a:prstGeom prst="rect">
            <a:avLst/>
          </a:prstGeom>
          <a:solidFill>
            <a:srgbClr val="FFF4C2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08760" y="2441448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組立図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（壁）</a:t>
            </a:r>
            <a:endParaRPr lang="en-US" sz="8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52928"/>
            <a:ext cx="1066800" cy="12801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30352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壁の図面を見に行って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戻ったら寸法を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忘れた…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499055" y="1024128"/>
            <a:ext cx="1188720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563063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ARで手元に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636215" y="3721608"/>
            <a:ext cx="521208" cy="182880"/>
          </a:xfrm>
          <a:prstGeom prst="rect">
            <a:avLst/>
          </a:prstGeom>
          <a:solidFill>
            <a:srgbClr val="4A5563"/>
          </a:solidFill>
          <a:ln/>
        </p:spPr>
      </p:sp>
      <p:sp>
        <p:nvSpPr>
          <p:cNvPr id="19" name="Shape 15"/>
          <p:cNvSpPr/>
          <p:nvPr/>
        </p:nvSpPr>
        <p:spPr>
          <a:xfrm>
            <a:off x="3157423" y="3721608"/>
            <a:ext cx="694944" cy="182880"/>
          </a:xfrm>
          <a:prstGeom prst="rect">
            <a:avLst/>
          </a:prstGeom>
          <a:solidFill>
            <a:srgbClr val="B8C4D0"/>
          </a:solidFill>
          <a:ln/>
        </p:spPr>
      </p:sp>
      <p:sp>
        <p:nvSpPr>
          <p:cNvPr id="20" name="Shape 16"/>
          <p:cNvSpPr/>
          <p:nvPr/>
        </p:nvSpPr>
        <p:spPr>
          <a:xfrm>
            <a:off x="3852367" y="3721608"/>
            <a:ext cx="521208" cy="182880"/>
          </a:xfrm>
          <a:prstGeom prst="rect">
            <a:avLst/>
          </a:prstGeom>
          <a:solidFill>
            <a:srgbClr val="4A5563"/>
          </a:solidFill>
          <a:ln/>
        </p:spPr>
      </p:sp>
      <p:sp>
        <p:nvSpPr>
          <p:cNvPr id="21" name="Shape 17"/>
          <p:cNvSpPr/>
          <p:nvPr/>
        </p:nvSpPr>
        <p:spPr>
          <a:xfrm>
            <a:off x="3157423" y="3584448"/>
            <a:ext cx="694944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F6DB5"/>
            </a:solidFill>
            <a:prstDash val="dash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95" y="2441448"/>
            <a:ext cx="876300" cy="10515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2590495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663647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実物大の完成形が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ケーブルの横に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出た！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32350" y="1024128"/>
            <a:ext cx="1435608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696358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赤を切るか、青か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906670" y="3127248"/>
            <a:ext cx="1463040" cy="0"/>
          </a:xfrm>
          <a:prstGeom prst="line">
            <a:avLst/>
          </a:prstGeom>
          <a:noFill/>
          <a:ln w="63500">
            <a:solidFill>
              <a:srgbClr val="C6282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906670" y="3447288"/>
            <a:ext cx="1463040" cy="0"/>
          </a:xfrm>
          <a:prstGeom prst="line">
            <a:avLst/>
          </a:prstGeom>
          <a:noFill/>
          <a:ln w="63500">
            <a:solidFill>
              <a:srgbClr val="2F6DB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409590" y="3630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✂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 flipH="1">
            <a:off x="4723790" y="1408176"/>
            <a:ext cx="1828800" cy="82296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796942" y="1444752"/>
            <a:ext cx="1682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ここは過去にミスあり。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赤を切れ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 rot="-480000">
            <a:off x="4860950" y="2350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ピピッ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EAF0F6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765646" y="1024128"/>
            <a:ext cx="941832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6829654" y="1024128"/>
            <a:ext cx="850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目も守る</a:t>
            </a:r>
            <a:endParaRPr lang="en-US" sz="9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126" y="2715768"/>
            <a:ext cx="1143000" cy="137160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 rot="-480000">
            <a:off x="7771486" y="2304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バチッ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6857086" y="1408176"/>
            <a:ext cx="1828800" cy="77724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930238" y="1444752"/>
            <a:ext cx="1682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火花が飛んでも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目は守られとる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約束：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寸法の最終確認はスケールで。ARは「測る道具」ではなく「理解して、間違いに気づく道具」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現場の物語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第4話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最初のお客様に、どう会う？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関東の中堅電気工事会社（施工管理者30人以上）から。会う → 試す → 決める → 広がる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024128"/>
            <a:ext cx="1188720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勉強会で話す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24328"/>
            <a:ext cx="1181100" cy="1417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0352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2024年からの残業上限、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書類の時間を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減らしませんか？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499055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99055" y="1024128"/>
            <a:ext cx="1188720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563063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展示会で試す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975" y="2350008"/>
            <a:ext cx="1005840" cy="100584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75" y="3035808"/>
            <a:ext cx="876300" cy="10515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590495" y="1408176"/>
            <a:ext cx="182880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663647" y="1444752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自分の現場で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試してみたい！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632350" y="1024128"/>
            <a:ext cx="2011680" cy="32004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32350" y="1024128"/>
            <a:ext cx="1435608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4696358" y="1024128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3か月の試験導入</a:t>
            </a:r>
            <a:endParaRPr lang="en-US" sz="9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830" y="2670048"/>
            <a:ext cx="1143000" cy="13716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723790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796942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報告書の時間が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本当に減るか、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数字で見たい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 rot="-480000">
            <a:off x="5729630" y="2350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実測！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6765646" y="1024128"/>
            <a:ext cx="2011680" cy="3200400"/>
          </a:xfrm>
          <a:prstGeom prst="rect">
            <a:avLst/>
          </a:prstGeom>
          <a:solidFill>
            <a:srgbClr val="EAF0F6"/>
          </a:solidFill>
          <a:ln w="28575">
            <a:solidFill>
              <a:srgbClr val="1B365D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765646" y="1024128"/>
            <a:ext cx="1188720" cy="246888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829654" y="1024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本契約と紹介</a:t>
            </a:r>
            <a:endParaRPr lang="en-US" sz="9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086" y="2807208"/>
            <a:ext cx="990600" cy="1188720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7206" y="2944368"/>
            <a:ext cx="876300" cy="10515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857086" y="1408176"/>
            <a:ext cx="1828800" cy="91440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930238" y="1444752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協力会社にも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同じ形で使って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もらおう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65760" y="4315968"/>
            <a:ext cx="8412480" cy="347472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5年の見込み：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条件に合う約180社を中心に5年で約85拠点（解約を引いて81）。効果が出た班から台数を増やす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お金の話1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誰が、何に、いくら払う？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払うのは電気工事会社。会社の基盤＋メガネの台数。10台で年300万円、初年度だけ導入支援200万円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005840" cy="100584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60320"/>
            <a:ext cx="876300" cy="10515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7160" y="36576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電気工事会社（お客様）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011680"/>
            <a:ext cx="1181100" cy="1417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3429000" y="34747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カンツギ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1783080" y="2011680"/>
            <a:ext cx="1737360" cy="0"/>
          </a:xfrm>
          <a:prstGeom prst="line">
            <a:avLst/>
          </a:prstGeom>
          <a:noFill/>
          <a:ln w="50800">
            <a:solidFill>
              <a:srgbClr val="2F6DB5"/>
            </a:solidFill>
            <a:prstDash val="solid"/>
            <a:tailEnd type="triangle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32588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737360" y="2121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年300万円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（10台・月25万円）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1783080" y="3017520"/>
            <a:ext cx="1737360" cy="0"/>
          </a:xfrm>
          <a:prstGeom prst="line">
            <a:avLst/>
          </a:prstGeom>
          <a:noFill/>
          <a:ln w="25400">
            <a:solidFill>
              <a:srgbClr val="7B8794"/>
            </a:solidFill>
            <a:prstDash val="dash"/>
            <a:tailEnd type="triangle"/>
          </a:ln>
        </p:spPr>
      </p:sp>
      <p:sp>
        <p:nvSpPr>
          <p:cNvPr id="16" name="Text 9"/>
          <p:cNvSpPr txBox="1"/>
          <p:nvPr/>
        </p:nvSpPr>
        <p:spPr>
          <a:xfrm>
            <a:off x="1737360" y="3090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初年度だけ ＋200万円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（導入支援）</a:t>
            </a:r>
            <a:endParaRPr lang="en-US" sz="950" dirty="0"/>
          </a:p>
        </p:txBody>
      </p:sp>
      <p:sp>
        <p:nvSpPr>
          <p:cNvPr id="17" name="receipt"/>
          <p:cNvSpPr/>
          <p:nvPr/>
        </p:nvSpPr>
        <p:spPr>
          <a:xfrm>
            <a:off x="5074920" y="1051560"/>
            <a:ext cx="370332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525780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御請求書（1拠点・1年分）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257800" y="1481328"/>
            <a:ext cx="33375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25780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会社の基盤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データ置き場・管理画面 月5万円×12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7635240" y="1554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60万円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52578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メガネの利用料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 月2万円×10台×12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7635240" y="20574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240万円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257800" y="2606040"/>
            <a:ext cx="33375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257800" y="2670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合計（毎年）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086600" y="26700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300万円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5257800" y="3108960"/>
            <a:ext cx="3337560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dash"/>
          </a:ln>
        </p:spPr>
      </p:sp>
      <p:sp>
        <p:nvSpPr>
          <p:cNvPr id="28" name="Text 21"/>
          <p:cNvSpPr txBox="1"/>
          <p:nvPr/>
        </p:nvSpPr>
        <p:spPr>
          <a:xfrm>
            <a:off x="5257800" y="31729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初年度だけ　導入支援 200万円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メガネ本体はお客様の名前でリース、手続きは当社（10台で年約32万円）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65760" y="4069080"/>
            <a:ext cx="8412480" cy="566928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502920" y="406908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たとえるなら、スマホの契約と同じ。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初期設定（導入支援）は最初だけ。月額料金（利用料）は毎月入ってくる。台数が増えれば、そのぶん月額も増える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お金の話2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工事部長は、なぜ払うの？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メガネを掛けた班の書類の時間が減る。1台1日23分減れば元が取れる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97280"/>
            <a:ext cx="1097280" cy="82296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576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メガネの数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499616" y="1234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810512" y="1097280"/>
            <a:ext cx="1097280" cy="82296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10512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240日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810512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1年に使う日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2944368" y="1234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255264" y="1097280"/>
            <a:ext cx="1097280" cy="82296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55264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35分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55264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1台1日減る時間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4389120" y="1234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×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700016" y="1097280"/>
            <a:ext cx="1097280" cy="82296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700016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約3,560円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700016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1時間の人件費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5833872" y="1234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144768" y="1097280"/>
            <a:ext cx="16002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144768" y="11704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年499万円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144768" y="16093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浮く時間の価値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36576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1年あたり（2年目以降）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365760" y="2450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払うお金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554480" y="2450592"/>
            <a:ext cx="2274661" cy="365760"/>
          </a:xfrm>
          <a:prstGeom prst="rect">
            <a:avLst/>
          </a:prstGeom>
          <a:solidFill>
            <a:srgbClr val="7B879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902293" y="2450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年332万円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2907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浮くお金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554480" y="2907792"/>
            <a:ext cx="3422354" cy="36576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049986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年499万円</a:t>
            </a:r>
            <a:endParaRPr lang="en-US" sz="10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148840"/>
            <a:ext cx="1028700" cy="123444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 flipH="1">
            <a:off x="5989320" y="2011680"/>
            <a:ext cx="1600200" cy="6400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062472" y="2048256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1日23分減れば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元が取れるのか！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365760" y="3566160"/>
            <a:ext cx="8412480" cy="1078992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502920" y="356616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元が取れる条件：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払うお金332万円 ÷（10台×240日）÷ 1時間の人件費 ＝ 1台1日約23分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35分って？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職長の日報・撮影15分＋施工管理者の写真整理・写真台帳20分（実証で測る）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1時間の人件費って？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国の統計の年収×会社負担1.17÷残業を含む年1,938時間（電工約3,300円・施工管理約3,700円）</a:t>
            </a:r>
            <a:endParaRPr lang="en-US" sz="950" dirty="0"/>
          </a:p>
          <a:p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初年度は？</a:t>
            </a:r>
            <a:pPr algn="l" indent="0" marL="0">
              <a:lnSpc>
                <a:spcPct val="115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導入支援200万円も払うので、約13か月で元が取れる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お金の話2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つづき：計画に入れるのは、確かな分だけ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確かな分（書類の時間）で約1.5倍。手戻りも減れば約2.6倍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1737360" cy="1920240"/>
          </a:xfrm>
          <a:prstGeom prst="rect">
            <a:avLst/>
          </a:prstGeom>
          <a:solidFill>
            <a:srgbClr val="EAF0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61288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8912" y="18379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書類・写真整理の時間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38912" y="211226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年499万円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38912" y="244144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計画に入れる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438912" y="262432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10台×240日×（職長15分＋施工管理20分）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2240280" y="105156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161288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313432" y="18379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手戻り（上振れ）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2313432" y="211226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年360万円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2313432" y="244144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測れたら上乗せ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2313432" y="262432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完成工事高30億円×2%×対象工種30%×削減20%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4114800" y="1051560"/>
            <a:ext cx="1737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4D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61288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187952" y="18379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新人の指導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4187952" y="2112264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月数で測る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187952" y="244144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金額にしない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4187952" y="262432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金額にせず、独り立ちの月数で測る</a:t>
            </a:r>
            <a:endParaRPr lang="en-US" sz="700" dirty="0"/>
          </a:p>
        </p:txBody>
      </p:sp>
      <p:sp>
        <p:nvSpPr>
          <p:cNvPr id="25" name="Shape 19"/>
          <p:cNvSpPr/>
          <p:nvPr/>
        </p:nvSpPr>
        <p:spPr>
          <a:xfrm>
            <a:off x="365760" y="3108960"/>
            <a:ext cx="5532120" cy="6858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02920" y="3108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計画に入れる効果 </a:t>
            </a:r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年499万円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払うのは332万円 → 約1.5倍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63040"/>
            <a:ext cx="1181100" cy="141732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 flipH="1">
            <a:off x="6126480" y="1024128"/>
            <a:ext cx="146304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199632" y="1060704"/>
            <a:ext cx="13167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確かな分だけで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元が取れるなら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安心だ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26480" y="2971800"/>
            <a:ext cx="26517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DB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217920" y="2971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浮く時間 年1,400時間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10台分。掛けた班の時間だけを数える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大きく言わない：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効果を数えるのは全員ではなく、メガネを掛けた班だけ。手戻りはAIの出来と当社の監修しだいなので、測れてから足す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お金の話3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うちの財布に、何が残る？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利用料は72%が残る。導入支援は約3割しか残らない。だから利用料を積み上げる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840480"/>
            <a:ext cx="493776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051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利用料（毎年）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91640"/>
            <a:ext cx="868680" cy="2148840"/>
          </a:xfrm>
          <a:prstGeom prst="rect">
            <a:avLst/>
          </a:prstGeom>
          <a:solidFill>
            <a:srgbClr val="1B365D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" y="1399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300万円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463040" y="1691640"/>
            <a:ext cx="868680" cy="601675"/>
          </a:xfrm>
          <a:prstGeom prst="rect">
            <a:avLst/>
          </a:prstGeom>
          <a:solidFill>
            <a:srgbClr val="7B8794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80160" y="1399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−84万円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8880" y="2293315"/>
            <a:ext cx="868680" cy="1547165"/>
          </a:xfrm>
          <a:prstGeom prst="rect">
            <a:avLst/>
          </a:prstGeom>
          <a:solidFill>
            <a:srgbClr val="2F6DB5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286000" y="2000707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216万円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受け取る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AI・保存の費用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残る（粗利）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導入支援（初年度だけ）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566160" y="2407920"/>
            <a:ext cx="640080" cy="1432560"/>
          </a:xfrm>
          <a:prstGeom prst="rect">
            <a:avLst/>
          </a:prstGeom>
          <a:solidFill>
            <a:srgbClr val="1B365D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83280" y="211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200万円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43400" y="3417875"/>
            <a:ext cx="640080" cy="422605"/>
          </a:xfrm>
          <a:prstGeom prst="rect">
            <a:avLst/>
          </a:prstGeom>
          <a:solidFill>
            <a:srgbClr val="7B8794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60520" y="3125267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59万円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受け取る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16052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残る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2407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141万円は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担当者42人日</a:t>
            </a:r>
            <a:endParaRPr lang="en-US" sz="8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と交通費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 flipH="1">
            <a:off x="5623560" y="1051560"/>
            <a:ext cx="228600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96712" y="1088136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人が動く仕事は残りが少ない。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だから利用料を積み上げる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会社にします！</a:t>
            </a:r>
            <a:endParaRPr lang="en-US" sz="10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952500" cy="11430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623560" y="2697480"/>
            <a:ext cx="3154680" cy="114300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760720" y="27432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粗利（あらり）とは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売上から、そのサービスを作るのに直接かかったお金を引いた残り。ここから社員の給料や家賃を払う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1拠点10台あたり。AI・保存の費用＝メガネ1台 月約6,000円＋会社ごとのデータ置き場 月1万円（大事な場面だけ送る前提）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お金の話4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なぜ赤字が続く？ 合言葉は「4」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社員1人で約4拠点を見られれば黒字。10台のままでは5年目でも3.52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97280"/>
            <a:ext cx="3931920" cy="141732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社員1人にかかる費用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年753万円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1325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÷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42316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1拠点から残る粗利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年216万円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1847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3.5　→　</a:t>
            </a:r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目安 約4拠点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2402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新しいお客様は最初の年は半年分しか払わないので、年度末に数えると約4</a:t>
            </a:r>
            <a:endParaRPr lang="en-US" sz="8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97480"/>
            <a:ext cx="990600" cy="118872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063240"/>
            <a:ext cx="548640" cy="54864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3063240"/>
            <a:ext cx="548640" cy="54864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3063240"/>
            <a:ext cx="548640" cy="54864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063240"/>
            <a:ext cx="548640" cy="54864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554480" y="3703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1人で、約4拠点（支店・営業所）を見る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4617720" y="109728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社員1人あたりの拠点数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4617720" y="3794760"/>
            <a:ext cx="4160520" cy="0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4800600" y="3514344"/>
            <a:ext cx="502920" cy="28041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4663440" y="32766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0.60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4663440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1年目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4617720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3拠点÷5人</a:t>
            </a:r>
            <a:endParaRPr lang="en-US" sz="750" dirty="0"/>
          </a:p>
        </p:txBody>
      </p:sp>
      <p:sp>
        <p:nvSpPr>
          <p:cNvPr id="25" name="Shape 17"/>
          <p:cNvSpPr/>
          <p:nvPr/>
        </p:nvSpPr>
        <p:spPr>
          <a:xfrm>
            <a:off x="5586984" y="3093720"/>
            <a:ext cx="502920" cy="7010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5449824" y="28559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1.50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5449824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2年目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5404104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12拠点÷8人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6373368" y="2665307"/>
            <a:ext cx="502920" cy="1129453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236208" y="2427563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2.42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6236208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3年目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6190488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29拠点÷12人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7159752" y="2418644"/>
            <a:ext cx="502920" cy="1376116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7022592" y="21809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2.94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7022592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4年目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6976872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53拠点÷18人</a:t>
            </a:r>
            <a:endParaRPr lang="en-US" sz="750" dirty="0"/>
          </a:p>
        </p:txBody>
      </p:sp>
      <p:sp>
        <p:nvSpPr>
          <p:cNvPr id="37" name="Shape 29"/>
          <p:cNvSpPr/>
          <p:nvPr/>
        </p:nvSpPr>
        <p:spPr>
          <a:xfrm>
            <a:off x="7946136" y="2148840"/>
            <a:ext cx="502920" cy="16459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7808976" y="19110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3.52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7808976" y="38313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5年目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7763256" y="4023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81拠点÷23人</a:t>
            </a:r>
            <a:endParaRPr lang="en-US" sz="750" dirty="0"/>
          </a:p>
        </p:txBody>
      </p:sp>
      <p:sp>
        <p:nvSpPr>
          <p:cNvPr id="41" name="Shape 33"/>
          <p:cNvSpPr/>
          <p:nvPr/>
        </p:nvSpPr>
        <p:spPr>
          <a:xfrm>
            <a:off x="4617720" y="1925320"/>
            <a:ext cx="4160520" cy="0"/>
          </a:xfrm>
          <a:prstGeom prst="line">
            <a:avLst/>
          </a:prstGeom>
          <a:noFill/>
          <a:ln w="22225">
            <a:solidFill>
              <a:srgbClr val="2F6DB5"/>
            </a:solidFill>
            <a:prstDash val="dash"/>
          </a:ln>
        </p:spPr>
      </p:sp>
      <p:sp>
        <p:nvSpPr>
          <p:cNvPr id="42" name="Text 34"/>
          <p:cNvSpPr txBox="1"/>
          <p:nvPr/>
        </p:nvSpPr>
        <p:spPr>
          <a:xfrm>
            <a:off x="4663440" y="1678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目安 4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4663440" y="1325880"/>
            <a:ext cx="1828800" cy="73152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4736592" y="1362456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人を先に雇うから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5年目でもまだ赤字。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台数を増やして届かせる！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社員1人の費用＝5年目の販管費17,313万円÷23人（営業・技術・導入コンサルタントの全員。給料・会社負担・採用費・家賃などを含む）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お金の話5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去年のお客様が今年も払う。売上は雪だるま式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5年目の売上約269百万円のうち54%は、前の年までのお客様の利用料（解約は年1割で引く）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graphicFrame>
        <p:nvGraphicFramePr>
          <p:cNvPr id="7" name="snowball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715000" y="10515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売上（百万円）</a:t>
            </a:r>
            <a:endParaRPr lang="en-US" sz="1050" dirty="0"/>
          </a:p>
        </p:txBody>
      </p:sp>
      <p:graphicFrame>
        <p:nvGraphicFramePr>
          <p:cNvPr id="13" name="sales-o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25880"/>
          <a:ext cx="3063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0584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売上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営業利益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1年目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12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▲48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2年目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48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▲48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3年目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107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▲37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4年目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178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▲39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269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▲11</a:t>
                      </a:r>
                      <a:endParaRPr lang="en-US" sz="10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715000" y="2852928"/>
            <a:ext cx="3063240" cy="237744"/>
          </a:xfrm>
          <a:prstGeom prst="rect">
            <a:avLst/>
          </a:prstGeom>
          <a:solidFill>
            <a:srgbClr val="FFF4C2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10年なら：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6年目に黒字、8年目に赤字を回収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154680"/>
            <a:ext cx="990600" cy="11887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 flipH="1">
            <a:off x="5715000" y="3200400"/>
            <a:ext cx="1783080" cy="86868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5788152" y="3236976"/>
            <a:ext cx="16367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新しいお客様が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増えるたびに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大きくなる！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365760" y="43434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新しいお客様は年の途中で始めるので、初年度の利用料は半年分で計算。1年目の3拠点は試験導入（利用料なし）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お金の話6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86万円のエサで、1,571万円の魚を釣る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1拠点を連れてくる費用（CAC）と、1拠点が残してくれる粗利（LTV）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97280"/>
            <a:ext cx="3291840" cy="26060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連れてくる費用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CAC（キャック）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約86万円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（営業3人の人件費2,340万円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＋広告・展示会500万円）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÷ 新しいお客様33拠点（5年目）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70332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約18倍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3749040" y="2468880"/>
            <a:ext cx="1280160" cy="0"/>
          </a:xfrm>
          <a:prstGeom prst="line">
            <a:avLst/>
          </a:prstGeom>
          <a:noFill/>
          <a:ln w="38100">
            <a:solidFill>
              <a:srgbClr val="2F6DB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120640" y="1097280"/>
            <a:ext cx="3657600" cy="2606040"/>
          </a:xfrm>
          <a:prstGeom prst="rect">
            <a:avLst/>
          </a:prstGeom>
          <a:solidFill>
            <a:srgbClr val="1B365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1005840" cy="10058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1325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残してくれる粗利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LTV（エルティーブイ）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約1,571万円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5257800" y="25146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年216万円 × 7年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＋ 導入支援の粗利59万円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7年は控えめ。解約が年1割なら平均10年続く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886200"/>
            <a:ext cx="8412480" cy="731520"/>
          </a:xfrm>
          <a:prstGeom prst="rect">
            <a:avLst/>
          </a:prstGeom>
          <a:solidFill>
            <a:srgbClr val="EAF0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3632"/>
            <a:ext cx="571500" cy="685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4300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86万円は約5か月で回収（86万円 ÷ 月18万円の粗利）。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目安は「LTVがCACの3倍以上」。当社は約18倍なので、お客様を増やすほど会社が強くなる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お金の話7 </a:t>
            </a:r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どうすれば黒字？ 条件は1拠点の台数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10台のままだと計画どおりでも5年で黒字にならない。15台に増やせれば6割でも5年目に黒字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10241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新規拠点が計画に届かなかったら（採用も拠点数に合わせて遅らせる・百万円）</a:t>
            </a:r>
            <a:endParaRPr lang="en-US" sz="1000" dirty="0"/>
          </a:p>
        </p:txBody>
      </p:sp>
      <p:graphicFrame>
        <p:nvGraphicFramePr>
          <p:cNvPr id="15" name="shortfal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27048"/>
          <a:ext cx="84124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960120"/>
                <a:gridCol w="960120"/>
                <a:gridCol w="868680"/>
                <a:gridCol w="960120"/>
                <a:gridCol w="1051560"/>
                <a:gridCol w="86868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新規の達成度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新規拠点（1〜5年目）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黒字化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5年目利益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最低現金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黒字化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5年目利益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最低現金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計画どおり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4A556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3・9・18・27・33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5年でしない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▲11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110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計画の9割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556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3・8・16・24・30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5年でしない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▲17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49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31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105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計画の8割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556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2・7・14・22・26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5年でしない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▲22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47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21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105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計画の7割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556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2・6・13・19・23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5年でしない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▲26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28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計画の6割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A556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2・5・11・16・20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5年でしない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▲30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29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365D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92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3108960" y="1298448"/>
            <a:ext cx="2788920" cy="210312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1拠点10台のまま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5897880" y="1298448"/>
            <a:ext cx="2880360" cy="210312"/>
          </a:xfrm>
          <a:prstGeom prst="rect">
            <a:avLst/>
          </a:prstGeom>
          <a:solidFill>
            <a:srgbClr val="EAF0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1拠点15台に増やせた場合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365760" y="29626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進む・直す・止まるの線（案）</a:t>
            </a:r>
            <a:endParaRPr lang="en-US" sz="1000" dirty="0"/>
          </a:p>
        </p:txBody>
      </p:sp>
      <p:graphicFrame>
        <p:nvGraphicFramePr>
          <p:cNvPr id="29" name="gat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18688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463040"/>
                <a:gridCol w="228600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時期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測るもの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進む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直す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止まる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B36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実証（準備期）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1台1日の削減時間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23分以上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15〜23分：機能を写真台帳に絞る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15分未満：撤退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1年目末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試験導入3社の本契約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2社以上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1社：値段と顧客を見直す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C62828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0社：撤退か方向転換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2年目末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新規拠点・1拠点の台数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5拠点以上・平均12台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5拠点未満：採用を止める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3年目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追加の5,000万円を入れるか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継続率90%以上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未達：追加額と採用を絞る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─</a:t>
                      </a:r>
                      <a:endParaRPr lang="en-US" sz="8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365760" y="455371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上の表：新しい拠点が計画の何割だったら、何年目に黒字になるか（百万円）。下の表：進む・直す・止まるを先に決めておく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準備期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準備期の6か月で、最初の1拠点を動かす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費用は約500万円。自己資金でまかない、創業者の給料はゼロ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97280"/>
            <a:ext cx="1965960" cy="13716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75488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はじまり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75488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準備期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75488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自己資金で約500万円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50008" y="1783080"/>
            <a:ext cx="13716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496312" y="1097280"/>
            <a:ext cx="1965960" cy="1371600"/>
          </a:xfrm>
          <a:prstGeom prst="rect">
            <a:avLst/>
          </a:prstGeom>
          <a:solidFill>
            <a:srgbClr val="EAF0F6"/>
          </a:solidFill>
          <a:ln w="9525">
            <a:solidFill>
              <a:srgbClr val="B8C4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0604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3か月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60604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試作品ができる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記録→写真抽出→報告書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80560" y="1783080"/>
            <a:ext cx="13716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626864" y="1097280"/>
            <a:ext cx="1965960" cy="1371600"/>
          </a:xfrm>
          <a:prstGeom prst="rect">
            <a:avLst/>
          </a:prstGeom>
          <a:solidFill>
            <a:srgbClr val="EAF0F6"/>
          </a:solidFill>
          <a:ln w="9525">
            <a:solidFill>
              <a:srgbClr val="B8C4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36592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6か月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736592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1拠点で実証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736592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1台1日23分減ったかを測る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11112" y="1783080"/>
            <a:ext cx="137160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757416" y="1097280"/>
            <a:ext cx="1965960" cy="1371600"/>
          </a:xfrm>
          <a:prstGeom prst="rect">
            <a:avLst/>
          </a:prstGeom>
          <a:solidFill>
            <a:srgbClr val="EAF0F6"/>
          </a:solidFill>
          <a:ln w="9525">
            <a:solidFill>
              <a:srgbClr val="B8C4D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67144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その後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867144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自己資金2億円を入れる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867144" y="1993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実証に合格したら採用を始める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365760" y="2697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準備期の費用（万円）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65760" y="29900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試作品の開発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11680" y="3026664"/>
            <a:ext cx="2194560" cy="182880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251960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250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65760" y="3291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実証（1拠点・3か月）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011680" y="3328416"/>
            <a:ext cx="877824" cy="1828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935224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365760" y="3593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メガネ・機材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011680" y="3630168"/>
            <a:ext cx="702259" cy="1828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759659" y="35935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365760" y="38953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設立・契約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011680" y="3931920"/>
            <a:ext cx="351130" cy="1828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2408530" y="3895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365760" y="41970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予備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011680" y="4233672"/>
            <a:ext cx="263347" cy="1828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320747" y="4197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572000" y="2697480"/>
            <a:ext cx="42062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F6DB5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926080"/>
            <a:ext cx="1066800" cy="1280160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5852160" y="278892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実証の合格ライン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1台1日23分以上減れば進む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15分未満なら撤退。その間なら機能を写真台帳に絞る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お願い：実証先の電気工事会社のご紹介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1枚で言うと：上は記録とサービス、下はお金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記録が貯まるほど他社がすぐに真似できなくなり、お客様が増えるほど黒字が厚くなる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371600"/>
            <a:ext cx="19202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5760" y="2651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電気工事会社（お客様）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17520"/>
            <a:ext cx="723900" cy="86868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723900" cy="8686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6576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熟練者・若手・工事部長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3429000" y="1371600"/>
            <a:ext cx="2240280" cy="2926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3429000" y="1463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カンツギ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828800"/>
            <a:ext cx="640080" cy="6400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520440" y="25146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AIが整理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記録が貯まるほど、他社が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すぐに真似できなくなる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3520440" y="3383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1拠点の粗利 216万円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（300万円 − AI・保存84万円）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2377440" y="1737360"/>
            <a:ext cx="960120" cy="0"/>
          </a:xfrm>
          <a:prstGeom prst="line">
            <a:avLst/>
          </a:prstGeom>
          <a:noFill/>
          <a:ln w="317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19" name="Text 12"/>
          <p:cNvSpPr txBox="1"/>
          <p:nvPr/>
        </p:nvSpPr>
        <p:spPr>
          <a:xfrm>
            <a:off x="2286000" y="14356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動画と会話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 flipH="1">
            <a:off x="2377440" y="2514600"/>
            <a:ext cx="960120" cy="0"/>
          </a:xfrm>
          <a:prstGeom prst="line">
            <a:avLst/>
          </a:prstGeom>
          <a:noFill/>
          <a:ln w="317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1" name="Text 14"/>
          <p:cNvSpPr txBox="1"/>
          <p:nvPr/>
        </p:nvSpPr>
        <p:spPr>
          <a:xfrm>
            <a:off x="2286000" y="2011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照合・報告書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・教材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2377440" y="3749040"/>
            <a:ext cx="960120" cy="0"/>
          </a:xfrm>
          <a:prstGeom prst="line">
            <a:avLst/>
          </a:prstGeom>
          <a:noFill/>
          <a:ln w="50800">
            <a:solidFill>
              <a:srgbClr val="2F6DB5"/>
            </a:solidFill>
            <a:prstDash val="solid"/>
            <a:tailEnd type="triangle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15468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286000" y="3840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年300万円（10台）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5705856" y="2011680"/>
            <a:ext cx="347472" cy="0"/>
          </a:xfrm>
          <a:prstGeom prst="line">
            <a:avLst/>
          </a:prstGeom>
          <a:noFill/>
          <a:ln w="317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6" name="Shape 18"/>
          <p:cNvSpPr/>
          <p:nvPr/>
        </p:nvSpPr>
        <p:spPr>
          <a:xfrm>
            <a:off x="5705856" y="3566160"/>
            <a:ext cx="347472" cy="0"/>
          </a:xfrm>
          <a:prstGeom prst="line">
            <a:avLst/>
          </a:prstGeom>
          <a:noFill/>
          <a:ln w="3175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6080760" y="1371600"/>
            <a:ext cx="2697480" cy="128016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190488" y="1417320"/>
            <a:ext cx="2478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 出ていくお金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AI・保存：メガネ1台 月約6,000円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社員1人：年753万円（給料・家賃など）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080760" y="2880360"/>
            <a:ext cx="269748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F6DB5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190488" y="2926080"/>
            <a:ext cx="2478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⑤ 黒字の条件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 × 約4拠点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10台のままでは5年目でも3.52</a:t>
            </a:r>
            <a:endParaRPr lang="en-US" sz="1000" dirty="0"/>
          </a:p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15台に増やせれば5年目に黒字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5760" y="443484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将来：貯まった作業の記録で、ロボットに作業を教える（フィジカルAI）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よくあるツッコミ4つ：この一言で返す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答えは必ず数字から言う。理由は後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24128"/>
            <a:ext cx="647700" cy="777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1078992"/>
            <a:ext cx="2514600" cy="475488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170432" y="111556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本当に年300万円も払うの？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 flipH="1">
            <a:off x="3611880" y="1042416"/>
            <a:ext cx="4206240" cy="530352"/>
          </a:xfrm>
          <a:prstGeom prst="wedgeRoundRectCallout">
            <a:avLst/>
          </a:prstGeom>
          <a:solidFill>
            <a:srgbClr val="EAF0F6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685032" y="1078992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1台1日23分減れば元が取れます。想定は35分で、実証で測ります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24128"/>
            <a:ext cx="647700" cy="777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57600" y="16550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根拠：332万円÷（10台×240日）÷1時間の人件費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83664"/>
            <a:ext cx="647700" cy="7772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097280" y="1938528"/>
            <a:ext cx="2514600" cy="475488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170432" y="1975104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なんで赤字が続くの？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 flipH="1">
            <a:off x="3611880" y="1901952"/>
            <a:ext cx="4206240" cy="530352"/>
          </a:xfrm>
          <a:prstGeom prst="wedgeRoundRectCallout">
            <a:avLst/>
          </a:prstGeom>
          <a:solidFill>
            <a:srgbClr val="EAF0F6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685032" y="1938528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人を先に雇うからです。社員1人約4拠点で黒字。台数を増やして早めます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883664"/>
            <a:ext cx="647700" cy="7772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657600" y="25146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根拠：753万円÷216万円＝3.5、半年分を見て約4</a:t>
            </a:r>
            <a:endParaRPr lang="en-US" sz="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743200"/>
            <a:ext cx="647700" cy="77724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097280" y="2798064"/>
            <a:ext cx="2514600" cy="475488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1170432" y="2834640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真似されたら終わりでは？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 flipH="1">
            <a:off x="3611880" y="2761488"/>
            <a:ext cx="4206240" cy="530352"/>
          </a:xfrm>
          <a:prstGeom prst="wedgeRoundRectCallout">
            <a:avLst/>
          </a:prstGeom>
          <a:solidFill>
            <a:srgbClr val="EAF0F6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3685032" y="2798064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現場の記録は使うほど貯まり、後から来た会社には移せません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2743200"/>
            <a:ext cx="647700" cy="77724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657600" y="33741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根拠：貯まる・意味づけ・業界の型</a:t>
            </a:r>
            <a:endParaRPr lang="en-US" sz="8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602736"/>
            <a:ext cx="647700" cy="77724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1097280" y="3657600"/>
            <a:ext cx="2514600" cy="475488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1170432" y="3694176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日立と同じでは？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 flipH="1">
            <a:off x="3611880" y="3621024"/>
            <a:ext cx="4206240" cy="530352"/>
          </a:xfrm>
          <a:prstGeom prst="wedgeRoundRectCallout">
            <a:avLst/>
          </a:prstGeom>
          <a:solidFill>
            <a:srgbClr val="EAF0F6"/>
          </a:solidFill>
          <a:ln w="19050">
            <a:solidFill>
              <a:srgbClr val="1B365D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3685032" y="3657600"/>
            <a:ext cx="4059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日立は保守契約の中の安全・点検。当社は中堅の電気工事会社の書類と育成を月額で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0" y="3602736"/>
            <a:ext cx="647700" cy="77724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3657600" y="42336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根拠：公表資料で比べた（本編 p.15）</a:t>
            </a:r>
            <a:endParaRPr lang="en-US" sz="800" dirty="0"/>
          </a:p>
        </p:txBody>
      </p:sp>
      <p:sp>
        <p:nvSpPr>
          <p:cNvPr id="35" name="Text 24"/>
          <p:cNvSpPr txBox="1"/>
          <p:nvPr/>
        </p:nvSpPr>
        <p:spPr>
          <a:xfrm>
            <a:off x="365760" y="44988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B87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左：聞き手　右：社長（わたし）。細かい計算は「計算詳細版」に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53328" y="47594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750" dirty="0"/>
          </a:p>
        </p:txBody>
      </p:sp>
      <p:sp>
        <p:nvSpPr>
          <p:cNvPr id="4" name="title"/>
          <p:cNvSpPr txBox="1"/>
          <p:nvPr/>
        </p:nvSpPr>
        <p:spPr>
          <a:xfrm>
            <a:off x="365760" y="2560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まとめ：この3つの数字だけ覚えれば、話せる</a:t>
            </a:r>
            <a:endParaRPr lang="en-US" sz="1850" dirty="0"/>
          </a:p>
        </p:txBody>
      </p:sp>
      <p:sp>
        <p:nvSpPr>
          <p:cNvPr id="5" name="lead"/>
          <p:cNvSpPr txBox="1"/>
          <p:nvPr/>
        </p:nvSpPr>
        <p:spPr>
          <a:xfrm>
            <a:off x="365760" y="69494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300万・216万・4。順番に言えば、お金の仕組みが全部つながる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5875">
            <a:solidFill>
              <a:srgbClr val="1B365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051560"/>
            <a:ext cx="2697480" cy="141732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300万円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お客様が10台で毎年払う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1台1日23分減れば元が取れる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81528" y="1764792"/>
            <a:ext cx="100584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200400" y="1051560"/>
            <a:ext cx="2697480" cy="1417320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3756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216万円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そのうち当社に残る粗利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33756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AI・保存の84万円を引いた残り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16168" y="1764792"/>
            <a:ext cx="100584" cy="0"/>
          </a:xfrm>
          <a:prstGeom prst="line">
            <a:avLst/>
          </a:prstGeom>
          <a:noFill/>
          <a:ln w="25400">
            <a:solidFill>
              <a:srgbClr val="1B365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035040" y="1051560"/>
            <a:ext cx="2697480" cy="1417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7220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5C4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約4拠点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社員1人で見れば黒字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10台のままでは5年目3.52、15台なら5年目に黒字</a:t>
            </a:r>
            <a:endParaRPr lang="en-US" sz="950" dirty="0"/>
          </a:p>
        </p:txBody>
      </p:sp>
      <p:sp>
        <p:nvSpPr>
          <p:cNvPr id="21" name="script30"/>
          <p:cNvSpPr/>
          <p:nvPr/>
        </p:nvSpPr>
        <p:spPr>
          <a:xfrm>
            <a:off x="365760" y="2651760"/>
            <a:ext cx="8412480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365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2715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6DB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30秒で言うと（そのまま読める台本）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2980944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気工事会社が、メガネ10台で年300万円を払います。掛けた班の書類の時間が1台1日23分減れば元が取れ、想定の35分なら約1.5倍の効果です。当社にはAIと保存の費用を引いた216万円が残り、社員1人で約4拠点を見れば黒字です。人を先に雇うので10台のままでは5年目も赤字ですが、効果が出た班から15台に増やせば5年目に黒字になります。10年で見ると、10台のままでも6年目に黒字です。</a:t>
            </a:r>
            <a:endParaRPr lang="en-US" sz="10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017520"/>
            <a:ext cx="1028700" cy="123444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2926080" y="4462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36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ご清聴ありがとうございました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73168"/>
            <a:ext cx="530352" cy="2468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1B365D"/>
                </a:solidFill>
                <a:latin typeface="BIZ UDPGothic"/>
                <a:ea typeface="BIZ UDPGothic"/>
                <a:cs typeface="BIZ UDPGothic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マンガでわかる カンツギのもうけの仕組み</dc:title>
  <dc:subject>PptxGenJS Presentation</dc:subject>
  <dc:creator>PptxGenJS</dc:creator>
  <cp:lastModifiedBy>PptxGenJS</cp:lastModifiedBy>
  <cp:revision>1</cp:revision>
  <dcterms:created xsi:type="dcterms:W3CDTF">2026-10-20T03:13:23Z</dcterms:created>
  <dcterms:modified xsi:type="dcterms:W3CDTF">2026-10-20T03:13:23Z</dcterms:modified>
</cp:coreProperties>
</file>