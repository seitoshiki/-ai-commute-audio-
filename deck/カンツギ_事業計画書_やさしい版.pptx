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33</c:v>
                </c:pt>
                <c:pt idx="3">
                  <c:v>78</c:v>
                </c:pt>
                <c:pt idx="4">
                  <c:v>144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個社設定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要約：数字は3つだけ。300万円、216万円、約4拠点
カンツギです。今日はお金の仕組みを、3つの数字だけでお話しします。お客様が1拠点でメガネ10台分、年300万円払う。そのうち216万円が当社に残る。社員1人で約4拠点を見られれば黒字。この3つです。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普段のメガネと同じ軽さのAIグラスを掛けてもらいます。全員ではなく、1つの班に1台、職長が掛け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中でも、電力会社や官公庁の工事が多く、写真台帳と報告書が多い会社を狙いま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効果が出た班から台数を増やし、協力会社にも同じ形で使っ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要約：会社の基盤 月5万円＋メガネ1台 月2万円。10台で年300万円
では、誰が何にいくら払うのか。払うのは電気工事会社です。1拠点、つまり1つの支店や営業所で、会社のデータ置き場や管理画面の基盤に月5万円、メガネ1台ごとに月2万円。標準の10台なら月25万円、年300万円です。報告書の形に整えるところまで、この中に入っています。メガネ本体は、お客様の名前でリースし、手続きは私たちが代わりにします。10台で年約32万円です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要約：1台1日35分減ると年499万円。23分減れば元が取れる
なぜ工事部長は払うのか。メガネを掛けた班では、職長の日報と撮影が1日15分、施工管理者の写真整理と写真台帳が20分減ると考えています。10台を年240日使うと、浮く時間の価値は年約499万円。1時間の人件費は、国の統計の年収に会社が払う社会保険料を足し、残業を含む年1,938時間で割った約3,560円です。お客様が払うのは利用料とリースで年約332万円なので、約1.5倍。逆に言えば、1台1日23分減れば元が取れます。これを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要約：計画に入れるのは確かな分だけ。手戻りは測れたら上乗せ
工事部長が得するのは、書類の時間だけではありません。やり直しが減れば、ARが効く工種だけでも年約360万円。ただ、これはAIの出来と私たちの監修次第なので、実証で測れるまで計画には入れません。新人の指導は、他の仕事と混ざっていて測れないので、金額にせず、独り立ちまでの月数で測ります。確かな分だけで約1.5倍、手戻りも減れば約2.6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要約：利用料300万円のうち216万円が残る。だから利用料を積み上げる
次に、当社の財布に何が残るか。300万円の利用料のうち、AIの文字起こしや画像の解析、動画の保存の費用が、メガネ1台あたり月約6,000円、会社ごとのデータ置き場が月1万円で、10台なら年84万円。216万円が残ります。導入支援の200万円は、担当者が42人日現場に入り、交通費もかかるので、残るのは約59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要約：社員1人で約4拠点を見れば黒字。10台のままでは5年目でも届かない
なぜ赤字が続くのか。社員1人にかかる費用は、給料と会社負担、採用費、家賃などを合わせて年約753万円。1拠点から残るのは216万円。割ると約3.5。新しいお客様は最初の年は半年分しか払わないので、年度末に数えると1人約4拠点が目安です。社員は、営業だけでなく技術や導入コンサルタントも含めた全員です。人を先に雇うので、10台のままでは5年目でも3.52で届きません。だから、効果が出た班からメガネを増やし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解約は毎年1割と控えめに見ています。5年目の売上約269百万円のうち、54%は前の年までのお客様からの利用料です。新しいお客様が増えるたびに、雪だるまのように大きくなります。10台のままでは5年目もまだ赤字で、1拠点15台に増やせれば5年目に黒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要約：86万円かけて連れてきたお客様が、1,571万円残してくれる
お客様1拠点を連れてくる費用は約86万円。営業3人の人件費と広告費を、新しいお客様の数で割った数字です。一方、1拠点が7年間で残してくれる粗利は約1,571万円。約18倍です。86万円は約5か月で回収できます。解約が年1割なら平均10年続くので、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【お金の話7・40秒】
要約：黒字の鍵は、1拠点の台数。止まる線も先に決める
うまくいかなかったらどうするか。計算すると、1拠点10台のままだと、計画どおりにお客様が増えても5年以内に黒字になりません。でも、効果が出た班から台数を増やして15台にできれば、新しいお客様が計画の6割でも5年目に黒字です。だから大事なのは、拠点の数より、1拠点で使ってもらう台数です。そして止まる線を先に決めます。実証で1台1日23分減れば進む、15分未満なら撤退。1年目の終わりに、試してくれた3社のうち本契約が0社なら撤退か方向転換。2年目の終わりに平均12台に届かなければ、採用を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【準備期・30秒】
要約：準備期の6か月で、最初の1拠点を動かす
最初の6か月は準備期です。費用は約500万円で、自己資金でまかないます。私の給料はゼロです。3か月で試作品、6か月で1拠点の実証。1台1日23分減ったか、メガネで1日記録できるかを確かめます。合格したら、自己資金の2億円を入れて、仲間を採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10台で年300万円が入り、84万円がAIと保存の費用、216万円が残って社員の費用をまかなう。社員1人で約4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1台1日23分減れば元が取れます。想定は35分で、実証で測ります。なぜ赤字が続くのか。人を先に雇うからで、社員1人約4拠点を超えたら黒字になります。だから台数を増やしてもらい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要約：300万・216万・4。この3つで話せる
まとめです。お客様が10台で年300万円払う。216万円が残る。社員1人約4拠点で黒字。この3つの数字で、すべて説明できます。詳しい計算の過程は、別冊の計算詳細版にまとめています。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pass-line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元が取れる条件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</a:t>
            </a:r>
            <a:endParaRPr lang="en-US" sz="24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1拠点・10台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費用を引いた粗利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お金を払うのは「会社」。窓口は工事部長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使うのは現場、払うのは会社。だから「会社にとって得か」で値段を決める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このままだと、現場が止まる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壁の図面が、手元に出る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約2mのケーブルジョイント。わら半紙の組立図を見に行く往復をなくす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3EBDD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7" name="Shape 13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Shape 14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B8692E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039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E5C9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最初のお客様に、どう会う？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関東の中堅電気工事会社（施工管理者30人以上）から。会う → 試す → 決める → 広がる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条件に合う約180社を中心に5年で約85拠点（解約を引いて81）。効果が出た班から台数を増やす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払うのは電気工事会社。会社の基盤＋メガネの台数。10台で年300万円、初年度だけ導入支援200万円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（10台・月25万円）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データ置き場・管理画面 月5万円×12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メガネの利用料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 月2万円×10台×12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240万円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257800" y="260604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525780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7086600" y="267004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257800" y="310896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6" name="Text 19"/>
          <p:cNvSpPr txBox="1"/>
          <p:nvPr/>
        </p:nvSpPr>
        <p:spPr>
          <a:xfrm>
            <a:off x="5257800" y="3172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メガネ本体はお客様の名前でリース、手続きは当社（10台で年約32万円）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初期設定（導入支援）は最初だけ。月額料金（利用料）は毎月入ってくる。台数が増えれば、そのぶん月額も増える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メガネを掛けた班の書類の時間が減る。1台1日23分減れば元が取れる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メガネの数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499616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1810512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810512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240日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810512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1年に使う日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255264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255264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35分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55264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1台1日減る時間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389120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700016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00016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約3,560円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0016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833872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44768" y="1097280"/>
            <a:ext cx="160020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144768" y="11704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年499万円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144768" y="1609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1年あたり（2年目以降）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4505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554480" y="2450592"/>
            <a:ext cx="2274661" cy="36576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02293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年332万円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554480" y="2907792"/>
            <a:ext cx="3422354" cy="36576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049986" y="2907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年499万円</a:t>
            </a:r>
            <a:endParaRPr lang="en-US" sz="10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148840"/>
            <a:ext cx="1028700" cy="1234440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 flipH="1">
            <a:off x="5989320" y="2011680"/>
            <a:ext cx="1600200" cy="6400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062472" y="2048256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1日23分減れば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元が取れるのか！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365760" y="3566160"/>
            <a:ext cx="8412480" cy="107899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502920" y="3566160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元が取れる条件：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払うお金332万円 ÷（10台×240日）÷ 1時間の人件費 ＝ 1台1日約23分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35分って？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職長の日報・撮影15分＋施工管理者の写真整理・写真台帳20分（実証で測る）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国の統計の年収×会社負担1.17÷残業を含む年1,938時間（電工約3,300円・施工管理約3,700円）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初年度は？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導入支援200万円も払うので、約13か月で元が取れる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つづき ─ 計画に入れるのは、確かな分だけ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確かな分（書類の時間）で約1.5倍。手戻りも減れば約2.6倍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891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書類・写真整理の時間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3891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年499万円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3891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計画に入れる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43891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10台×240日×（職長15分＋施工管理20分）</a:t>
            </a:r>
            <a:endParaRPr lang="en-US" sz="700" dirty="0"/>
          </a:p>
        </p:txBody>
      </p:sp>
      <p:sp>
        <p:nvSpPr>
          <p:cNvPr id="11" name="Shape 7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31343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手戻り（上振れ）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231343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年360万円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31343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測れたら上乗せ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231343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完成工事高30億円×2%×対象工種30%×削減20%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18795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新人の指導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418795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月数で測る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418795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金額にしない</a:t>
            </a:r>
            <a:endParaRPr lang="en-US" sz="850" dirty="0"/>
          </a:p>
        </p:txBody>
      </p:sp>
      <p:sp>
        <p:nvSpPr>
          <p:cNvPr id="22" name="Text 16"/>
          <p:cNvSpPr txBox="1"/>
          <p:nvPr/>
        </p:nvSpPr>
        <p:spPr>
          <a:xfrm>
            <a:off x="418795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金額にせず、独り立ちの月数で測る</a:t>
            </a:r>
            <a:endParaRPr lang="en-US" sz="700" dirty="0"/>
          </a:p>
        </p:txBody>
      </p:sp>
      <p:sp>
        <p:nvSpPr>
          <p:cNvPr id="23" name="Shape 17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計画に入れる得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年499万円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払うのは332万円 → 約1.5倍</a:t>
            </a:r>
            <a:endParaRPr lang="en-US" sz="12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確かな分だけで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元が取れるなら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安心だ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 年1,400時間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10台分。掛けた班の時間だけを数える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大きく言わない：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得をするのは全員ではなく、メガネを掛けた班だけ。手戻りはAIの出来と当社の監修しだいなので、測れてから足す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利用料は72%が残る。導入支援は約3割しか残らない。だから利用料を積み上げる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601675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−84万円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293315"/>
            <a:ext cx="868680" cy="1547165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2000707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417875"/>
            <a:ext cx="640080" cy="422605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312526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59万円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141万円は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担当者42人日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と交通費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1拠点10台あたり。AI・保存の費用＝メガネ1台 月約6,000円＋会社ごとのデータ置き場 月1万円（大事な場面だけ送る前提）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なぜ赤字が続く？ 合言葉は「4」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社員1人で約4拠点を見られれば黒字。10台のままでは5年目でも3.52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年753万円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年216万円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47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3.5　→　</a:t>
            </a:r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 約4拠点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2402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新しいお客様は最初の年は半年分しか払わないので、年度末に数えると約4</a:t>
            </a:r>
            <a:endParaRPr lang="en-US" sz="8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63240"/>
            <a:ext cx="548640" cy="5486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3063240"/>
            <a:ext cx="548640" cy="5486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3063240"/>
            <a:ext cx="548640" cy="548640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3063240"/>
            <a:ext cx="548640" cy="5486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1人で、約4拠点（支店・営業所）を見る</a:t>
            </a:r>
            <a:endParaRPr lang="en-US" sz="1000" dirty="0"/>
          </a:p>
        </p:txBody>
      </p:sp>
      <p:sp>
        <p:nvSpPr>
          <p:cNvPr id="17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8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800600" y="3514344"/>
            <a:ext cx="502920" cy="28041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4663440" y="32766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0.60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2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3拠点÷5人</a:t>
            </a:r>
            <a:endParaRPr lang="en-US" sz="750" dirty="0"/>
          </a:p>
        </p:txBody>
      </p:sp>
      <p:sp>
        <p:nvSpPr>
          <p:cNvPr id="23" name="Shape 15"/>
          <p:cNvSpPr/>
          <p:nvPr/>
        </p:nvSpPr>
        <p:spPr>
          <a:xfrm>
            <a:off x="5586984" y="3093720"/>
            <a:ext cx="502920" cy="701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5449824" y="2855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1.50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12拠点÷8人</a:t>
            </a:r>
            <a:endParaRPr lang="en-US" sz="750" dirty="0"/>
          </a:p>
        </p:txBody>
      </p:sp>
      <p:sp>
        <p:nvSpPr>
          <p:cNvPr id="27" name="Shape 19"/>
          <p:cNvSpPr/>
          <p:nvPr/>
        </p:nvSpPr>
        <p:spPr>
          <a:xfrm>
            <a:off x="6373368" y="2665307"/>
            <a:ext cx="502920" cy="112945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236208" y="24275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2.42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29拠点÷12人</a:t>
            </a:r>
            <a:endParaRPr lang="en-US" sz="750" dirty="0"/>
          </a:p>
        </p:txBody>
      </p:sp>
      <p:sp>
        <p:nvSpPr>
          <p:cNvPr id="31" name="Shape 23"/>
          <p:cNvSpPr/>
          <p:nvPr/>
        </p:nvSpPr>
        <p:spPr>
          <a:xfrm>
            <a:off x="7159752" y="2418644"/>
            <a:ext cx="502920" cy="137611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7022592" y="21809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2.94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53拠点÷18人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7946136" y="2148840"/>
            <a:ext cx="50292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808976" y="19110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3.52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81拠点÷23人</a:t>
            </a:r>
            <a:endParaRPr lang="en-US" sz="750" dirty="0"/>
          </a:p>
        </p:txBody>
      </p:sp>
      <p:sp>
        <p:nvSpPr>
          <p:cNvPr id="39" name="Shape 31"/>
          <p:cNvSpPr/>
          <p:nvPr/>
        </p:nvSpPr>
        <p:spPr>
          <a:xfrm>
            <a:off x="4617720" y="1925320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40" name="Text 32"/>
          <p:cNvSpPr txBox="1"/>
          <p:nvPr/>
        </p:nvSpPr>
        <p:spPr>
          <a:xfrm>
            <a:off x="4663440" y="1678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 4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4663440" y="1325880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4736592" y="1362456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5年目でもまだ赤字。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台数を増やして届かせる！</a:t>
            </a:r>
            <a:endParaRPr lang="en-US" sz="950" dirty="0"/>
          </a:p>
        </p:txBody>
      </p:sp>
      <p:sp>
        <p:nvSpPr>
          <p:cNvPr id="43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社員1人の費用＝5年目の販管費17,313万円÷23人（営業・技術・導入コンサルタントの全員。給料・会社負担・採用費・家賃などを含む）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5年目の売上約269百万円のうち54%は、前の年までのお客様の利用料（解約は年1割で引く）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86万円のエサで、1,571万円の魚を釣る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約86万円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（営業3人の人件費2,340万円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約18倍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約1,571万円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年216万円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導入支援の粗利59万円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7年は控えめ。解約が年1割なら平均10年続く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86万円は約5か月で回収（86万円 ÷ 月18万円の粗利）。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目安は「LTVがCACの3倍以上」。当社は約18倍なので、お客様を増やすほど会社が強くなる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どうすれば黒字？ 鍵は1拠点の台数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10台のままだと計画どおりでも5年で黒字にならない。15台に増やせれば6割でも5年目に黒字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新規拠点が計画に届かなかったら（採用も拠点数に合わせて遅らせる・百万円）</a:t>
            </a:r>
            <a:endParaRPr lang="en-US" sz="1000" dirty="0"/>
          </a:p>
        </p:txBody>
      </p:sp>
      <p:graphicFrame>
        <p:nvGraphicFramePr>
          <p:cNvPr id="15" name="shortfal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27048"/>
          <a:ext cx="8412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960120"/>
                <a:gridCol w="960120"/>
                <a:gridCol w="868680"/>
                <a:gridCol w="960120"/>
                <a:gridCol w="105156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新規の達成度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新規拠点（1〜5年目）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5年目利益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5年目利益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3・9・18・27・33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計画の9割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3・8・16・24・30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計画の8割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2・7・14・22・26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計画の7割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2・6・13・19・23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計画の6割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2・5・11・16・20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108960" y="1298448"/>
            <a:ext cx="2788920" cy="210312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1拠点10台のまま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897880" y="1298448"/>
            <a:ext cx="2880360" cy="210312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1拠点15台に増やせた場合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365760" y="29626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進む・直す・止まるの線（案）</a:t>
            </a:r>
            <a:endParaRPr lang="en-US" sz="1000" dirty="0"/>
          </a:p>
        </p:txBody>
      </p:sp>
      <p:graphicFrame>
        <p:nvGraphicFramePr>
          <p:cNvPr id="29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18688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463040"/>
                <a:gridCol w="22860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測るもの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進む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止まる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実証（準備期）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1台1日の削減時間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23分以上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15〜23分：機能を写真台帳に絞る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15分未満：撤退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試験導入3社の本契約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2社以上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1社：値段と顧客を見直す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0社：撤退か方向転換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新規拠点・1拠点の台数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5拠点以上・平均12台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5拠点未満：採用を止める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追加の5,000万円を入れるか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継続率90%以上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未達：追加額と採用を絞る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上の表：新しい拠点が計画の何割だったら、何年目に黒字になるか（百万円）。下の表：進む・直す・止まるを先に決めておく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費用は約500万円。自己資金でまかない、創業者の給料はゼロ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はじまり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自己資金で約500万円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1台1日23分減ったかを測る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自己資金2億円を入れる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実証に合格したら採用を始める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準備期の費用（万円）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1台1日23分以上減れば進む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15分未満なら撤退。その間なら機能を写真台帳に絞る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お願い：実証先の電気工事会社のご紹介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216万円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AI・保存84万円）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年300万円（10台）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AI・保存：メガネ1台 月約6,000円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社員1人：年753万円（給料・家賃など）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約4拠点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10台のままでは5年目でも3.52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15台に増やせれば5年目に黒字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1台1日23分減れば元が取れます。想定は35分で、実証で測ります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根拠：332万円÷（10台×240日）÷1時間の人件費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なんで赤字が続くの？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人を先に雇うからです。社員1人約4拠点で黒字。台数を増やして早めます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根拠：753万円÷216万円＝3.5、半年分を見て約4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左：投資家　右：社長（わたし）。細かい計算は「計算詳細版」に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300万・216万・4。順番に言えば、お金の仕組みが全部つながる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お客様が10台で毎年払う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1台1日23分減れば元が取れる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AI・保存の84万円を引いた残り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10台のままでは5年目3.52、15台なら5年目に黒字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が、メガネ10台で年300万円を払います。掛けた班の書類の時間が1台1日23分減れば元が取れ、想定の35分なら約1.5倍の得です。当社にはAIと保存の費用を引いた216万円が残り、社員1人で約4拠点を見れば黒字です。人を先に雇うので10台のままでは5年目も赤字ですが、効果が出た班から15台に増やせば5年目に黒字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2026-10-16T05:10:28Z</dcterms:created>
  <dcterms:modified xsi:type="dcterms:W3CDTF">2026-10-16T05:10:28Z</dcterms:modified>
</cp:coreProperties>
</file>