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浮いた工数の累計</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92</c:v>
                </c:pt>
                <c:pt idx="1">
                  <c:v>92</c:v>
                </c:pt>
                <c:pt idx="2">
                  <c:v>120</c:v>
                </c:pt>
                <c:pt idx="3">
                  <c:v>151</c:v>
                </c:pt>
                <c:pt idx="4">
                  <c:v>196</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93</c:v>
                </c:pt>
                <c:pt idx="2">
                  <c:v>66</c:v>
                </c:pt>
                <c:pt idx="3">
                  <c:v>60</c:v>
                </c:pt>
                <c:pt idx="4">
                  <c:v>88</c:v>
                </c:pt>
                <c:pt idx="5">
                  <c:v>156</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20</c:v>
                </c:pt>
                <c:pt idx="1">
                  <c:v>20</c:v>
                </c:pt>
                <c:pt idx="2">
                  <c:v>20</c:v>
                </c:pt>
                <c:pt idx="3">
                  <c:v>20</c:v>
                </c:pt>
                <c:pt idx="4">
                  <c:v>20</c:v>
                </c:pt>
                <c:pt idx="5">
                  <c:v>20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要約：人が減っても現場が迷わず回る仕組みをつくる。希望金額は500万円
株式会社カンツギです。カンツギは「勘を継ぐ」。割れた器を金で継ぐ金継ぎのように、途切れそうな現場の勘をデータで継ぎます。熟練者の勘が退職とともに消えていく現場に、スマートグラスで記録して次の担い手とAIに渡す仕組みをつくります。希望金額は500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【0:25 - 1:00】
要約：スマートグラスで工事の作業を記録し、報告と教育を自動にするサービス
事業の概要です。何のビジネスか。施工管理者や電工がスマートグラスを着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1拠点あたり年300万円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AR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【2:20 - 3:05】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【3:05 - 3:50】
要約：1社で年4,200万円。価格の約14倍。前提を半分にしても7倍
お客様が得する額です。施工管理者と電工が100人の中堅の会社で、効果は三つ。一つ目、書類と報告の時間が1人月6時間減り、年2,880万円。二つ目、手戻りが2割減って、完成工事高30億円の会社で年1,200万円。三つ目、新人の指導時間が減って年144万円。合わせて年約4,200万円、利用料300万円の約14倍です。浮く時間は年7,200時間、3.7人分。残業の上限360時間の2割にあたる余力が、全員に生まれます。前提をすべて半分にしても、年2,100万円、7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【4:30 - 5:15】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【5:15 - 5:55】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【5:55 - 6:35】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【6:35 - 7:10】
要約：グラスは作らず、選べる設計にする。作るのはソフトとデータ
端末についてです。当社はグラスそのものは作りません。現場で使える条件は、落としても壊れない、粉じんと水に強い、1シフト電池が持つ、ヘルメットに付く、手袋のまま声で操作できることです。今すぐは、産業用のヘッドマウント端末とヘルメットカメラで記録と報告から始め、図面を手元に出すのは法人向けのAR端末で1種類のジョイントから実証します。一般向けのARグラスは2027年の発売が報じられています。端末が進化したら乗り換えられる設計にし、当社は保護カバーとヘルメットの取付具で、端末を壊さない工夫を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【7:10 - 7:45】
要約：施工管理アプリは「人が入力する器」。当社は「自動で記録し、判断を渡す」
競合です。工事写真や施工管理のアプリは、ANDPAD、SPIDERPLUS、蔵衛門など、すでに広く使われています。ただ、どれも人が撮って入力する器です。当社は自動で記録し、図面と照合し、熟練者の判断を教材にして渡します。最大の脅威は、これらの会社がAIで自動報告を加えることです。だから競わずにつなぎます。報告書と写真は各社の形式で出力し、当社は判断の記録と教材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【7:45 - 8:20】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85拠点、2.55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【8:20 - 8:55】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【8:55 - 9:35】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担当1人が年6拠点を立ち上げます。マネタイズは、年額前払い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【9:35 - 10:15】
要約：1拠点の生涯粗利は約1,865万円、獲得コストは約64万円
お金の流れです。お客様は1拠点あたり年300万円、初年度だけ導入支援200万円を払います。施工管理者100名の会社なら、約2.1か月で元が取れます。1拠点が生む生涯の粗利、LTVは、年255万円を保守的に7年分と、導入支援の粗利を足して約1,865万円。1拠点を獲得する費用、CACは約64万円。獲得費用は3か月で回収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【10:15 - 10:50】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会える率45%、成約率25%で、5年で約83社。さらに大手1社を目玉の事例にして、協力会社へ広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【10:50 - 11:25】
要約：売上は拠点×月25万円で積み上がる。5年目は月2,400万円
売上と費用です。売上は、拠点数かける月25万円の利用料が積み上がる形です。5年目の月次売上は約2,400万円で、内訳は利用料が約1,790万円、導入支援が約550万円です。費用の中心は人件費で、1人あたり年800万円。所在地は川崎市を考えています。羽田・新幹線に近く、関東一円の電気工事会社に日帰りで出られます。家賃は1年目15坪で月20万円、5年目40坪で月50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【11:25 - 11:55】
要約：4年目に損益分岐点を超え、5年目の安全余裕率は32%
損益分岐点です。販管費を粗利率で割った損益分岐点売上は、4年目で1億5,100万円。売上1億9,000万円がこれを初めて上回ります。5年目は分岐点1億9,600万円に対して売上2億9,000万円で、安全余裕率は32%です。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【11:55 - 12:25】
要約：黒字倒産しない。最低残高は固定費3か月分
資金計画です。必要資金は1.5億円。今回の500万円で準備期を走り、実証の結果をもって日本政策金融公庫の創業融資1,000万円、CVCとVCから1億1,500万円を調達します。現金残高は最も薄い3年目でも6,000万円で、固定費3か月分を下回りません。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【12:25 - 13:00】
要約：チームは現場と技術の両方を揃える。顧問とパートナーで弱みを補う
チームです。私は電線メーカーで地中送電線の施工管理を5年やり、独学でAIの仕組みを作ってきました。毎朝ニュースを音声で配信する仕組みも、個人で作って動かしています。ただ、私一人では足りません。技術の責任者、電気工事の施工管理経験者、カスタマーサクセスを揃え、業界の顧問、スマートグラスのメーカー、大学と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【13:00 - 13:20】
要約：導入期・成長期を越え、成熟期には上場を目指す
成長の道筋です。導入期は電気工事会社で記録と報告の自動化をつかみ、成長期は図面との照合で黒字化し、成熟期は電線や素材の工場、フィジカルAIと海外展開で上場を目指します。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【13:20 - 13:45】
要約：500万円で、6か月以内に最初の1拠点を動かす
500万円の使い道です。試作品の開発に250万円、端末に80万円、1拠点での実証に100万円、設立と契約に40万円、予備30万円。私の給料はゼロです。3か月で試作品、6か月で実証の結果を出します。条件は10%で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【13:45 - 14:05】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に、500万円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スマートグラスで熟練者の作業を記録し、報告を自動にし、次の担い手とAIの教材にする</a:t>
            </a:r>
            <a:endParaRPr lang="en-US" sz="1150" dirty="0"/>
          </a:p>
        </p:txBody>
      </p:sp>
      <p:sp>
        <p:nvSpPr>
          <p:cNvPr id="11" name="ask"/>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希望金額</a:t>
            </a:r>
            <a:endParaRPr lang="en-US" sz="1200" dirty="0"/>
          </a:p>
        </p:txBody>
      </p:sp>
      <p:sp>
        <p:nvSpPr>
          <p:cNvPr id="13" name="Text 9"/>
          <p:cNvSpPr txBox="1"/>
          <p:nvPr/>
        </p:nvSpPr>
        <p:spPr>
          <a:xfrm>
            <a:off x="3840480" y="2697480"/>
            <a:ext cx="2926080" cy="731520"/>
          </a:xfrm>
          <a:prstGeom prst="rect">
            <a:avLst/>
          </a:prstGeom>
          <a:noFill/>
          <a:ln/>
        </p:spPr>
        <p:txBody>
          <a:bodyPr wrap="square" lIns="0" tIns="0" rIns="0" bIns="0" rtlCol="0" anchor="ctr"/>
          <a:lstStyle/>
          <a:p>
            <a:pPr algn="l" indent="0" marL="0">
              <a:lnSpc>
                <a:spcPct val="115000"/>
              </a:lnSpc>
              <a:buNone/>
            </a:pPr>
            <a:r>
              <a:rPr lang="en-US" sz="4400" b="1" dirty="0">
                <a:solidFill>
                  <a:srgbClr val="B8692E"/>
                </a:solidFill>
                <a:latin typeface="Meiryo" pitchFamily="34" charset="0"/>
                <a:ea typeface="Meiryo" pitchFamily="34" charset="-122"/>
                <a:cs typeface="Meiryo" pitchFamily="34" charset="-120"/>
              </a:rPr>
              <a:t>500万円</a:t>
            </a:r>
            <a:endParaRPr lang="en-US" sz="4400" dirty="0"/>
          </a:p>
        </p:txBody>
      </p:sp>
      <p:sp>
        <p:nvSpPr>
          <p:cNvPr id="14" name="Text 10"/>
          <p:cNvSpPr txBox="1"/>
          <p:nvPr/>
        </p:nvSpPr>
        <p:spPr>
          <a:xfrm>
            <a:off x="6812280" y="2788920"/>
            <a:ext cx="1600200" cy="54864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準備期6か月の資金</a:t>
            </a:r>
            <a:endParaRPr lang="en-US" sz="1000" dirty="0"/>
          </a:p>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（出資）</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志願者：＿＿＿＿＿＿＿＿＿＿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スマートグラスで撮るだけ。報告書・図面との照合・教材までを一続きで届ける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施工管理者や電工がスマートグラスを着けるだけで、一人称の動画と会話を記録。AIが工事写真を整理して報告書を作り、図面と照合し、教材にするサービス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1拠点あたり年300万円の利用料（基盤＋現場数＋追加機能）が毎年積み上がる。初年度だけ導入支援200万円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月6時間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1人あたりの書類作業の削減余地（建設業の電子化実績を準用）</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5" name="loss-0"/>
          <p:cNvSpPr/>
          <p:nvPr/>
        </p:nvSpPr>
        <p:spPr>
          <a:xfrm>
            <a:off x="365760" y="1051560"/>
            <a:ext cx="3977640" cy="868680"/>
          </a:xfrm>
          <a:prstGeom prst="rect">
            <a:avLst/>
          </a:prstGeom>
          <a:solidFill>
            <a:srgbClr val="1A1A1A"/>
          </a:solidFill>
          <a:ln/>
        </p:spPr>
      </p:sp>
      <p:sp>
        <p:nvSpPr>
          <p:cNvPr id="6" name="Text 3"/>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7" name="Text 4"/>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8" name="Text 5"/>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9" name="loss-1"/>
          <p:cNvSpPr/>
          <p:nvPr/>
        </p:nvSpPr>
        <p:spPr>
          <a:xfrm>
            <a:off x="365760" y="2011680"/>
            <a:ext cx="3977640" cy="868680"/>
          </a:xfrm>
          <a:prstGeom prst="rect">
            <a:avLst/>
          </a:prstGeom>
          <a:solidFill>
            <a:srgbClr val="F2F2F2"/>
          </a:solidFill>
          <a:ln/>
        </p:spPr>
      </p:sp>
      <p:sp>
        <p:nvSpPr>
          <p:cNvPr id="10" name="Text 7"/>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1" name="Text 8"/>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2" name="Text 9"/>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3" name="loss-2"/>
          <p:cNvSpPr/>
          <p:nvPr/>
        </p:nvSpPr>
        <p:spPr>
          <a:xfrm>
            <a:off x="365760" y="2971800"/>
            <a:ext cx="3977640" cy="868680"/>
          </a:xfrm>
          <a:prstGeom prst="rect">
            <a:avLst/>
          </a:prstGeom>
          <a:solidFill>
            <a:srgbClr val="F2F2F2"/>
          </a:solidFill>
          <a:ln/>
        </p:spPr>
      </p:sp>
      <p:sp>
        <p:nvSpPr>
          <p:cNvPr id="14" name="Text 11"/>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5" name="Text 12"/>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6" name="Text 13"/>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7" name="Text 14"/>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8" name="Shape 15"/>
          <p:cNvSpPr/>
          <p:nvPr/>
        </p:nvSpPr>
        <p:spPr>
          <a:xfrm>
            <a:off x="4663440" y="1380744"/>
            <a:ext cx="4114800" cy="475488"/>
          </a:xfrm>
          <a:prstGeom prst="rect">
            <a:avLst/>
          </a:prstGeom>
          <a:solidFill>
            <a:srgbClr val="F2F2F2"/>
          </a:solidFill>
          <a:ln/>
        </p:spPr>
      </p:sp>
      <p:sp>
        <p:nvSpPr>
          <p:cNvPr id="19" name="Text 16"/>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0" name="Shape 17"/>
          <p:cNvSpPr/>
          <p:nvPr/>
        </p:nvSpPr>
        <p:spPr>
          <a:xfrm>
            <a:off x="6720840" y="1865376"/>
            <a:ext cx="0" cy="109728"/>
          </a:xfrm>
          <a:prstGeom prst="line">
            <a:avLst/>
          </a:prstGeom>
          <a:noFill/>
          <a:ln w="19050">
            <a:solidFill>
              <a:srgbClr val="1A1A1A"/>
            </a:solidFill>
            <a:prstDash val="solid"/>
            <a:tailEnd type="triangle"/>
          </a:ln>
        </p:spPr>
      </p:sp>
      <p:sp>
        <p:nvSpPr>
          <p:cNvPr id="21" name="Shape 18"/>
          <p:cNvSpPr/>
          <p:nvPr/>
        </p:nvSpPr>
        <p:spPr>
          <a:xfrm>
            <a:off x="4663440" y="1984248"/>
            <a:ext cx="4114800" cy="475488"/>
          </a:xfrm>
          <a:prstGeom prst="rect">
            <a:avLst/>
          </a:prstGeom>
          <a:solidFill>
            <a:srgbClr val="F2F2F2"/>
          </a:solidFill>
          <a:ln/>
        </p:spPr>
      </p:sp>
      <p:sp>
        <p:nvSpPr>
          <p:cNvPr id="22" name="Text 19"/>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3" name="Shape 20"/>
          <p:cNvSpPr/>
          <p:nvPr/>
        </p:nvSpPr>
        <p:spPr>
          <a:xfrm>
            <a:off x="6720840" y="2468880"/>
            <a:ext cx="0" cy="109728"/>
          </a:xfrm>
          <a:prstGeom prst="line">
            <a:avLst/>
          </a:prstGeom>
          <a:noFill/>
          <a:ln w="19050">
            <a:solidFill>
              <a:srgbClr val="1A1A1A"/>
            </a:solidFill>
            <a:prstDash val="solid"/>
            <a:tailEnd type="triangle"/>
          </a:ln>
        </p:spPr>
      </p:sp>
      <p:sp>
        <p:nvSpPr>
          <p:cNvPr id="24" name="Shape 21"/>
          <p:cNvSpPr/>
          <p:nvPr/>
        </p:nvSpPr>
        <p:spPr>
          <a:xfrm>
            <a:off x="4663440" y="2587752"/>
            <a:ext cx="4114800" cy="475488"/>
          </a:xfrm>
          <a:prstGeom prst="rect">
            <a:avLst/>
          </a:prstGeom>
          <a:solidFill>
            <a:srgbClr val="F2F2F2"/>
          </a:solidFill>
          <a:ln/>
        </p:spPr>
      </p:sp>
      <p:sp>
        <p:nvSpPr>
          <p:cNvPr id="25" name="Text 22"/>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6" name="Shape 23"/>
          <p:cNvSpPr/>
          <p:nvPr/>
        </p:nvSpPr>
        <p:spPr>
          <a:xfrm>
            <a:off x="6720840" y="3072384"/>
            <a:ext cx="0" cy="109728"/>
          </a:xfrm>
          <a:prstGeom prst="line">
            <a:avLst/>
          </a:prstGeom>
          <a:noFill/>
          <a:ln w="19050">
            <a:solidFill>
              <a:srgbClr val="1A1A1A"/>
            </a:solidFill>
            <a:prstDash val="solid"/>
            <a:tailEnd type="triangle"/>
          </a:ln>
        </p:spPr>
      </p:sp>
      <p:sp>
        <p:nvSpPr>
          <p:cNvPr id="27" name="Shape 24"/>
          <p:cNvSpPr/>
          <p:nvPr/>
        </p:nvSpPr>
        <p:spPr>
          <a:xfrm>
            <a:off x="4663440" y="3191256"/>
            <a:ext cx="4114800" cy="475488"/>
          </a:xfrm>
          <a:prstGeom prst="rect">
            <a:avLst/>
          </a:prstGeom>
          <a:solidFill>
            <a:srgbClr val="B8692E"/>
          </a:solidFill>
          <a:ln/>
        </p:spPr>
      </p:sp>
      <p:sp>
        <p:nvSpPr>
          <p:cNvPr id="28" name="Text 25"/>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29" name="Shape 26"/>
          <p:cNvSpPr/>
          <p:nvPr/>
        </p:nvSpPr>
        <p:spPr>
          <a:xfrm>
            <a:off x="365760" y="3977640"/>
            <a:ext cx="8412480" cy="502920"/>
          </a:xfrm>
          <a:prstGeom prst="rect">
            <a:avLst/>
          </a:prstGeom>
          <a:solidFill>
            <a:srgbClr val="FFFFFF"/>
          </a:solidFill>
          <a:ln w="19050">
            <a:solidFill>
              <a:srgbClr val="B8692E"/>
            </a:solidFill>
            <a:prstDash val="solid"/>
          </a:ln>
        </p:spPr>
      </p:sp>
      <p:sp>
        <p:nvSpPr>
          <p:cNvPr id="30" name="Text 27"/>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85拠点 × 年4,224万円 ＝ 年約36億円。当社が受け取るのはその約7%（2.55億円）</a:t>
            </a:r>
            <a:endParaRPr lang="en-US" sz="105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1社で年約4,200万円、価格の約14倍</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施工管理者と電工100人の中堅電気工事会社。効果は時間・手戻り・育成の3つ</a:t>
            </a:r>
            <a:endParaRPr lang="en-US" sz="1200" dirty="0"/>
          </a:p>
        </p:txBody>
      </p:sp>
      <p:sp>
        <p:nvSpPr>
          <p:cNvPr id="5" name="Text 2"/>
          <p:cNvSpPr txBox="1"/>
          <p:nvPr/>
        </p:nvSpPr>
        <p:spPr>
          <a:xfrm>
            <a:off x="365760" y="1051560"/>
            <a:ext cx="49377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1社が1年で得する額（万円）</a:t>
            </a:r>
            <a:endParaRPr lang="en-US" sz="1050" dirty="0"/>
          </a:p>
        </p:txBody>
      </p:sp>
      <p:sp>
        <p:nvSpPr>
          <p:cNvPr id="6" name="Text 3"/>
          <p:cNvSpPr txBox="1"/>
          <p:nvPr/>
        </p:nvSpPr>
        <p:spPr>
          <a:xfrm>
            <a:off x="365760" y="1380744"/>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書類・報告の時間</a:t>
            </a:r>
            <a:endParaRPr lang="en-US" sz="950" dirty="0"/>
          </a:p>
        </p:txBody>
      </p:sp>
      <p:sp>
        <p:nvSpPr>
          <p:cNvPr id="7" name="Shape 4"/>
          <p:cNvSpPr/>
          <p:nvPr/>
        </p:nvSpPr>
        <p:spPr>
          <a:xfrm>
            <a:off x="1828800" y="1417320"/>
            <a:ext cx="2182091" cy="256032"/>
          </a:xfrm>
          <a:prstGeom prst="rect">
            <a:avLst/>
          </a:prstGeom>
          <a:solidFill>
            <a:srgbClr val="4D4D4D"/>
          </a:solidFill>
          <a:ln/>
        </p:spPr>
      </p:sp>
      <p:sp>
        <p:nvSpPr>
          <p:cNvPr id="8" name="Text 5"/>
          <p:cNvSpPr txBox="1"/>
          <p:nvPr/>
        </p:nvSpPr>
        <p:spPr>
          <a:xfrm>
            <a:off x="4056611" y="1380744"/>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2,880</a:t>
            </a:r>
            <a:endParaRPr lang="en-US" sz="1050" dirty="0"/>
          </a:p>
        </p:txBody>
      </p:sp>
      <p:sp>
        <p:nvSpPr>
          <p:cNvPr id="9" name="Text 6"/>
          <p:cNvSpPr txBox="1"/>
          <p:nvPr/>
        </p:nvSpPr>
        <p:spPr>
          <a:xfrm>
            <a:off x="1828800" y="1691640"/>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100人×月6時間×12か月×4,000円</a:t>
            </a:r>
            <a:endParaRPr lang="en-US" sz="750" dirty="0"/>
          </a:p>
        </p:txBody>
      </p:sp>
      <p:sp>
        <p:nvSpPr>
          <p:cNvPr id="10" name="Text 7"/>
          <p:cNvSpPr txBox="1"/>
          <p:nvPr/>
        </p:nvSpPr>
        <p:spPr>
          <a:xfrm>
            <a:off x="365760" y="1947672"/>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手戻り・施工ミス</a:t>
            </a:r>
            <a:endParaRPr lang="en-US" sz="950" dirty="0"/>
          </a:p>
        </p:txBody>
      </p:sp>
      <p:sp>
        <p:nvSpPr>
          <p:cNvPr id="11" name="Shape 8"/>
          <p:cNvSpPr/>
          <p:nvPr/>
        </p:nvSpPr>
        <p:spPr>
          <a:xfrm>
            <a:off x="4010891" y="1984248"/>
            <a:ext cx="909205" cy="256032"/>
          </a:xfrm>
          <a:prstGeom prst="rect">
            <a:avLst/>
          </a:prstGeom>
          <a:solidFill>
            <a:srgbClr val="8C8C8C"/>
          </a:solidFill>
          <a:ln/>
        </p:spPr>
      </p:sp>
      <p:sp>
        <p:nvSpPr>
          <p:cNvPr id="12" name="Text 9"/>
          <p:cNvSpPr txBox="1"/>
          <p:nvPr/>
        </p:nvSpPr>
        <p:spPr>
          <a:xfrm>
            <a:off x="4965815" y="1947672"/>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1,200</a:t>
            </a:r>
            <a:endParaRPr lang="en-US" sz="1050" dirty="0"/>
          </a:p>
        </p:txBody>
      </p:sp>
      <p:sp>
        <p:nvSpPr>
          <p:cNvPr id="13" name="Text 10"/>
          <p:cNvSpPr txBox="1"/>
          <p:nvPr/>
        </p:nvSpPr>
        <p:spPr>
          <a:xfrm>
            <a:off x="1828800" y="2258568"/>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完成工事高30億円×手戻り2%×削減20%</a:t>
            </a:r>
            <a:endParaRPr lang="en-US" sz="750" dirty="0"/>
          </a:p>
        </p:txBody>
      </p:sp>
      <p:sp>
        <p:nvSpPr>
          <p:cNvPr id="14" name="Text 11"/>
          <p:cNvSpPr txBox="1"/>
          <p:nvPr/>
        </p:nvSpPr>
        <p:spPr>
          <a:xfrm>
            <a:off x="365760" y="2514600"/>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新人の指導時間</a:t>
            </a:r>
            <a:endParaRPr lang="en-US" sz="950" dirty="0"/>
          </a:p>
        </p:txBody>
      </p:sp>
      <p:sp>
        <p:nvSpPr>
          <p:cNvPr id="15" name="Shape 12"/>
          <p:cNvSpPr/>
          <p:nvPr/>
        </p:nvSpPr>
        <p:spPr>
          <a:xfrm>
            <a:off x="4920095" y="2551176"/>
            <a:ext cx="109105" cy="256032"/>
          </a:xfrm>
          <a:prstGeom prst="rect">
            <a:avLst/>
          </a:prstGeom>
          <a:solidFill>
            <a:srgbClr val="BFBFBF"/>
          </a:solidFill>
          <a:ln/>
        </p:spPr>
      </p:sp>
      <p:sp>
        <p:nvSpPr>
          <p:cNvPr id="16" name="Text 13"/>
          <p:cNvSpPr txBox="1"/>
          <p:nvPr/>
        </p:nvSpPr>
        <p:spPr>
          <a:xfrm>
            <a:off x="5074920" y="2514600"/>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144</a:t>
            </a:r>
            <a:endParaRPr lang="en-US" sz="1050" dirty="0"/>
          </a:p>
        </p:txBody>
      </p:sp>
      <p:sp>
        <p:nvSpPr>
          <p:cNvPr id="17" name="Text 14"/>
          <p:cNvSpPr txBox="1"/>
          <p:nvPr/>
        </p:nvSpPr>
        <p:spPr>
          <a:xfrm>
            <a:off x="1828800" y="2825496"/>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新人5人×年240時間×削減30%×4,000円</a:t>
            </a:r>
            <a:endParaRPr lang="en-US" sz="750" dirty="0"/>
          </a:p>
        </p:txBody>
      </p:sp>
      <p:sp>
        <p:nvSpPr>
          <p:cNvPr id="18" name="Shape 15"/>
          <p:cNvSpPr/>
          <p:nvPr/>
        </p:nvSpPr>
        <p:spPr>
          <a:xfrm>
            <a:off x="1828800" y="3118104"/>
            <a:ext cx="3200400" cy="274320"/>
          </a:xfrm>
          <a:prstGeom prst="rect">
            <a:avLst/>
          </a:prstGeom>
          <a:solidFill>
            <a:srgbClr val="B8692E"/>
          </a:solidFill>
          <a:ln/>
        </p:spPr>
      </p:sp>
      <p:sp>
        <p:nvSpPr>
          <p:cNvPr id="19" name="Text 16"/>
          <p:cNvSpPr txBox="1"/>
          <p:nvPr/>
        </p:nvSpPr>
        <p:spPr>
          <a:xfrm>
            <a:off x="365760" y="3081528"/>
            <a:ext cx="1417320" cy="347472"/>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合計</a:t>
            </a:r>
            <a:endParaRPr lang="en-US" sz="1050" dirty="0"/>
          </a:p>
        </p:txBody>
      </p:sp>
      <p:sp>
        <p:nvSpPr>
          <p:cNvPr id="20" name="Text 17"/>
          <p:cNvSpPr txBox="1"/>
          <p:nvPr/>
        </p:nvSpPr>
        <p:spPr>
          <a:xfrm>
            <a:off x="5074920" y="3081528"/>
            <a:ext cx="731520" cy="347472"/>
          </a:xfrm>
          <a:prstGeom prst="rect">
            <a:avLst/>
          </a:prstGeom>
          <a:noFill/>
          <a:ln/>
        </p:spPr>
        <p:txBody>
          <a:bodyPr wrap="square" lIns="0" tIns="0" rIns="0" bIns="0" rtlCol="0" anchor="ctr"/>
          <a:lstStyle/>
          <a:p>
            <a:pPr algn="l" indent="0" marL="0">
              <a:lnSpc>
                <a:spcPct val="115000"/>
              </a:lnSpc>
              <a:buNone/>
            </a:pPr>
            <a:r>
              <a:rPr lang="en-US" sz="1200" b="1" dirty="0">
                <a:solidFill>
                  <a:srgbClr val="B8692E"/>
                </a:solidFill>
                <a:latin typeface="Meiryo" pitchFamily="34" charset="0"/>
                <a:ea typeface="Meiryo" pitchFamily="34" charset="-122"/>
                <a:cs typeface="Meiryo" pitchFamily="34" charset="-120"/>
              </a:rPr>
              <a:t>4,224</a:t>
            </a:r>
            <a:endParaRPr lang="en-US" sz="1200" dirty="0"/>
          </a:p>
        </p:txBody>
      </p:sp>
      <p:sp>
        <p:nvSpPr>
          <p:cNvPr id="21" name="Shape 18"/>
          <p:cNvSpPr/>
          <p:nvPr/>
        </p:nvSpPr>
        <p:spPr>
          <a:xfrm>
            <a:off x="1828800" y="3538728"/>
            <a:ext cx="227301" cy="182880"/>
          </a:xfrm>
          <a:prstGeom prst="rect">
            <a:avLst/>
          </a:prstGeom>
          <a:solidFill>
            <a:srgbClr val="1A1A1A"/>
          </a:solidFill>
          <a:ln/>
        </p:spPr>
      </p:sp>
      <p:sp>
        <p:nvSpPr>
          <p:cNvPr id="22" name="Text 19"/>
          <p:cNvSpPr txBox="1"/>
          <p:nvPr/>
        </p:nvSpPr>
        <p:spPr>
          <a:xfrm>
            <a:off x="2129253" y="3493008"/>
            <a:ext cx="1828800" cy="27432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当社の利用料 300</a:t>
            </a:r>
            <a:endParaRPr lang="en-US" sz="900" dirty="0"/>
          </a:p>
        </p:txBody>
      </p:sp>
      <p:sp>
        <p:nvSpPr>
          <p:cNvPr id="23" name="Shape 20"/>
          <p:cNvSpPr/>
          <p:nvPr/>
        </p:nvSpPr>
        <p:spPr>
          <a:xfrm>
            <a:off x="5577840" y="1051560"/>
            <a:ext cx="3200400" cy="1325880"/>
          </a:xfrm>
          <a:prstGeom prst="rect">
            <a:avLst/>
          </a:prstGeom>
          <a:solidFill>
            <a:srgbClr val="1A1A1A"/>
          </a:solidFill>
          <a:ln/>
        </p:spPr>
      </p:sp>
      <p:sp>
        <p:nvSpPr>
          <p:cNvPr id="24" name="Text 21"/>
          <p:cNvSpPr txBox="1"/>
          <p:nvPr/>
        </p:nvSpPr>
        <p:spPr>
          <a:xfrm>
            <a:off x="5715000" y="1097280"/>
            <a:ext cx="2926080" cy="12344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浮く時間</a:t>
            </a:r>
            <a:endParaRPr lang="en-US" sz="1000" dirty="0"/>
          </a:p>
          <a:p>
            <a:pPr algn="l" indent="0" marL="0">
              <a:lnSpc>
                <a:spcPct val="115000"/>
              </a:lnSpc>
              <a:spcAft>
                <a:spcPts val="300"/>
              </a:spcAft>
              <a:buNone/>
            </a:pPr>
            <a:r>
              <a:rPr lang="en-US" sz="1500" b="1" dirty="0">
                <a:solidFill>
                  <a:srgbClr val="FFFFFF"/>
                </a:solidFill>
                <a:latin typeface="Meiryo" pitchFamily="34" charset="0"/>
                <a:ea typeface="Meiryo" pitchFamily="34" charset="-122"/>
                <a:cs typeface="Meiryo" pitchFamily="34" charset="-120"/>
              </a:rPr>
              <a:t>年7,200時間 ＝ 3.7人分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1人あたり年72時間＝残業上限360時間の20%の余力</a:t>
            </a:r>
            <a:endParaRPr lang="en-US" sz="1000" dirty="0"/>
          </a:p>
        </p:txBody>
      </p:sp>
      <p:sp>
        <p:nvSpPr>
          <p:cNvPr id="25" name="Shape 22"/>
          <p:cNvSpPr/>
          <p:nvPr/>
        </p:nvSpPr>
        <p:spPr>
          <a:xfrm>
            <a:off x="5577840" y="2514600"/>
            <a:ext cx="3200400" cy="1188720"/>
          </a:xfrm>
          <a:prstGeom prst="rect">
            <a:avLst/>
          </a:prstGeom>
          <a:solidFill>
            <a:srgbClr val="F2F2F2"/>
          </a:solidFill>
          <a:ln/>
        </p:spPr>
      </p:sp>
      <p:sp>
        <p:nvSpPr>
          <p:cNvPr id="26" name="Text 23"/>
          <p:cNvSpPr txBox="1"/>
          <p:nvPr/>
        </p:nvSpPr>
        <p:spPr>
          <a:xfrm>
            <a:off x="5715000" y="2560320"/>
            <a:ext cx="2926080"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1A1A1A"/>
                </a:solidFill>
                <a:latin typeface="Meiryo" pitchFamily="34" charset="0"/>
                <a:ea typeface="Meiryo" pitchFamily="34" charset="-122"/>
                <a:cs typeface="Meiryo" pitchFamily="34" charset="-120"/>
              </a:rPr>
              <a:t>前提をすべて半分にしても</a:t>
            </a:r>
            <a:endParaRPr lang="en-US" sz="1000" dirty="0"/>
          </a:p>
          <a:p>
            <a:pPr algn="l" indent="0" marL="0">
              <a:lnSpc>
                <a:spcPct val="115000"/>
              </a:lnSpc>
              <a:spcAft>
                <a:spcPts val="200"/>
              </a:spcAft>
              <a:buNone/>
            </a:pPr>
            <a:r>
              <a:rPr lang="en-US" sz="1500" b="1" dirty="0">
                <a:solidFill>
                  <a:srgbClr val="B8692E"/>
                </a:solidFill>
                <a:latin typeface="Meiryo" pitchFamily="34" charset="0"/>
                <a:ea typeface="Meiryo" pitchFamily="34" charset="-122"/>
                <a:cs typeface="Meiryo" pitchFamily="34" charset="-120"/>
              </a:rPr>
              <a:t>年2,112万円・約7倍</a:t>
            </a:r>
            <a:endParaRPr lang="en-US" sz="1000" dirty="0"/>
          </a:p>
          <a:p>
            <a:pPr algn="l" indent="0" marL="0">
              <a:lnSpc>
                <a:spcPct val="115000"/>
              </a:lnSpc>
              <a:spcAft>
                <a:spcPts val="200"/>
              </a:spcAft>
              <a:buNone/>
            </a:pPr>
            <a:r>
              <a:rPr lang="en-US" sz="850" dirty="0">
                <a:solidFill>
                  <a:srgbClr val="4D4D4D"/>
                </a:solidFill>
                <a:latin typeface="Meiryo" pitchFamily="34" charset="0"/>
                <a:ea typeface="Meiryo" pitchFamily="34" charset="-122"/>
                <a:cs typeface="Meiryo" pitchFamily="34" charset="-120"/>
              </a:rPr>
              <a:t>削減時間 月3時間・手戻り削減10%・指導削減15%</a:t>
            </a:r>
            <a:endParaRPr lang="en-US" sz="1000" dirty="0"/>
          </a:p>
        </p:txBody>
      </p:sp>
      <p:sp>
        <p:nvSpPr>
          <p:cNvPr id="27" name="Shape 24"/>
          <p:cNvSpPr/>
          <p:nvPr/>
        </p:nvSpPr>
        <p:spPr>
          <a:xfrm>
            <a:off x="365760" y="3886200"/>
            <a:ext cx="8412480" cy="594360"/>
          </a:xfrm>
          <a:prstGeom prst="rect">
            <a:avLst/>
          </a:prstGeom>
          <a:solidFill>
            <a:srgbClr val="FFFFFF"/>
          </a:solidFill>
          <a:ln w="19050">
            <a:solidFill>
              <a:srgbClr val="B8692E"/>
            </a:solidFill>
            <a:prstDash val="solid"/>
          </a:ln>
        </p:spPr>
      </p:sp>
      <p:sp>
        <p:nvSpPr>
          <p:cNvPr id="28" name="Text 25"/>
          <p:cNvSpPr txBox="1"/>
          <p:nvPr/>
        </p:nvSpPr>
        <p:spPr>
          <a:xfrm>
            <a:off x="502920" y="3886200"/>
            <a:ext cx="8138160" cy="594360"/>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「年300万円で、書類の時間・やり直し・新人の指導を合わせて年4,200万円分減らします。浮いた3.7人分で、断っていた工事を受けられます」</a:t>
            </a:r>
            <a:endParaRPr lang="en-US" sz="10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時間は人件費換算で、現金が減るのは残業代の削減や受注の増加として表れたとき。手戻り率2%・削減20%・完成工事高30億円は仮定で、実証で測る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作業者のスマートグラス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 ─ グラスは作らず、選べる設計にする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当社が作るのはアプリ・AI・データ基盤。端末は市販品を現場仕様にして使い、世代が進めば乗り換える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現場で使える端末の条件</a:t>
            </a:r>
            <a:endParaRPr lang="en-US" sz="1050" dirty="0"/>
          </a:p>
        </p:txBody>
      </p:sp>
      <p:graphicFrame>
        <p:nvGraphicFramePr>
          <p:cNvPr id="12" name="device-req"/>
          <p:cNvGraphicFramePr>
            <a:graphicFrameLocks noGrp="1"/>
          </p:cNvGraphicFramePr>
          <p:nvPr>
            <p:extLst>
              <p:ext uri="{D42A27DB-BD31-4B8C-83A1-F6EECF244321}">
                <p14:modId xmlns:p14="http://schemas.microsoft.com/office/powerpoint/2010/main" val="1579011935"/>
              </p:ext>
            </p:extLst>
          </p:nvPr>
        </p:nvGraphicFramePr>
        <p:xfrm>
          <a:off x="365760" y="1325880"/>
          <a:ext cx="3840480" cy="914400"/>
        </p:xfrm>
        <a:graphic>
          <a:graphicData uri="http://schemas.openxmlformats.org/drawingml/2006/table">
            <a:tbl>
              <a:tblPr/>
              <a:tblGrid>
                <a:gridCol w="1005840"/>
                <a:gridCol w="28346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壊れない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コンクリートへの落下（2m級）に耐える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IP66級の防じん・防水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電池</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1シフト持つ。交換式か外部電源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装着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ヘルメットに付く。保護めがねと併用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操作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手袋のまま、声とジェスチャーで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一人称カメラ。圏外でも記録して後で送る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目の保護</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異物・火花から守る（規格適合は要確認）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段階的に使う端末</a:t>
            </a:r>
            <a:endParaRPr lang="en-US" sz="1050" dirty="0"/>
          </a:p>
        </p:txBody>
      </p:sp>
      <p:sp>
        <p:nvSpPr>
          <p:cNvPr id="8" name="Shape 4"/>
          <p:cNvSpPr/>
          <p:nvPr/>
        </p:nvSpPr>
        <p:spPr>
          <a:xfrm>
            <a:off x="4434840" y="1344168"/>
            <a:ext cx="914400" cy="685800"/>
          </a:xfrm>
          <a:prstGeom prst="rect">
            <a:avLst/>
          </a:prstGeom>
          <a:solidFill>
            <a:srgbClr val="B8692E"/>
          </a:solidFill>
          <a:ln/>
        </p:spPr>
      </p:sp>
      <p:sp>
        <p:nvSpPr>
          <p:cNvPr id="9" name="Text 5"/>
          <p:cNvSpPr txBox="1"/>
          <p:nvPr/>
        </p:nvSpPr>
        <p:spPr>
          <a:xfrm>
            <a:off x="4434840" y="1344168"/>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今すぐ</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記録と報告</a:t>
            </a:r>
            <a:endParaRPr lang="en-US" sz="1000" dirty="0"/>
          </a:p>
        </p:txBody>
      </p:sp>
      <p:sp>
        <p:nvSpPr>
          <p:cNvPr id="10" name="Text 6"/>
          <p:cNvSpPr txBox="1"/>
          <p:nvPr/>
        </p:nvSpPr>
        <p:spPr>
          <a:xfrm>
            <a:off x="5440680" y="1344168"/>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産業用ヘッドマウント端末（例：RealWear Navigator 520 ─ IP66・2m落下・電池交換・ヘルメット装着・音声操作）＋ヘルメットカメラ</a:t>
            </a:r>
            <a:endParaRPr lang="en-US" sz="850" dirty="0"/>
          </a:p>
        </p:txBody>
      </p:sp>
      <p:sp>
        <p:nvSpPr>
          <p:cNvPr id="11" name="Shape 7"/>
          <p:cNvSpPr/>
          <p:nvPr/>
        </p:nvSpPr>
        <p:spPr>
          <a:xfrm>
            <a:off x="4434840" y="2103120"/>
            <a:ext cx="914400" cy="685800"/>
          </a:xfrm>
          <a:prstGeom prst="rect">
            <a:avLst/>
          </a:prstGeom>
          <a:solidFill>
            <a:srgbClr val="4D4D4D"/>
          </a:solidFill>
          <a:ln/>
        </p:spPr>
      </p:sp>
      <p:sp>
        <p:nvSpPr>
          <p:cNvPr id="12" name="Text 8"/>
          <p:cNvSpPr txBox="1"/>
          <p:nvPr/>
        </p:nvSpPr>
        <p:spPr>
          <a:xfrm>
            <a:off x="4434840" y="2103120"/>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2〜3年目</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図面を手元に</a:t>
            </a:r>
            <a:endParaRPr lang="en-US" sz="1000" dirty="0"/>
          </a:p>
        </p:txBody>
      </p:sp>
      <p:sp>
        <p:nvSpPr>
          <p:cNvPr id="13" name="Text 9"/>
          <p:cNvSpPr txBox="1"/>
          <p:nvPr/>
        </p:nvSpPr>
        <p:spPr>
          <a:xfrm>
            <a:off x="5440680" y="2103120"/>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映像越しに重ねるMRヘッドセット（Quest 3等）で事前トレーニング、法人向けAR端末でジョイント1種類を実証</a:t>
            </a:r>
            <a:endParaRPr lang="en-US" sz="850" dirty="0"/>
          </a:p>
        </p:txBody>
      </p:sp>
      <p:sp>
        <p:nvSpPr>
          <p:cNvPr id="14" name="Shape 10"/>
          <p:cNvSpPr/>
          <p:nvPr/>
        </p:nvSpPr>
        <p:spPr>
          <a:xfrm>
            <a:off x="4434840" y="2862072"/>
            <a:ext cx="914400" cy="685800"/>
          </a:xfrm>
          <a:prstGeom prst="rect">
            <a:avLst/>
          </a:prstGeom>
          <a:solidFill>
            <a:srgbClr val="1A1A1A"/>
          </a:solidFill>
          <a:ln/>
        </p:spPr>
      </p:sp>
      <p:sp>
        <p:nvSpPr>
          <p:cNvPr id="15" name="Text 11"/>
          <p:cNvSpPr txBox="1"/>
          <p:nvPr/>
        </p:nvSpPr>
        <p:spPr>
          <a:xfrm>
            <a:off x="4434840" y="2862072"/>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2027年〜</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現場でAR</a:t>
            </a:r>
            <a:endParaRPr lang="en-US" sz="1000" dirty="0"/>
          </a:p>
        </p:txBody>
      </p:sp>
      <p:sp>
        <p:nvSpPr>
          <p:cNvPr id="16" name="Text 12"/>
          <p:cNvSpPr txBox="1"/>
          <p:nvPr/>
        </p:nvSpPr>
        <p:spPr>
          <a:xfrm>
            <a:off x="5440680" y="2862072"/>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一般向けARグラス（Metaが2027年の発売と報道）。軽く、常時かけられる世代へ乗り換える</a:t>
            </a:r>
            <a:endParaRPr lang="en-US" sz="850" dirty="0"/>
          </a:p>
        </p:txBody>
      </p:sp>
      <p:sp>
        <p:nvSpPr>
          <p:cNvPr id="17" name="Shape 13"/>
          <p:cNvSpPr/>
          <p:nvPr/>
        </p:nvSpPr>
        <p:spPr>
          <a:xfrm>
            <a:off x="365760" y="3657600"/>
            <a:ext cx="8412480" cy="777240"/>
          </a:xfrm>
          <a:prstGeom prst="rect">
            <a:avLst/>
          </a:prstGeom>
          <a:solidFill>
            <a:srgbClr val="FFFFFF"/>
          </a:solidFill>
          <a:ln w="19050">
            <a:solidFill>
              <a:srgbClr val="B8692E"/>
            </a:solidFill>
            <a:prstDash val="solid"/>
          </a:ln>
        </p:spPr>
      </p:sp>
      <p:sp>
        <p:nvSpPr>
          <p:cNvPr id="18" name="Text 14"/>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アプリ・AI・データ基盤（端末をまたいで同じデータを使う）、保護カバーとヘルメット取付具（乱暴に扱われても本体を壊さない）</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作らないもの：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グラス本体。開発費が大きく、大手の進化が速い。乗り換えられることが、端末の進化を味方にする</a:t>
            </a:r>
            <a:endParaRPr lang="en-US" sz="900" dirty="0"/>
          </a:p>
        </p:txBody>
      </p:sp>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仕様は販売店の公表値（RealWear Navigator 520）。ARグラスの発売時期は報道で公式発表ではない。端末の選定は実証前に現場で確認する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人が入力する器か、自動で記録して判断を渡すか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施工管理アプリとは競わずにつなぐ。報告書と写真は各社の形式で出し、判断の記録と教材で選ばれる</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388766" y="3391510"/>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797710" y="335950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24" name="Text 2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25"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27" name="Text 2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3"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371600"/>
                <a:gridCol w="1005840"/>
                <a:gridCol w="960120"/>
                <a:gridCol w="91440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会社・サービス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報告書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判断・教材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ANDPAD</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人が入力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SPIDERPLUS</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人が図面に記録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検査帳票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蔵衛門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人が撮影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写真台帳</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遠隔臨場カメラ（各社）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映像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tebiki／Teachme Biz</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器のみ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カンツギ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一人称で自動</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写真を自動抽出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図面照合＋教材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threat"/>
          <p:cNvSpPr/>
          <p:nvPr/>
        </p:nvSpPr>
        <p:spPr>
          <a:xfrm>
            <a:off x="4526280" y="3145536"/>
            <a:ext cx="4251960" cy="658368"/>
          </a:xfrm>
          <a:prstGeom prst="rect">
            <a:avLst/>
          </a:prstGeom>
          <a:solidFill>
            <a:srgbClr val="1A1A1A"/>
          </a:solidFill>
          <a:ln/>
        </p:spPr>
      </p:sp>
      <p:sp>
        <p:nvSpPr>
          <p:cNvPr id="30" name="Text 26"/>
          <p:cNvSpPr txBox="1"/>
          <p:nvPr/>
        </p:nvSpPr>
        <p:spPr>
          <a:xfrm>
            <a:off x="4636008" y="3145536"/>
            <a:ext cx="4032504"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最大の脅威：</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施工管理アプリ各社がAIで自動報告を加えること</a:t>
            </a:r>
            <a:endParaRPr lang="en-US" sz="850" dirty="0"/>
          </a:p>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競わずにつなぐ（各社の形式で出力）。強みは図面に現れない判断の記録と、施工経験者による監修</a:t>
            </a:r>
            <a:endParaRPr lang="en-US" sz="850" dirty="0"/>
          </a:p>
        </p:txBody>
      </p:sp>
      <p:sp>
        <p:nvSpPr>
          <p:cNvPr id="31" name="Text 27"/>
          <p:cNvSpPr txBox="1"/>
          <p:nvPr/>
        </p:nvSpPr>
        <p:spPr>
          <a:xfrm>
            <a:off x="4526280" y="3858768"/>
            <a:ext cx="4251960" cy="384048"/>
          </a:xfrm>
          <a:prstGeom prst="rect">
            <a:avLst/>
          </a:prstGeom>
          <a:noFill/>
          <a:ln/>
        </p:spPr>
        <p:txBody>
          <a:bodyPr wrap="square" lIns="0" tIns="0" rIns="0" bIns="0" rtlCol="0" anchor="t"/>
          <a:lstStyle/>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STP：</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工種×規模で区分し、関東の中堅電気工事会社を狙う</a:t>
            </a:r>
            <a:endParaRPr lang="en-US" sz="800" dirty="0"/>
          </a:p>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競争戦略：</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ニッチャー（コトラー）×差別化集中（ポーター）</a:t>
            </a:r>
            <a:endParaRPr lang="en-US" sz="800" dirty="0"/>
          </a:p>
        </p:txBody>
      </p:sp>
      <p:sp>
        <p:nvSpPr>
          <p:cNvPr id="32" name="Text 28"/>
          <p:cNvSpPr txBox="1"/>
          <p:nvPr/>
        </p:nvSpPr>
        <p:spPr>
          <a:xfrm>
            <a:off x="365760" y="4608576"/>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出典：各社公表資料、スパイダープラス 有価証券報告書（契約1,524社・2022年12月末）。製造業の競合は補足資料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5"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6" name="sam"/>
          <p:cNvSpPr/>
          <p:nvPr/>
        </p:nvSpPr>
        <p:spPr>
          <a:xfrm>
            <a:off x="1005840" y="2103120"/>
            <a:ext cx="2194560" cy="2286000"/>
          </a:xfrm>
          <a:prstGeom prst="ellipse">
            <a:avLst/>
          </a:prstGeom>
          <a:solidFill>
            <a:srgbClr val="4D4D4D"/>
          </a:solidFill>
          <a:ln/>
        </p:spPr>
      </p:sp>
      <p:sp>
        <p:nvSpPr>
          <p:cNvPr id="7" name="som"/>
          <p:cNvSpPr/>
          <p:nvPr/>
        </p:nvSpPr>
        <p:spPr>
          <a:xfrm>
            <a:off x="1554480" y="3108960"/>
            <a:ext cx="1097280" cy="1097280"/>
          </a:xfrm>
          <a:prstGeom prst="ellipse">
            <a:avLst/>
          </a:prstGeom>
          <a:solidFill>
            <a:srgbClr val="1A1A1A"/>
          </a:solidFill>
          <a:ln/>
        </p:spPr>
      </p:sp>
      <p:sp>
        <p:nvSpPr>
          <p:cNvPr id="8" name="Text 5"/>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9" name="Text 6"/>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0" name="Text 7"/>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2.55億円</a:t>
            </a:r>
            <a:endParaRPr lang="en-US" sz="1050" dirty="0"/>
          </a:p>
        </p:txBody>
      </p:sp>
      <p:sp>
        <p:nvSpPr>
          <p:cNvPr id="11" name="Text 8"/>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4"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4" name="growth"/>
          <p:cNvSpPr/>
          <p:nvPr/>
        </p:nvSpPr>
        <p:spPr>
          <a:xfrm>
            <a:off x="4297680" y="3017520"/>
            <a:ext cx="4480560" cy="1261872"/>
          </a:xfrm>
          <a:prstGeom prst="rect">
            <a:avLst/>
          </a:prstGeom>
          <a:solidFill>
            <a:srgbClr val="1A1A1A"/>
          </a:solidFill>
          <a:ln/>
        </p:spPr>
      </p:sp>
      <p:sp>
        <p:nvSpPr>
          <p:cNvPr id="15" name="Text 11"/>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自社が狙う市場：5年目85拠点×年300万円＝2.55億円（ターゲット市場の約1.8%）</a:t>
            </a:r>
            <a:endParaRPr lang="en-US" sz="850" dirty="0"/>
          </a:p>
        </p:txBody>
      </p:sp>
      <p:sp>
        <p:nvSpPr>
          <p:cNvPr id="16" name="Text 12"/>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5" name="Text 2"/>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15"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8" name="icp"/>
          <p:cNvSpPr/>
          <p:nvPr/>
        </p:nvSpPr>
        <p:spPr>
          <a:xfrm>
            <a:off x="5486400" y="1051560"/>
            <a:ext cx="3291840" cy="1371600"/>
          </a:xfrm>
          <a:prstGeom prst="rect">
            <a:avLst/>
          </a:prstGeom>
          <a:solidFill>
            <a:srgbClr val="1A1A1A"/>
          </a:solidFill>
          <a:ln/>
        </p:spPr>
      </p:sp>
      <p:sp>
        <p:nvSpPr>
          <p:cNvPr id="9" name="Text 5"/>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0" name="Text 6"/>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1" name="Shape 7"/>
          <p:cNvSpPr/>
          <p:nvPr/>
        </p:nvSpPr>
        <p:spPr>
          <a:xfrm>
            <a:off x="5486400" y="2843784"/>
            <a:ext cx="502920" cy="274320"/>
          </a:xfrm>
          <a:prstGeom prst="rect">
            <a:avLst/>
          </a:prstGeom>
          <a:solidFill>
            <a:srgbClr val="B8692E"/>
          </a:solidFill>
          <a:ln/>
        </p:spPr>
      </p:sp>
      <p:sp>
        <p:nvSpPr>
          <p:cNvPr id="12" name="Text 8"/>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3" name="Text 9"/>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4" name="Shape 10"/>
          <p:cNvSpPr/>
          <p:nvPr/>
        </p:nvSpPr>
        <p:spPr>
          <a:xfrm>
            <a:off x="5486400" y="3209544"/>
            <a:ext cx="502920" cy="274320"/>
          </a:xfrm>
          <a:prstGeom prst="rect">
            <a:avLst/>
          </a:prstGeom>
          <a:solidFill>
            <a:srgbClr val="4D4D4D"/>
          </a:solidFill>
          <a:ln/>
        </p:spPr>
      </p:sp>
      <p:sp>
        <p:nvSpPr>
          <p:cNvPr id="15" name="Text 11"/>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6" name="Text 12"/>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7" name="Shape 13"/>
          <p:cNvSpPr/>
          <p:nvPr/>
        </p:nvSpPr>
        <p:spPr>
          <a:xfrm>
            <a:off x="5486400" y="3575304"/>
            <a:ext cx="502920" cy="274320"/>
          </a:xfrm>
          <a:prstGeom prst="rect">
            <a:avLst/>
          </a:prstGeom>
          <a:solidFill>
            <a:srgbClr val="4D4D4D"/>
          </a:solidFill>
          <a:ln/>
        </p:spPr>
      </p:sp>
      <p:sp>
        <p:nvSpPr>
          <p:cNvPr id="18" name="Text 14"/>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19" name="Text 15"/>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5" name="Shape 2"/>
          <p:cNvSpPr/>
          <p:nvPr/>
        </p:nvSpPr>
        <p:spPr>
          <a:xfrm>
            <a:off x="365760" y="1024128"/>
            <a:ext cx="1463040" cy="685800"/>
          </a:xfrm>
          <a:prstGeom prst="rect">
            <a:avLst/>
          </a:prstGeom>
          <a:solidFill>
            <a:srgbClr val="1A1A1A"/>
          </a:solidFill>
          <a:ln/>
        </p:spPr>
      </p:sp>
      <p:sp>
        <p:nvSpPr>
          <p:cNvPr id="6" name="Text 3"/>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7" name="Text 4"/>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8" name="Shape 5"/>
          <p:cNvSpPr/>
          <p:nvPr/>
        </p:nvSpPr>
        <p:spPr>
          <a:xfrm>
            <a:off x="365760" y="1801368"/>
            <a:ext cx="1463040" cy="1874520"/>
          </a:xfrm>
          <a:prstGeom prst="rect">
            <a:avLst/>
          </a:prstGeom>
          <a:solidFill>
            <a:srgbClr val="1A1A1A"/>
          </a:solidFill>
          <a:ln/>
        </p:spPr>
      </p:sp>
      <p:sp>
        <p:nvSpPr>
          <p:cNvPr id="9" name="Text 6"/>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0" name="Shape 7"/>
          <p:cNvSpPr/>
          <p:nvPr/>
        </p:nvSpPr>
        <p:spPr>
          <a:xfrm>
            <a:off x="1965960" y="1801368"/>
            <a:ext cx="1117092" cy="384048"/>
          </a:xfrm>
          <a:prstGeom prst="chevron">
            <a:avLst/>
          </a:prstGeom>
          <a:solidFill>
            <a:srgbClr val="4D4D4D"/>
          </a:solidFill>
          <a:ln/>
        </p:spPr>
      </p:sp>
      <p:sp>
        <p:nvSpPr>
          <p:cNvPr id="11" name="Text 8"/>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2" name="Text 9"/>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3" name="Shape 10"/>
          <p:cNvSpPr/>
          <p:nvPr/>
        </p:nvSpPr>
        <p:spPr>
          <a:xfrm>
            <a:off x="3101340" y="1801368"/>
            <a:ext cx="1117092" cy="384048"/>
          </a:xfrm>
          <a:prstGeom prst="chevron">
            <a:avLst/>
          </a:prstGeom>
          <a:solidFill>
            <a:srgbClr val="4D4D4D"/>
          </a:solidFill>
          <a:ln/>
        </p:spPr>
      </p:sp>
      <p:sp>
        <p:nvSpPr>
          <p:cNvPr id="14" name="Text 11"/>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5" name="Text 12"/>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6" name="Shape 13"/>
          <p:cNvSpPr/>
          <p:nvPr/>
        </p:nvSpPr>
        <p:spPr>
          <a:xfrm>
            <a:off x="4236720" y="1801368"/>
            <a:ext cx="1117092" cy="384048"/>
          </a:xfrm>
          <a:prstGeom prst="chevron">
            <a:avLst/>
          </a:prstGeom>
          <a:solidFill>
            <a:srgbClr val="4D4D4D"/>
          </a:solidFill>
          <a:ln/>
        </p:spPr>
      </p:sp>
      <p:sp>
        <p:nvSpPr>
          <p:cNvPr id="17" name="Text 14"/>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8" name="Text 15"/>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スマートグラス</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で自動収録</a:t>
            </a:r>
            <a:endParaRPr lang="en-US" sz="850" dirty="0"/>
          </a:p>
        </p:txBody>
      </p:sp>
      <p:sp>
        <p:nvSpPr>
          <p:cNvPr id="19" name="Shape 16"/>
          <p:cNvSpPr/>
          <p:nvPr/>
        </p:nvSpPr>
        <p:spPr>
          <a:xfrm>
            <a:off x="5372100" y="1801368"/>
            <a:ext cx="1117092" cy="384048"/>
          </a:xfrm>
          <a:prstGeom prst="chevron">
            <a:avLst/>
          </a:prstGeom>
          <a:solidFill>
            <a:srgbClr val="B8692E"/>
          </a:solidFill>
          <a:ln/>
        </p:spPr>
      </p:sp>
      <p:sp>
        <p:nvSpPr>
          <p:cNvPr id="20" name="Text 17"/>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1" name="Text 18"/>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2" name="Shape 19"/>
          <p:cNvSpPr/>
          <p:nvPr/>
        </p:nvSpPr>
        <p:spPr>
          <a:xfrm>
            <a:off x="6507480" y="1801368"/>
            <a:ext cx="1117092" cy="384048"/>
          </a:xfrm>
          <a:prstGeom prst="chevron">
            <a:avLst/>
          </a:prstGeom>
          <a:solidFill>
            <a:srgbClr val="4D4D4D"/>
          </a:solidFill>
          <a:ln/>
        </p:spPr>
      </p:sp>
      <p:sp>
        <p:nvSpPr>
          <p:cNvPr id="23" name="Text 20"/>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4" name="Text 21"/>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5" name="Shape 22"/>
          <p:cNvSpPr/>
          <p:nvPr/>
        </p:nvSpPr>
        <p:spPr>
          <a:xfrm>
            <a:off x="7642860" y="1801368"/>
            <a:ext cx="1117092" cy="384048"/>
          </a:xfrm>
          <a:prstGeom prst="chevron">
            <a:avLst/>
          </a:prstGeom>
          <a:solidFill>
            <a:srgbClr val="4D4D4D"/>
          </a:solidFill>
          <a:ln/>
        </p:spPr>
      </p:sp>
      <p:sp>
        <p:nvSpPr>
          <p:cNvPr id="26" name="Text 23"/>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7" name="Text 24"/>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16"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導入担当（カスタマーサクセス）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1人で年6拠点を立ち上げる（2か月で1拠点）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スマートグラスのメーカー・クラウド・大学（映像AI）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Shape 25"/>
          <p:cNvSpPr/>
          <p:nvPr/>
        </p:nvSpPr>
        <p:spPr>
          <a:xfrm>
            <a:off x="365760" y="3767328"/>
            <a:ext cx="1463040" cy="777240"/>
          </a:xfrm>
          <a:prstGeom prst="rect">
            <a:avLst/>
          </a:prstGeom>
          <a:solidFill>
            <a:srgbClr val="1A1A1A"/>
          </a:solidFill>
          <a:ln/>
        </p:spPr>
      </p:sp>
      <p:sp>
        <p:nvSpPr>
          <p:cNvPr id="30" name="Text 26"/>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1" name="Text 27"/>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年300万円の利用料（年額前払い）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お客様は約2.1か月で回収。当社は社員1人2.8拠点を超える4年目に黒字</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年300万円、約2か月で元が取れる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当社の収入は、毎年積み上がる利用料と、初年度だけの導入支援の二本</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1拠点が払う金額（万円）</a:t>
            </a:r>
            <a:endParaRPr lang="en-US" sz="1050" dirty="0"/>
          </a:p>
        </p:txBody>
      </p:sp>
      <p:sp>
        <p:nvSpPr>
          <p:cNvPr id="6" name="Text 3"/>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7" name="seg-基盤0"/>
          <p:cNvSpPr/>
          <p:nvPr/>
        </p:nvSpPr>
        <p:spPr>
          <a:xfrm>
            <a:off x="1143000" y="1380744"/>
            <a:ext cx="621792" cy="384048"/>
          </a:xfrm>
          <a:prstGeom prst="rect">
            <a:avLst/>
          </a:prstGeom>
          <a:solidFill>
            <a:srgbClr val="1A1A1A"/>
          </a:solidFill>
          <a:ln w="9525">
            <a:solidFill>
              <a:srgbClr val="1A1A1A"/>
            </a:solidFill>
            <a:prstDash val="solid"/>
          </a:ln>
        </p:spPr>
      </p:sp>
      <p:sp>
        <p:nvSpPr>
          <p:cNvPr id="8" name="Text 5"/>
          <p:cNvSpPr txBox="1"/>
          <p:nvPr/>
        </p:nvSpPr>
        <p:spPr>
          <a:xfrm>
            <a:off x="1143000"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9" name="seg-ライン登録0"/>
          <p:cNvSpPr/>
          <p:nvPr/>
        </p:nvSpPr>
        <p:spPr>
          <a:xfrm>
            <a:off x="1764792" y="1380744"/>
            <a:ext cx="621792" cy="384048"/>
          </a:xfrm>
          <a:prstGeom prst="rect">
            <a:avLst/>
          </a:prstGeom>
          <a:solidFill>
            <a:srgbClr val="4D4D4D"/>
          </a:solidFill>
          <a:ln w="9525">
            <a:solidFill>
              <a:srgbClr val="1A1A1A"/>
            </a:solidFill>
            <a:prstDash val="solid"/>
          </a:ln>
        </p:spPr>
      </p:sp>
      <p:sp>
        <p:nvSpPr>
          <p:cNvPr id="10" name="Text 7"/>
          <p:cNvSpPr txBox="1"/>
          <p:nvPr/>
        </p:nvSpPr>
        <p:spPr>
          <a:xfrm>
            <a:off x="1764792"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11" name="seg-追加機能0"/>
          <p:cNvSpPr/>
          <p:nvPr/>
        </p:nvSpPr>
        <p:spPr>
          <a:xfrm>
            <a:off x="2386584" y="1380744"/>
            <a:ext cx="621792" cy="384048"/>
          </a:xfrm>
          <a:prstGeom prst="rect">
            <a:avLst/>
          </a:prstGeom>
          <a:solidFill>
            <a:srgbClr val="8C8C8C"/>
          </a:solidFill>
          <a:ln w="9525">
            <a:solidFill>
              <a:srgbClr val="1A1A1A"/>
            </a:solidFill>
            <a:prstDash val="solid"/>
          </a:ln>
        </p:spPr>
      </p:sp>
      <p:sp>
        <p:nvSpPr>
          <p:cNvPr id="12" name="Text 9"/>
          <p:cNvSpPr txBox="1"/>
          <p:nvPr/>
        </p:nvSpPr>
        <p:spPr>
          <a:xfrm>
            <a:off x="2386584"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13" name="seg-導入支援0"/>
          <p:cNvSpPr/>
          <p:nvPr/>
        </p:nvSpPr>
        <p:spPr>
          <a:xfrm>
            <a:off x="3008376" y="1380744"/>
            <a:ext cx="1243584" cy="384048"/>
          </a:xfrm>
          <a:prstGeom prst="rect">
            <a:avLst/>
          </a:prstGeom>
          <a:solidFill>
            <a:srgbClr val="FFFFFF"/>
          </a:solidFill>
          <a:ln w="9525">
            <a:solidFill>
              <a:srgbClr val="1A1A1A"/>
            </a:solidFill>
            <a:prstDash val="solid"/>
          </a:ln>
        </p:spPr>
      </p:sp>
      <p:sp>
        <p:nvSpPr>
          <p:cNvPr id="14" name="Text 11"/>
          <p:cNvSpPr txBox="1"/>
          <p:nvPr/>
        </p:nvSpPr>
        <p:spPr>
          <a:xfrm>
            <a:off x="3008376" y="1380744"/>
            <a:ext cx="124358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5" name="Text 12"/>
          <p:cNvSpPr txBox="1"/>
          <p:nvPr/>
        </p:nvSpPr>
        <p:spPr>
          <a:xfrm>
            <a:off x="42885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6" name="Text 13"/>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7" name="seg-基盤1"/>
          <p:cNvSpPr/>
          <p:nvPr/>
        </p:nvSpPr>
        <p:spPr>
          <a:xfrm>
            <a:off x="1143000" y="1892808"/>
            <a:ext cx="621792" cy="384048"/>
          </a:xfrm>
          <a:prstGeom prst="rect">
            <a:avLst/>
          </a:prstGeom>
          <a:solidFill>
            <a:srgbClr val="1A1A1A"/>
          </a:solidFill>
          <a:ln w="9525">
            <a:solidFill>
              <a:srgbClr val="1A1A1A"/>
            </a:solidFill>
            <a:prstDash val="solid"/>
          </a:ln>
        </p:spPr>
      </p:sp>
      <p:sp>
        <p:nvSpPr>
          <p:cNvPr id="18" name="Text 15"/>
          <p:cNvSpPr txBox="1"/>
          <p:nvPr/>
        </p:nvSpPr>
        <p:spPr>
          <a:xfrm>
            <a:off x="1143000"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19" name="seg-ライン登録1"/>
          <p:cNvSpPr/>
          <p:nvPr/>
        </p:nvSpPr>
        <p:spPr>
          <a:xfrm>
            <a:off x="1764792" y="1892808"/>
            <a:ext cx="621792" cy="384048"/>
          </a:xfrm>
          <a:prstGeom prst="rect">
            <a:avLst/>
          </a:prstGeom>
          <a:solidFill>
            <a:srgbClr val="4D4D4D"/>
          </a:solidFill>
          <a:ln w="9525">
            <a:solidFill>
              <a:srgbClr val="1A1A1A"/>
            </a:solidFill>
            <a:prstDash val="solid"/>
          </a:ln>
        </p:spPr>
      </p:sp>
      <p:sp>
        <p:nvSpPr>
          <p:cNvPr id="20" name="Text 17"/>
          <p:cNvSpPr txBox="1"/>
          <p:nvPr/>
        </p:nvSpPr>
        <p:spPr>
          <a:xfrm>
            <a:off x="1764792"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21" name="seg-追加機能1"/>
          <p:cNvSpPr/>
          <p:nvPr/>
        </p:nvSpPr>
        <p:spPr>
          <a:xfrm>
            <a:off x="2386584" y="1892808"/>
            <a:ext cx="621792" cy="384048"/>
          </a:xfrm>
          <a:prstGeom prst="rect">
            <a:avLst/>
          </a:prstGeom>
          <a:solidFill>
            <a:srgbClr val="8C8C8C"/>
          </a:solidFill>
          <a:ln w="9525">
            <a:solidFill>
              <a:srgbClr val="1A1A1A"/>
            </a:solidFill>
            <a:prstDash val="solid"/>
          </a:ln>
        </p:spPr>
      </p:sp>
      <p:sp>
        <p:nvSpPr>
          <p:cNvPr id="22" name="Text 19"/>
          <p:cNvSpPr txBox="1"/>
          <p:nvPr/>
        </p:nvSpPr>
        <p:spPr>
          <a:xfrm>
            <a:off x="2386584"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23" name="Text 20"/>
          <p:cNvSpPr txBox="1"/>
          <p:nvPr/>
        </p:nvSpPr>
        <p:spPr>
          <a:xfrm>
            <a:off x="304495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4" name="Shape 21"/>
          <p:cNvSpPr/>
          <p:nvPr/>
        </p:nvSpPr>
        <p:spPr>
          <a:xfrm>
            <a:off x="365760" y="2468880"/>
            <a:ext cx="4069080" cy="0"/>
          </a:xfrm>
          <a:prstGeom prst="line">
            <a:avLst/>
          </a:prstGeom>
          <a:noFill/>
          <a:ln w="9525">
            <a:solidFill>
              <a:srgbClr val="BFBFBF"/>
            </a:solidFill>
            <a:prstDash val="solid"/>
          </a:ln>
        </p:spPr>
      </p:sp>
      <p:sp>
        <p:nvSpPr>
          <p:cNvPr id="25" name="Text 22"/>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100万円／年</a:t>
            </a:r>
            <a:endParaRPr lang="en-US" sz="900" dirty="0"/>
          </a:p>
        </p:txBody>
      </p:sp>
      <p:sp>
        <p:nvSpPr>
          <p:cNvPr id="26" name="Text 23"/>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アプリと現場データ基盤の利用料（1拠点）</a:t>
            </a:r>
            <a:endParaRPr lang="en-US" sz="900" dirty="0"/>
          </a:p>
        </p:txBody>
      </p:sp>
      <p:sp>
        <p:nvSpPr>
          <p:cNvPr id="27" name="Shape 24"/>
          <p:cNvSpPr/>
          <p:nvPr/>
        </p:nvSpPr>
        <p:spPr>
          <a:xfrm>
            <a:off x="365760" y="2798064"/>
            <a:ext cx="4069080" cy="0"/>
          </a:xfrm>
          <a:prstGeom prst="line">
            <a:avLst/>
          </a:prstGeom>
          <a:noFill/>
          <a:ln w="9525">
            <a:solidFill>
              <a:srgbClr val="BFBFBF"/>
            </a:solidFill>
            <a:prstDash val="solid"/>
          </a:ln>
        </p:spPr>
      </p:sp>
      <p:sp>
        <p:nvSpPr>
          <p:cNvPr id="28" name="Text 25"/>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ライン登録</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20万円×5ライン</a:t>
            </a:r>
            <a:endParaRPr lang="en-US" sz="900" dirty="0"/>
          </a:p>
        </p:txBody>
      </p:sp>
      <p:sp>
        <p:nvSpPr>
          <p:cNvPr id="29" name="Text 26"/>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記録の対象にする工区・現場の数に比例</a:t>
            </a:r>
            <a:endParaRPr lang="en-US" sz="900" dirty="0"/>
          </a:p>
        </p:txBody>
      </p:sp>
      <p:sp>
        <p:nvSpPr>
          <p:cNvPr id="30" name="Shape 27"/>
          <p:cNvSpPr/>
          <p:nvPr/>
        </p:nvSpPr>
        <p:spPr>
          <a:xfrm>
            <a:off x="365760" y="3127248"/>
            <a:ext cx="4069080" cy="0"/>
          </a:xfrm>
          <a:prstGeom prst="line">
            <a:avLst/>
          </a:prstGeom>
          <a:noFill/>
          <a:ln w="9525">
            <a:solidFill>
              <a:srgbClr val="BFBFBF"/>
            </a:solidFill>
            <a:prstDash val="solid"/>
          </a:ln>
        </p:spPr>
      </p:sp>
      <p:sp>
        <p:nvSpPr>
          <p:cNvPr id="31" name="Text 28"/>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追加機能</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50万円×2本</a:t>
            </a:r>
            <a:endParaRPr lang="en-US" sz="900" dirty="0"/>
          </a:p>
        </p:txBody>
      </p:sp>
      <p:sp>
        <p:nvSpPr>
          <p:cNvPr id="32" name="Text 29"/>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教材制作（KNACK）・危険表示（SAFE）など、選んだ数に比例</a:t>
            </a:r>
            <a:endParaRPr lang="en-US" sz="900" dirty="0"/>
          </a:p>
        </p:txBody>
      </p:sp>
      <p:sp>
        <p:nvSpPr>
          <p:cNvPr id="33" name="Shape 30"/>
          <p:cNvSpPr/>
          <p:nvPr/>
        </p:nvSpPr>
        <p:spPr>
          <a:xfrm>
            <a:off x="365760" y="3456432"/>
            <a:ext cx="4069080" cy="0"/>
          </a:xfrm>
          <a:prstGeom prst="line">
            <a:avLst/>
          </a:prstGeom>
          <a:noFill/>
          <a:ln w="9525">
            <a:solidFill>
              <a:srgbClr val="BFBFBF"/>
            </a:solidFill>
            <a:prstDash val="solid"/>
          </a:ln>
        </p:spPr>
      </p:sp>
      <p:sp>
        <p:nvSpPr>
          <p:cNvPr id="34" name="Text 31"/>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200万円（初年度のみ）</a:t>
            </a:r>
            <a:endParaRPr lang="en-US" sz="900" dirty="0"/>
          </a:p>
        </p:txBody>
      </p:sp>
      <p:sp>
        <p:nvSpPr>
          <p:cNvPr id="35" name="Text 32"/>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当社の担当者が約2か月、現場に入る作業</a:t>
            </a:r>
            <a:endParaRPr lang="en-US" sz="900" dirty="0"/>
          </a:p>
        </p:txBody>
      </p:sp>
      <p:sp>
        <p:nvSpPr>
          <p:cNvPr id="36" name="Shape 33"/>
          <p:cNvSpPr/>
          <p:nvPr/>
        </p:nvSpPr>
        <p:spPr>
          <a:xfrm>
            <a:off x="365760" y="3785616"/>
            <a:ext cx="4069080" cy="0"/>
          </a:xfrm>
          <a:prstGeom prst="line">
            <a:avLst/>
          </a:prstGeom>
          <a:noFill/>
          <a:ln w="9525">
            <a:solidFill>
              <a:srgbClr val="BFBFBF"/>
            </a:solidFill>
            <a:prstDash val="solid"/>
          </a:ln>
        </p:spPr>
      </p:sp>
      <p:sp>
        <p:nvSpPr>
          <p:cNvPr id="37" name="Shape 34"/>
          <p:cNvSpPr/>
          <p:nvPr/>
        </p:nvSpPr>
        <p:spPr>
          <a:xfrm>
            <a:off x="365760" y="3858768"/>
            <a:ext cx="4069080" cy="658368"/>
          </a:xfrm>
          <a:prstGeom prst="rect">
            <a:avLst/>
          </a:prstGeom>
          <a:solidFill>
            <a:srgbClr val="1A1A1A"/>
          </a:solidFill>
          <a:ln/>
        </p:spPr>
      </p:sp>
      <p:sp>
        <p:nvSpPr>
          <p:cNvPr id="38" name="Text 35"/>
          <p:cNvSpPr txBox="1"/>
          <p:nvPr/>
        </p:nvSpPr>
        <p:spPr>
          <a:xfrm>
            <a:off x="475488" y="3858768"/>
            <a:ext cx="3849624" cy="658368"/>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約1,865万円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（年粗利255万円×保守的に7年＋導入支援の粗利80万円）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約64万円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（5年目：営業人件費1,600万円＋広告500万円÷新規33拠点）</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LTV/CAC 約29倍・獲得費用は約3か月で回収</a:t>
            </a:r>
            <a:endParaRPr lang="en-US" sz="800" dirty="0"/>
          </a:p>
        </p:txBody>
      </p:sp>
      <p:sp>
        <p:nvSpPr>
          <p:cNvPr id="39" name="Text 3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顧客から見た回収（対象者100名の拠点・万円）</a:t>
            </a:r>
            <a:endParaRPr lang="en-US" sz="1050" dirty="0"/>
          </a:p>
        </p:txBody>
      </p:sp>
      <p:graphicFrame>
        <p:nvGraphicFramePr>
          <p:cNvPr id="40"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41" name="Text 37"/>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42" name="Text 38"/>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43" name="Text 39"/>
          <p:cNvSpPr txBox="1"/>
          <p:nvPr/>
        </p:nvSpPr>
        <p:spPr>
          <a:xfrm>
            <a:off x="5212080" y="1417320"/>
            <a:ext cx="329184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浮いた工数の累計：12か月で2,880万円（5.8倍）</a:t>
            </a:r>
            <a:endParaRPr lang="en-US" sz="1000" dirty="0"/>
          </a:p>
        </p:txBody>
      </p:sp>
      <p:sp>
        <p:nvSpPr>
          <p:cNvPr id="44" name="Text 40"/>
          <p:cNvSpPr txBox="1"/>
          <p:nvPr/>
        </p:nvSpPr>
        <p:spPr>
          <a:xfrm>
            <a:off x="4617720" y="3739896"/>
            <a:ext cx="4160520" cy="4572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横軸は経過月数。時間単価4,000円（780万円÷1,950h）×月6h×100名＝月240万円。月6hは日報・進捗報告などの書類作業の削減分で、建設業の書類電子化実績（月6.5h）を準用した仮定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6" name="Shape 3"/>
          <p:cNvSpPr/>
          <p:nvPr/>
        </p:nvSpPr>
        <p:spPr>
          <a:xfrm>
            <a:off x="365760" y="1371600"/>
            <a:ext cx="3840480" cy="384048"/>
          </a:xfrm>
          <a:prstGeom prst="rect">
            <a:avLst/>
          </a:prstGeom>
          <a:solidFill>
            <a:srgbClr val="8C8C8C"/>
          </a:solidFill>
          <a:ln/>
        </p:spPr>
      </p:sp>
      <p:sp>
        <p:nvSpPr>
          <p:cNvPr id="7" name="Text 4"/>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中堅の電気工事会社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2,100社</a:t>
            </a:r>
            <a:endParaRPr lang="en-US" sz="950" dirty="0"/>
          </a:p>
        </p:txBody>
      </p:sp>
      <p:sp>
        <p:nvSpPr>
          <p:cNvPr id="8" name="Shape 5"/>
          <p:cNvSpPr/>
          <p:nvPr/>
        </p:nvSpPr>
        <p:spPr>
          <a:xfrm>
            <a:off x="711403" y="1828800"/>
            <a:ext cx="3149194" cy="384048"/>
          </a:xfrm>
          <a:prstGeom prst="rect">
            <a:avLst/>
          </a:prstGeom>
          <a:solidFill>
            <a:srgbClr val="4D4D4D"/>
          </a:solidFill>
          <a:ln/>
        </p:spPr>
      </p:sp>
      <p:sp>
        <p:nvSpPr>
          <p:cNvPr id="9" name="Text 6"/>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うち関東（35%）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10" name="Shape 7"/>
          <p:cNvSpPr/>
          <p:nvPr/>
        </p:nvSpPr>
        <p:spPr>
          <a:xfrm>
            <a:off x="1095451" y="2286000"/>
            <a:ext cx="2381098" cy="384048"/>
          </a:xfrm>
          <a:prstGeom prst="rect">
            <a:avLst/>
          </a:prstGeom>
          <a:solidFill>
            <a:srgbClr val="4D4D4D"/>
          </a:solidFill>
          <a:ln/>
        </p:spPr>
      </p:sp>
      <p:sp>
        <p:nvSpPr>
          <p:cNvPr id="11" name="Text 8"/>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会える（45%）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331社</a:t>
            </a:r>
            <a:endParaRPr lang="en-US" sz="950" dirty="0"/>
          </a:p>
        </p:txBody>
      </p:sp>
      <p:sp>
        <p:nvSpPr>
          <p:cNvPr id="12" name="Shape 9"/>
          <p:cNvSpPr/>
          <p:nvPr/>
        </p:nvSpPr>
        <p:spPr>
          <a:xfrm>
            <a:off x="1479499" y="2743200"/>
            <a:ext cx="1613002" cy="384048"/>
          </a:xfrm>
          <a:prstGeom prst="rect">
            <a:avLst/>
          </a:prstGeom>
          <a:solidFill>
            <a:srgbClr val="B8692E"/>
          </a:solidFill>
          <a:ln/>
        </p:spPr>
      </p:sp>
      <p:sp>
        <p:nvSpPr>
          <p:cNvPr id="13" name="Text 10"/>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83社</a:t>
            </a:r>
            <a:endParaRPr lang="en-US" sz="950" dirty="0"/>
          </a:p>
        </p:txBody>
      </p:sp>
      <p:sp>
        <p:nvSpPr>
          <p:cNvPr id="14" name="Text 11"/>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大手1社（支店5拠点）</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 約88拠点。計画の85拠点はこれより控えめ</a:t>
            </a:r>
            <a:endParaRPr lang="en-US" sz="950" dirty="0"/>
          </a:p>
        </p:txBody>
      </p:sp>
      <p:sp>
        <p:nvSpPr>
          <p:cNvPr id="15" name="Text 12"/>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18"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スマートグラスのメーカー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7" name="Shape 13"/>
          <p:cNvSpPr/>
          <p:nvPr/>
        </p:nvSpPr>
        <p:spPr>
          <a:xfrm>
            <a:off x="365760" y="3246120"/>
            <a:ext cx="8412480" cy="594360"/>
          </a:xfrm>
          <a:prstGeom prst="rect">
            <a:avLst/>
          </a:prstGeom>
          <a:solidFill>
            <a:srgbClr val="F2F2F2"/>
          </a:solidFill>
          <a:ln/>
        </p:spPr>
      </p:sp>
      <p:sp>
        <p:nvSpPr>
          <p:cNvPr id="18" name="Text 14"/>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19" name="Shape 15"/>
          <p:cNvSpPr/>
          <p:nvPr/>
        </p:nvSpPr>
        <p:spPr>
          <a:xfrm>
            <a:off x="2286000" y="3547872"/>
            <a:ext cx="228600" cy="0"/>
          </a:xfrm>
          <a:prstGeom prst="line">
            <a:avLst/>
          </a:prstGeom>
          <a:noFill/>
          <a:ln w="25400">
            <a:solidFill>
              <a:srgbClr val="1A1A1A"/>
            </a:solidFill>
            <a:prstDash val="solid"/>
            <a:tailEnd type="triangle"/>
          </a:ln>
        </p:spPr>
      </p:sp>
      <p:sp>
        <p:nvSpPr>
          <p:cNvPr id="20" name="Text 16"/>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1" name="Shape 17"/>
          <p:cNvSpPr/>
          <p:nvPr/>
        </p:nvSpPr>
        <p:spPr>
          <a:xfrm>
            <a:off x="4361688" y="3547872"/>
            <a:ext cx="228600" cy="0"/>
          </a:xfrm>
          <a:prstGeom prst="line">
            <a:avLst/>
          </a:prstGeom>
          <a:noFill/>
          <a:ln w="25400">
            <a:solidFill>
              <a:srgbClr val="1A1A1A"/>
            </a:solidFill>
            <a:prstDash val="solid"/>
            <a:tailEnd type="triangle"/>
          </a:ln>
        </p:spPr>
      </p:sp>
      <p:sp>
        <p:nvSpPr>
          <p:cNvPr id="22" name="Text 18"/>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3" name="Shape 19"/>
          <p:cNvSpPr/>
          <p:nvPr/>
        </p:nvSpPr>
        <p:spPr>
          <a:xfrm>
            <a:off x="6437376" y="3547872"/>
            <a:ext cx="228600" cy="0"/>
          </a:xfrm>
          <a:prstGeom prst="line">
            <a:avLst/>
          </a:prstGeom>
          <a:noFill/>
          <a:ln w="25400">
            <a:solidFill>
              <a:srgbClr val="1A1A1A"/>
            </a:solidFill>
            <a:prstDash val="solid"/>
            <a:tailEnd type="triangle"/>
          </a:ln>
        </p:spPr>
      </p:sp>
      <p:sp>
        <p:nvSpPr>
          <p:cNvPr id="24" name="Text 20"/>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5" name="Shape 21"/>
          <p:cNvSpPr/>
          <p:nvPr/>
        </p:nvSpPr>
        <p:spPr>
          <a:xfrm>
            <a:off x="365760" y="3931920"/>
            <a:ext cx="8412480" cy="502920"/>
          </a:xfrm>
          <a:prstGeom prst="rect">
            <a:avLst/>
          </a:prstGeom>
          <a:solidFill>
            <a:srgbClr val="1A1A1A"/>
          </a:solidFill>
          <a:ln/>
        </p:spPr>
      </p:sp>
      <p:sp>
        <p:nvSpPr>
          <p:cNvPr id="26" name="Text 22"/>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会える率45%・成約率25%は仮定。最初の3社で実測し、計画を更新する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拠点×月25万円。5年目は月2,400万円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利用料が毎年積み上がり、導入支援と受託開発は新規拠点の数に比例する</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6" name="Text 3"/>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7"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8" name="monthly"/>
          <p:cNvSpPr/>
          <p:nvPr/>
        </p:nvSpPr>
        <p:spPr>
          <a:xfrm>
            <a:off x="365760" y="3520440"/>
            <a:ext cx="4069080" cy="960120"/>
          </a:xfrm>
          <a:prstGeom prst="rect">
            <a:avLst/>
          </a:prstGeom>
          <a:solidFill>
            <a:srgbClr val="1A1A1A"/>
          </a:solidFill>
          <a:ln/>
        </p:spPr>
      </p:sp>
      <p:sp>
        <p:nvSpPr>
          <p:cNvPr id="9" name="Text 5"/>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約2,420万円）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約1,790万円 ＝ 月25万円×平均約72拠点</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200万円×月2.75拠点（新規33拠点÷12）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受託開発 約80万円</a:t>
            </a:r>
            <a:endParaRPr lang="en-US" sz="850" dirty="0"/>
          </a:p>
        </p:txBody>
      </p:sp>
      <p:sp>
        <p:nvSpPr>
          <p:cNvPr id="10" name="Text 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19"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7432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5,980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11,470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家賃</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交通・出張（現場導入）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専門家（税理士・弁護士・弁理士）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3,680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7,880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14,370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所在地案：川崎市（関東一円へ日帰り）。家賃は1年目15坪・月20万円、5年目40坪・月50万円。人件費は1人年800万円</a:t>
            </a:r>
            <a:endParaRPr lang="en-US" sz="800" dirty="0"/>
          </a:p>
        </p:txBody>
      </p:sp>
      <p:sp>
        <p:nvSpPr>
          <p:cNvPr id="13" name="Text 8"/>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売上の内訳：既存顧客の利用料（前年末拠点×300万円）＋新規の利用料（新規×300万円×0.5）＋導入支援（新規×200万円）＋受託開発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4年目に超え、5年目の余裕率は32%</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a:t>
            </a:r>
            <a:endParaRPr lang="en-US" sz="1200" dirty="0"/>
          </a:p>
        </p:txBody>
      </p:sp>
      <p:sp>
        <p:nvSpPr>
          <p:cNvPr id="5" name="Text 2"/>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6"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151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bep-people"/>
          <p:cNvSpPr/>
          <p:nvPr/>
        </p:nvSpPr>
        <p:spPr>
          <a:xfrm>
            <a:off x="5349240" y="3108960"/>
            <a:ext cx="3429000" cy="1216152"/>
          </a:xfrm>
          <a:prstGeom prst="rect">
            <a:avLst/>
          </a:prstGeom>
          <a:solidFill>
            <a:srgbClr val="1A1A1A"/>
          </a:solidFill>
          <a:ln/>
        </p:spPr>
      </p:sp>
      <p:sp>
        <p:nvSpPr>
          <p:cNvPr id="9" name="Text 4"/>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713万円 ÷ 粗利／拠点 255万円</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 社員1人あたり2.8拠点</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3年目 2.73（未達）→ 4年目 3.67（超過）</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安全余裕率＝（売上−損益分岐点売上）÷売上。1〜2年目の損益分岐点売上は92・92百万円（売上12・48百万円）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資金計画・CF ─ 黒字倒産させない仕組みを先に置く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必要資金1.5億円を4つの手段で段階的に調達し、現金残高が3年目の谷でも6,000万円を残す</a:t>
            </a:r>
            <a:endParaRPr lang="en-US" sz="1200" dirty="0"/>
          </a:p>
        </p:txBody>
      </p:sp>
      <p:sp>
        <p:nvSpPr>
          <p:cNvPr id="5" name="Text 2"/>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調達の内訳（必要資金1.5億円）</a:t>
            </a:r>
            <a:endParaRPr lang="en-US" sz="1050" dirty="0"/>
          </a:p>
        </p:txBody>
      </p:sp>
      <p:graphicFrame>
        <p:nvGraphicFramePr>
          <p:cNvPr id="21"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731520"/>
                <a:gridCol w="1554480"/>
                <a:gridCol w="868680"/>
                <a:gridCol w="777240"/>
              </a:tblGrid>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時期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手段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金額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目的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出資（今回）</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試作品・実証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期首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日本政策金融公庫</a:t>
                      </a:r>
                      <a:endParaRPr lang="en-US" sz="800" dirty="0">
                        <a:latin typeface="Meiryo" charset="0"/>
                        <a:ea typeface="Meiryo" charset="0"/>
                        <a:cs typeface="Meiryo" charset="0"/>
                      </a:endParaRPr>
                    </a:p>
                    <a:p>
                      <a:pPr algn="l" indent="0" marL="0">
                        <a:buNone/>
                      </a:pPr>
                      <a:r>
                        <a:rPr lang="en-US" sz="800" dirty="0">
                          <a:solidFill>
                            <a:srgbClr val="1A1A1A"/>
                          </a:solidFill>
                          <a:latin typeface="Meiryo" pitchFamily="34" charset="0"/>
                          <a:ea typeface="Meiryo" pitchFamily="34" charset="-122"/>
                          <a:cs typeface="Meiryo" pitchFamily="34" charset="-120"/>
                        </a:rPr>
                        <a:t>新規開業・スタートアップ支援資金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運転資金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年央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CVC・VC（電設・建設テック）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1億1,500万円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人員・開発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公庫 資本性ローン（予備枠）</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遅延時のみ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1億5,000万円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8" name="Text 4"/>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9"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0" name="anti-bankruptcy"/>
          <p:cNvSpPr/>
          <p:nvPr/>
        </p:nvSpPr>
        <p:spPr>
          <a:xfrm>
            <a:off x="4526280" y="3429000"/>
            <a:ext cx="4251960" cy="1051560"/>
          </a:xfrm>
          <a:prstGeom prst="rect">
            <a:avLst/>
          </a:prstGeom>
          <a:solidFill>
            <a:srgbClr val="1A1A1A"/>
          </a:solidFill>
          <a:ln/>
        </p:spPr>
      </p:sp>
      <p:sp>
        <p:nvSpPr>
          <p:cNvPr id="11" name="Text 6"/>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2" name="Text 7"/>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現金残高が固定費3か月分を下回る前に、追加調達を始める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計画が1年遅れても耐えられる備え（0.56億円）を残高に含める</a:t>
            </a:r>
            <a:endParaRPr lang="en-US" sz="850" dirty="0"/>
          </a:p>
        </p:txBody>
      </p:sp>
      <p:sp>
        <p:nvSpPr>
          <p:cNvPr id="13" name="Text 8"/>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現金残高は簡易計算（期首残高＋調達＋営業損益）。税金・減価償却・融資の返済・運転資本の増減は含めない。固定費3か月分＝3年目の販管費79百万円÷4。公庫の制度：融資限度額7,200万円（うち運転資金4,800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⑦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 ─ 現場と技術を揃え、顧問とパートナーで補う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創業者の経歴・チームメンバーのスキル・外部パートナーと顧問</a:t>
            </a:r>
            <a:endParaRPr lang="en-US" sz="1200" dirty="0"/>
          </a:p>
        </p:txBody>
      </p:sp>
      <p:sp>
        <p:nvSpPr>
          <p:cNvPr id="5" name="founder"/>
          <p:cNvSpPr/>
          <p:nvPr/>
        </p:nvSpPr>
        <p:spPr>
          <a:xfrm>
            <a:off x="365760" y="1051560"/>
            <a:ext cx="3108960" cy="3383280"/>
          </a:xfrm>
          <a:prstGeom prst="rect">
            <a:avLst/>
          </a:prstGeom>
          <a:solidFill>
            <a:srgbClr val="1A1A1A"/>
          </a:solidFill>
          <a:ln/>
        </p:spPr>
      </p:sp>
      <p:sp>
        <p:nvSpPr>
          <p:cNvPr id="6" name="Text 3"/>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志願者（創業者）</a:t>
            </a:r>
            <a:endParaRPr lang="en-US" sz="1400" dirty="0"/>
          </a:p>
        </p:txBody>
      </p:sp>
      <p:sp>
        <p:nvSpPr>
          <p:cNvPr id="7" name="Text 4"/>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専念する時期：＿＿＿＿（記入）</a:t>
            </a:r>
            <a:endParaRPr lang="en-US" sz="950" dirty="0"/>
          </a:p>
        </p:txBody>
      </p:sp>
      <p:sp>
        <p:nvSpPr>
          <p:cNvPr id="8" name="Text 5"/>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22"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325880"/>
                <a:gridCol w="2194560"/>
                <a:gridCol w="73152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役割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求めるスキル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状況</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技術責任者（CTO）</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映像AI・クラウド開発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電気工事の施工管理の経験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カスタマーサクセス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電気工事の現場経験・導入支援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顧問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電気工事業界・電力会社のOB</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税理士・弁護士（データ契約）・弁理士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パートナー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スマートグラスメーカー・大学（映像AI）</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proof"/>
          <p:cNvSpPr/>
          <p:nvPr/>
        </p:nvSpPr>
        <p:spPr>
          <a:xfrm>
            <a:off x="3611880" y="3794760"/>
            <a:ext cx="5166360" cy="640080"/>
          </a:xfrm>
          <a:prstGeom prst="rect">
            <a:avLst/>
          </a:prstGeom>
          <a:solidFill>
            <a:srgbClr val="F2F2F2"/>
          </a:solidFill>
          <a:ln/>
        </p:spPr>
      </p:sp>
      <p:sp>
        <p:nvSpPr>
          <p:cNvPr id="11" name="Text 7"/>
          <p:cNvSpPr txBox="1"/>
          <p:nvPr/>
        </p:nvSpPr>
        <p:spPr>
          <a:xfrm>
            <a:off x="3749040" y="3794760"/>
            <a:ext cx="4892040" cy="64008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実行力の証拠：</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音声の自動配信は毎朝稼働中。本日のデモアプリも自作。最初の3か月で試作品を出す</a:t>
            </a:r>
            <a:endParaRPr lang="en-US" sz="950" dirty="0"/>
          </a:p>
        </p:txBody>
      </p:sp>
      <p:sp>
        <p:nvSpPr>
          <p:cNvPr id="12"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状況欄は確定・内諾・打診中・募集中のいずれかを記入する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事業のライフサイクル ─ 成熟期には上場を目指す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解決策の3段階を、導入期・成長期・成熟期に重ねる</a:t>
            </a:r>
            <a:endParaRPr lang="en-US" sz="1200" dirty="0"/>
          </a:p>
        </p:txBody>
      </p:sp>
      <p:sp>
        <p:nvSpPr>
          <p:cNvPr id="5" name="life-0"/>
          <p:cNvSpPr/>
          <p:nvPr/>
        </p:nvSpPr>
        <p:spPr>
          <a:xfrm>
            <a:off x="365760" y="1737360"/>
            <a:ext cx="2715768" cy="2148840"/>
          </a:xfrm>
          <a:prstGeom prst="rect">
            <a:avLst/>
          </a:prstGeom>
          <a:solidFill>
            <a:srgbClr val="F2F2F2"/>
          </a:solidFill>
          <a:ln/>
        </p:spPr>
      </p:sp>
      <p:sp>
        <p:nvSpPr>
          <p:cNvPr id="6" name="Text 3"/>
          <p:cNvSpPr txBox="1"/>
          <p:nvPr/>
        </p:nvSpPr>
        <p:spPr>
          <a:xfrm>
            <a:off x="502920" y="182880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1A1A1A"/>
                </a:solidFill>
                <a:latin typeface="Meiryo" pitchFamily="34" charset="0"/>
                <a:ea typeface="Meiryo" pitchFamily="34" charset="-122"/>
                <a:cs typeface="Meiryo" pitchFamily="34" charset="-120"/>
              </a:rPr>
              <a:t>導入期</a:t>
            </a:r>
            <a:endParaRPr lang="en-US" sz="140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準備期〜2年目</a:t>
            </a:r>
            <a:endParaRPr lang="en-US" sz="1400" dirty="0"/>
          </a:p>
        </p:txBody>
      </p:sp>
      <p:sp>
        <p:nvSpPr>
          <p:cNvPr id="7" name="Text 4"/>
          <p:cNvSpPr txBox="1"/>
          <p:nvPr/>
        </p:nvSpPr>
        <p:spPr>
          <a:xfrm>
            <a:off x="502920" y="242316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記録と報告を自動に</a:t>
            </a:r>
            <a:endParaRPr lang="en-US" sz="1100" dirty="0"/>
          </a:p>
        </p:txBody>
      </p:sp>
      <p:sp>
        <p:nvSpPr>
          <p:cNvPr id="8" name="Text 5"/>
          <p:cNvSpPr txBox="1"/>
          <p:nvPr/>
        </p:nvSpPr>
        <p:spPr>
          <a:xfrm>
            <a:off x="502920" y="274320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・関東の電気工事会社3社で有償試験導入</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・赤字。準備期は500万円で試作品と実証</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・資金：出資・公庫融資・CVC</a:t>
            </a:r>
            <a:endParaRPr lang="en-US" sz="950" dirty="0"/>
          </a:p>
        </p:txBody>
      </p:sp>
      <p:sp>
        <p:nvSpPr>
          <p:cNvPr id="9" name="life-1"/>
          <p:cNvSpPr/>
          <p:nvPr/>
        </p:nvSpPr>
        <p:spPr>
          <a:xfrm>
            <a:off x="3214116" y="1417320"/>
            <a:ext cx="2715768" cy="2468880"/>
          </a:xfrm>
          <a:prstGeom prst="rect">
            <a:avLst/>
          </a:prstGeom>
          <a:solidFill>
            <a:srgbClr val="4D4D4D"/>
          </a:solidFill>
          <a:ln/>
        </p:spPr>
      </p:sp>
      <p:sp>
        <p:nvSpPr>
          <p:cNvPr id="10" name="Text 7"/>
          <p:cNvSpPr txBox="1"/>
          <p:nvPr/>
        </p:nvSpPr>
        <p:spPr>
          <a:xfrm>
            <a:off x="3351276" y="150876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成長期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3〜5年目</a:t>
            </a:r>
            <a:endParaRPr lang="en-US" sz="1400" dirty="0"/>
          </a:p>
        </p:txBody>
      </p:sp>
      <p:sp>
        <p:nvSpPr>
          <p:cNvPr id="11" name="Text 8"/>
          <p:cNvSpPr txBox="1"/>
          <p:nvPr/>
        </p:nvSpPr>
        <p:spPr>
          <a:xfrm>
            <a:off x="3351276" y="210312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照合して品質を守る</a:t>
            </a:r>
            <a:endParaRPr lang="en-US" sz="1100" dirty="0"/>
          </a:p>
        </p:txBody>
      </p:sp>
      <p:sp>
        <p:nvSpPr>
          <p:cNvPr id="12" name="Text 9"/>
          <p:cNvSpPr txBox="1"/>
          <p:nvPr/>
        </p:nvSpPr>
        <p:spPr>
          <a:xfrm>
            <a:off x="3351276" y="242316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・30→85拠点。大手1社から協力会社へ</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・4年目に黒字化、5年目 営業利益率24%</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・資金：自己資金＋予備の資本性ローン</a:t>
            </a:r>
            <a:endParaRPr lang="en-US" sz="950" dirty="0"/>
          </a:p>
        </p:txBody>
      </p:sp>
      <p:sp>
        <p:nvSpPr>
          <p:cNvPr id="13" name="life-2"/>
          <p:cNvSpPr/>
          <p:nvPr/>
        </p:nvSpPr>
        <p:spPr>
          <a:xfrm>
            <a:off x="6062472" y="1097280"/>
            <a:ext cx="2715768" cy="2788920"/>
          </a:xfrm>
          <a:prstGeom prst="rect">
            <a:avLst/>
          </a:prstGeom>
          <a:solidFill>
            <a:srgbClr val="1A1A1A"/>
          </a:solidFill>
          <a:ln/>
        </p:spPr>
      </p:sp>
      <p:sp>
        <p:nvSpPr>
          <p:cNvPr id="14" name="Text 11"/>
          <p:cNvSpPr txBox="1"/>
          <p:nvPr/>
        </p:nvSpPr>
        <p:spPr>
          <a:xfrm>
            <a:off x="6199632" y="118872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成熟期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6年目〜</a:t>
            </a:r>
            <a:endParaRPr lang="en-US" sz="1400" dirty="0"/>
          </a:p>
        </p:txBody>
      </p:sp>
      <p:sp>
        <p:nvSpPr>
          <p:cNvPr id="15" name="Text 12"/>
          <p:cNvSpPr txBox="1"/>
          <p:nvPr/>
        </p:nvSpPr>
        <p:spPr>
          <a:xfrm>
            <a:off x="6199632" y="178308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作業をAIが学ぶ（フィジカルAI）</a:t>
            </a:r>
            <a:endParaRPr lang="en-US" sz="1100" dirty="0"/>
          </a:p>
        </p:txBody>
      </p:sp>
      <p:sp>
        <p:nvSpPr>
          <p:cNvPr id="16" name="Text 13"/>
          <p:cNvSpPr txBox="1"/>
          <p:nvPr/>
        </p:nvSpPr>
        <p:spPr>
          <a:xfrm>
            <a:off x="6199632" y="210312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・電線・素材の工場へ拡大、海外へ輸出</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・蓄積した作業データでロボットに教える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・上場を目指す（資本市場から調達）</a:t>
            </a:r>
            <a:endParaRPr lang="en-US" sz="950" dirty="0"/>
          </a:p>
        </p:txBody>
      </p:sp>
      <p:sp>
        <p:nvSpPr>
          <p:cNvPr id="17" name="Shape 14"/>
          <p:cNvSpPr/>
          <p:nvPr/>
        </p:nvSpPr>
        <p:spPr>
          <a:xfrm>
            <a:off x="365760" y="3977640"/>
            <a:ext cx="8412480" cy="502920"/>
          </a:xfrm>
          <a:prstGeom prst="rect">
            <a:avLst/>
          </a:prstGeom>
          <a:solidFill>
            <a:srgbClr val="F2F2F2"/>
          </a:solidFill>
          <a:ln/>
        </p:spPr>
      </p:sp>
      <p:sp>
        <p:nvSpPr>
          <p:cNvPr id="18" name="Text 15"/>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国の方針：</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「暗黙知が豊富な現場へのバーティカルAIの開発・実装を推進し、輸出も促進する」─ 内閣府「人工知能基本計画」（令和8年7月14日 閣議決定）</a:t>
            </a:r>
            <a:endParaRPr lang="en-US" sz="950" dirty="0"/>
          </a:p>
        </p:txBody>
      </p:sp>
      <p:sp>
        <p:nvSpPr>
          <p:cNvPr id="19" name="Text 1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上場は目標であり、時期・市場は成長期の実績を見て判断する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希望金額 500万円 ─ 6か月以内に最初の1拠点を動かす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準備期の資金。創業者の給料はゼロで、すべて試作品と実証に使う</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使い道（万円）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スマートグラス・ヘルメットカメラ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1拠点で実証：報告書の作成時間がどれだけ減ったかを実測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有償試験導入3拠点の契約、公庫融資の申込、CVCとの交渉開始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出資者へのリターン（提案）</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条件：</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500万円で発行済株式の10%（評価額 出資前4,500万円）</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出口：</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成熟期の上場、または事業会社への売却</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資金に加え、製造業・建設業の実証先のご紹介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出資条件は提案であり、交渉により決める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最大のリスクは自分。だから役割と判断基準を先に決める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施工管理アプリのAI化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競わずにつなぐ。図面に現れない判断の蓄積と、施工経験者の監修を障壁にする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資金ショート</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最低残高ルールと前払い・着手金。公庫の資本性ローンを予備枠に持つ</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その最初の一歩として、500万円で、6か月以内に最初の1拠点を動かします。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2026-10-15T04:43:56Z</dcterms:created>
  <dcterms:modified xsi:type="dcterms:W3CDTF">2026-10-15T04:43:56Z</dcterms:modified>
</cp:coreProperties>
</file>