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得の累計</c:v>
                </c:pt>
              </c:strCache>
            </c:strRef>
          </c:tx>
          <c:spPr>
            <a:solidFill>
              <a:srgbClr val="B8692E"/>
            </a:solidFill>
            <a:ln w="38100" cap="flat">
              <a:solidFill>
                <a:srgbClr val="B869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692E"/>
              </a:solidFill>
              <a:ln w="9525" cap="flat">
                <a:solidFill>
                  <a:srgbClr val="B8692E"/>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Sheet1!$B$2:$B$26</c:f>
              <c:numCache>
                <c:formatCode>General</c:formatCode>
                <c:ptCount val="25"/>
                <c:pt idx="0">
                  <c:v>0</c:v>
                </c:pt>
                <c:pt idx="1">
                  <c:v>40</c:v>
                </c:pt>
                <c:pt idx="2">
                  <c:v>80</c:v>
                </c:pt>
                <c:pt idx="3">
                  <c:v>120</c:v>
                </c:pt>
                <c:pt idx="4">
                  <c:v>160</c:v>
                </c:pt>
                <c:pt idx="5">
                  <c:v>200</c:v>
                </c:pt>
                <c:pt idx="6">
                  <c:v>240</c:v>
                </c:pt>
                <c:pt idx="7">
                  <c:v>280</c:v>
                </c:pt>
                <c:pt idx="8">
                  <c:v>320</c:v>
                </c:pt>
                <c:pt idx="9">
                  <c:v>360</c:v>
                </c:pt>
                <c:pt idx="10">
                  <c:v>400</c:v>
                </c:pt>
                <c:pt idx="11">
                  <c:v>439</c:v>
                </c:pt>
                <c:pt idx="12">
                  <c:v>479</c:v>
                </c:pt>
                <c:pt idx="13">
                  <c:v>519</c:v>
                </c:pt>
                <c:pt idx="14">
                  <c:v>559</c:v>
                </c:pt>
                <c:pt idx="15">
                  <c:v>599</c:v>
                </c:pt>
                <c:pt idx="16">
                  <c:v>639</c:v>
                </c:pt>
                <c:pt idx="17">
                  <c:v>679</c:v>
                </c:pt>
                <c:pt idx="18">
                  <c:v>719</c:v>
                </c:pt>
                <c:pt idx="19">
                  <c:v>759</c:v>
                </c:pt>
                <c:pt idx="20">
                  <c:v>799</c:v>
                </c:pt>
                <c:pt idx="21">
                  <c:v>839</c:v>
                </c:pt>
                <c:pt idx="22">
                  <c:v>879</c:v>
                </c:pt>
                <c:pt idx="23">
                  <c:v>919</c:v>
                </c:pt>
                <c:pt idx="24">
                  <c:v>959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払った額の累計</c:v>
                </c:pt>
              </c:strCache>
            </c:strRef>
          </c:tx>
          <c:spPr>
            <a:solidFill>
              <a:srgbClr val="1A1A1A"/>
            </a:solidFill>
            <a:ln w="25400" cap="flat">
              <a:solidFill>
                <a:srgbClr val="1A1A1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1A1A"/>
              </a:solidFill>
              <a:ln w="9525" cap="flat">
                <a:solidFill>
                  <a:srgbClr val="1A1A1A"/>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Sheet1!$C$2:$C$26</c:f>
              <c:numCache>
                <c:formatCode>General</c:formatCode>
                <c:ptCount val="25"/>
                <c:pt idx="0">
                  <c:v>553</c:v>
                </c:pt>
                <c:pt idx="1">
                  <c:v>553</c:v>
                </c:pt>
                <c:pt idx="2">
                  <c:v>553</c:v>
                </c:pt>
                <c:pt idx="3">
                  <c:v>553</c:v>
                </c:pt>
                <c:pt idx="4">
                  <c:v>553</c:v>
                </c:pt>
                <c:pt idx="5">
                  <c:v>553</c:v>
                </c:pt>
                <c:pt idx="6">
                  <c:v>553</c:v>
                </c:pt>
                <c:pt idx="7">
                  <c:v>553</c:v>
                </c:pt>
                <c:pt idx="8">
                  <c:v>553</c:v>
                </c:pt>
                <c:pt idx="9">
                  <c:v>553</c:v>
                </c:pt>
                <c:pt idx="10">
                  <c:v>553</c:v>
                </c:pt>
                <c:pt idx="11">
                  <c:v>553</c:v>
                </c:pt>
                <c:pt idx="12">
                  <c:v>906</c:v>
                </c:pt>
                <c:pt idx="13">
                  <c:v>906</c:v>
                </c:pt>
                <c:pt idx="14">
                  <c:v>906</c:v>
                </c:pt>
                <c:pt idx="15">
                  <c:v>906</c:v>
                </c:pt>
                <c:pt idx="16">
                  <c:v>906</c:v>
                </c:pt>
                <c:pt idx="17">
                  <c:v>906</c:v>
                </c:pt>
                <c:pt idx="18">
                  <c:v>906</c:v>
                </c:pt>
                <c:pt idx="19">
                  <c:v>906</c:v>
                </c:pt>
                <c:pt idx="20">
                  <c:v>906</c:v>
                </c:pt>
                <c:pt idx="21">
                  <c:v>906</c:v>
                </c:pt>
                <c:pt idx="22">
                  <c:v>906</c:v>
                </c:pt>
                <c:pt idx="23">
                  <c:v>906</c:v>
                </c:pt>
                <c:pt idx="24">
                  <c:v>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-40</c:v>
                </c:pt>
                <c:pt idx="1">
                  <c:v>-39</c:v>
                </c:pt>
                <c:pt idx="2">
                  <c:v>-27</c:v>
                </c:pt>
                <c:pt idx="3">
                  <c:v>-28</c:v>
                </c:pt>
                <c:pt idx="4">
                  <c:v>8</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-40</c:v>
                </c:pt>
                <c:pt idx="1">
                  <c:v>-79</c:v>
                </c:pt>
                <c:pt idx="2">
                  <c:v>-106</c:v>
                </c:pt>
                <c:pt idx="3">
                  <c:v>-135</c:v>
                </c:pt>
                <c:pt idx="4">
                  <c:v>-127</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15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r"/>
            <c:showLegendKey val="0"/>
            <c:showVal val="1"/>
            <c:showCatName val="0"/>
            <c:showSerName val="0"/>
            <c:showPercent val="0"/>
            <c:showBubbleSize val="0"/>
            <c:showLeaderLines val="0"/>
          </c:dLbls>
          <c:marker>
            <c:symbol val="diamond"/>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166</c:v>
                </c:pt>
                <c:pt idx="1">
                  <c:v>125</c:v>
                </c:pt>
                <c:pt idx="2">
                  <c:v>158</c:v>
                </c:pt>
                <c:pt idx="3">
                  <c:v>227</c:v>
                </c:pt>
                <c:pt idx="4">
                  <c:v>256</c:v>
                </c:pt>
              </c:numCache>
            </c:numRef>
          </c:val>
          <c:smooth val="0"/>
        </c:ser>
        <c:dLbls>
          <c:numFmt formatCode="#,##0" sourceLinked="0"/>
          <c:txPr>
            <a:bodyPr/>
            <a:lstStyle/>
            <a:p>
              <a:pPr>
                <a:defRPr b="0" i="0" strike="noStrike" sz="800" u="none">
                  <a:solidFill>
                    <a:srgbClr val="1A1A1A"/>
                  </a:solidFill>
                  <a:latin typeface="+mn-lt"/>
                </a:defRPr>
              </a:pPr>
            </a:p>
          </c:txPr>
          <c:dLblPos val="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85</c:v>
                </c:pt>
                <c:pt idx="2">
                  <c:v>46</c:v>
                </c:pt>
                <c:pt idx="3">
                  <c:v>69</c:v>
                </c:pt>
                <c:pt idx="4">
                  <c:v>40</c:v>
                </c:pt>
                <c:pt idx="5">
                  <c:v>48</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33</c:v>
                </c:pt>
                <c:pt idx="1">
                  <c:v>33</c:v>
                </c:pt>
                <c:pt idx="2">
                  <c:v>33</c:v>
                </c:pt>
                <c:pt idx="3">
                  <c:v>33</c:v>
                </c:pt>
                <c:pt idx="4">
                  <c:v>33</c:v>
                </c:pt>
                <c:pt idx="5">
                  <c:v>33</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【0:00 - 0:25】
要約：人が減っても現場が迷わず回る仕組みをつくる
株式会社カンツギです。カンツギは「勘を継ぐ」。割れた器を金で継ぐ金継ぎのように、途切れそうな現場の勘をデータで継ぎます。熟練者の勘が退職とともに消えていく現場に、スマートグラスで記録して次の担い手とAIに渡す仕組み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【0:25 - 1:00】
要約：スマートグラスで工事の作業を記録し、報告と教育を自動にするサービス
事業の概要です。何のビジネスか。施工管理者や電工がスマートグラスを着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会社の基盤と端末の台数に応じた利用料、標準の10台で年300万円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AR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【1:40 - 2:25】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【2:25 - 3:05】
要約：手戻りだけで建設全体に年1.5兆円。勘の喪失は国の損失
思いだけの話ではありません。お金で見ると、建設投資は年約75兆円。手戻り、つまりやり直しの費用は、海外の研究で工事費の0.4%から6%と言われています。控えめに2%とすると、建設全体で年約1.5兆円、電気工事だけで年約2,400億円がやり直しに消えています。そして建設業で働く人の36.7%、約175万人が55歳以上です。熟練者の判断が消えると、この手戻りが増え、残業の上限の中で受けられる工事も減ります。現場の勘を残すことは、この損失を防ぐ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【3:05 - 3:45】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【3:45 - 4:30】
要約：1拠点10台で年約480万円。払う額の約1.4倍。1台1日26分減れば元が取れる
お客様が得する額です。得をするのは、スマートグラスを着けた班だけです。1拠点に10台、1班に1台を職長が着けます。1台で1日、職長の日報と撮影が15分、施工管理者の写真整理と写真台帳が20分減ると、統計から出した時給で、年約480万円です。お客様が払うのは、当社への年300万円と端末のリース約53万円で、約353万円。得はその約1.4倍です。逆に言うと、1台1日26分減れば元が取れます。ここを実証の合格ラインにします。手戻りの削減は、実証で測れたら上乗せし、そのときは約2.4倍です。新人の指導は金額にせず、独り立ちまでの月数で測ります。計算の過程は詳細版の5〜8ページに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【4:30 - 5:15】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【5:15 - 5:55】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【5:55 - 6:35】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【6:35 - 7:10】
要約：グラスは作らず、選べる設計にする。作るのはソフトとデータ
端末についてです。当社はグラスそのものは作りません。現場で使える条件は、落としても壊れない、粉じんと水に強い、1シフト電池が持つ、ヘルメットに付く、手袋のまま声で操作できることです。今すぐは、産業用のヘッドマウント端末とヘルメットカメラで記録と報告から始め、図面を手元に出すのは法人向けのAR端末で1種類のジョイントから実証します。一般向けのARグラスは2027年の発売が報じられています。端末が進化したら乗り換えられる設計にし、当社は保護カバーとヘルメットの取付具で、端末を壊さない工夫を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【7:10 - 7:45】
要約：施工管理アプリは「人が入力する器」。当社は「自動で記録し、判断を渡す」
競合です。工事写真や施工管理のアプリは、ANDPAD、SPIDERPLUS、蔵衛門など、すでに広く使われています。ただ、どれも人が撮って入力する器です。当社は自動で記録し、図面と照合し、熟練者の判断を教材にして渡します。最大の脅威は、これらの会社がAIで自動報告を加えることです。だから競わずにつなぎます。報告書と写真は各社の形式で出力し、当社は判断の記録と教材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【7:45 - 8:20】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81拠点、約2.4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【8:20 - 8:55】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【8:55 - 9:35】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担当1人が年6拠点を立ち上げます。マネタイズは、会社の基盤が月5万円、端末1台が月2万円の利用料を年額前払いで、初年度だけ導入支援を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【9:35 - 10:15】
要約：会社の基盤＋端末の台数で払う。お客様は初年度約14か月、2年目からは毎年プラス
お金の流れです。お客様は、会社の基盤に月5万円、端末1台に月2万円を払います。標準の10台で年300万円。初年度だけ導入支援200万円、端末はお客様がリース会社から借ります。初年度は合わせて約553万円、得が月約40万円なので約14か月で元が取れ、2年目からは毎年、払う額より約130万円多く得をします。当社に残るのは、AIと保存の費用を引いた1拠点年216万円。7年分と導入支援の粗利でLTVは約1,571万円、獲得費用CACは約86万円で、約18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【10:15 - 10:50】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中でも、電力会社や官公庁の工事が多く、手戻りが高くつく工種があり、デジタル化の素地がある会社、約180社を一次ターゲットにします。会える率と成約率をそれぞれ見積もり、1社1.3拠点と大手1社の5拠点を足して約85拠点。解約を引いた計画は81拠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【10:50 - 11:25】
要約：売上は拠点×月25万円で積み上がる。解約は年10%で引く
売上と費用です。売上は、続いている拠点かける月25万円の利用料が積み上がる形で、解約は毎年10%で引いています。5年目の売上は約269百万円、月にすると約2,242万円。費用の中心は人件費で、役割ごとの年収に会社負担を足し、採用費と顧問料も入れています。所在地は川崎市を考えています。羽田・新幹線に近く、関東一円の電気工事会社に日帰りで出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【11:25 - 11:55】
要約：5年目に損益分岐点を超える。目安は社員1人約4拠点
損益分岐点です。販管費を粗利率で割った損益分岐点売上は、5年目で約256百万円。売上約269百万円がこれを初めて上回ります。人で見ると、社員1人の販管費約734万円を、1拠点の粗利216万円で割って約3.4拠点。新しい拠点は初年度に半年分しか払わないので、期末の拠点数では1人約4拠点が目安です。4年目は3.12で届かず、5年目は3.86で黒字に届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【11:55 - 12:25】
要約：黒字倒産しない。最低残高は固定費3か月分
資金計画です。必要資金は1.8億円。準備期の約500万円は自己資金と補助金でまかない、実証の結果をもって日本政策金融公庫の創業融資1,000万円、CVCとVCから1億1,500万円、3年目に実績を示してシリーズAで5,000万円を調達します。現金残高は最も薄い年でも約4,000万円で、固定費3か月分を下回りません。利用料は年額前払い、導入支援は着手金をいただき、黒字倒産を防ぎます。この計画は出資が前提で、公庫の1,000万円だけなら1年目から現金が足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【12:25 - 13:00】
要約：黒字の鍵は拠点数より、1拠点の台数。止まる線も先に決める
黒字化の条件です。新しいお客様が計画に届かなかった場合を、同じ計算で確かめました。1拠点10台のままだと、計画の9割を下回ると5年以内に黒字になりません。ところが、効果が出た班から台数を増やし、1拠点15台にできれば、計画の6割でも5年目に黒字です。黒字の鍵は、拠点の数より、1拠点で使ってもらう台数です。そして、進むか止まるかの線を先に決めます。実証で1台1日26分以上減れば進む、15分未満なら撤退。1年目の終わりに試験導入3社のうち2社以上が本契約なら進む、0社なら撤退か方向転換。2年目に新しい拠点が5つに届かなければ採用を止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【13:00 - 13:35】
要約：チームは現場と技術の両方を揃える。顧問とパートナーで弱みを補う
チームです。私は電線メーカーで地中送電線の施工管理を5年やり、独学でAIの仕組みを作ってきました。毎朝ニュースを音声で配信する仕組みも、個人で作って動かしています。ただ、私一人では足りません。5年目までに、技術の責任者、エンジニア、電気工事の施工管理経験者による現場監修、導入を支えるカスタマーサクセス、営業、管理、戦略企画の21人の体制にします。社外の技術顧問と業界の顧問を置き、スマートグラスのメーカー、大学と組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【13:35 - 13:55】
要約：導入期・成長期を越え、成熟期には上場を目指す
成長の道筋です。導入期は電気工事会社で記録と報告の自動化をつかみ、成長期は図面との照合と端末の台数の拡大で5年目に黒字化し、成熟期は電線や素材の工場、フィジカルAIと海外展開で上場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【13:55 - 14:20】
要約：準備期の6か月で、最初の1拠点を動かす
準備期の6か月です。費用は約500万円。試作品の開発に250万円、端末に80万円、1拠点での実証に100万円、設立と契約に40万円、予備30万円です。自己資金と補助金でまかない、私の給料はゼロです。3か月で試作品、6か月で実証の結果を出し、1台1日26分減ったかどうかを確かめます。その結果を持って、公庫とベンチャーキャピタルから調達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【14:20 - 14:40】
要約：最大のリスクは自分。だから役割と判断基準を先に決めておく
最後にリスクです。最大のリスクは、私自身が律速になること。だから役割を絞り、判断の基準を先に決めて、私がいなくても回る会社にします。日本の品質を支えてきた現場の勘を、人に依存しない形で残したい。その最初の一歩として、6か月で最初の1拠点を動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29184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960120"/>
            <a:ext cx="2743200" cy="587829"/>
          </a:xfrm>
          <a:prstGeom prst="rect">
            <a:avLst/>
          </a:prstGeom>
        </p:spPr>
      </p:pic>
      <p:sp>
        <p:nvSpPr>
          <p:cNvPr id="5" name="Text 1"/>
          <p:cNvSpPr txBox="1"/>
          <p:nvPr/>
        </p:nvSpPr>
        <p:spPr>
          <a:xfrm>
            <a:off x="365760" y="1965960"/>
            <a:ext cx="2743200" cy="77724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6" name="Text 2"/>
          <p:cNvSpPr txBox="1"/>
          <p:nvPr/>
        </p:nvSpPr>
        <p:spPr>
          <a:xfrm>
            <a:off x="365760" y="2926080"/>
            <a:ext cx="274320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株式会社カンツギ（事業計画）</a:t>
            </a:r>
            <a:endParaRPr lang="en-US" sz="1100" dirty="0"/>
          </a:p>
        </p:txBody>
      </p:sp>
      <p:sp>
        <p:nvSpPr>
          <p:cNvPr id="7" name="Text 3"/>
          <p:cNvSpPr txBox="1"/>
          <p:nvPr/>
        </p:nvSpPr>
        <p:spPr>
          <a:xfrm>
            <a:off x="365760" y="3218688"/>
            <a:ext cx="274320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勘継＝金継ぎのように現場の勘を継ぐ</a:t>
            </a:r>
            <a:endParaRPr lang="en-US" sz="950" dirty="0"/>
          </a:p>
        </p:txBody>
      </p:sp>
      <p:sp>
        <p:nvSpPr>
          <p:cNvPr id="8" name="Text 4"/>
          <p:cNvSpPr txBox="1"/>
          <p:nvPr/>
        </p:nvSpPr>
        <p:spPr>
          <a:xfrm>
            <a:off x="3657600" y="502920"/>
            <a:ext cx="48463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事業計画書</a:t>
            </a:r>
            <a:endParaRPr lang="en-US" sz="1200" dirty="0"/>
          </a:p>
        </p:txBody>
      </p:sp>
      <p:sp>
        <p:nvSpPr>
          <p:cNvPr id="9" name="Text 5"/>
          <p:cNvSpPr txBox="1"/>
          <p:nvPr/>
        </p:nvSpPr>
        <p:spPr>
          <a:xfrm>
            <a:off x="3657600" y="822960"/>
            <a:ext cx="48463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0" name="Text 6"/>
          <p:cNvSpPr txBox="1"/>
          <p:nvPr/>
        </p:nvSpPr>
        <p:spPr>
          <a:xfrm>
            <a:off x="3657600" y="1691640"/>
            <a:ext cx="4846320" cy="457200"/>
          </a:xfrm>
          <a:prstGeom prst="rect">
            <a:avLst/>
          </a:prstGeom>
          <a:noFill/>
          <a:ln/>
        </p:spPr>
        <p:txBody>
          <a:bodyPr wrap="square" lIns="0" tIns="0" rIns="0" bIns="0" rtlCol="0" anchor="t"/>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スマートグラスで熟練者の作業を記録し、報告を自動にし、次の担い手とAIの教材にする</a:t>
            </a:r>
            <a:endParaRPr lang="en-US" sz="1150" dirty="0"/>
          </a:p>
        </p:txBody>
      </p:sp>
      <p:sp>
        <p:nvSpPr>
          <p:cNvPr id="11" name="first-step"/>
          <p:cNvSpPr/>
          <p:nvPr/>
        </p:nvSpPr>
        <p:spPr>
          <a:xfrm>
            <a:off x="3657600" y="2377440"/>
            <a:ext cx="4846320" cy="1188720"/>
          </a:xfrm>
          <a:prstGeom prst="rect">
            <a:avLst/>
          </a:prstGeom>
          <a:solidFill>
            <a:srgbClr val="FFFFFF"/>
          </a:solidFill>
          <a:ln w="25400">
            <a:solidFill>
              <a:srgbClr val="B8692E"/>
            </a:solidFill>
            <a:prstDash val="solid"/>
          </a:ln>
        </p:spPr>
      </p:sp>
      <p:sp>
        <p:nvSpPr>
          <p:cNvPr id="12" name="Text 8"/>
          <p:cNvSpPr txBox="1"/>
          <p:nvPr/>
        </p:nvSpPr>
        <p:spPr>
          <a:xfrm>
            <a:off x="3840480" y="2450592"/>
            <a:ext cx="1828800" cy="274320"/>
          </a:xfrm>
          <a:prstGeom prst="rect">
            <a:avLst/>
          </a:prstGeom>
          <a:noFill/>
          <a:ln/>
        </p:spPr>
        <p:txBody>
          <a:bodyPr wrap="square" lIns="0" tIns="0" rIns="0" bIns="0" rtlCol="0" anchor="t"/>
          <a:lstStyle/>
          <a:p>
            <a:pPr algn="l" indent="0" marL="0">
              <a:lnSpc>
                <a:spcPct val="115000"/>
              </a:lnSpc>
              <a:buNone/>
            </a:pPr>
            <a:r>
              <a:rPr lang="en-US" sz="1200" b="1" dirty="0">
                <a:solidFill>
                  <a:srgbClr val="4D4D4D"/>
                </a:solidFill>
                <a:latin typeface="Meiryo" pitchFamily="34" charset="0"/>
                <a:ea typeface="Meiryo" pitchFamily="34" charset="-122"/>
                <a:cs typeface="Meiryo" pitchFamily="34" charset="-120"/>
              </a:rPr>
              <a:t>最初の一歩</a:t>
            </a:r>
            <a:endParaRPr lang="en-US" sz="1200" dirty="0"/>
          </a:p>
        </p:txBody>
      </p:sp>
      <p:sp>
        <p:nvSpPr>
          <p:cNvPr id="13" name="Text 9"/>
          <p:cNvSpPr txBox="1"/>
          <p:nvPr/>
        </p:nvSpPr>
        <p:spPr>
          <a:xfrm>
            <a:off x="3840480" y="2724912"/>
            <a:ext cx="4480560" cy="502920"/>
          </a:xfrm>
          <a:prstGeom prst="rect">
            <a:avLst/>
          </a:prstGeom>
          <a:noFill/>
          <a:ln/>
        </p:spPr>
        <p:txBody>
          <a:bodyPr wrap="square" lIns="0" tIns="0" rIns="0" bIns="0" rtlCol="0" anchor="ctr"/>
          <a:lstStyle/>
          <a:p>
            <a:pPr algn="l" indent="0" marL="0">
              <a:lnSpc>
                <a:spcPct val="115000"/>
              </a:lnSpc>
              <a:buNone/>
            </a:pPr>
            <a:r>
              <a:rPr lang="en-US" sz="2600" b="1" dirty="0">
                <a:solidFill>
                  <a:srgbClr val="B8692E"/>
                </a:solidFill>
                <a:latin typeface="Meiryo" pitchFamily="34" charset="0"/>
                <a:ea typeface="Meiryo" pitchFamily="34" charset="-122"/>
                <a:cs typeface="Meiryo" pitchFamily="34" charset="-120"/>
              </a:rPr>
              <a:t>6か月で1拠点を動かす</a:t>
            </a:r>
            <a:endParaRPr lang="en-US" sz="2600" dirty="0"/>
          </a:p>
        </p:txBody>
      </p:sp>
      <p:sp>
        <p:nvSpPr>
          <p:cNvPr id="14" name="Text 10"/>
          <p:cNvSpPr txBox="1"/>
          <p:nvPr/>
        </p:nvSpPr>
        <p:spPr>
          <a:xfrm>
            <a:off x="3840480" y="3218688"/>
            <a:ext cx="4480560" cy="274320"/>
          </a:xfrm>
          <a:prstGeom prst="rect">
            <a:avLst/>
          </a:prstGeom>
          <a:noFill/>
          <a:ln/>
        </p:spPr>
        <p:txBody>
          <a:bodyPr wrap="square" lIns="0" tIns="0" rIns="0" bIns="0" rtlCol="0" anchor="ctr"/>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3か月で試作品、3か月で実証。合格ラインは「1台1日26分の削減」</a:t>
            </a:r>
            <a:endParaRPr lang="en-US" sz="1000" dirty="0"/>
          </a:p>
        </p:txBody>
      </p:sp>
      <p:sp>
        <p:nvSpPr>
          <p:cNvPr id="15" name="Text 11"/>
          <p:cNvSpPr txBox="1"/>
          <p:nvPr/>
        </p:nvSpPr>
        <p:spPr>
          <a:xfrm>
            <a:off x="3657600" y="3886200"/>
            <a:ext cx="48463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発表者：＿＿＿＿＿＿＿＿＿＿</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事業概要 ─ 現場の作業を記録し、報告と教育を自動に</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スマートグラスで撮るだけ。報告書・図面との照合・教材までを一続きで届ける</a:t>
            </a:r>
            <a:endParaRPr lang="en-US" sz="1200" dirty="0"/>
          </a:p>
        </p:txBody>
      </p:sp>
      <p:sp>
        <p:nvSpPr>
          <p:cNvPr id="5" name="summary-0"/>
          <p:cNvSpPr/>
          <p:nvPr/>
        </p:nvSpPr>
        <p:spPr>
          <a:xfrm>
            <a:off x="365760" y="1051560"/>
            <a:ext cx="4137660" cy="1481328"/>
          </a:xfrm>
          <a:prstGeom prst="rect">
            <a:avLst/>
          </a:prstGeom>
          <a:solidFill>
            <a:srgbClr val="F2F2F2"/>
          </a:solidFill>
          <a:ln/>
        </p:spPr>
      </p:sp>
      <p:sp>
        <p:nvSpPr>
          <p:cNvPr id="6" name="Text 3"/>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何のビジネス？</a:t>
            </a:r>
            <a:endParaRPr lang="en-US" sz="1300" dirty="0"/>
          </a:p>
        </p:txBody>
      </p:sp>
      <p:sp>
        <p:nvSpPr>
          <p:cNvPr id="7" name="Text 4"/>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施工管理者や電工がスマートグラスを着けるだけで、一人称の動画と会話を記録。AIが工事写真を整理して報告書を作り、図面と照合し、教材にするサービス</a:t>
            </a:r>
            <a:endParaRPr lang="en-US" sz="1100" dirty="0"/>
          </a:p>
        </p:txBody>
      </p:sp>
      <p:sp>
        <p:nvSpPr>
          <p:cNvPr id="8" name="summary-1"/>
          <p:cNvSpPr/>
          <p:nvPr/>
        </p:nvSpPr>
        <p:spPr>
          <a:xfrm>
            <a:off x="4640580" y="1051560"/>
            <a:ext cx="4137660" cy="1481328"/>
          </a:xfrm>
          <a:prstGeom prst="rect">
            <a:avLst/>
          </a:prstGeom>
          <a:solidFill>
            <a:srgbClr val="F2F2F2"/>
          </a:solidFill>
          <a:ln/>
        </p:spPr>
      </p:sp>
      <p:sp>
        <p:nvSpPr>
          <p:cNvPr id="9" name="Text 6"/>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既存の市場との違い</a:t>
            </a:r>
            <a:endParaRPr lang="en-US" sz="1300" dirty="0"/>
          </a:p>
        </p:txBody>
      </p:sp>
      <p:sp>
        <p:nvSpPr>
          <p:cNvPr id="10" name="Text 7"/>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施工管理アプリは人が撮って入力する器。当社は自動で記録し「照合→報告→教材」まで一続きで提供。施工経験者が中身を監修する</a:t>
            </a:r>
            <a:endParaRPr lang="en-US" sz="1100" dirty="0"/>
          </a:p>
        </p:txBody>
      </p:sp>
      <p:sp>
        <p:nvSpPr>
          <p:cNvPr id="11" name="summary-2"/>
          <p:cNvSpPr/>
          <p:nvPr/>
        </p:nvSpPr>
        <p:spPr>
          <a:xfrm>
            <a:off x="365760" y="2670048"/>
            <a:ext cx="4137660" cy="1481328"/>
          </a:xfrm>
          <a:prstGeom prst="rect">
            <a:avLst/>
          </a:prstGeom>
          <a:solidFill>
            <a:srgbClr val="F2F2F2"/>
          </a:solidFill>
          <a:ln/>
        </p:spPr>
      </p:sp>
      <p:sp>
        <p:nvSpPr>
          <p:cNvPr id="12" name="Text 9"/>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誰のどんな悩みを解決する？</a:t>
            </a:r>
            <a:endParaRPr lang="en-US" sz="1300" dirty="0"/>
          </a:p>
        </p:txBody>
      </p:sp>
      <p:sp>
        <p:nvSpPr>
          <p:cNvPr id="13" name="Text 10"/>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4" name="summary-3"/>
          <p:cNvSpPr/>
          <p:nvPr/>
        </p:nvSpPr>
        <p:spPr>
          <a:xfrm>
            <a:off x="4640580" y="2670048"/>
            <a:ext cx="4137660" cy="1481328"/>
          </a:xfrm>
          <a:prstGeom prst="rect">
            <a:avLst/>
          </a:prstGeom>
          <a:solidFill>
            <a:srgbClr val="1A1A1A"/>
          </a:solidFill>
          <a:ln/>
        </p:spPr>
      </p:sp>
      <p:sp>
        <p:nvSpPr>
          <p:cNvPr id="15" name="Text 12"/>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収益構造</a:t>
            </a:r>
            <a:endParaRPr lang="en-US" sz="1300" dirty="0"/>
          </a:p>
        </p:txBody>
      </p:sp>
      <p:sp>
        <p:nvSpPr>
          <p:cNvPr id="16" name="Text 13"/>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会社の基盤 月5万円＋端末1台 月2万円の利用料（標準10台で年300万円）が毎年積み上がる。初年度だけ導入支援200万円</a:t>
            </a:r>
            <a:endParaRPr lang="en-US" sz="1100" dirty="0"/>
          </a:p>
        </p:txBody>
      </p:sp>
      <p:sp>
        <p:nvSpPr>
          <p:cNvPr id="17" name="Text 14"/>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背景 ─ AIは「頭」の支援から、作業者の「目と手」の支援へ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知的労働はAIで進んだ。次は肉体労働の暗黙知。人の目は口ほどに物を言う ─ 次は「見るAI」</a:t>
            </a:r>
            <a:endParaRPr lang="en-US" sz="1200" dirty="0"/>
          </a:p>
        </p:txBody>
      </p:sp>
      <p:sp>
        <p:nvSpPr>
          <p:cNvPr id="5" name="era-0"/>
          <p:cNvSpPr/>
          <p:nvPr/>
        </p:nvSpPr>
        <p:spPr>
          <a:xfrm>
            <a:off x="365760" y="1051560"/>
            <a:ext cx="2514600" cy="2834640"/>
          </a:xfrm>
          <a:prstGeom prst="rect">
            <a:avLst/>
          </a:prstGeom>
          <a:solidFill>
            <a:srgbClr val="F2F2F2"/>
          </a:solidFill>
          <a:ln/>
        </p:spPr>
      </p:sp>
      <p:sp>
        <p:nvSpPr>
          <p:cNvPr id="6" name="Text 3"/>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B8692E"/>
                </a:solidFill>
                <a:latin typeface="Meiryo" pitchFamily="34" charset="0"/>
                <a:ea typeface="Meiryo" pitchFamily="34" charset="-122"/>
                <a:cs typeface="Meiryo" pitchFamily="34" charset="-120"/>
              </a:rPr>
              <a:t>これまで</a:t>
            </a:r>
            <a:endParaRPr lang="en-US" sz="1400" dirty="0"/>
          </a:p>
        </p:txBody>
      </p:sp>
      <p:sp>
        <p:nvSpPr>
          <p:cNvPr id="7" name="Text 4"/>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管理者</a:t>
            </a:r>
            <a:endParaRPr lang="en-US" sz="1400" dirty="0"/>
          </a:p>
        </p:txBody>
      </p:sp>
      <p:sp>
        <p:nvSpPr>
          <p:cNvPr id="8" name="Text 5"/>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報告書・議事録などの事務作業</a:t>
            </a:r>
            <a:endParaRPr lang="en-US" sz="1400" dirty="0"/>
          </a:p>
        </p:txBody>
      </p:sp>
      <p:sp>
        <p:nvSpPr>
          <p:cNvPr id="9" name="Text 6"/>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考える・書くAI</a:t>
            </a:r>
            <a:endParaRPr lang="en-US" sz="1400" dirty="0"/>
          </a:p>
        </p:txBody>
      </p:sp>
      <p:sp>
        <p:nvSpPr>
          <p:cNvPr id="10" name="Text 7"/>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PC・スマホ</a:t>
            </a:r>
            <a:endParaRPr lang="en-US" sz="1400" dirty="0"/>
          </a:p>
        </p:txBody>
      </p:sp>
      <p:sp>
        <p:nvSpPr>
          <p:cNvPr id="11" name="era-1"/>
          <p:cNvSpPr/>
          <p:nvPr/>
        </p:nvSpPr>
        <p:spPr>
          <a:xfrm>
            <a:off x="3383280" y="1051560"/>
            <a:ext cx="2514600" cy="2834640"/>
          </a:xfrm>
          <a:prstGeom prst="rect">
            <a:avLst/>
          </a:prstGeom>
          <a:solidFill>
            <a:srgbClr val="1A1A1A"/>
          </a:solidFill>
          <a:ln/>
        </p:spPr>
      </p:sp>
      <p:sp>
        <p:nvSpPr>
          <p:cNvPr id="12" name="Text 9"/>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E3A774"/>
                </a:solidFill>
                <a:latin typeface="Meiryo" pitchFamily="34" charset="0"/>
                <a:ea typeface="Meiryo" pitchFamily="34" charset="-122"/>
                <a:cs typeface="Meiryo" pitchFamily="34" charset="-120"/>
              </a:rPr>
              <a:t>これから</a:t>
            </a:r>
            <a:endParaRPr lang="en-US" sz="1400" dirty="0"/>
          </a:p>
        </p:txBody>
      </p:sp>
      <p:sp>
        <p:nvSpPr>
          <p:cNvPr id="13" name="Text 10"/>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作業者（ブルーカラー）</a:t>
            </a:r>
            <a:endParaRPr lang="en-US" sz="1400" dirty="0"/>
          </a:p>
        </p:txBody>
      </p:sp>
      <p:sp>
        <p:nvSpPr>
          <p:cNvPr id="14" name="Text 11"/>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安全・品質・施工手順の作業支援</a:t>
            </a:r>
            <a:endParaRPr lang="en-US" sz="1400" dirty="0"/>
          </a:p>
        </p:txBody>
      </p:sp>
      <p:sp>
        <p:nvSpPr>
          <p:cNvPr id="15" name="Text 12"/>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見るAI（視覚で現場を理解する）</a:t>
            </a:r>
            <a:endParaRPr lang="en-US" sz="1400" dirty="0"/>
          </a:p>
        </p:txBody>
      </p:sp>
      <p:sp>
        <p:nvSpPr>
          <p:cNvPr id="16" name="Text 13"/>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ARグラス・スマートグラス</a:t>
            </a:r>
            <a:endParaRPr lang="en-US" sz="1400" dirty="0"/>
          </a:p>
        </p:txBody>
      </p:sp>
      <p:sp>
        <p:nvSpPr>
          <p:cNvPr id="17" name="Shape 14"/>
          <p:cNvSpPr/>
          <p:nvPr/>
        </p:nvSpPr>
        <p:spPr>
          <a:xfrm>
            <a:off x="2953512" y="2468880"/>
            <a:ext cx="365760" cy="0"/>
          </a:xfrm>
          <a:prstGeom prst="line">
            <a:avLst/>
          </a:prstGeom>
          <a:noFill/>
          <a:ln w="38100">
            <a:solidFill>
              <a:srgbClr val="B8692E"/>
            </a:solidFill>
            <a:prstDash val="solid"/>
            <a:tailEnd type="triangle"/>
          </a:ln>
        </p:spPr>
      </p:sp>
      <p:sp>
        <p:nvSpPr>
          <p:cNvPr id="18" name="Text 15"/>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なぜ今か</a:t>
            </a:r>
            <a:endParaRPr lang="en-US" sz="1100" dirty="0"/>
          </a:p>
        </p:txBody>
      </p:sp>
      <p:sp>
        <p:nvSpPr>
          <p:cNvPr id="19" name="Shape 16"/>
          <p:cNvSpPr/>
          <p:nvPr/>
        </p:nvSpPr>
        <p:spPr>
          <a:xfrm>
            <a:off x="6126480" y="1362456"/>
            <a:ext cx="2651760" cy="0"/>
          </a:xfrm>
          <a:prstGeom prst="line">
            <a:avLst/>
          </a:prstGeom>
          <a:noFill/>
          <a:ln w="9525">
            <a:solidFill>
              <a:srgbClr val="BFBFBF"/>
            </a:solidFill>
            <a:prstDash val="solid"/>
          </a:ln>
        </p:spPr>
      </p:sp>
      <p:sp>
        <p:nvSpPr>
          <p:cNvPr id="20" name="Text 17"/>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AIの判断力</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考える・書くAIは実用の水準。次は現場を「見て」理解する番</a:t>
            </a:r>
            <a:endParaRPr lang="en-US" sz="900" dirty="0"/>
          </a:p>
        </p:txBody>
      </p:sp>
      <p:sp>
        <p:nvSpPr>
          <p:cNvPr id="21" name="Shape 18"/>
          <p:cNvSpPr/>
          <p:nvPr/>
        </p:nvSpPr>
        <p:spPr>
          <a:xfrm>
            <a:off x="6126480" y="1984248"/>
            <a:ext cx="2651760" cy="0"/>
          </a:xfrm>
          <a:prstGeom prst="line">
            <a:avLst/>
          </a:prstGeom>
          <a:noFill/>
          <a:ln w="9525">
            <a:solidFill>
              <a:srgbClr val="BFBFBF"/>
            </a:solidFill>
            <a:prstDash val="solid"/>
          </a:ln>
        </p:spPr>
      </p:sp>
      <p:sp>
        <p:nvSpPr>
          <p:cNvPr id="22" name="Text 19"/>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端末</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表示付きのスマートグラスが発売（2025年）。ARグラスは2027年の一般発売が報道</a:t>
            </a:r>
            <a:endParaRPr lang="en-US" sz="900" dirty="0"/>
          </a:p>
        </p:txBody>
      </p:sp>
      <p:sp>
        <p:nvSpPr>
          <p:cNvPr id="23" name="Shape 20"/>
          <p:cNvSpPr/>
          <p:nvPr/>
        </p:nvSpPr>
        <p:spPr>
          <a:xfrm>
            <a:off x="6126480" y="2606040"/>
            <a:ext cx="2651760" cy="0"/>
          </a:xfrm>
          <a:prstGeom prst="line">
            <a:avLst/>
          </a:prstGeom>
          <a:noFill/>
          <a:ln w="9525">
            <a:solidFill>
              <a:srgbClr val="BFBFBF"/>
            </a:solidFill>
            <a:prstDash val="solid"/>
          </a:ln>
        </p:spPr>
      </p:sp>
      <p:sp>
        <p:nvSpPr>
          <p:cNvPr id="24" name="Text 21"/>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人手</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2024年から残業に上限。55歳以上が36.7%</a:t>
            </a:r>
            <a:endParaRPr lang="en-US" sz="900" dirty="0"/>
          </a:p>
        </p:txBody>
      </p:sp>
      <p:sp>
        <p:nvSpPr>
          <p:cNvPr id="25" name="Shape 22"/>
          <p:cNvSpPr/>
          <p:nvPr/>
        </p:nvSpPr>
        <p:spPr>
          <a:xfrm>
            <a:off x="6126480" y="3227832"/>
            <a:ext cx="2651760" cy="0"/>
          </a:xfrm>
          <a:prstGeom prst="line">
            <a:avLst/>
          </a:prstGeom>
          <a:noFill/>
          <a:ln w="9525">
            <a:solidFill>
              <a:srgbClr val="BFBFBF"/>
            </a:solidFill>
            <a:prstDash val="solid"/>
          </a:ln>
        </p:spPr>
      </p:sp>
      <p:sp>
        <p:nvSpPr>
          <p:cNvPr id="26" name="Text 23"/>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世代</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スマホ世代の次に、ARグラス世代が現場に入ってくる</a:t>
            </a:r>
            <a:endParaRPr lang="en-US" sz="900" dirty="0"/>
          </a:p>
        </p:txBody>
      </p:sp>
      <p:sp>
        <p:nvSpPr>
          <p:cNvPr id="27" name="Shape 24"/>
          <p:cNvSpPr/>
          <p:nvPr/>
        </p:nvSpPr>
        <p:spPr>
          <a:xfrm>
            <a:off x="365760" y="4023360"/>
            <a:ext cx="8412480" cy="457200"/>
          </a:xfrm>
          <a:prstGeom prst="rect">
            <a:avLst/>
          </a:prstGeom>
          <a:solidFill>
            <a:srgbClr val="F2F2F2"/>
          </a:solidFill>
          <a:ln/>
        </p:spPr>
      </p:sp>
      <p:sp>
        <p:nvSpPr>
          <p:cNvPr id="28" name="Text 25"/>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目指す姿：</a:t>
            </a:r>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作業者が抜けても、管理者が抜けても、現場を解釈できるAI（データ資産）が残る</a:t>
            </a:r>
            <a:endParaRPr lang="en-US" sz="110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課題 ─ 報告と育成に追われ、熟練者が辞めると止まる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ターゲットは三者。それぞれに不満・不便・損失がある</a:t>
            </a:r>
            <a:endParaRPr lang="en-US" sz="1200" dirty="0"/>
          </a:p>
        </p:txBody>
      </p:sp>
      <p:sp>
        <p:nvSpPr>
          <p:cNvPr id="5" name="persona-0"/>
          <p:cNvSpPr/>
          <p:nvPr/>
        </p:nvSpPr>
        <p:spPr>
          <a:xfrm>
            <a:off x="365760" y="1024128"/>
            <a:ext cx="2715768" cy="2148840"/>
          </a:xfrm>
          <a:prstGeom prst="rect">
            <a:avLst/>
          </a:prstGeom>
          <a:solidFill>
            <a:srgbClr val="FFFFFF"/>
          </a:solidFill>
          <a:ln w="9525">
            <a:solidFill>
              <a:srgbClr val="BFBFBF"/>
            </a:solidFill>
            <a:prstDash val="solid"/>
          </a:ln>
        </p:spPr>
      </p:sp>
      <p:sp>
        <p:nvSpPr>
          <p:cNvPr id="6" name="Shape 3"/>
          <p:cNvSpPr/>
          <p:nvPr/>
        </p:nvSpPr>
        <p:spPr>
          <a:xfrm>
            <a:off x="365760" y="1024128"/>
            <a:ext cx="2715768" cy="502920"/>
          </a:xfrm>
          <a:prstGeom prst="rect">
            <a:avLst/>
          </a:prstGeom>
          <a:solidFill>
            <a:srgbClr val="1A1A1A"/>
          </a:solidFill>
          <a:ln/>
        </p:spPr>
      </p:sp>
      <p:sp>
        <p:nvSpPr>
          <p:cNvPr id="7" name="Text 4"/>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DX推進担当者</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現場で孤軍奮闘（推進する人）</a:t>
            </a:r>
            <a:endParaRPr lang="en-US" sz="1400" dirty="0"/>
          </a:p>
        </p:txBody>
      </p:sp>
      <p:sp>
        <p:nvSpPr>
          <p:cNvPr id="8" name="Text 5"/>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・現場とシステムの言葉をつなぐ人がいない</a:t>
            </a:r>
            <a:endParaRPr lang="en-US" sz="1000" dirty="0"/>
          </a:p>
        </p:txBody>
      </p:sp>
      <p:sp>
        <p:nvSpPr>
          <p:cNvPr id="9" name="persona-1"/>
          <p:cNvSpPr/>
          <p:nvPr/>
        </p:nvSpPr>
        <p:spPr>
          <a:xfrm>
            <a:off x="3214116" y="1024128"/>
            <a:ext cx="2715768" cy="2148840"/>
          </a:xfrm>
          <a:prstGeom prst="rect">
            <a:avLst/>
          </a:prstGeom>
          <a:solidFill>
            <a:srgbClr val="FFFFFF"/>
          </a:solidFill>
          <a:ln w="9525">
            <a:solidFill>
              <a:srgbClr val="BFBFBF"/>
            </a:solidFill>
            <a:prstDash val="solid"/>
          </a:ln>
        </p:spPr>
      </p:sp>
      <p:sp>
        <p:nvSpPr>
          <p:cNvPr id="10" name="Shape 7"/>
          <p:cNvSpPr/>
          <p:nvPr/>
        </p:nvSpPr>
        <p:spPr>
          <a:xfrm>
            <a:off x="3214116" y="1024128"/>
            <a:ext cx="2715768" cy="502920"/>
          </a:xfrm>
          <a:prstGeom prst="rect">
            <a:avLst/>
          </a:prstGeom>
          <a:solidFill>
            <a:srgbClr val="1A1A1A"/>
          </a:solidFill>
          <a:ln/>
        </p:spPr>
      </p:sp>
      <p:sp>
        <p:nvSpPr>
          <p:cNvPr id="11" name="Text 8"/>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施工管理者・電工</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人手不足の現場（使う人）</a:t>
            </a:r>
            <a:endParaRPr lang="en-US" sz="1400" dirty="0"/>
          </a:p>
        </p:txBody>
      </p:sp>
      <p:sp>
        <p:nvSpPr>
          <p:cNvPr id="12" name="Text 9"/>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・ミスに気づくのが後になり、手戻りが出る</a:t>
            </a:r>
            <a:endParaRPr lang="en-US" sz="1000" dirty="0"/>
          </a:p>
        </p:txBody>
      </p:sp>
      <p:sp>
        <p:nvSpPr>
          <p:cNvPr id="13" name="persona-2"/>
          <p:cNvSpPr/>
          <p:nvPr/>
        </p:nvSpPr>
        <p:spPr>
          <a:xfrm>
            <a:off x="6062472" y="1024128"/>
            <a:ext cx="2715768" cy="2148840"/>
          </a:xfrm>
          <a:prstGeom prst="rect">
            <a:avLst/>
          </a:prstGeom>
          <a:solidFill>
            <a:srgbClr val="FFFFFF"/>
          </a:solidFill>
          <a:ln w="9525">
            <a:solidFill>
              <a:srgbClr val="BFBFBF"/>
            </a:solidFill>
            <a:prstDash val="solid"/>
          </a:ln>
        </p:spPr>
      </p:sp>
      <p:sp>
        <p:nvSpPr>
          <p:cNvPr id="14" name="Shape 11"/>
          <p:cNvSpPr/>
          <p:nvPr/>
        </p:nvSpPr>
        <p:spPr>
          <a:xfrm>
            <a:off x="6062472" y="1024128"/>
            <a:ext cx="2715768" cy="502920"/>
          </a:xfrm>
          <a:prstGeom prst="rect">
            <a:avLst/>
          </a:prstGeom>
          <a:solidFill>
            <a:srgbClr val="1A1A1A"/>
          </a:solidFill>
          <a:ln/>
        </p:spPr>
      </p:sp>
      <p:sp>
        <p:nvSpPr>
          <p:cNvPr id="15" name="Text 12"/>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工事部長・社長</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引退と後継者不足（お金を出す人）</a:t>
            </a:r>
            <a:endParaRPr lang="en-US" sz="1400" dirty="0"/>
          </a:p>
        </p:txBody>
      </p:sp>
      <p:sp>
        <p:nvSpPr>
          <p:cNvPr id="16" name="Text 13"/>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・立会に行けず、現場の状況が見えない</a:t>
            </a:r>
            <a:endParaRPr lang="en-US" sz="1000" dirty="0"/>
          </a:p>
        </p:txBody>
      </p:sp>
      <p:sp>
        <p:nvSpPr>
          <p:cNvPr id="17" name="pain-stat-0"/>
          <p:cNvSpPr/>
          <p:nvPr/>
        </p:nvSpPr>
        <p:spPr>
          <a:xfrm>
            <a:off x="365760" y="3310128"/>
            <a:ext cx="2034540" cy="1097280"/>
          </a:xfrm>
          <a:prstGeom prst="rect">
            <a:avLst/>
          </a:prstGeom>
          <a:solidFill>
            <a:srgbClr val="F2F2F2"/>
          </a:solidFill>
          <a:ln/>
        </p:spPr>
      </p:sp>
      <p:sp>
        <p:nvSpPr>
          <p:cNvPr id="18" name="Text 15"/>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9" name="Text 16"/>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建設業で働く人のうち55歳以上（2024年）(1)</a:t>
            </a:r>
            <a:endParaRPr lang="en-US" sz="850" dirty="0"/>
          </a:p>
        </p:txBody>
      </p:sp>
      <p:sp>
        <p:nvSpPr>
          <p:cNvPr id="20" name="pain-stat-1"/>
          <p:cNvSpPr/>
          <p:nvPr/>
        </p:nvSpPr>
        <p:spPr>
          <a:xfrm>
            <a:off x="2491740" y="3310128"/>
            <a:ext cx="2034540" cy="1097280"/>
          </a:xfrm>
          <a:prstGeom prst="rect">
            <a:avLst/>
          </a:prstGeom>
          <a:solidFill>
            <a:srgbClr val="F2F2F2"/>
          </a:solidFill>
          <a:ln/>
        </p:spPr>
      </p:sp>
      <p:sp>
        <p:nvSpPr>
          <p:cNvPr id="21" name="Text 18"/>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11.7%</a:t>
            </a:r>
            <a:endParaRPr lang="en-US" sz="2000" dirty="0"/>
          </a:p>
        </p:txBody>
      </p:sp>
      <p:sp>
        <p:nvSpPr>
          <p:cNvPr id="22" name="Text 19"/>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同じく29歳以下。次の担い手が足りない (1)</a:t>
            </a:r>
            <a:endParaRPr lang="en-US" sz="850" dirty="0"/>
          </a:p>
        </p:txBody>
      </p:sp>
      <p:sp>
        <p:nvSpPr>
          <p:cNvPr id="23" name="pain-stat-2"/>
          <p:cNvSpPr/>
          <p:nvPr/>
        </p:nvSpPr>
        <p:spPr>
          <a:xfrm>
            <a:off x="4617720" y="3310128"/>
            <a:ext cx="2034540" cy="1097280"/>
          </a:xfrm>
          <a:prstGeom prst="rect">
            <a:avLst/>
          </a:prstGeom>
          <a:solidFill>
            <a:srgbClr val="F2F2F2"/>
          </a:solidFill>
          <a:ln/>
        </p:spPr>
      </p:sp>
      <p:sp>
        <p:nvSpPr>
          <p:cNvPr id="24" name="Text 21"/>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月45時間</a:t>
            </a:r>
            <a:endParaRPr lang="en-US" sz="2000" dirty="0"/>
          </a:p>
        </p:txBody>
      </p:sp>
      <p:sp>
        <p:nvSpPr>
          <p:cNvPr id="25" name="Text 22"/>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2024年4月から建設業にも残業の上限（原則）(2)</a:t>
            </a:r>
            <a:endParaRPr lang="en-US" sz="850" dirty="0"/>
          </a:p>
        </p:txBody>
      </p:sp>
      <p:sp>
        <p:nvSpPr>
          <p:cNvPr id="26" name="pain-stat-3"/>
          <p:cNvSpPr/>
          <p:nvPr/>
        </p:nvSpPr>
        <p:spPr>
          <a:xfrm>
            <a:off x="6743700" y="3310128"/>
            <a:ext cx="2034540" cy="1097280"/>
          </a:xfrm>
          <a:prstGeom prst="rect">
            <a:avLst/>
          </a:prstGeom>
          <a:solidFill>
            <a:srgbClr val="F2F2F2"/>
          </a:solidFill>
          <a:ln/>
        </p:spPr>
      </p:sp>
      <p:sp>
        <p:nvSpPr>
          <p:cNvPr id="27" name="Text 24"/>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約2,000時間</a:t>
            </a:r>
            <a:endParaRPr lang="en-US" sz="2000" dirty="0"/>
          </a:p>
        </p:txBody>
      </p:sp>
      <p:sp>
        <p:nvSpPr>
          <p:cNvPr id="28" name="Text 25"/>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建設業の1年の総労働時間（残業込み）。全産業より約270時間長い</a:t>
            </a:r>
            <a:endParaRPr lang="en-US" sz="85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国土交通省（総務省「労働力調査」2024年平均から算出。建設業就業者477万人）　(2) 労働基準法の時間外労働の上限規制（建設業は2024年4月1日から適用）</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損失の大きさ ─ 手戻りだけで、建設全体に年1.5兆円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勘の喪失は思いの問題ではなく、お金の問題。熟練者が抜けるほど、やり直しと断る工事が増える</a:t>
            </a:r>
            <a:endParaRPr lang="en-US" sz="1200" dirty="0"/>
          </a:p>
        </p:txBody>
      </p:sp>
      <p:sp>
        <p:nvSpPr>
          <p:cNvPr id="6" name="loss-0"/>
          <p:cNvSpPr/>
          <p:nvPr/>
        </p:nvSpPr>
        <p:spPr>
          <a:xfrm>
            <a:off x="365760" y="1051560"/>
            <a:ext cx="3977640" cy="868680"/>
          </a:xfrm>
          <a:prstGeom prst="rect">
            <a:avLst/>
          </a:prstGeom>
          <a:solidFill>
            <a:srgbClr val="1A1A1A"/>
          </a:solidFill>
          <a:ln/>
        </p:spPr>
      </p:sp>
      <p:sp>
        <p:nvSpPr>
          <p:cNvPr id="7" name="Text 4"/>
          <p:cNvSpPr txBox="1"/>
          <p:nvPr/>
        </p:nvSpPr>
        <p:spPr>
          <a:xfrm>
            <a:off x="502920" y="110642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E3A774"/>
                </a:solidFill>
                <a:latin typeface="Meiryo" pitchFamily="34" charset="0"/>
                <a:ea typeface="Meiryo" pitchFamily="34" charset="-122"/>
                <a:cs typeface="Meiryo" pitchFamily="34" charset="-120"/>
              </a:rPr>
              <a:t>約1.5兆円／年</a:t>
            </a:r>
            <a:endParaRPr lang="en-US" sz="1700" dirty="0"/>
          </a:p>
        </p:txBody>
      </p:sp>
      <p:sp>
        <p:nvSpPr>
          <p:cNvPr id="8" name="Text 5"/>
          <p:cNvSpPr txBox="1"/>
          <p:nvPr/>
        </p:nvSpPr>
        <p:spPr>
          <a:xfrm>
            <a:off x="2834640" y="114300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建設全体の手戻り</a:t>
            </a:r>
            <a:endParaRPr lang="en-US" sz="950" dirty="0"/>
          </a:p>
        </p:txBody>
      </p:sp>
      <p:sp>
        <p:nvSpPr>
          <p:cNvPr id="9" name="Text 6"/>
          <p:cNvSpPr txBox="1"/>
          <p:nvPr/>
        </p:nvSpPr>
        <p:spPr>
          <a:xfrm>
            <a:off x="502920" y="158191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建設投資 約75.6兆円（2025年度見通し）× 手戻り2%</a:t>
            </a:r>
            <a:endParaRPr lang="en-US" sz="850" dirty="0"/>
          </a:p>
        </p:txBody>
      </p:sp>
      <p:sp>
        <p:nvSpPr>
          <p:cNvPr id="10" name="loss-1"/>
          <p:cNvSpPr/>
          <p:nvPr/>
        </p:nvSpPr>
        <p:spPr>
          <a:xfrm>
            <a:off x="365760" y="2011680"/>
            <a:ext cx="3977640" cy="868680"/>
          </a:xfrm>
          <a:prstGeom prst="rect">
            <a:avLst/>
          </a:prstGeom>
          <a:solidFill>
            <a:srgbClr val="F2F2F2"/>
          </a:solidFill>
          <a:ln/>
        </p:spPr>
      </p:sp>
      <p:sp>
        <p:nvSpPr>
          <p:cNvPr id="11" name="Text 8"/>
          <p:cNvSpPr txBox="1"/>
          <p:nvPr/>
        </p:nvSpPr>
        <p:spPr>
          <a:xfrm>
            <a:off x="502920" y="206654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約2,400億円／年</a:t>
            </a:r>
            <a:endParaRPr lang="en-US" sz="1700" dirty="0"/>
          </a:p>
        </p:txBody>
      </p:sp>
      <p:sp>
        <p:nvSpPr>
          <p:cNvPr id="12" name="Text 9"/>
          <p:cNvSpPr txBox="1"/>
          <p:nvPr/>
        </p:nvSpPr>
        <p:spPr>
          <a:xfrm>
            <a:off x="2834640" y="210312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うち電気工事</a:t>
            </a:r>
            <a:endParaRPr lang="en-US" sz="950" dirty="0"/>
          </a:p>
        </p:txBody>
      </p:sp>
      <p:sp>
        <p:nvSpPr>
          <p:cNvPr id="13" name="Text 10"/>
          <p:cNvSpPr txBox="1"/>
          <p:nvPr/>
        </p:nvSpPr>
        <p:spPr>
          <a:xfrm>
            <a:off x="502920" y="254203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電気工事業の完成工事高 約12兆円 × 手戻り2%</a:t>
            </a:r>
            <a:endParaRPr lang="en-US" sz="850" dirty="0"/>
          </a:p>
        </p:txBody>
      </p:sp>
      <p:sp>
        <p:nvSpPr>
          <p:cNvPr id="14" name="loss-2"/>
          <p:cNvSpPr/>
          <p:nvPr/>
        </p:nvSpPr>
        <p:spPr>
          <a:xfrm>
            <a:off x="365760" y="2971800"/>
            <a:ext cx="3977640" cy="868680"/>
          </a:xfrm>
          <a:prstGeom prst="rect">
            <a:avLst/>
          </a:prstGeom>
          <a:solidFill>
            <a:srgbClr val="F2F2F2"/>
          </a:solidFill>
          <a:ln/>
        </p:spPr>
      </p:sp>
      <p:sp>
        <p:nvSpPr>
          <p:cNvPr id="15" name="Text 12"/>
          <p:cNvSpPr txBox="1"/>
          <p:nvPr/>
        </p:nvSpPr>
        <p:spPr>
          <a:xfrm>
            <a:off x="502920" y="302666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約175万人</a:t>
            </a:r>
            <a:endParaRPr lang="en-US" sz="1700" dirty="0"/>
          </a:p>
        </p:txBody>
      </p:sp>
      <p:sp>
        <p:nvSpPr>
          <p:cNvPr id="16" name="Text 13"/>
          <p:cNvSpPr txBox="1"/>
          <p:nvPr/>
        </p:nvSpPr>
        <p:spPr>
          <a:xfrm>
            <a:off x="2834640" y="306324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55歳以上の建設業就業者</a:t>
            </a:r>
            <a:endParaRPr lang="en-US" sz="950" dirty="0"/>
          </a:p>
        </p:txBody>
      </p:sp>
      <p:sp>
        <p:nvSpPr>
          <p:cNvPr id="17" name="Text 14"/>
          <p:cNvSpPr txBox="1"/>
          <p:nvPr/>
        </p:nvSpPr>
        <p:spPr>
          <a:xfrm>
            <a:off x="502920" y="350215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477万人 × 36.7%。10〜15年で引退に向かう</a:t>
            </a:r>
            <a:endParaRPr lang="en-US" sz="850" dirty="0"/>
          </a:p>
        </p:txBody>
      </p:sp>
      <p:sp>
        <p:nvSpPr>
          <p:cNvPr id="18" name="Text 15"/>
          <p:cNvSpPr txBox="1"/>
          <p:nvPr/>
        </p:nvSpPr>
        <p:spPr>
          <a:xfrm>
            <a:off x="4663440" y="1051560"/>
            <a:ext cx="411480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勘が消えると、なぜお金が消えるか</a:t>
            </a:r>
            <a:endParaRPr lang="en-US" sz="1100" dirty="0"/>
          </a:p>
        </p:txBody>
      </p:sp>
      <p:sp>
        <p:nvSpPr>
          <p:cNvPr id="19" name="Shape 16"/>
          <p:cNvSpPr/>
          <p:nvPr/>
        </p:nvSpPr>
        <p:spPr>
          <a:xfrm>
            <a:off x="4663440" y="1380744"/>
            <a:ext cx="4114800" cy="475488"/>
          </a:xfrm>
          <a:prstGeom prst="rect">
            <a:avLst/>
          </a:prstGeom>
          <a:solidFill>
            <a:srgbClr val="F2F2F2"/>
          </a:solidFill>
          <a:ln/>
        </p:spPr>
      </p:sp>
      <p:sp>
        <p:nvSpPr>
          <p:cNvPr id="20" name="Text 17"/>
          <p:cNvSpPr txBox="1"/>
          <p:nvPr/>
        </p:nvSpPr>
        <p:spPr>
          <a:xfrm>
            <a:off x="4773168" y="1380744"/>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熟練者が辞める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判断の理由は手順書にない</a:t>
            </a:r>
            <a:endParaRPr lang="en-US" sz="1000" dirty="0"/>
          </a:p>
        </p:txBody>
      </p:sp>
      <p:sp>
        <p:nvSpPr>
          <p:cNvPr id="21" name="Shape 18"/>
          <p:cNvSpPr/>
          <p:nvPr/>
        </p:nvSpPr>
        <p:spPr>
          <a:xfrm>
            <a:off x="6720840" y="1865376"/>
            <a:ext cx="0" cy="109728"/>
          </a:xfrm>
          <a:prstGeom prst="line">
            <a:avLst/>
          </a:prstGeom>
          <a:noFill/>
          <a:ln w="19050">
            <a:solidFill>
              <a:srgbClr val="1A1A1A"/>
            </a:solidFill>
            <a:prstDash val="solid"/>
            <a:tailEnd type="triangle"/>
          </a:ln>
        </p:spPr>
      </p:sp>
      <p:sp>
        <p:nvSpPr>
          <p:cNvPr id="22" name="Shape 19"/>
          <p:cNvSpPr/>
          <p:nvPr/>
        </p:nvSpPr>
        <p:spPr>
          <a:xfrm>
            <a:off x="4663440" y="1984248"/>
            <a:ext cx="4114800" cy="475488"/>
          </a:xfrm>
          <a:prstGeom prst="rect">
            <a:avLst/>
          </a:prstGeom>
          <a:solidFill>
            <a:srgbClr val="F2F2F2"/>
          </a:solidFill>
          <a:ln/>
        </p:spPr>
      </p:sp>
      <p:sp>
        <p:nvSpPr>
          <p:cNvPr id="23" name="Text 20"/>
          <p:cNvSpPr txBox="1"/>
          <p:nvPr/>
        </p:nvSpPr>
        <p:spPr>
          <a:xfrm>
            <a:off x="4773168" y="1984248"/>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若手が迷う・間違える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寸法・基準点・重なり順の取り違い</a:t>
            </a:r>
            <a:endParaRPr lang="en-US" sz="1000" dirty="0"/>
          </a:p>
        </p:txBody>
      </p:sp>
      <p:sp>
        <p:nvSpPr>
          <p:cNvPr id="24" name="Shape 21"/>
          <p:cNvSpPr/>
          <p:nvPr/>
        </p:nvSpPr>
        <p:spPr>
          <a:xfrm>
            <a:off x="6720840" y="2468880"/>
            <a:ext cx="0" cy="109728"/>
          </a:xfrm>
          <a:prstGeom prst="line">
            <a:avLst/>
          </a:prstGeom>
          <a:noFill/>
          <a:ln w="19050">
            <a:solidFill>
              <a:srgbClr val="1A1A1A"/>
            </a:solidFill>
            <a:prstDash val="solid"/>
            <a:tailEnd type="triangle"/>
          </a:ln>
        </p:spPr>
      </p:sp>
      <p:sp>
        <p:nvSpPr>
          <p:cNvPr id="25" name="Shape 22"/>
          <p:cNvSpPr/>
          <p:nvPr/>
        </p:nvSpPr>
        <p:spPr>
          <a:xfrm>
            <a:off x="4663440" y="2587752"/>
            <a:ext cx="4114800" cy="475488"/>
          </a:xfrm>
          <a:prstGeom prst="rect">
            <a:avLst/>
          </a:prstGeom>
          <a:solidFill>
            <a:srgbClr val="F2F2F2"/>
          </a:solidFill>
          <a:ln/>
        </p:spPr>
      </p:sp>
      <p:sp>
        <p:nvSpPr>
          <p:cNvPr id="26" name="Text 23"/>
          <p:cNvSpPr txBox="1"/>
          <p:nvPr/>
        </p:nvSpPr>
        <p:spPr>
          <a:xfrm>
            <a:off x="4773168" y="2587752"/>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手戻りと工期遅れ</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材料・人件費・やり直しの費用</a:t>
            </a:r>
            <a:endParaRPr lang="en-US" sz="1000" dirty="0"/>
          </a:p>
        </p:txBody>
      </p:sp>
      <p:sp>
        <p:nvSpPr>
          <p:cNvPr id="27" name="Shape 24"/>
          <p:cNvSpPr/>
          <p:nvPr/>
        </p:nvSpPr>
        <p:spPr>
          <a:xfrm>
            <a:off x="6720840" y="3072384"/>
            <a:ext cx="0" cy="109728"/>
          </a:xfrm>
          <a:prstGeom prst="line">
            <a:avLst/>
          </a:prstGeom>
          <a:noFill/>
          <a:ln w="19050">
            <a:solidFill>
              <a:srgbClr val="1A1A1A"/>
            </a:solidFill>
            <a:prstDash val="solid"/>
            <a:tailEnd type="triangle"/>
          </a:ln>
        </p:spPr>
      </p:sp>
      <p:sp>
        <p:nvSpPr>
          <p:cNvPr id="28" name="Shape 25"/>
          <p:cNvSpPr/>
          <p:nvPr/>
        </p:nvSpPr>
        <p:spPr>
          <a:xfrm>
            <a:off x="4663440" y="3191256"/>
            <a:ext cx="4114800" cy="475488"/>
          </a:xfrm>
          <a:prstGeom prst="rect">
            <a:avLst/>
          </a:prstGeom>
          <a:solidFill>
            <a:srgbClr val="B8692E"/>
          </a:solidFill>
          <a:ln/>
        </p:spPr>
      </p:sp>
      <p:sp>
        <p:nvSpPr>
          <p:cNvPr id="29" name="Text 26"/>
          <p:cNvSpPr txBox="1"/>
          <p:nvPr/>
        </p:nvSpPr>
        <p:spPr>
          <a:xfrm>
            <a:off x="4773168" y="3191256"/>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残業の上限で人を足せない</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受けられる工事が減る</a:t>
            </a:r>
            <a:endParaRPr lang="en-US" sz="1000" dirty="0"/>
          </a:p>
        </p:txBody>
      </p:sp>
      <p:sp>
        <p:nvSpPr>
          <p:cNvPr id="30" name="Shape 27"/>
          <p:cNvSpPr/>
          <p:nvPr/>
        </p:nvSpPr>
        <p:spPr>
          <a:xfrm>
            <a:off x="365760" y="3977640"/>
            <a:ext cx="8412480" cy="502920"/>
          </a:xfrm>
          <a:prstGeom prst="rect">
            <a:avLst/>
          </a:prstGeom>
          <a:solidFill>
            <a:srgbClr val="FFFFFF"/>
          </a:solidFill>
          <a:ln w="19050">
            <a:solidFill>
              <a:srgbClr val="B8692E"/>
            </a:solidFill>
            <a:prstDash val="solid"/>
          </a:ln>
        </p:spPr>
      </p:sp>
      <p:sp>
        <p:nvSpPr>
          <p:cNvPr id="31" name="Text 28"/>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当社が5年目に届ける価値：</a:t>
            </a:r>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81拠点 × 年約479万円（書類の時間だけ）＝ 年約3.9億円。手戻りの削減が実測できれば上乗せ</a:t>
            </a:r>
            <a:endParaRPr lang="en-US" sz="1050" dirty="0"/>
          </a:p>
        </p:txBody>
      </p:sp>
      <p:sp>
        <p:nvSpPr>
          <p:cNvPr id="32" name="Text 2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手戻り率2%は控えめな仮定（海外研究で工事費の0.4〜6%）。建設投資は国交省の見通し、完成工事高は施工統計の二次集計</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解決策 ─ 記録は自動。貯まるほど真似されにくい</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一人称の動画と会話をAIが整理し、若手・管理者・次の担い手に渡す。その先にフィジカルAI</a:t>
            </a:r>
            <a:endParaRPr lang="en-US" sz="1200" dirty="0"/>
          </a:p>
        </p:txBody>
      </p:sp>
      <p:pic>
        <p:nvPicPr>
          <p:cNvPr id="5"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6" name="Text 2"/>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サービス内容</a:t>
            </a:r>
            <a:endParaRPr lang="en-US" sz="1050" dirty="0"/>
          </a:p>
        </p:txBody>
      </p:sp>
      <p:sp>
        <p:nvSpPr>
          <p:cNvPr id="7" name="Text 3"/>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若手へ：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管理者へ：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次の担い手へ：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勘どころを解説動画・音声番組・研修資料にして当社が届ける</a:t>
            </a:r>
            <a:endParaRPr lang="en-US" sz="950" dirty="0"/>
          </a:p>
        </p:txBody>
      </p:sp>
      <p:sp>
        <p:nvSpPr>
          <p:cNvPr id="8" name="moat"/>
          <p:cNvSpPr/>
          <p:nvPr/>
        </p:nvSpPr>
        <p:spPr>
          <a:xfrm>
            <a:off x="5669280" y="1051560"/>
            <a:ext cx="3108960" cy="3383280"/>
          </a:xfrm>
          <a:prstGeom prst="rect">
            <a:avLst/>
          </a:prstGeom>
          <a:solidFill>
            <a:srgbClr val="1A1A1A"/>
          </a:solidFill>
          <a:ln/>
        </p:spPr>
      </p:sp>
      <p:sp>
        <p:nvSpPr>
          <p:cNvPr id="9" name="Text 5"/>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真似されにくい3つの仕組み</a:t>
            </a:r>
            <a:endParaRPr lang="en-US" sz="1150" dirty="0"/>
          </a:p>
        </p:txBody>
      </p:sp>
      <p:sp>
        <p:nvSpPr>
          <p:cNvPr id="10" name="Text 6"/>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図面に現れない現場処置の記録は使うほど増え、後発には移せない</a:t>
            </a:r>
            <a:endParaRPr lang="en-US" sz="1400" dirty="0"/>
          </a:p>
        </p:txBody>
      </p:sp>
      <p:sp>
        <p:nvSpPr>
          <p:cNvPr id="11" name="Text 7"/>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映像のどこが重要かを見分けて意味を付けるのは、施工の経験者</a:t>
            </a:r>
            <a:endParaRPr lang="en-US" sz="1400" dirty="0"/>
          </a:p>
        </p:txBody>
      </p:sp>
      <p:sp>
        <p:nvSpPr>
          <p:cNvPr id="12" name="Text 8"/>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電気工事の工種ごとの手順と報告書の型を、業界で最初に揃える</a:t>
            </a:r>
            <a:endParaRPr lang="en-US" sz="14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p.5〜8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導入効果 ─ 1拠点10台で年約480万円。払う額の約1.4倍</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得をするのは端末を着けた班だけ。確かな部分（書類と写真整理の時間）だけを計画に入れる</a:t>
            </a:r>
            <a:endParaRPr lang="en-US" sz="1200" dirty="0"/>
          </a:p>
        </p:txBody>
      </p:sp>
      <p:sp>
        <p:nvSpPr>
          <p:cNvPr id="6" name="Shape 3"/>
          <p:cNvSpPr/>
          <p:nvPr/>
        </p:nvSpPr>
        <p:spPr>
          <a:xfrm>
            <a:off x="365760" y="1051560"/>
            <a:ext cx="4937760" cy="960120"/>
          </a:xfrm>
          <a:prstGeom prst="rect">
            <a:avLst/>
          </a:prstGeom>
          <a:solidFill>
            <a:srgbClr val="F2F2F2"/>
          </a:solidFill>
          <a:ln/>
        </p:spPr>
      </p:sp>
      <p:sp>
        <p:nvSpPr>
          <p:cNvPr id="7" name="Text 4"/>
          <p:cNvSpPr txBox="1"/>
          <p:nvPr/>
        </p:nvSpPr>
        <p:spPr>
          <a:xfrm>
            <a:off x="502920" y="1051560"/>
            <a:ext cx="4663440"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B8692E"/>
                </a:solidFill>
                <a:latin typeface="Meiryo" pitchFamily="34" charset="0"/>
                <a:ea typeface="Meiryo" pitchFamily="34" charset="-122"/>
                <a:cs typeface="Meiryo" pitchFamily="34" charset="-120"/>
              </a:rPr>
              <a:t>式：</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10台 × 年240日 ×（職長15分×3,200円 ＋ 施工管理者20分×3,600円）</a:t>
            </a:r>
            <a:endParaRPr lang="en-US" sz="1000" dirty="0"/>
          </a:p>
          <a:p>
            <a:pPr algn="l" indent="0" marL="0">
              <a:lnSpc>
                <a:spcPct val="115000"/>
              </a:lnSpc>
              <a:spcAft>
                <a:spcPts val="300"/>
              </a:spcAft>
              <a:buNone/>
            </a:pPr>
            <a:r>
              <a:rPr lang="en-US" sz="1800" b="1" dirty="0">
                <a:solidFill>
                  <a:srgbClr val="B8692E"/>
                </a:solidFill>
                <a:latin typeface="Meiryo" pitchFamily="34" charset="0"/>
                <a:ea typeface="Meiryo" pitchFamily="34" charset="-122"/>
                <a:cs typeface="Meiryo" pitchFamily="34" charset="-120"/>
              </a:rPr>
              <a:t>＝ 年 約479万円</a:t>
            </a:r>
            <a:endParaRPr lang="en-US" sz="1000" dirty="0"/>
          </a:p>
        </p:txBody>
      </p:sp>
      <p:sp>
        <p:nvSpPr>
          <p:cNvPr id="8" name="Text 5"/>
          <p:cNvSpPr txBox="1"/>
          <p:nvPr/>
        </p:nvSpPr>
        <p:spPr>
          <a:xfrm>
            <a:off x="365760" y="2057400"/>
            <a:ext cx="4937760" cy="25603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時給＝統計の年収×会社負担1.16÷残業を含む年2,000時間。1台1日35分は仮説で、実証で測る</a:t>
            </a:r>
            <a:endParaRPr lang="en-US" sz="800" dirty="0"/>
          </a:p>
        </p:txBody>
      </p:sp>
      <p:sp>
        <p:nvSpPr>
          <p:cNvPr id="9" name="Text 6"/>
          <p:cNvSpPr txBox="1"/>
          <p:nvPr/>
        </p:nvSpPr>
        <p:spPr>
          <a:xfrm>
            <a:off x="365760" y="24231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お客様の得（書類）</a:t>
            </a:r>
            <a:endParaRPr lang="en-US" sz="950" dirty="0"/>
          </a:p>
        </p:txBody>
      </p:sp>
      <p:sp>
        <p:nvSpPr>
          <p:cNvPr id="10" name="Shape 7"/>
          <p:cNvSpPr/>
          <p:nvPr/>
        </p:nvSpPr>
        <p:spPr>
          <a:xfrm>
            <a:off x="2148840" y="2478024"/>
            <a:ext cx="1279506" cy="237744"/>
          </a:xfrm>
          <a:prstGeom prst="rect">
            <a:avLst/>
          </a:prstGeom>
          <a:solidFill>
            <a:srgbClr val="B8692E"/>
          </a:solidFill>
          <a:ln/>
        </p:spPr>
      </p:sp>
      <p:sp>
        <p:nvSpPr>
          <p:cNvPr id="11" name="Text 8"/>
          <p:cNvSpPr txBox="1"/>
          <p:nvPr/>
        </p:nvSpPr>
        <p:spPr>
          <a:xfrm>
            <a:off x="3474066" y="24231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479万円</a:t>
            </a:r>
            <a:endParaRPr lang="en-US" sz="1000" dirty="0"/>
          </a:p>
        </p:txBody>
      </p:sp>
      <p:sp>
        <p:nvSpPr>
          <p:cNvPr id="12" name="Text 9"/>
          <p:cNvSpPr txBox="1"/>
          <p:nvPr/>
        </p:nvSpPr>
        <p:spPr>
          <a:xfrm>
            <a:off x="365760" y="28803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お客様が払う額</a:t>
            </a:r>
            <a:endParaRPr lang="en-US" sz="950" dirty="0"/>
          </a:p>
        </p:txBody>
      </p:sp>
      <p:sp>
        <p:nvSpPr>
          <p:cNvPr id="13" name="Shape 10"/>
          <p:cNvSpPr/>
          <p:nvPr/>
        </p:nvSpPr>
        <p:spPr>
          <a:xfrm>
            <a:off x="2148840" y="2935224"/>
            <a:ext cx="941559" cy="237744"/>
          </a:xfrm>
          <a:prstGeom prst="rect">
            <a:avLst/>
          </a:prstGeom>
          <a:solidFill>
            <a:srgbClr val="1A1A1A"/>
          </a:solidFill>
          <a:ln/>
        </p:spPr>
      </p:sp>
      <p:sp>
        <p:nvSpPr>
          <p:cNvPr id="14" name="Text 11"/>
          <p:cNvSpPr txBox="1"/>
          <p:nvPr/>
        </p:nvSpPr>
        <p:spPr>
          <a:xfrm>
            <a:off x="3136119" y="28803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353万円</a:t>
            </a:r>
            <a:endParaRPr lang="en-US" sz="1000" dirty="0"/>
          </a:p>
        </p:txBody>
      </p:sp>
      <p:sp>
        <p:nvSpPr>
          <p:cNvPr id="15" name="Text 12"/>
          <p:cNvSpPr txBox="1"/>
          <p:nvPr/>
        </p:nvSpPr>
        <p:spPr>
          <a:xfrm>
            <a:off x="365760" y="33375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手戻りも減れば（上振れ）</a:t>
            </a:r>
            <a:endParaRPr lang="en-US" sz="950" dirty="0"/>
          </a:p>
        </p:txBody>
      </p:sp>
      <p:sp>
        <p:nvSpPr>
          <p:cNvPr id="16" name="Shape 13"/>
          <p:cNvSpPr/>
          <p:nvPr/>
        </p:nvSpPr>
        <p:spPr>
          <a:xfrm>
            <a:off x="2148840" y="3392424"/>
            <a:ext cx="2240280" cy="237744"/>
          </a:xfrm>
          <a:prstGeom prst="rect">
            <a:avLst/>
          </a:prstGeom>
          <a:solidFill>
            <a:srgbClr val="8C8C8C"/>
          </a:solidFill>
          <a:ln/>
        </p:spPr>
      </p:sp>
      <p:sp>
        <p:nvSpPr>
          <p:cNvPr id="17" name="Text 14"/>
          <p:cNvSpPr txBox="1"/>
          <p:nvPr/>
        </p:nvSpPr>
        <p:spPr>
          <a:xfrm>
            <a:off x="4434840" y="33375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839万円</a:t>
            </a:r>
            <a:endParaRPr lang="en-US" sz="1000" dirty="0"/>
          </a:p>
        </p:txBody>
      </p:sp>
      <p:sp>
        <p:nvSpPr>
          <p:cNvPr id="18" name="Text 15"/>
          <p:cNvSpPr txBox="1"/>
          <p:nvPr/>
        </p:nvSpPr>
        <p:spPr>
          <a:xfrm>
            <a:off x="365760" y="3794760"/>
            <a:ext cx="4937760" cy="22860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払う額＝当社への利用料300万円＋端末のリース約53万円</a:t>
            </a:r>
            <a:endParaRPr lang="en-US" sz="800" dirty="0"/>
          </a:p>
        </p:txBody>
      </p:sp>
      <p:sp>
        <p:nvSpPr>
          <p:cNvPr id="19" name="Shape 16"/>
          <p:cNvSpPr/>
          <p:nvPr/>
        </p:nvSpPr>
        <p:spPr>
          <a:xfrm>
            <a:off x="5577840" y="1051560"/>
            <a:ext cx="3200400" cy="1371600"/>
          </a:xfrm>
          <a:prstGeom prst="rect">
            <a:avLst/>
          </a:prstGeom>
          <a:solidFill>
            <a:srgbClr val="1A1A1A"/>
          </a:solidFill>
          <a:ln/>
        </p:spPr>
      </p:sp>
      <p:sp>
        <p:nvSpPr>
          <p:cNvPr id="20" name="Text 17"/>
          <p:cNvSpPr txBox="1"/>
          <p:nvPr/>
        </p:nvSpPr>
        <p:spPr>
          <a:xfrm>
            <a:off x="5715000" y="1051560"/>
            <a:ext cx="2926080" cy="137160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元が取れる条件</a:t>
            </a:r>
            <a:endParaRPr lang="en-US" sz="10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1台1日 26分</a:t>
            </a:r>
            <a:endParaRPr lang="en-US" sz="1000" dirty="0"/>
          </a:p>
          <a:p>
            <a:pPr algn="l" indent="0" marL="0">
              <a:lnSpc>
                <a:spcPct val="115000"/>
              </a:lnSpc>
              <a:spcAft>
                <a:spcPts val="300"/>
              </a:spcAft>
              <a:buNone/>
            </a:pPr>
            <a:r>
              <a:rPr lang="en-US" sz="900" dirty="0">
                <a:solidFill>
                  <a:srgbClr val="FFFFFF"/>
                </a:solidFill>
                <a:latin typeface="Meiryo" pitchFamily="34" charset="0"/>
                <a:ea typeface="Meiryo" pitchFamily="34" charset="-122"/>
                <a:cs typeface="Meiryo" pitchFamily="34" charset="-120"/>
              </a:rPr>
              <a:t>想定は35分。実証の合格ラインにする</a:t>
            </a:r>
            <a:endParaRPr lang="en-US" sz="1000" dirty="0"/>
          </a:p>
        </p:txBody>
      </p:sp>
      <p:sp>
        <p:nvSpPr>
          <p:cNvPr id="21" name="Shape 18"/>
          <p:cNvSpPr/>
          <p:nvPr/>
        </p:nvSpPr>
        <p:spPr>
          <a:xfrm>
            <a:off x="5577840" y="2532888"/>
            <a:ext cx="3200400" cy="1490472"/>
          </a:xfrm>
          <a:prstGeom prst="rect">
            <a:avLst/>
          </a:prstGeom>
          <a:solidFill>
            <a:srgbClr val="F2F2F2"/>
          </a:solidFill>
          <a:ln/>
        </p:spPr>
      </p:sp>
      <p:sp>
        <p:nvSpPr>
          <p:cNvPr id="22" name="Text 19"/>
          <p:cNvSpPr txBox="1"/>
          <p:nvPr/>
        </p:nvSpPr>
        <p:spPr>
          <a:xfrm>
            <a:off x="5715000" y="2532888"/>
            <a:ext cx="2926080" cy="1490472"/>
          </a:xfrm>
          <a:prstGeom prst="rect">
            <a:avLst/>
          </a:prstGeom>
          <a:noFill/>
          <a:ln/>
        </p:spPr>
        <p:txBody>
          <a:bodyPr wrap="square" lIns="0" tIns="0" rIns="0" bIns="0" rtlCol="0" anchor="ctr"/>
          <a:lstStyle/>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計画に入れない2つ</a:t>
            </a:r>
            <a:endParaRPr lang="en-US" sz="1000" dirty="0"/>
          </a:p>
          <a:p>
            <a:pPr algn="l" indent="0" marL="0">
              <a:lnSpc>
                <a:spcPct val="115000"/>
              </a:lnSpc>
              <a:spcAft>
                <a:spcPts val="400"/>
              </a:spcAft>
              <a:buNone/>
            </a:pPr>
            <a:r>
              <a:rPr lang="en-US" sz="900" dirty="0">
                <a:solidFill>
                  <a:srgbClr val="1A1A1A"/>
                </a:solidFill>
                <a:latin typeface="Meiryo" pitchFamily="34" charset="0"/>
                <a:ea typeface="Meiryo" pitchFamily="34" charset="-122"/>
                <a:cs typeface="Meiryo" pitchFamily="34" charset="-120"/>
              </a:rPr>
              <a:t>手戻り：年360万円（30億円×2%×対象工種30%×削減20%）。実測できれば約2.4倍</a:t>
            </a:r>
            <a:endParaRPr lang="en-US" sz="1000" dirty="0"/>
          </a:p>
          <a:p>
            <a:pPr algn="l" indent="0" marL="0">
              <a:lnSpc>
                <a:spcPct val="115000"/>
              </a:lnSpc>
              <a:spcAft>
                <a:spcPts val="400"/>
              </a:spcAft>
              <a:buNone/>
            </a:pPr>
            <a:r>
              <a:rPr lang="en-US" sz="900" dirty="0">
                <a:solidFill>
                  <a:srgbClr val="1A1A1A"/>
                </a:solidFill>
                <a:latin typeface="Meiryo" pitchFamily="34" charset="0"/>
                <a:ea typeface="Meiryo" pitchFamily="34" charset="-122"/>
                <a:cs typeface="Meiryo" pitchFamily="34" charset="-120"/>
              </a:rPr>
              <a:t>新人の指導：金額にせず、独り立ちまでの月数で測る</a:t>
            </a:r>
            <a:endParaRPr lang="en-US" sz="1000" dirty="0"/>
          </a:p>
        </p:txBody>
      </p:sp>
      <p:sp>
        <p:nvSpPr>
          <p:cNvPr id="23" name="Shape 20"/>
          <p:cNvSpPr/>
          <p:nvPr/>
        </p:nvSpPr>
        <p:spPr>
          <a:xfrm>
            <a:off x="365760" y="4114800"/>
            <a:ext cx="8412480" cy="384048"/>
          </a:xfrm>
          <a:prstGeom prst="rect">
            <a:avLst/>
          </a:prstGeom>
          <a:solidFill>
            <a:srgbClr val="FFFFFF"/>
          </a:solidFill>
          <a:ln w="19050">
            <a:solidFill>
              <a:srgbClr val="B8692E"/>
            </a:solidFill>
            <a:prstDash val="solid"/>
          </a:ln>
        </p:spPr>
      </p:sp>
      <p:sp>
        <p:nvSpPr>
          <p:cNvPr id="24" name="Text 21"/>
          <p:cNvSpPr txBox="1"/>
          <p:nvPr/>
        </p:nvSpPr>
        <p:spPr>
          <a:xfrm>
            <a:off x="502920" y="4114800"/>
            <a:ext cx="8138160" cy="384048"/>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言い方：</a:t>
            </a:r>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「1台1日26分減れば元が取れます。想定は35分。手戻りも減れば約2.4倍です」</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手元AR ─ 壁の図面を、手元に実物大で出す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照合ができなくても価値がある。長く層の多いケーブルジョイントは、ARの効果が最も出やすい</a:t>
            </a:r>
            <a:endParaRPr lang="en-US" sz="1200" dirty="0"/>
          </a:p>
        </p:txBody>
      </p:sp>
      <p:sp>
        <p:nvSpPr>
          <p:cNvPr id="5" name="Shape 2"/>
          <p:cNvSpPr/>
          <p:nvPr/>
        </p:nvSpPr>
        <p:spPr>
          <a:xfrm>
            <a:off x="365760" y="1024128"/>
            <a:ext cx="3931920" cy="731520"/>
          </a:xfrm>
          <a:prstGeom prst="rect">
            <a:avLst/>
          </a:prstGeom>
          <a:solidFill>
            <a:srgbClr val="F2F2F2"/>
          </a:solidFill>
          <a:ln/>
        </p:spPr>
      </p:sp>
      <p:sp>
        <p:nvSpPr>
          <p:cNvPr id="6" name="Text 3"/>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今：</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約2mのジョイントの組立図を、わら半紙で壁に貼る。壁を見る → 手元に戻る → 寸法を思い出す → 測る、の往復</a:t>
            </a:r>
            <a:endParaRPr lang="en-US" sz="900" dirty="0"/>
          </a:p>
        </p:txBody>
      </p:sp>
      <p:sp>
        <p:nvSpPr>
          <p:cNvPr id="7" name="Text 4"/>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ARで：</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実物大・立体・工程ごとの完成形が手元に</a:t>
            </a:r>
            <a:endParaRPr lang="en-US" sz="900" dirty="0"/>
          </a:p>
        </p:txBody>
      </p:sp>
      <p:sp>
        <p:nvSpPr>
          <p:cNvPr id="8" name="Shape 5"/>
          <p:cNvSpPr/>
          <p:nvPr/>
        </p:nvSpPr>
        <p:spPr>
          <a:xfrm>
            <a:off x="548640" y="2377440"/>
            <a:ext cx="641909" cy="237744"/>
          </a:xfrm>
          <a:prstGeom prst="rect">
            <a:avLst/>
          </a:prstGeom>
          <a:solidFill>
            <a:srgbClr val="4D4D4D"/>
          </a:solidFill>
          <a:ln/>
        </p:spPr>
      </p:sp>
      <p:sp>
        <p:nvSpPr>
          <p:cNvPr id="9" name="Shape 6"/>
          <p:cNvSpPr/>
          <p:nvPr/>
        </p:nvSpPr>
        <p:spPr>
          <a:xfrm>
            <a:off x="1190549" y="2377440"/>
            <a:ext cx="570586" cy="237744"/>
          </a:xfrm>
          <a:prstGeom prst="rect">
            <a:avLst/>
          </a:prstGeom>
          <a:solidFill>
            <a:srgbClr val="8C8C8C"/>
          </a:solidFill>
          <a:ln/>
        </p:spPr>
      </p:sp>
      <p:sp>
        <p:nvSpPr>
          <p:cNvPr id="10" name="Shape 7"/>
          <p:cNvSpPr/>
          <p:nvPr/>
        </p:nvSpPr>
        <p:spPr>
          <a:xfrm>
            <a:off x="1761134" y="2377440"/>
            <a:ext cx="1141171" cy="237744"/>
          </a:xfrm>
          <a:prstGeom prst="rect">
            <a:avLst/>
          </a:prstGeom>
          <a:solidFill>
            <a:srgbClr val="BFBFBF"/>
          </a:solidFill>
          <a:ln/>
        </p:spPr>
      </p:sp>
      <p:sp>
        <p:nvSpPr>
          <p:cNvPr id="11" name="Shape 8"/>
          <p:cNvSpPr/>
          <p:nvPr/>
        </p:nvSpPr>
        <p:spPr>
          <a:xfrm>
            <a:off x="2902306" y="2377440"/>
            <a:ext cx="570586" cy="237744"/>
          </a:xfrm>
          <a:prstGeom prst="rect">
            <a:avLst/>
          </a:prstGeom>
          <a:solidFill>
            <a:srgbClr val="8C8C8C"/>
          </a:solidFill>
          <a:ln/>
        </p:spPr>
      </p:sp>
      <p:sp>
        <p:nvSpPr>
          <p:cNvPr id="12" name="Shape 9"/>
          <p:cNvSpPr/>
          <p:nvPr/>
        </p:nvSpPr>
        <p:spPr>
          <a:xfrm>
            <a:off x="3472891" y="2377440"/>
            <a:ext cx="641909" cy="237744"/>
          </a:xfrm>
          <a:prstGeom prst="rect">
            <a:avLst/>
          </a:prstGeom>
          <a:solidFill>
            <a:srgbClr val="4D4D4D"/>
          </a:solidFill>
          <a:ln/>
        </p:spPr>
      </p:sp>
      <p:sp>
        <p:nvSpPr>
          <p:cNvPr id="13" name="Shape 10"/>
          <p:cNvSpPr/>
          <p:nvPr/>
        </p:nvSpPr>
        <p:spPr>
          <a:xfrm>
            <a:off x="1761134" y="2194560"/>
            <a:ext cx="1141171" cy="603504"/>
          </a:xfrm>
          <a:prstGeom prst="rect">
            <a:avLst/>
          </a:prstGeom>
          <a:solidFill>
            <a:srgbClr val="FFFFFF">
              <a:alpha val="0"/>
            </a:srgbClr>
          </a:solidFill>
          <a:ln w="19050">
            <a:solidFill>
              <a:srgbClr val="B8692E"/>
            </a:solidFill>
            <a:prstDash val="dash"/>
          </a:ln>
        </p:spPr>
      </p:sp>
      <p:sp>
        <p:nvSpPr>
          <p:cNvPr id="14" name="Text 11"/>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B8692E"/>
                </a:solidFill>
                <a:latin typeface="Meiryo" pitchFamily="34" charset="0"/>
                <a:ea typeface="Meiryo" pitchFamily="34" charset="-122"/>
                <a:cs typeface="Meiryo" pitchFamily="34" charset="-120"/>
              </a:rPr>
              <a:t>ホログラム（工程3の完成形）</a:t>
            </a:r>
            <a:endParaRPr lang="en-US" sz="800" dirty="0"/>
          </a:p>
        </p:txBody>
      </p:sp>
      <p:sp>
        <p:nvSpPr>
          <p:cNvPr id="15" name="Shape 12"/>
          <p:cNvSpPr/>
          <p:nvPr/>
        </p:nvSpPr>
        <p:spPr>
          <a:xfrm>
            <a:off x="1761134" y="2871216"/>
            <a:ext cx="1141171" cy="0"/>
          </a:xfrm>
          <a:prstGeom prst="line">
            <a:avLst/>
          </a:prstGeom>
          <a:noFill/>
          <a:ln w="12700">
            <a:solidFill>
              <a:srgbClr val="B8692E"/>
            </a:solidFill>
            <a:prstDash val="solid"/>
          </a:ln>
        </p:spPr>
      </p:sp>
      <p:sp>
        <p:nvSpPr>
          <p:cNvPr id="16" name="Text 13"/>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B8692E"/>
                </a:solidFill>
                <a:latin typeface="Meiryo" pitchFamily="34" charset="0"/>
                <a:ea typeface="Meiryo" pitchFamily="34" charset="-122"/>
                <a:cs typeface="Meiryo" pitchFamily="34" charset="-120"/>
              </a:rPr>
              <a:t>剥ぎ取り 120mm</a:t>
            </a:r>
            <a:endParaRPr lang="en-US" sz="750" dirty="0"/>
          </a:p>
        </p:txBody>
      </p:sp>
      <p:sp>
        <p:nvSpPr>
          <p:cNvPr id="17" name="red-blue"/>
          <p:cNvSpPr/>
          <p:nvPr/>
        </p:nvSpPr>
        <p:spPr>
          <a:xfrm>
            <a:off x="365760" y="3017520"/>
            <a:ext cx="3931920" cy="841248"/>
          </a:xfrm>
          <a:prstGeom prst="rect">
            <a:avLst/>
          </a:prstGeom>
          <a:solidFill>
            <a:srgbClr val="FFFFFF"/>
          </a:solidFill>
          <a:ln w="15875">
            <a:solidFill>
              <a:srgbClr val="1A1A1A"/>
            </a:solidFill>
            <a:prstDash val="solid"/>
          </a:ln>
        </p:spPr>
      </p:sp>
      <p:sp>
        <p:nvSpPr>
          <p:cNvPr id="18" name="Shape 15"/>
          <p:cNvSpPr/>
          <p:nvPr/>
        </p:nvSpPr>
        <p:spPr>
          <a:xfrm>
            <a:off x="548640" y="3246120"/>
            <a:ext cx="914400" cy="0"/>
          </a:xfrm>
          <a:prstGeom prst="line">
            <a:avLst/>
          </a:prstGeom>
          <a:noFill/>
          <a:ln w="50800">
            <a:solidFill>
              <a:srgbClr val="C0392B"/>
            </a:solidFill>
            <a:prstDash val="solid"/>
          </a:ln>
        </p:spPr>
      </p:sp>
      <p:sp>
        <p:nvSpPr>
          <p:cNvPr id="19" name="Shape 16"/>
          <p:cNvSpPr/>
          <p:nvPr/>
        </p:nvSpPr>
        <p:spPr>
          <a:xfrm>
            <a:off x="548640" y="3429000"/>
            <a:ext cx="914400" cy="0"/>
          </a:xfrm>
          <a:prstGeom prst="line">
            <a:avLst/>
          </a:prstGeom>
          <a:noFill/>
          <a:ln w="50800">
            <a:solidFill>
              <a:srgbClr val="2E5C9A"/>
            </a:solidFill>
            <a:prstDash val="solid"/>
          </a:ln>
        </p:spPr>
      </p:sp>
      <p:sp>
        <p:nvSpPr>
          <p:cNvPr id="20" name="Text 17"/>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21" name="Text 18"/>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0392B"/>
                </a:solidFill>
                <a:latin typeface="Meiryo" pitchFamily="34" charset="0"/>
                <a:ea typeface="Meiryo" pitchFamily="34" charset="-122"/>
                <a:cs typeface="Meiryo" pitchFamily="34" charset="-120"/>
              </a:rPr>
              <a:t>赤を切れ</a:t>
            </a:r>
            <a:endParaRPr lang="en-US" sz="1000" dirty="0"/>
          </a:p>
        </p:txBody>
      </p:sp>
      <p:sp>
        <p:nvSpPr>
          <p:cNvPr id="22" name="Text 19"/>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ミスしやすい所で止める</a:t>
            </a:r>
            <a:endParaRPr lang="en-US" sz="9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過去のミス事例を学習させ、現物を認識したら音声で警告し、レーザーポインターで正しい位置を示す（赤か青か、の瞬間を外さない）</a:t>
            </a:r>
            <a:endParaRPr lang="en-US" sz="950" dirty="0"/>
          </a:p>
        </p:txBody>
      </p:sp>
      <p:sp>
        <p:nvSpPr>
          <p:cNvPr id="23" name="Text 20"/>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強調したい6つの効果</a:t>
            </a:r>
            <a:endParaRPr lang="en-US" sz="1050" dirty="0"/>
          </a:p>
        </p:txBody>
      </p:sp>
      <p:sp>
        <p:nvSpPr>
          <p:cNvPr id="24" name="Shape 21"/>
          <p:cNvSpPr/>
          <p:nvPr/>
        </p:nvSpPr>
        <p:spPr>
          <a:xfrm>
            <a:off x="4526280" y="1316736"/>
            <a:ext cx="4251960" cy="0"/>
          </a:xfrm>
          <a:prstGeom prst="line">
            <a:avLst/>
          </a:prstGeom>
          <a:noFill/>
          <a:ln w="9525">
            <a:solidFill>
              <a:srgbClr val="BFBFBF"/>
            </a:solidFill>
            <a:prstDash val="solid"/>
          </a:ln>
        </p:spPr>
      </p:sp>
      <p:sp>
        <p:nvSpPr>
          <p:cNvPr id="25" name="Text 22"/>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  視線と体の移動をなくす</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図面を見に行く往復が消え、記憶違いと中断が減る。手袋のまま声で操作</a:t>
            </a:r>
            <a:endParaRPr lang="en-US" sz="950" dirty="0"/>
          </a:p>
        </p:txBody>
      </p:sp>
      <p:sp>
        <p:nvSpPr>
          <p:cNvPr id="26" name="Shape 23"/>
          <p:cNvSpPr/>
          <p:nvPr/>
        </p:nvSpPr>
        <p:spPr>
          <a:xfrm>
            <a:off x="4526280" y="1746504"/>
            <a:ext cx="4251960" cy="0"/>
          </a:xfrm>
          <a:prstGeom prst="line">
            <a:avLst/>
          </a:prstGeom>
          <a:noFill/>
          <a:ln w="9525">
            <a:solidFill>
              <a:srgbClr val="BFBFBF"/>
            </a:solidFill>
            <a:prstDash val="solid"/>
          </a:ln>
        </p:spPr>
      </p:sp>
      <p:sp>
        <p:nvSpPr>
          <p:cNvPr id="27" name="Text 24"/>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  実物大（1:1）で比べる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縮小図を頭で実寸に直さない。基準点の取り違いに気づける</a:t>
            </a:r>
            <a:endParaRPr lang="en-US" sz="950" dirty="0"/>
          </a:p>
        </p:txBody>
      </p:sp>
      <p:sp>
        <p:nvSpPr>
          <p:cNvPr id="28" name="Shape 25"/>
          <p:cNvSpPr/>
          <p:nvPr/>
        </p:nvSpPr>
        <p:spPr>
          <a:xfrm>
            <a:off x="4526280" y="2176272"/>
            <a:ext cx="4251960" cy="0"/>
          </a:xfrm>
          <a:prstGeom prst="line">
            <a:avLst/>
          </a:prstGeom>
          <a:noFill/>
          <a:ln w="9525">
            <a:solidFill>
              <a:srgbClr val="BFBFBF"/>
            </a:solidFill>
            <a:prstDash val="solid"/>
          </a:ln>
        </p:spPr>
      </p:sp>
      <p:sp>
        <p:nvSpPr>
          <p:cNvPr id="29" name="Text 26"/>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3  層の重なりを立体・工程順に</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断面・半透明で、今どこまで進み次はどの形かが見える</a:t>
            </a:r>
            <a:endParaRPr lang="en-US" sz="950" dirty="0"/>
          </a:p>
        </p:txBody>
      </p:sp>
      <p:sp>
        <p:nvSpPr>
          <p:cNvPr id="30" name="Shape 27"/>
          <p:cNvSpPr/>
          <p:nvPr/>
        </p:nvSpPr>
        <p:spPr>
          <a:xfrm>
            <a:off x="4526280" y="2606040"/>
            <a:ext cx="4251960" cy="0"/>
          </a:xfrm>
          <a:prstGeom prst="line">
            <a:avLst/>
          </a:prstGeom>
          <a:noFill/>
          <a:ln w="9525">
            <a:solidFill>
              <a:srgbClr val="BFBFBF"/>
            </a:solidFill>
            <a:prstDash val="solid"/>
          </a:ln>
        </p:spPr>
      </p:sp>
      <p:sp>
        <p:nvSpPr>
          <p:cNvPr id="31" name="Text 28"/>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4  ベテランの注意点を固定表示</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「ここは傷をつけない」を該当箇所に。新人の立ち上がりが早い</a:t>
            </a:r>
            <a:endParaRPr lang="en-US" sz="950" dirty="0"/>
          </a:p>
        </p:txBody>
      </p:sp>
      <p:sp>
        <p:nvSpPr>
          <p:cNvPr id="32" name="Shape 29"/>
          <p:cNvSpPr/>
          <p:nvPr/>
        </p:nvSpPr>
        <p:spPr>
          <a:xfrm>
            <a:off x="4526280" y="3035808"/>
            <a:ext cx="4251960" cy="0"/>
          </a:xfrm>
          <a:prstGeom prst="line">
            <a:avLst/>
          </a:prstGeom>
          <a:noFill/>
          <a:ln w="9525">
            <a:solidFill>
              <a:srgbClr val="BFBFBF"/>
            </a:solidFill>
            <a:prstDash val="solid"/>
          </a:ln>
        </p:spPr>
      </p:sp>
      <p:sp>
        <p:nvSpPr>
          <p:cNvPr id="33" name="Text 30"/>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  常に最新版・品質の均一化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古い版・汚れ・紛失がない。誰でも同じ基準を見る</a:t>
            </a:r>
            <a:endParaRPr lang="en-US" sz="950" dirty="0"/>
          </a:p>
        </p:txBody>
      </p:sp>
      <p:sp>
        <p:nvSpPr>
          <p:cNvPr id="34" name="Shape 31"/>
          <p:cNvSpPr/>
          <p:nvPr/>
        </p:nvSpPr>
        <p:spPr>
          <a:xfrm>
            <a:off x="4526280" y="3465576"/>
            <a:ext cx="4251960" cy="0"/>
          </a:xfrm>
          <a:prstGeom prst="line">
            <a:avLst/>
          </a:prstGeom>
          <a:noFill/>
          <a:ln w="9525">
            <a:solidFill>
              <a:srgbClr val="BFBFBF"/>
            </a:solidFill>
            <a:prstDash val="solid"/>
          </a:ln>
        </p:spPr>
      </p:sp>
      <p:sp>
        <p:nvSpPr>
          <p:cNvPr id="35" name="Text 32"/>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6  記録と事前トレーニング</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一人称映像を施工記録に。同じデータで事務所で模擬施工</a:t>
            </a:r>
            <a:endParaRPr lang="en-US" sz="950" dirty="0"/>
          </a:p>
        </p:txBody>
      </p:sp>
      <p:sp>
        <p:nvSpPr>
          <p:cNvPr id="36" name="Shape 33"/>
          <p:cNvSpPr/>
          <p:nvPr/>
        </p:nvSpPr>
        <p:spPr>
          <a:xfrm>
            <a:off x="365760" y="3913632"/>
            <a:ext cx="8412480" cy="566928"/>
          </a:xfrm>
          <a:prstGeom prst="rect">
            <a:avLst/>
          </a:prstGeom>
          <a:solidFill>
            <a:srgbClr val="1A1A1A"/>
          </a:solidFill>
          <a:ln/>
        </p:spPr>
      </p:sp>
      <p:sp>
        <p:nvSpPr>
          <p:cNvPr id="37" name="Text 34"/>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副次効果：</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異物・溶接の火花から目を守る（保護めがねの規格適合は要確認）　</a:t>
            </a:r>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限界：</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位置合わせには数mm〜cmのずれ。寸法の最終確認はスケールで。役割は「測る道具」でなく「理解して間違いに気づく道具」</a:t>
            </a:r>
            <a:endParaRPr lang="en-US" sz="850" dirty="0"/>
          </a:p>
        </p:txBody>
      </p:sp>
      <p:sp>
        <p:nvSpPr>
          <p:cNvPr id="38" name="Text 3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育つAI ─ ベテランが解釈を教え、使うほど賢くなる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撮る → 教える → 切り取る → 集める → 広げる。ループが回るほど、現場を解釈できるAIが育つ</a:t>
            </a:r>
            <a:endParaRPr lang="en-US" sz="1200" dirty="0"/>
          </a:p>
        </p:txBody>
      </p:sp>
      <p:sp>
        <p:nvSpPr>
          <p:cNvPr id="5" name="Shape 2"/>
          <p:cNvSpPr/>
          <p:nvPr/>
        </p:nvSpPr>
        <p:spPr>
          <a:xfrm>
            <a:off x="960120" y="1463040"/>
            <a:ext cx="2926080" cy="2194560"/>
          </a:xfrm>
          <a:prstGeom prst="ellipse">
            <a:avLst/>
          </a:prstGeom>
          <a:solidFill>
            <a:srgbClr val="FFFFFF"/>
          </a:solidFill>
          <a:ln w="19050">
            <a:solidFill>
              <a:srgbClr val="BFBFBF"/>
            </a:solidFill>
            <a:prstDash val="dash"/>
          </a:ln>
        </p:spPr>
      </p:sp>
      <p:sp>
        <p:nvSpPr>
          <p:cNvPr id="6" name="Shape 3"/>
          <p:cNvSpPr/>
          <p:nvPr/>
        </p:nvSpPr>
        <p:spPr>
          <a:xfrm>
            <a:off x="1801368" y="2212848"/>
            <a:ext cx="1243584" cy="694944"/>
          </a:xfrm>
          <a:prstGeom prst="rect">
            <a:avLst/>
          </a:prstGeom>
          <a:solidFill>
            <a:srgbClr val="1A1A1A"/>
          </a:solidFill>
          <a:ln/>
        </p:spPr>
      </p:sp>
      <p:sp>
        <p:nvSpPr>
          <p:cNvPr id="7" name="Text 4"/>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現場を解釈できるAI</a:t>
            </a:r>
            <a:endParaRPr lang="en-US" sz="900" dirty="0"/>
          </a:p>
          <a:p>
            <a:pPr algn="ctr" indent="0" marL="0">
              <a:lnSpc>
                <a:spcPct val="115000"/>
              </a:lnSpc>
              <a:buNone/>
            </a:pPr>
            <a:r>
              <a:rPr lang="en-US" sz="900" b="1" dirty="0">
                <a:solidFill>
                  <a:srgbClr val="E3A774"/>
                </a:solidFill>
                <a:latin typeface="Meiryo" pitchFamily="34" charset="0"/>
                <a:ea typeface="Meiryo" pitchFamily="34" charset="-122"/>
                <a:cs typeface="Meiryo" pitchFamily="34" charset="-120"/>
              </a:rPr>
              <a:t>＝データ資産</a:t>
            </a:r>
            <a:endParaRPr lang="en-US" sz="900" dirty="0"/>
          </a:p>
        </p:txBody>
      </p:sp>
      <p:sp>
        <p:nvSpPr>
          <p:cNvPr id="8" name="Shape 5"/>
          <p:cNvSpPr/>
          <p:nvPr/>
        </p:nvSpPr>
        <p:spPr>
          <a:xfrm>
            <a:off x="1819656" y="1170432"/>
            <a:ext cx="1207008" cy="585216"/>
          </a:xfrm>
          <a:prstGeom prst="rect">
            <a:avLst/>
          </a:prstGeom>
          <a:solidFill>
            <a:srgbClr val="F2F2F2"/>
          </a:solidFill>
          <a:ln w="9525">
            <a:solidFill>
              <a:srgbClr val="BFBFBF"/>
            </a:solidFill>
            <a:prstDash val="solid"/>
          </a:ln>
        </p:spPr>
      </p:sp>
      <p:sp>
        <p:nvSpPr>
          <p:cNvPr id="9" name="Text 6"/>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撮る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一人称で常時記録</a:t>
            </a:r>
            <a:endParaRPr lang="en-US" sz="1400" dirty="0"/>
          </a:p>
        </p:txBody>
      </p:sp>
      <p:sp>
        <p:nvSpPr>
          <p:cNvPr id="10" name="Shape 7"/>
          <p:cNvSpPr/>
          <p:nvPr/>
        </p:nvSpPr>
        <p:spPr>
          <a:xfrm>
            <a:off x="3211090" y="1928634"/>
            <a:ext cx="1207008" cy="585216"/>
          </a:xfrm>
          <a:prstGeom prst="rect">
            <a:avLst/>
          </a:prstGeom>
          <a:solidFill>
            <a:srgbClr val="B8692E"/>
          </a:solidFill>
          <a:ln/>
        </p:spPr>
      </p:sp>
      <p:sp>
        <p:nvSpPr>
          <p:cNvPr id="11" name="Text 8"/>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Meiryo" pitchFamily="34" charset="0"/>
                <a:ea typeface="Meiryo" pitchFamily="34" charset="-122"/>
                <a:cs typeface="Meiryo" pitchFamily="34" charset="-120"/>
              </a:rPr>
              <a:t>教える</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ベテランが口頭で</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「この場面が大事」</a:t>
            </a:r>
            <a:endParaRPr lang="en-US" sz="1400" dirty="0"/>
          </a:p>
        </p:txBody>
      </p:sp>
      <p:sp>
        <p:nvSpPr>
          <p:cNvPr id="12" name="Shape 9"/>
          <p:cNvSpPr/>
          <p:nvPr/>
        </p:nvSpPr>
        <p:spPr>
          <a:xfrm>
            <a:off x="2679609" y="3155430"/>
            <a:ext cx="1207008" cy="585216"/>
          </a:xfrm>
          <a:prstGeom prst="rect">
            <a:avLst/>
          </a:prstGeom>
          <a:solidFill>
            <a:srgbClr val="F2F2F2"/>
          </a:solidFill>
          <a:ln w="9525">
            <a:solidFill>
              <a:srgbClr val="BFBFBF"/>
            </a:solidFill>
            <a:prstDash val="solid"/>
          </a:ln>
        </p:spPr>
      </p:sp>
      <p:sp>
        <p:nvSpPr>
          <p:cNvPr id="13" name="Text 10"/>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切り取る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AIが必要な場面を</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抜き出して報告</a:t>
            </a:r>
            <a:endParaRPr lang="en-US" sz="1400" dirty="0"/>
          </a:p>
        </p:txBody>
      </p:sp>
      <p:sp>
        <p:nvSpPr>
          <p:cNvPr id="14" name="Shape 11"/>
          <p:cNvSpPr/>
          <p:nvPr/>
        </p:nvSpPr>
        <p:spPr>
          <a:xfrm>
            <a:off x="959703" y="3155430"/>
            <a:ext cx="1207008" cy="585216"/>
          </a:xfrm>
          <a:prstGeom prst="rect">
            <a:avLst/>
          </a:prstGeom>
          <a:solidFill>
            <a:srgbClr val="F2F2F2"/>
          </a:solidFill>
          <a:ln w="9525">
            <a:solidFill>
              <a:srgbClr val="BFBFBF"/>
            </a:solidFill>
            <a:prstDash val="solid"/>
          </a:ln>
        </p:spPr>
      </p:sp>
      <p:sp>
        <p:nvSpPr>
          <p:cNvPr id="15" name="Text 12"/>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集める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意味のあるデータに</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絞って収集</a:t>
            </a:r>
            <a:endParaRPr lang="en-US" sz="1400" dirty="0"/>
          </a:p>
        </p:txBody>
      </p:sp>
      <p:sp>
        <p:nvSpPr>
          <p:cNvPr id="16" name="Shape 13"/>
          <p:cNvSpPr/>
          <p:nvPr/>
        </p:nvSpPr>
        <p:spPr>
          <a:xfrm>
            <a:off x="428222" y="1928634"/>
            <a:ext cx="1207008" cy="585216"/>
          </a:xfrm>
          <a:prstGeom prst="rect">
            <a:avLst/>
          </a:prstGeom>
          <a:solidFill>
            <a:srgbClr val="F2F2F2"/>
          </a:solidFill>
          <a:ln w="9525">
            <a:solidFill>
              <a:srgbClr val="BFBFBF"/>
            </a:solidFill>
            <a:prstDash val="solid"/>
          </a:ln>
        </p:spPr>
      </p:sp>
      <p:sp>
        <p:nvSpPr>
          <p:cNvPr id="17" name="Text 14"/>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広げる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別の作業・現場へ</a:t>
            </a:r>
            <a:endParaRPr lang="en-US" sz="1400" dirty="0"/>
          </a:p>
        </p:txBody>
      </p:sp>
      <p:sp>
        <p:nvSpPr>
          <p:cNvPr id="18" name="Text 15"/>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育ったAIが現場でやること</a:t>
            </a:r>
            <a:endParaRPr lang="en-US" sz="1050" dirty="0"/>
          </a:p>
        </p:txBody>
      </p:sp>
      <p:sp>
        <p:nvSpPr>
          <p:cNvPr id="19" name="Shape 16"/>
          <p:cNvSpPr/>
          <p:nvPr/>
        </p:nvSpPr>
        <p:spPr>
          <a:xfrm>
            <a:off x="4937760" y="1344168"/>
            <a:ext cx="3840480" cy="0"/>
          </a:xfrm>
          <a:prstGeom prst="line">
            <a:avLst/>
          </a:prstGeom>
          <a:noFill/>
          <a:ln w="9525">
            <a:solidFill>
              <a:srgbClr val="BFBFBF"/>
            </a:solidFill>
            <a:prstDash val="solid"/>
          </a:ln>
        </p:spPr>
      </p:sp>
      <p:sp>
        <p:nvSpPr>
          <p:cNvPr id="20" name="Text 17"/>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報連相の高速化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口頭の報告・確認が、撮った瞬間に自動で届く</a:t>
            </a:r>
            <a:endParaRPr lang="en-US" sz="950" dirty="0"/>
          </a:p>
        </p:txBody>
      </p:sp>
      <p:sp>
        <p:nvSpPr>
          <p:cNvPr id="21" name="Shape 18"/>
          <p:cNvSpPr/>
          <p:nvPr/>
        </p:nvSpPr>
        <p:spPr>
          <a:xfrm>
            <a:off x="4937760" y="1801368"/>
            <a:ext cx="3840480" cy="0"/>
          </a:xfrm>
          <a:prstGeom prst="line">
            <a:avLst/>
          </a:prstGeom>
          <a:noFill/>
          <a:ln w="9525">
            <a:solidFill>
              <a:srgbClr val="BFBFBF"/>
            </a:solidFill>
            <a:prstDash val="solid"/>
          </a:ln>
        </p:spPr>
      </p:sp>
      <p:sp>
        <p:nvSpPr>
          <p:cNvPr id="22" name="Text 19"/>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安全の声かけ</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危険箇所の注意、「30分作業したので休憩しましょう」</a:t>
            </a:r>
            <a:endParaRPr lang="en-US" sz="950" dirty="0"/>
          </a:p>
        </p:txBody>
      </p:sp>
      <p:sp>
        <p:nvSpPr>
          <p:cNvPr id="23" name="Shape 20"/>
          <p:cNvSpPr/>
          <p:nvPr/>
        </p:nvSpPr>
        <p:spPr>
          <a:xfrm>
            <a:off x="4937760" y="2258568"/>
            <a:ext cx="3840480" cy="0"/>
          </a:xfrm>
          <a:prstGeom prst="line">
            <a:avLst/>
          </a:prstGeom>
          <a:noFill/>
          <a:ln w="9525">
            <a:solidFill>
              <a:srgbClr val="BFBFBF"/>
            </a:solidFill>
            <a:prstDash val="solid"/>
          </a:ln>
        </p:spPr>
      </p:sp>
      <p:sp>
        <p:nvSpPr>
          <p:cNvPr id="24" name="Text 21"/>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品質の見張り</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過去のミス事例の場面で警告（手元AR）</a:t>
            </a:r>
            <a:endParaRPr lang="en-US" sz="950" dirty="0"/>
          </a:p>
        </p:txBody>
      </p:sp>
      <p:sp>
        <p:nvSpPr>
          <p:cNvPr id="25" name="Shape 22"/>
          <p:cNvSpPr/>
          <p:nvPr/>
        </p:nvSpPr>
        <p:spPr>
          <a:xfrm>
            <a:off x="4937760" y="2715768"/>
            <a:ext cx="3840480" cy="0"/>
          </a:xfrm>
          <a:prstGeom prst="line">
            <a:avLst/>
          </a:prstGeom>
          <a:noFill/>
          <a:ln w="9525">
            <a:solidFill>
              <a:srgbClr val="BFBFBF"/>
            </a:solidFill>
            <a:prstDash val="solid"/>
          </a:ln>
        </p:spPr>
      </p:sp>
      <p:sp>
        <p:nvSpPr>
          <p:cNvPr id="26" name="Text 23"/>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VR施工シミュレーター</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集めた場面で、事務所で模擬施工</a:t>
            </a:r>
            <a:endParaRPr lang="en-US" sz="950" dirty="0"/>
          </a:p>
        </p:txBody>
      </p:sp>
      <p:sp>
        <p:nvSpPr>
          <p:cNvPr id="27" name="Shape 24"/>
          <p:cNvSpPr/>
          <p:nvPr/>
        </p:nvSpPr>
        <p:spPr>
          <a:xfrm>
            <a:off x="4937760" y="3172968"/>
            <a:ext cx="3840480" cy="0"/>
          </a:xfrm>
          <a:prstGeom prst="line">
            <a:avLst/>
          </a:prstGeom>
          <a:noFill/>
          <a:ln w="9525">
            <a:solidFill>
              <a:srgbClr val="BFBFBF"/>
            </a:solidFill>
            <a:prstDash val="solid"/>
          </a:ln>
        </p:spPr>
      </p:sp>
      <p:sp>
        <p:nvSpPr>
          <p:cNvPr id="28" name="Text 25"/>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教材</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勘どころを動画・音声・研修資料に</a:t>
            </a:r>
            <a:endParaRPr lang="en-US" sz="950" dirty="0"/>
          </a:p>
        </p:txBody>
      </p:sp>
      <p:sp>
        <p:nvSpPr>
          <p:cNvPr id="29" name="Shape 26"/>
          <p:cNvSpPr/>
          <p:nvPr/>
        </p:nvSpPr>
        <p:spPr>
          <a:xfrm>
            <a:off x="365760" y="3977640"/>
            <a:ext cx="8412480" cy="530352"/>
          </a:xfrm>
          <a:prstGeom prst="rect">
            <a:avLst/>
          </a:prstGeom>
          <a:solidFill>
            <a:srgbClr val="1A1A1A"/>
          </a:solidFill>
          <a:ln/>
        </p:spPr>
      </p:sp>
      <p:sp>
        <p:nvSpPr>
          <p:cNvPr id="30" name="Text 27"/>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E3A774"/>
                </a:solidFill>
                <a:latin typeface="Meiryo" pitchFamily="34" charset="0"/>
                <a:ea typeface="Meiryo" pitchFamily="34" charset="-122"/>
                <a:cs typeface="Meiryo" pitchFamily="34" charset="-120"/>
              </a:rPr>
              <a:t>暗黙知が形式知へ：</a:t>
            </a:r>
            <a:pPr algn="l" indent="0" marL="0">
              <a:lnSpc>
                <a:spcPct val="115000"/>
              </a:lnSpc>
              <a:buNone/>
            </a:pPr>
            <a:r>
              <a:rPr lang="en-US" sz="1000" dirty="0">
                <a:solidFill>
                  <a:srgbClr val="FFFFFF"/>
                </a:solidFill>
                <a:latin typeface="Meiryo" pitchFamily="34" charset="0"/>
                <a:ea typeface="Meiryo" pitchFamily="34" charset="-122"/>
                <a:cs typeface="Meiryo" pitchFamily="34" charset="-120"/>
              </a:rPr>
              <a:t>情報を、楽に・大量に・抜け目なく・再現性をもって・正確に・速く伝える。人が抜けても、解釈できるAIが残る</a:t>
            </a:r>
            <a:endParaRPr lang="en-US" sz="1000" dirty="0"/>
          </a:p>
        </p:txBody>
      </p:sp>
      <p:sp>
        <p:nvSpPr>
          <p:cNvPr id="31"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デモ ─ 図面との差異を見つけ、報告書が自動でできる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架空のケーブル接続工事。若手の作業を記録し、8mmの差異を検出、報告書と教材までつながる</a:t>
            </a:r>
            <a:endParaRPr lang="en-US" sz="1200" dirty="0"/>
          </a:p>
        </p:txBody>
      </p:sp>
      <p:sp>
        <p:nvSpPr>
          <p:cNvPr id="5" name="Text 2"/>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① 作業者のスマートグラス</a:t>
            </a:r>
            <a:endParaRPr lang="en-US" sz="1000" dirty="0"/>
          </a:p>
        </p:txBody>
      </p:sp>
      <p:pic>
        <p:nvPicPr>
          <p:cNvPr id="6"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7" name="Text 3"/>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② 管理者への自動報告</a:t>
            </a:r>
            <a:endParaRPr lang="en-US" sz="1000" dirty="0"/>
          </a:p>
        </p:txBody>
      </p:sp>
      <p:pic>
        <p:nvPicPr>
          <p:cNvPr id="8"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9" name="Shape 4"/>
          <p:cNvSpPr/>
          <p:nvPr/>
        </p:nvSpPr>
        <p:spPr>
          <a:xfrm>
            <a:off x="365760" y="3481123"/>
            <a:ext cx="457200" cy="219456"/>
          </a:xfrm>
          <a:prstGeom prst="rect">
            <a:avLst/>
          </a:prstGeom>
          <a:solidFill>
            <a:srgbClr val="1A1A1A"/>
          </a:solidFill>
          <a:ln/>
        </p:spPr>
      </p:sp>
      <p:sp>
        <p:nvSpPr>
          <p:cNvPr id="10" name="Text 5"/>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検出</a:t>
            </a:r>
            <a:endParaRPr lang="en-US" sz="900" dirty="0"/>
          </a:p>
        </p:txBody>
      </p:sp>
      <p:sp>
        <p:nvSpPr>
          <p:cNvPr id="11" name="Text 6"/>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半導電層の端部 実測112mm／図面120mm（8mm不足）</a:t>
            </a:r>
            <a:endParaRPr lang="en-US" sz="950" dirty="0"/>
          </a:p>
        </p:txBody>
      </p:sp>
      <p:sp>
        <p:nvSpPr>
          <p:cNvPr id="12" name="Shape 7"/>
          <p:cNvSpPr/>
          <p:nvPr/>
        </p:nvSpPr>
        <p:spPr>
          <a:xfrm>
            <a:off x="365760" y="3755443"/>
            <a:ext cx="457200" cy="219456"/>
          </a:xfrm>
          <a:prstGeom prst="rect">
            <a:avLst/>
          </a:prstGeom>
          <a:solidFill>
            <a:srgbClr val="1A1A1A"/>
          </a:solidFill>
          <a:ln/>
        </p:spPr>
      </p:sp>
      <p:sp>
        <p:nvSpPr>
          <p:cNvPr id="13" name="Text 8"/>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是正</a:t>
            </a:r>
            <a:endParaRPr lang="en-US" sz="900" dirty="0"/>
          </a:p>
        </p:txBody>
      </p:sp>
      <p:sp>
        <p:nvSpPr>
          <p:cNvPr id="14" name="Text 9"/>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遠隔の熟練者が「テープ基準で測り直す」と指示。判断として記録</a:t>
            </a:r>
            <a:endParaRPr lang="en-US" sz="950" dirty="0"/>
          </a:p>
        </p:txBody>
      </p:sp>
      <p:sp>
        <p:nvSpPr>
          <p:cNvPr id="15" name="Shape 10"/>
          <p:cNvSpPr/>
          <p:nvPr/>
        </p:nvSpPr>
        <p:spPr>
          <a:xfrm>
            <a:off x="365760" y="4029763"/>
            <a:ext cx="457200" cy="219456"/>
          </a:xfrm>
          <a:prstGeom prst="rect">
            <a:avLst/>
          </a:prstGeom>
          <a:solidFill>
            <a:srgbClr val="1A1A1A"/>
          </a:solidFill>
          <a:ln/>
        </p:spPr>
      </p:sp>
      <p:sp>
        <p:nvSpPr>
          <p:cNvPr id="16" name="Text 11"/>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報告</a:t>
            </a:r>
            <a:endParaRPr lang="en-US" sz="900" dirty="0"/>
          </a:p>
        </p:txBody>
      </p:sp>
      <p:sp>
        <p:nvSpPr>
          <p:cNvPr id="17" name="Text 12"/>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手順ごとに写真を自動割当。作業者の報告書作成時間は0分</a:t>
            </a:r>
            <a:endParaRPr lang="en-US" sz="95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p.10・26</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端末 ─ グラスは作らず、選べる設計にする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当社が作るのはアプリ・AI・データ基盤。端末は市販品を現場仕様にして使い、世代が進めば乗り換える</a:t>
            </a:r>
            <a:endParaRPr lang="en-US" sz="1200" dirty="0"/>
          </a:p>
        </p:txBody>
      </p:sp>
      <p:sp>
        <p:nvSpPr>
          <p:cNvPr id="6" name="Text 3"/>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現場で使える端末の条件</a:t>
            </a:r>
            <a:endParaRPr lang="en-US" sz="1050" dirty="0"/>
          </a:p>
        </p:txBody>
      </p:sp>
      <p:graphicFrame>
        <p:nvGraphicFramePr>
          <p:cNvPr id="12" name="device-req"/>
          <p:cNvGraphicFramePr>
            <a:graphicFrameLocks noGrp="1"/>
          </p:cNvGraphicFramePr>
          <p:nvPr>
            <p:extLst>
              <p:ext uri="{D42A27DB-BD31-4B8C-83A1-F6EECF244321}">
                <p14:modId xmlns:p14="http://schemas.microsoft.com/office/powerpoint/2010/main" val="1579011935"/>
              </p:ext>
            </p:extLst>
          </p:nvPr>
        </p:nvGraphicFramePr>
        <p:xfrm>
          <a:off x="365760" y="1325880"/>
          <a:ext cx="3840480" cy="914400"/>
        </p:xfrm>
        <a:graphic>
          <a:graphicData uri="http://schemas.openxmlformats.org/drawingml/2006/table">
            <a:tbl>
              <a:tblPr/>
              <a:tblGrid>
                <a:gridCol w="1005840"/>
                <a:gridCol w="283464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壊れない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コンクリートへの落下（2m級）に耐える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粉じん・水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IP66級の防じん・防水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電池</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1シフト持つ。交換式か外部電源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装着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ヘルメットに付く。保護めがねと併用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操作</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手袋のまま、声とジェスチャーで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一人称カメラ。圏外でも記録して後で送る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目の保護</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異物・火花から守る（規格適合は要確認）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段階的に使う端末</a:t>
            </a:r>
            <a:endParaRPr lang="en-US" sz="1050" dirty="0"/>
          </a:p>
        </p:txBody>
      </p:sp>
      <p:sp>
        <p:nvSpPr>
          <p:cNvPr id="9" name="Shape 5"/>
          <p:cNvSpPr/>
          <p:nvPr/>
        </p:nvSpPr>
        <p:spPr>
          <a:xfrm>
            <a:off x="4434840" y="1344168"/>
            <a:ext cx="914400" cy="685800"/>
          </a:xfrm>
          <a:prstGeom prst="rect">
            <a:avLst/>
          </a:prstGeom>
          <a:solidFill>
            <a:srgbClr val="B8692E"/>
          </a:solidFill>
          <a:ln/>
        </p:spPr>
      </p:sp>
      <p:sp>
        <p:nvSpPr>
          <p:cNvPr id="10" name="Text 6"/>
          <p:cNvSpPr txBox="1"/>
          <p:nvPr/>
        </p:nvSpPr>
        <p:spPr>
          <a:xfrm>
            <a:off x="4434840" y="1344168"/>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今すぐ</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記録と報告</a:t>
            </a:r>
            <a:endParaRPr lang="en-US" sz="1000" dirty="0"/>
          </a:p>
        </p:txBody>
      </p:sp>
      <p:sp>
        <p:nvSpPr>
          <p:cNvPr id="11" name="Text 7"/>
          <p:cNvSpPr txBox="1"/>
          <p:nvPr/>
        </p:nvSpPr>
        <p:spPr>
          <a:xfrm>
            <a:off x="5440680" y="1344168"/>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産業用ヘッドマウント端末（例：RealWear Navigator 520 ─ IP66・2m落下・電池交換・ヘルメット装着・音声操作）＋ヘルメットカメラ</a:t>
            </a:r>
            <a:endParaRPr lang="en-US" sz="850" dirty="0"/>
          </a:p>
        </p:txBody>
      </p:sp>
      <p:sp>
        <p:nvSpPr>
          <p:cNvPr id="12" name="Shape 8"/>
          <p:cNvSpPr/>
          <p:nvPr/>
        </p:nvSpPr>
        <p:spPr>
          <a:xfrm>
            <a:off x="4434840" y="2103120"/>
            <a:ext cx="914400" cy="685800"/>
          </a:xfrm>
          <a:prstGeom prst="rect">
            <a:avLst/>
          </a:prstGeom>
          <a:solidFill>
            <a:srgbClr val="4D4D4D"/>
          </a:solidFill>
          <a:ln/>
        </p:spPr>
      </p:sp>
      <p:sp>
        <p:nvSpPr>
          <p:cNvPr id="13" name="Text 9"/>
          <p:cNvSpPr txBox="1"/>
          <p:nvPr/>
        </p:nvSpPr>
        <p:spPr>
          <a:xfrm>
            <a:off x="4434840" y="2103120"/>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2〜3年目</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図面を手元に</a:t>
            </a:r>
            <a:endParaRPr lang="en-US" sz="1000" dirty="0"/>
          </a:p>
        </p:txBody>
      </p:sp>
      <p:sp>
        <p:nvSpPr>
          <p:cNvPr id="14" name="Text 10"/>
          <p:cNvSpPr txBox="1"/>
          <p:nvPr/>
        </p:nvSpPr>
        <p:spPr>
          <a:xfrm>
            <a:off x="5440680" y="2103120"/>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映像越しに重ねるMRヘッドセット（Quest 3等）で事前トレーニング、法人向けAR端末でジョイント1種類を実証</a:t>
            </a:r>
            <a:endParaRPr lang="en-US" sz="850" dirty="0"/>
          </a:p>
        </p:txBody>
      </p:sp>
      <p:sp>
        <p:nvSpPr>
          <p:cNvPr id="15" name="Shape 11"/>
          <p:cNvSpPr/>
          <p:nvPr/>
        </p:nvSpPr>
        <p:spPr>
          <a:xfrm>
            <a:off x="4434840" y="2862072"/>
            <a:ext cx="914400" cy="685800"/>
          </a:xfrm>
          <a:prstGeom prst="rect">
            <a:avLst/>
          </a:prstGeom>
          <a:solidFill>
            <a:srgbClr val="1A1A1A"/>
          </a:solidFill>
          <a:ln/>
        </p:spPr>
      </p:sp>
      <p:sp>
        <p:nvSpPr>
          <p:cNvPr id="16" name="Text 12"/>
          <p:cNvSpPr txBox="1"/>
          <p:nvPr/>
        </p:nvSpPr>
        <p:spPr>
          <a:xfrm>
            <a:off x="4434840" y="2862072"/>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2027年〜</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現場でAR</a:t>
            </a:r>
            <a:endParaRPr lang="en-US" sz="1000" dirty="0"/>
          </a:p>
        </p:txBody>
      </p:sp>
      <p:sp>
        <p:nvSpPr>
          <p:cNvPr id="17" name="Text 13"/>
          <p:cNvSpPr txBox="1"/>
          <p:nvPr/>
        </p:nvSpPr>
        <p:spPr>
          <a:xfrm>
            <a:off x="5440680" y="2862072"/>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一般向けARグラス（Metaが2027年の発売と報道）。軽く、常時かけられる世代へ乗り換える</a:t>
            </a:r>
            <a:endParaRPr lang="en-US" sz="850" dirty="0"/>
          </a:p>
        </p:txBody>
      </p:sp>
      <p:sp>
        <p:nvSpPr>
          <p:cNvPr id="18" name="Shape 14"/>
          <p:cNvSpPr/>
          <p:nvPr/>
        </p:nvSpPr>
        <p:spPr>
          <a:xfrm>
            <a:off x="365760" y="3657600"/>
            <a:ext cx="8412480" cy="777240"/>
          </a:xfrm>
          <a:prstGeom prst="rect">
            <a:avLst/>
          </a:prstGeom>
          <a:solidFill>
            <a:srgbClr val="FFFFFF"/>
          </a:solidFill>
          <a:ln w="19050">
            <a:solidFill>
              <a:srgbClr val="B8692E"/>
            </a:solidFill>
            <a:prstDash val="solid"/>
          </a:ln>
        </p:spPr>
      </p:sp>
      <p:sp>
        <p:nvSpPr>
          <p:cNvPr id="19" name="Text 15"/>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当社が作るもの：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アプリ・AI・データ基盤（端末をまたいで同じデータを使う）、保護カバーとヘルメット取付具（乱暴に扱われても本体を壊さない）</a:t>
            </a:r>
            <a:endParaRPr lang="en-US" sz="900" dirty="0"/>
          </a:p>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作らないもの：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グラス本体。開発費が大きく、大手の進化が速い。乗り換えられることが、端末の進化を味方にする</a:t>
            </a:r>
            <a:endParaRPr lang="en-US" sz="900" dirty="0"/>
          </a:p>
        </p:txBody>
      </p:sp>
      <p:sp>
        <p:nvSpPr>
          <p:cNvPr id="20" name="Text 1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仕様は販売店の公表値（RealWear Navigator 520）。ARグラスの発売時期は報道で公式発表ではない。端末の選定は実証前に現場で確認する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 ─ 人が入力する器か、自動で記録して判断を渡すか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施工管理アプリとは競わずにつなぐ。報告書と写真は各社の形式で出し、判断の記録と教材で選ばれる</a:t>
            </a:r>
            <a:endParaRPr lang="en-US" sz="1200" dirty="0"/>
          </a:p>
        </p:txBody>
      </p:sp>
      <p:sp>
        <p:nvSpPr>
          <p:cNvPr id="5" name="Text 2"/>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ポジショニングマップ</a:t>
            </a:r>
            <a:endParaRPr lang="en-US" sz="1050" dirty="0"/>
          </a:p>
        </p:txBody>
      </p:sp>
      <p:sp>
        <p:nvSpPr>
          <p:cNvPr id="6" name="target-quadrant"/>
          <p:cNvSpPr/>
          <p:nvPr/>
        </p:nvSpPr>
        <p:spPr>
          <a:xfrm>
            <a:off x="2446020" y="1435608"/>
            <a:ext cx="1805940" cy="1234440"/>
          </a:xfrm>
          <a:prstGeom prst="rect">
            <a:avLst/>
          </a:prstGeom>
          <a:solidFill>
            <a:srgbClr val="F2F2F2"/>
          </a:solidFill>
          <a:ln/>
        </p:spPr>
      </p:sp>
      <p:sp>
        <p:nvSpPr>
          <p:cNvPr id="7" name="Shape 4"/>
          <p:cNvSpPr/>
          <p:nvPr/>
        </p:nvSpPr>
        <p:spPr>
          <a:xfrm>
            <a:off x="640080" y="2670048"/>
            <a:ext cx="3611880" cy="0"/>
          </a:xfrm>
          <a:prstGeom prst="line">
            <a:avLst/>
          </a:prstGeom>
          <a:noFill/>
          <a:ln w="9525">
            <a:solidFill>
              <a:srgbClr val="8C8C8C"/>
            </a:solidFill>
            <a:prstDash val="solid"/>
          </a:ln>
        </p:spPr>
      </p:sp>
      <p:sp>
        <p:nvSpPr>
          <p:cNvPr id="8" name="Shape 5"/>
          <p:cNvSpPr/>
          <p:nvPr/>
        </p:nvSpPr>
        <p:spPr>
          <a:xfrm>
            <a:off x="2446020" y="1435608"/>
            <a:ext cx="0" cy="2468880"/>
          </a:xfrm>
          <a:prstGeom prst="line">
            <a:avLst/>
          </a:prstGeom>
          <a:noFill/>
          <a:ln w="9525">
            <a:solidFill>
              <a:srgbClr val="8C8C8C"/>
            </a:solidFill>
            <a:prstDash val="solid"/>
          </a:ln>
        </p:spPr>
      </p:sp>
      <p:sp>
        <p:nvSpPr>
          <p:cNvPr id="9" name="Text 6"/>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判断を渡す・教える</a:t>
            </a:r>
            <a:endParaRPr lang="en-US" sz="850" dirty="0"/>
          </a:p>
        </p:txBody>
      </p:sp>
      <p:sp>
        <p:nvSpPr>
          <p:cNvPr id="10" name="Text 7"/>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記録して終わり</a:t>
            </a:r>
            <a:endParaRPr lang="en-US" sz="850" dirty="0"/>
          </a:p>
        </p:txBody>
      </p:sp>
      <p:sp>
        <p:nvSpPr>
          <p:cNvPr id="11" name="Text 8"/>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人が撮って入力</a:t>
            </a:r>
            <a:endParaRPr lang="en-US" sz="800" dirty="0"/>
          </a:p>
        </p:txBody>
      </p:sp>
      <p:sp>
        <p:nvSpPr>
          <p:cNvPr id="12" name="Text 9"/>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自動で記録 →</a:t>
            </a:r>
            <a:endParaRPr lang="en-US" sz="800" dirty="0"/>
          </a:p>
        </p:txBody>
      </p:sp>
      <p:sp>
        <p:nvSpPr>
          <p:cNvPr id="13" name="pos-ANDPAD（施工管理）"/>
          <p:cNvSpPr/>
          <p:nvPr/>
        </p:nvSpPr>
        <p:spPr>
          <a:xfrm>
            <a:off x="1004926" y="2996489"/>
            <a:ext cx="137160" cy="137160"/>
          </a:xfrm>
          <a:prstGeom prst="ellipse">
            <a:avLst/>
          </a:prstGeom>
          <a:solidFill>
            <a:srgbClr val="FFFFFF"/>
          </a:solidFill>
          <a:ln w="15875">
            <a:solidFill>
              <a:srgbClr val="1A1A1A"/>
            </a:solidFill>
            <a:prstDash val="solid"/>
          </a:ln>
        </p:spPr>
      </p:sp>
      <p:sp>
        <p:nvSpPr>
          <p:cNvPr id="14" name="Text 11"/>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ANDPAD（施工管理）</a:t>
            </a:r>
            <a:endParaRPr lang="en-US" sz="800" dirty="0"/>
          </a:p>
        </p:txBody>
      </p:sp>
      <p:sp>
        <p:nvSpPr>
          <p:cNvPr id="15" name="pos-SPIDERPLUS（図面・検査）"/>
          <p:cNvSpPr/>
          <p:nvPr/>
        </p:nvSpPr>
        <p:spPr>
          <a:xfrm>
            <a:off x="1655064" y="2749601"/>
            <a:ext cx="137160" cy="137160"/>
          </a:xfrm>
          <a:prstGeom prst="ellipse">
            <a:avLst/>
          </a:prstGeom>
          <a:solidFill>
            <a:srgbClr val="FFFFFF"/>
          </a:solidFill>
          <a:ln w="15875">
            <a:solidFill>
              <a:srgbClr val="1A1A1A"/>
            </a:solidFill>
            <a:prstDash val="solid"/>
          </a:ln>
        </p:spPr>
      </p:sp>
      <p:sp>
        <p:nvSpPr>
          <p:cNvPr id="16" name="Text 13"/>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SPIDERPLUS（図面・検査）</a:t>
            </a:r>
            <a:endParaRPr lang="en-US" sz="800" dirty="0"/>
          </a:p>
        </p:txBody>
      </p:sp>
      <p:sp>
        <p:nvSpPr>
          <p:cNvPr id="17" name="pos-蔵衛門（工事写真）"/>
          <p:cNvSpPr/>
          <p:nvPr/>
        </p:nvSpPr>
        <p:spPr>
          <a:xfrm>
            <a:off x="860450" y="3490265"/>
            <a:ext cx="137160" cy="137160"/>
          </a:xfrm>
          <a:prstGeom prst="ellipse">
            <a:avLst/>
          </a:prstGeom>
          <a:solidFill>
            <a:srgbClr val="FFFFFF"/>
          </a:solidFill>
          <a:ln w="15875">
            <a:solidFill>
              <a:srgbClr val="1A1A1A"/>
            </a:solidFill>
            <a:prstDash val="solid"/>
          </a:ln>
        </p:spPr>
      </p:sp>
      <p:sp>
        <p:nvSpPr>
          <p:cNvPr id="18" name="Text 15"/>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蔵衛門（工事写真）</a:t>
            </a:r>
            <a:endParaRPr lang="en-US" sz="800" dirty="0"/>
          </a:p>
        </p:txBody>
      </p:sp>
      <p:sp>
        <p:nvSpPr>
          <p:cNvPr id="19" name="pos-tebiki（手順の器）"/>
          <p:cNvSpPr/>
          <p:nvPr/>
        </p:nvSpPr>
        <p:spPr>
          <a:xfrm>
            <a:off x="1077163" y="2008937"/>
            <a:ext cx="137160" cy="137160"/>
          </a:xfrm>
          <a:prstGeom prst="ellipse">
            <a:avLst/>
          </a:prstGeom>
          <a:solidFill>
            <a:srgbClr val="FFFFFF"/>
          </a:solidFill>
          <a:ln w="15875">
            <a:solidFill>
              <a:srgbClr val="1A1A1A"/>
            </a:solidFill>
            <a:prstDash val="solid"/>
          </a:ln>
        </p:spPr>
      </p:sp>
      <p:sp>
        <p:nvSpPr>
          <p:cNvPr id="20" name="Text 17"/>
          <p:cNvSpPr txBox="1"/>
          <p:nvPr/>
        </p:nvSpPr>
        <p:spPr>
          <a:xfrm>
            <a:off x="1250899" y="1976933"/>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tebiki（手順の器）</a:t>
            </a:r>
            <a:endParaRPr lang="en-US" sz="800" dirty="0"/>
          </a:p>
        </p:txBody>
      </p:sp>
      <p:sp>
        <p:nvSpPr>
          <p:cNvPr id="21" name="pos-遠隔臨場カメラ"/>
          <p:cNvSpPr/>
          <p:nvPr/>
        </p:nvSpPr>
        <p:spPr>
          <a:xfrm>
            <a:off x="3388766" y="3391510"/>
            <a:ext cx="137160" cy="137160"/>
          </a:xfrm>
          <a:prstGeom prst="ellipse">
            <a:avLst/>
          </a:prstGeom>
          <a:solidFill>
            <a:srgbClr val="FFFFFF"/>
          </a:solidFill>
          <a:ln w="15875">
            <a:solidFill>
              <a:srgbClr val="1A1A1A"/>
            </a:solidFill>
            <a:prstDash val="solid"/>
          </a:ln>
        </p:spPr>
      </p:sp>
      <p:sp>
        <p:nvSpPr>
          <p:cNvPr id="22" name="Text 19"/>
          <p:cNvSpPr txBox="1"/>
          <p:nvPr/>
        </p:nvSpPr>
        <p:spPr>
          <a:xfrm>
            <a:off x="1797710" y="3359506"/>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遠隔臨場カメラ</a:t>
            </a:r>
            <a:endParaRPr lang="en-US" sz="800" dirty="0"/>
          </a:p>
        </p:txBody>
      </p:sp>
      <p:sp>
        <p:nvSpPr>
          <p:cNvPr id="23" name="pos-カンツギ"/>
          <p:cNvSpPr/>
          <p:nvPr/>
        </p:nvSpPr>
        <p:spPr>
          <a:xfrm>
            <a:off x="3790188" y="1779422"/>
            <a:ext cx="201168" cy="201168"/>
          </a:xfrm>
          <a:prstGeom prst="ellipse">
            <a:avLst/>
          </a:prstGeom>
          <a:solidFill>
            <a:srgbClr val="1A1A1A"/>
          </a:solidFill>
          <a:ln w="15875">
            <a:solidFill>
              <a:srgbClr val="1A1A1A"/>
            </a:solidFill>
            <a:prstDash val="solid"/>
          </a:ln>
        </p:spPr>
      </p:sp>
      <p:sp>
        <p:nvSpPr>
          <p:cNvPr id="24" name="Text 21"/>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カンツギ</a:t>
            </a:r>
            <a:endParaRPr lang="en-US" sz="1000" dirty="0"/>
          </a:p>
        </p:txBody>
      </p:sp>
      <p:sp>
        <p:nvSpPr>
          <p:cNvPr id="25" name="pos-社内の熟練者（属人）"/>
          <p:cNvSpPr/>
          <p:nvPr/>
        </p:nvSpPr>
        <p:spPr>
          <a:xfrm>
            <a:off x="2666390" y="1515161"/>
            <a:ext cx="137160" cy="137160"/>
          </a:xfrm>
          <a:prstGeom prst="ellipse">
            <a:avLst/>
          </a:prstGeom>
          <a:solidFill>
            <a:srgbClr val="FFFFFF"/>
          </a:solidFill>
          <a:ln w="15875">
            <a:solidFill>
              <a:srgbClr val="1A1A1A"/>
            </a:solidFill>
            <a:prstDash val="solid"/>
          </a:ln>
        </p:spPr>
      </p:sp>
      <p:sp>
        <p:nvSpPr>
          <p:cNvPr id="26" name="Text 23"/>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社内の熟練者（属人）</a:t>
            </a:r>
            <a:endParaRPr lang="en-US" sz="800" dirty="0"/>
          </a:p>
        </p:txBody>
      </p:sp>
      <p:sp>
        <p:nvSpPr>
          <p:cNvPr id="27" name="Text 24"/>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記録・報告・判断のどこまでを扱うか</a:t>
            </a:r>
            <a:endParaRPr lang="en-US" sz="1050" dirty="0"/>
          </a:p>
        </p:txBody>
      </p:sp>
      <p:graphicFrame>
        <p:nvGraphicFramePr>
          <p:cNvPr id="13"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371600"/>
                <a:gridCol w="1005840"/>
                <a:gridCol w="960120"/>
                <a:gridCol w="91440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会社・サービス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報告書</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判断・教材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ANDPAD</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人が入力</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SPIDERPLUS</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人が図面に記録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検査帳票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蔵衛門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人が撮影</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写真台帳</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遠隔臨場カメラ（各社）</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映像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tebiki／Teachme Biz</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器のみ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カンツギ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一人称で自動</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写真を自動抽出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図面照合＋教材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9" name="threat"/>
          <p:cNvSpPr/>
          <p:nvPr/>
        </p:nvSpPr>
        <p:spPr>
          <a:xfrm>
            <a:off x="4526280" y="3145536"/>
            <a:ext cx="4251960" cy="658368"/>
          </a:xfrm>
          <a:prstGeom prst="rect">
            <a:avLst/>
          </a:prstGeom>
          <a:solidFill>
            <a:srgbClr val="1A1A1A"/>
          </a:solidFill>
          <a:ln/>
        </p:spPr>
      </p:sp>
      <p:sp>
        <p:nvSpPr>
          <p:cNvPr id="30" name="Text 26"/>
          <p:cNvSpPr txBox="1"/>
          <p:nvPr/>
        </p:nvSpPr>
        <p:spPr>
          <a:xfrm>
            <a:off x="4636008" y="3145536"/>
            <a:ext cx="4032504" cy="65836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FFFFF"/>
                </a:solidFill>
                <a:latin typeface="Meiryo" pitchFamily="34" charset="0"/>
                <a:ea typeface="Meiryo" pitchFamily="34" charset="-122"/>
                <a:cs typeface="Meiryo" pitchFamily="34" charset="-120"/>
              </a:rPr>
              <a:t>最大の脅威：</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施工管理アプリ各社がAIで自動報告を加えること</a:t>
            </a:r>
            <a:endParaRPr lang="en-US" sz="850" dirty="0"/>
          </a:p>
          <a:p>
            <a:pPr algn="l" indent="0" marL="0">
              <a:lnSpc>
                <a:spcPct val="115000"/>
              </a:lnSpc>
              <a:spcAft>
                <a:spcPts val="200"/>
              </a:spcAft>
              <a:buNone/>
            </a:pPr>
            <a:r>
              <a:rPr lang="en-US" sz="850" b="1" dirty="0">
                <a:solidFill>
                  <a:srgbClr val="FFFFFF"/>
                </a:solidFill>
                <a:latin typeface="Meiryo" pitchFamily="34" charset="0"/>
                <a:ea typeface="Meiryo" pitchFamily="34" charset="-122"/>
                <a:cs typeface="Meiryo" pitchFamily="34" charset="-120"/>
              </a:rPr>
              <a:t>方針：</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競わずにつなぐ（各社の形式で出力）。強みは図面に現れない判断の記録と、施工経験者による監修</a:t>
            </a:r>
            <a:endParaRPr lang="en-US" sz="850" dirty="0"/>
          </a:p>
        </p:txBody>
      </p:sp>
      <p:sp>
        <p:nvSpPr>
          <p:cNvPr id="31" name="Text 27"/>
          <p:cNvSpPr txBox="1"/>
          <p:nvPr/>
        </p:nvSpPr>
        <p:spPr>
          <a:xfrm>
            <a:off x="4526280" y="3858768"/>
            <a:ext cx="4251960" cy="384048"/>
          </a:xfrm>
          <a:prstGeom prst="rect">
            <a:avLst/>
          </a:prstGeom>
          <a:noFill/>
          <a:ln/>
        </p:spPr>
        <p:txBody>
          <a:bodyPr wrap="square" lIns="0" tIns="0" rIns="0" bIns="0" rtlCol="0" anchor="t"/>
          <a:lstStyle/>
          <a:p>
            <a:pPr algn="l" indent="0" marL="0">
              <a:lnSpc>
                <a:spcPct val="115000"/>
              </a:lnSpc>
              <a:spcAft>
                <a:spcPts val="100"/>
              </a:spcAft>
              <a:buNone/>
            </a:pPr>
            <a:r>
              <a:rPr lang="en-US" sz="800" b="1" dirty="0">
                <a:solidFill>
                  <a:srgbClr val="1A1A1A"/>
                </a:solidFill>
                <a:latin typeface="Meiryo" pitchFamily="34" charset="0"/>
                <a:ea typeface="Meiryo" pitchFamily="34" charset="-122"/>
                <a:cs typeface="Meiryo" pitchFamily="34" charset="-120"/>
              </a:rPr>
              <a:t>STP：</a:t>
            </a:r>
            <a:pPr algn="l" indent="0" marL="0">
              <a:lnSpc>
                <a:spcPct val="115000"/>
              </a:lnSpc>
              <a:spcAft>
                <a:spcPts val="100"/>
              </a:spcAft>
              <a:buNone/>
            </a:pPr>
            <a:r>
              <a:rPr lang="en-US" sz="800" dirty="0">
                <a:solidFill>
                  <a:srgbClr val="1A1A1A"/>
                </a:solidFill>
                <a:latin typeface="Meiryo" pitchFamily="34" charset="0"/>
                <a:ea typeface="Meiryo" pitchFamily="34" charset="-122"/>
                <a:cs typeface="Meiryo" pitchFamily="34" charset="-120"/>
              </a:rPr>
              <a:t>工種×規模で区分し、関東の中堅電気工事会社を狙う</a:t>
            </a:r>
            <a:endParaRPr lang="en-US" sz="800" dirty="0"/>
          </a:p>
          <a:p>
            <a:pPr algn="l" indent="0" marL="0">
              <a:lnSpc>
                <a:spcPct val="115000"/>
              </a:lnSpc>
              <a:spcAft>
                <a:spcPts val="100"/>
              </a:spcAft>
              <a:buNone/>
            </a:pPr>
            <a:r>
              <a:rPr lang="en-US" sz="800" b="1" dirty="0">
                <a:solidFill>
                  <a:srgbClr val="1A1A1A"/>
                </a:solidFill>
                <a:latin typeface="Meiryo" pitchFamily="34" charset="0"/>
                <a:ea typeface="Meiryo" pitchFamily="34" charset="-122"/>
                <a:cs typeface="Meiryo" pitchFamily="34" charset="-120"/>
              </a:rPr>
              <a:t>競争戦略：</a:t>
            </a:r>
            <a:pPr algn="l" indent="0" marL="0">
              <a:lnSpc>
                <a:spcPct val="115000"/>
              </a:lnSpc>
              <a:spcAft>
                <a:spcPts val="100"/>
              </a:spcAft>
              <a:buNone/>
            </a:pPr>
            <a:r>
              <a:rPr lang="en-US" sz="800" dirty="0">
                <a:solidFill>
                  <a:srgbClr val="1A1A1A"/>
                </a:solidFill>
                <a:latin typeface="Meiryo" pitchFamily="34" charset="0"/>
                <a:ea typeface="Meiryo" pitchFamily="34" charset="-122"/>
                <a:cs typeface="Meiryo" pitchFamily="34" charset="-120"/>
              </a:rPr>
              <a:t>ニッチャー（コトラー）×差別化集中（ポーター）</a:t>
            </a:r>
            <a:endParaRPr lang="en-US" sz="800" dirty="0"/>
          </a:p>
        </p:txBody>
      </p:sp>
      <p:sp>
        <p:nvSpPr>
          <p:cNvPr id="32" name="Text 28"/>
          <p:cNvSpPr txBox="1"/>
          <p:nvPr/>
        </p:nvSpPr>
        <p:spPr>
          <a:xfrm>
            <a:off x="365760" y="4608576"/>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出典：各社公表資料、スパイダープラス 有価証券報告書（契約1,524社・2022年12月末）。製造業の競合は補足資料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p.24</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市場規模 ─ ターゲット市場は約141億円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全体市場（年7〜9%成長）→ ターゲット市場（顧客数×単価×年1回）→ 自社が狙う市場</a:t>
            </a:r>
            <a:endParaRPr lang="en-US" sz="1200" dirty="0"/>
          </a:p>
        </p:txBody>
      </p:sp>
      <p:sp>
        <p:nvSpPr>
          <p:cNvPr id="6" name="tam"/>
          <p:cNvSpPr/>
          <p:nvPr/>
        </p:nvSpPr>
        <p:spPr>
          <a:xfrm>
            <a:off x="365760" y="1097280"/>
            <a:ext cx="3474720" cy="3383280"/>
          </a:xfrm>
          <a:prstGeom prst="ellipse">
            <a:avLst/>
          </a:prstGeom>
          <a:solidFill>
            <a:srgbClr val="F2F2F2"/>
          </a:solidFill>
          <a:ln w="12700">
            <a:solidFill>
              <a:srgbClr val="8C8C8C"/>
            </a:solidFill>
            <a:prstDash val="solid"/>
          </a:ln>
        </p:spPr>
      </p:sp>
      <p:sp>
        <p:nvSpPr>
          <p:cNvPr id="7" name="sam"/>
          <p:cNvSpPr/>
          <p:nvPr/>
        </p:nvSpPr>
        <p:spPr>
          <a:xfrm>
            <a:off x="1005840" y="2103120"/>
            <a:ext cx="2194560" cy="2286000"/>
          </a:xfrm>
          <a:prstGeom prst="ellipse">
            <a:avLst/>
          </a:prstGeom>
          <a:solidFill>
            <a:srgbClr val="4D4D4D"/>
          </a:solidFill>
          <a:ln/>
        </p:spPr>
      </p:sp>
      <p:sp>
        <p:nvSpPr>
          <p:cNvPr id="8" name="som"/>
          <p:cNvSpPr/>
          <p:nvPr/>
        </p:nvSpPr>
        <p:spPr>
          <a:xfrm>
            <a:off x="1554480" y="3108960"/>
            <a:ext cx="1097280" cy="1097280"/>
          </a:xfrm>
          <a:prstGeom prst="ellipse">
            <a:avLst/>
          </a:prstGeom>
          <a:solidFill>
            <a:srgbClr val="1A1A1A"/>
          </a:solidFill>
          <a:ln/>
        </p:spPr>
      </p:sp>
      <p:sp>
        <p:nvSpPr>
          <p:cNvPr id="9" name="Text 6"/>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A1A1A"/>
                </a:solidFill>
                <a:latin typeface="Meiryo" pitchFamily="34" charset="0"/>
                <a:ea typeface="Meiryo" pitchFamily="34" charset="-122"/>
                <a:cs typeface="Meiryo" pitchFamily="34" charset="-120"/>
              </a:rPr>
              <a:t>全体市場</a:t>
            </a:r>
            <a:endParaRPr lang="en-US" sz="110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建設テック＋スマートファクトリー</a:t>
            </a:r>
            <a:endParaRPr lang="en-US" sz="1100" dirty="0"/>
          </a:p>
        </p:txBody>
      </p:sp>
      <p:sp>
        <p:nvSpPr>
          <p:cNvPr id="10" name="Text 7"/>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ターゲット市場</a:t>
            </a:r>
            <a:endParaRPr lang="en-US" sz="1100" dirty="0"/>
          </a:p>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約141億円</a:t>
            </a:r>
            <a:endParaRPr lang="en-US" sz="11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約3,100社</a:t>
            </a:r>
            <a:endParaRPr lang="en-US" sz="1100" dirty="0"/>
          </a:p>
        </p:txBody>
      </p:sp>
      <p:sp>
        <p:nvSpPr>
          <p:cNvPr id="11" name="Text 8"/>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Meiryo" pitchFamily="34" charset="0"/>
                <a:ea typeface="Meiryo" pitchFamily="34" charset="-122"/>
                <a:cs typeface="Meiryo" pitchFamily="34" charset="-120"/>
              </a:rPr>
              <a:t>自社</a:t>
            </a:r>
            <a:endParaRPr lang="en-US" sz="1050" dirty="0"/>
          </a:p>
          <a:p>
            <a:pPr algn="ctr" indent="0" marL="0">
              <a:lnSpc>
                <a:spcPct val="115000"/>
              </a:lnSpc>
              <a:buNone/>
            </a:pPr>
            <a:r>
              <a:rPr lang="en-US" sz="900" dirty="0">
                <a:solidFill>
                  <a:srgbClr val="FFFFFF"/>
                </a:solidFill>
                <a:latin typeface="Meiryo" pitchFamily="34" charset="0"/>
                <a:ea typeface="Meiryo" pitchFamily="34" charset="-122"/>
                <a:cs typeface="Meiryo" pitchFamily="34" charset="-120"/>
              </a:rPr>
              <a:t>2.43億円</a:t>
            </a:r>
            <a:endParaRPr lang="en-US" sz="1050" dirty="0"/>
          </a:p>
        </p:txBody>
      </p:sp>
      <p:sp>
        <p:nvSpPr>
          <p:cNvPr id="12" name="Text 9"/>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ターゲット市場の数え方（顧客数×年額、億円）</a:t>
            </a:r>
            <a:endParaRPr lang="en-US" sz="1050" dirty="0"/>
          </a:p>
        </p:txBody>
      </p:sp>
      <p:graphicFrame>
        <p:nvGraphicFramePr>
          <p:cNvPr id="14"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業種＼規模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大（300人以上）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中（30〜299人）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小（30人未満）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300社×1,500万＝45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2,100社×300万＝63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C8C8C"/>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電気通信工事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100社×1,500万＝15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600社×300万＝18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C8C8C"/>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4D4D4D"/>
                          </a:solidFill>
                          <a:latin typeface="Meiryo" pitchFamily="34" charset="0"/>
                          <a:ea typeface="Meiryo" pitchFamily="34" charset="-122"/>
                          <a:cs typeface="Meiryo" pitchFamily="34" charset="-120"/>
                        </a:rPr>
                        <a:t>電線・素材工場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D4D4D"/>
                          </a:solidFill>
                          <a:latin typeface="Meiryo" pitchFamily="34" charset="0"/>
                          <a:ea typeface="Meiryo" pitchFamily="34" charset="-122"/>
                          <a:cs typeface="Meiryo" pitchFamily="34" charset="-120"/>
                        </a:rPr>
                        <a:t>隣接市場（成長期以降）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色付き＝最初の顧客。大手は支店5拠点分。小規模は1年で元が取れる条件（月105人時）を満たしにくい</a:t>
            </a:r>
            <a:endParaRPr lang="en-US" sz="800" dirty="0"/>
          </a:p>
        </p:txBody>
      </p:sp>
      <p:sp>
        <p:nvSpPr>
          <p:cNvPr id="15" name="growth"/>
          <p:cNvSpPr/>
          <p:nvPr/>
        </p:nvSpPr>
        <p:spPr>
          <a:xfrm>
            <a:off x="4297680" y="3017520"/>
            <a:ext cx="4480560" cy="1261872"/>
          </a:xfrm>
          <a:prstGeom prst="rect">
            <a:avLst/>
          </a:prstGeom>
          <a:solidFill>
            <a:srgbClr val="1A1A1A"/>
          </a:solidFill>
          <a:ln/>
        </p:spPr>
      </p:sp>
      <p:sp>
        <p:nvSpPr>
          <p:cNvPr id="16" name="Text 12"/>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自社が狙う市場：5年目81拠点×年300万円＝約2.43億円（ターゲット市場の約1.7%）</a:t>
            </a:r>
            <a:endParaRPr lang="en-US" sz="850" dirty="0"/>
          </a:p>
        </p:txBody>
      </p:sp>
      <p:sp>
        <p:nvSpPr>
          <p:cNvPr id="17" name="Text 13"/>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p.25</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ターゲット ─ 最初の顧客は関東の中堅電気工事会社</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市場の大きさ・困りごとの強さ・会いに行きやすさ・波及効果の4つで選んだ</a:t>
            </a:r>
            <a:endParaRPr lang="en-US" sz="1200" dirty="0"/>
          </a:p>
        </p:txBody>
      </p:sp>
      <p:sp>
        <p:nvSpPr>
          <p:cNvPr id="6" name="Text 3"/>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セグメントの評価（5点満点）</a:t>
            </a:r>
            <a:endParaRPr lang="en-US" sz="1050" dirty="0"/>
          </a:p>
        </p:txBody>
      </p:sp>
      <p:graphicFrame>
        <p:nvGraphicFramePr>
          <p:cNvPr id="15"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候補</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大きさ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困りごと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会いやすさ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波及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電気工事・中堅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電気工事・大手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電線工場・中堅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電気通信工事・中堅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困りごと：</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会いやすさ：</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波及：</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大手が採用すると協力会社が同じ形式に合わせる → 大手1社を目玉の事例に</a:t>
            </a:r>
            <a:endParaRPr lang="en-US" sz="900" dirty="0"/>
          </a:p>
        </p:txBody>
      </p:sp>
      <p:sp>
        <p:nvSpPr>
          <p:cNvPr id="9" name="icp"/>
          <p:cNvSpPr/>
          <p:nvPr/>
        </p:nvSpPr>
        <p:spPr>
          <a:xfrm>
            <a:off x="5486400" y="1051560"/>
            <a:ext cx="3291840" cy="1371600"/>
          </a:xfrm>
          <a:prstGeom prst="rect">
            <a:avLst/>
          </a:prstGeom>
          <a:solidFill>
            <a:srgbClr val="1A1A1A"/>
          </a:solidFill>
          <a:ln/>
        </p:spPr>
      </p:sp>
      <p:sp>
        <p:nvSpPr>
          <p:cNvPr id="10" name="Text 6"/>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E3A774"/>
                </a:solidFill>
                <a:latin typeface="Meiryo" pitchFamily="34" charset="0"/>
                <a:ea typeface="Meiryo" pitchFamily="34" charset="-122"/>
                <a:cs typeface="Meiryo"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Meiryo" pitchFamily="34" charset="0"/>
                <a:ea typeface="Meiryo" pitchFamily="34" charset="-122"/>
                <a:cs typeface="Meiryo"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Meiryo" pitchFamily="34" charset="0"/>
                <a:ea typeface="Meiryo" pitchFamily="34" charset="-122"/>
                <a:cs typeface="Meiryo" pitchFamily="34" charset="-120"/>
              </a:rPr>
              <a:t>施工管理者30人以上・電力や公共工事が多く書類が多い・残業規制で人を増やせない</a:t>
            </a:r>
            <a:endParaRPr lang="en-US" sz="950" dirty="0"/>
          </a:p>
        </p:txBody>
      </p:sp>
      <p:sp>
        <p:nvSpPr>
          <p:cNvPr id="11" name="Text 7"/>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意思決定に関わる3人</a:t>
            </a:r>
            <a:endParaRPr lang="en-US" sz="1050" dirty="0"/>
          </a:p>
        </p:txBody>
      </p:sp>
      <p:sp>
        <p:nvSpPr>
          <p:cNvPr id="12" name="Shape 8"/>
          <p:cNvSpPr/>
          <p:nvPr/>
        </p:nvSpPr>
        <p:spPr>
          <a:xfrm>
            <a:off x="5486400" y="2843784"/>
            <a:ext cx="502920" cy="274320"/>
          </a:xfrm>
          <a:prstGeom prst="rect">
            <a:avLst/>
          </a:prstGeom>
          <a:solidFill>
            <a:srgbClr val="B8692E"/>
          </a:solidFill>
          <a:ln/>
        </p:spPr>
      </p:sp>
      <p:sp>
        <p:nvSpPr>
          <p:cNvPr id="13" name="Text 9"/>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決裁</a:t>
            </a:r>
            <a:endParaRPr lang="en-US" sz="950" dirty="0"/>
          </a:p>
        </p:txBody>
      </p:sp>
      <p:sp>
        <p:nvSpPr>
          <p:cNvPr id="14" name="Text 10"/>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社長・工事部長</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気にすること：回収期間と残業の削減</a:t>
            </a:r>
            <a:endParaRPr lang="en-US" sz="900" dirty="0"/>
          </a:p>
        </p:txBody>
      </p:sp>
      <p:sp>
        <p:nvSpPr>
          <p:cNvPr id="15" name="Shape 11"/>
          <p:cNvSpPr/>
          <p:nvPr/>
        </p:nvSpPr>
        <p:spPr>
          <a:xfrm>
            <a:off x="5486400" y="3209544"/>
            <a:ext cx="502920" cy="274320"/>
          </a:xfrm>
          <a:prstGeom prst="rect">
            <a:avLst/>
          </a:prstGeom>
          <a:solidFill>
            <a:srgbClr val="4D4D4D"/>
          </a:solidFill>
          <a:ln/>
        </p:spPr>
      </p:sp>
      <p:sp>
        <p:nvSpPr>
          <p:cNvPr id="16" name="Text 12"/>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使う</a:t>
            </a:r>
            <a:endParaRPr lang="en-US" sz="950" dirty="0"/>
          </a:p>
        </p:txBody>
      </p:sp>
      <p:sp>
        <p:nvSpPr>
          <p:cNvPr id="17" name="Text 13"/>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施工管理者・電工</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気にすること：入力が増えないか</a:t>
            </a:r>
            <a:endParaRPr lang="en-US" sz="900" dirty="0"/>
          </a:p>
        </p:txBody>
      </p:sp>
      <p:sp>
        <p:nvSpPr>
          <p:cNvPr id="18" name="Shape 14"/>
          <p:cNvSpPr/>
          <p:nvPr/>
        </p:nvSpPr>
        <p:spPr>
          <a:xfrm>
            <a:off x="5486400" y="3575304"/>
            <a:ext cx="502920" cy="274320"/>
          </a:xfrm>
          <a:prstGeom prst="rect">
            <a:avLst/>
          </a:prstGeom>
          <a:solidFill>
            <a:srgbClr val="4D4D4D"/>
          </a:solidFill>
          <a:ln/>
        </p:spPr>
      </p:sp>
      <p:sp>
        <p:nvSpPr>
          <p:cNvPr id="19" name="Text 15"/>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推進</a:t>
            </a:r>
            <a:endParaRPr lang="en-US" sz="950" dirty="0"/>
          </a:p>
        </p:txBody>
      </p:sp>
      <p:sp>
        <p:nvSpPr>
          <p:cNvPr id="20" name="Text 16"/>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DX担当者</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気にすること：定着と効果の説明</a:t>
            </a:r>
            <a:endParaRPr lang="en-US" sz="900" dirty="0"/>
          </a:p>
        </p:txBody>
      </p:sp>
      <p:sp>
        <p:nvSpPr>
          <p:cNvPr id="21" name="Text 1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p.9〜13</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ビジネスモデル ─ 誰に・どう実現し・どう稼ぐか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戦略モデル（顧客価値）・オペレーションモデル（実現の方法）・マネタイズモデル（収益の方法）</a:t>
            </a:r>
            <a:endParaRPr lang="en-US" sz="1200" dirty="0"/>
          </a:p>
        </p:txBody>
      </p:sp>
      <p:sp>
        <p:nvSpPr>
          <p:cNvPr id="6" name="Shape 3"/>
          <p:cNvSpPr/>
          <p:nvPr/>
        </p:nvSpPr>
        <p:spPr>
          <a:xfrm>
            <a:off x="365760" y="1024128"/>
            <a:ext cx="1463040" cy="685800"/>
          </a:xfrm>
          <a:prstGeom prst="rect">
            <a:avLst/>
          </a:prstGeom>
          <a:solidFill>
            <a:srgbClr val="1A1A1A"/>
          </a:solidFill>
          <a:ln/>
        </p:spPr>
      </p:sp>
      <p:sp>
        <p:nvSpPr>
          <p:cNvPr id="7" name="Text 4"/>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戦略モデル</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誰に・どんな価値を</a:t>
            </a:r>
            <a:endParaRPr lang="en-US" sz="1400" dirty="0"/>
          </a:p>
        </p:txBody>
      </p:sp>
      <p:sp>
        <p:nvSpPr>
          <p:cNvPr id="8" name="Text 5"/>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関東の中堅電気工事会社に、</a:t>
            </a:r>
            <a:endParaRPr lang="en-US" sz="1100" dirty="0"/>
          </a:p>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「書類の時間を減らし、熟練者の判断を若手に残す」</a:t>
            </a:r>
            <a:endParaRPr lang="en-US" sz="1100" dirty="0"/>
          </a:p>
        </p:txBody>
      </p:sp>
      <p:sp>
        <p:nvSpPr>
          <p:cNvPr id="9" name="Shape 6"/>
          <p:cNvSpPr/>
          <p:nvPr/>
        </p:nvSpPr>
        <p:spPr>
          <a:xfrm>
            <a:off x="365760" y="1801368"/>
            <a:ext cx="1463040" cy="1874520"/>
          </a:xfrm>
          <a:prstGeom prst="rect">
            <a:avLst/>
          </a:prstGeom>
          <a:solidFill>
            <a:srgbClr val="1A1A1A"/>
          </a:solidFill>
          <a:ln/>
        </p:spPr>
      </p:sp>
      <p:sp>
        <p:nvSpPr>
          <p:cNvPr id="10" name="Text 7"/>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オペレーション</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価値を実現する流れ</a:t>
            </a:r>
            <a:endParaRPr lang="en-US" sz="1400" dirty="0"/>
          </a:p>
        </p:txBody>
      </p:sp>
      <p:sp>
        <p:nvSpPr>
          <p:cNvPr id="11" name="Shape 8"/>
          <p:cNvSpPr/>
          <p:nvPr/>
        </p:nvSpPr>
        <p:spPr>
          <a:xfrm>
            <a:off x="1965960" y="1801368"/>
            <a:ext cx="1117092" cy="384048"/>
          </a:xfrm>
          <a:prstGeom prst="chevron">
            <a:avLst/>
          </a:prstGeom>
          <a:solidFill>
            <a:srgbClr val="4D4D4D"/>
          </a:solidFill>
          <a:ln/>
        </p:spPr>
      </p:sp>
      <p:sp>
        <p:nvSpPr>
          <p:cNvPr id="12" name="Text 9"/>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獲得</a:t>
            </a:r>
            <a:endParaRPr lang="en-US" sz="950" dirty="0"/>
          </a:p>
        </p:txBody>
      </p:sp>
      <p:sp>
        <p:nvSpPr>
          <p:cNvPr id="13" name="Text 10"/>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デモ・紹介</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展示会</a:t>
            </a:r>
            <a:endParaRPr lang="en-US" sz="850" dirty="0"/>
          </a:p>
        </p:txBody>
      </p:sp>
      <p:sp>
        <p:nvSpPr>
          <p:cNvPr id="14" name="Shape 11"/>
          <p:cNvSpPr/>
          <p:nvPr/>
        </p:nvSpPr>
        <p:spPr>
          <a:xfrm>
            <a:off x="3101340" y="1801368"/>
            <a:ext cx="1117092" cy="384048"/>
          </a:xfrm>
          <a:prstGeom prst="chevron">
            <a:avLst/>
          </a:prstGeom>
          <a:solidFill>
            <a:srgbClr val="4D4D4D"/>
          </a:solidFill>
          <a:ln/>
        </p:spPr>
      </p:sp>
      <p:sp>
        <p:nvSpPr>
          <p:cNvPr id="15" name="Text 12"/>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導入</a:t>
            </a:r>
            <a:endParaRPr lang="en-US" sz="950" dirty="0"/>
          </a:p>
        </p:txBody>
      </p:sp>
      <p:sp>
        <p:nvSpPr>
          <p:cNvPr id="16" name="Text 13"/>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2か月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工種の型を設定</a:t>
            </a:r>
            <a:endParaRPr lang="en-US" sz="850" dirty="0"/>
          </a:p>
        </p:txBody>
      </p:sp>
      <p:sp>
        <p:nvSpPr>
          <p:cNvPr id="17" name="Shape 14"/>
          <p:cNvSpPr/>
          <p:nvPr/>
        </p:nvSpPr>
        <p:spPr>
          <a:xfrm>
            <a:off x="4236720" y="1801368"/>
            <a:ext cx="1117092" cy="384048"/>
          </a:xfrm>
          <a:prstGeom prst="chevron">
            <a:avLst/>
          </a:prstGeom>
          <a:solidFill>
            <a:srgbClr val="4D4D4D"/>
          </a:solidFill>
          <a:ln/>
        </p:spPr>
      </p:sp>
      <p:sp>
        <p:nvSpPr>
          <p:cNvPr id="18" name="Text 15"/>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記録</a:t>
            </a:r>
            <a:endParaRPr lang="en-US" sz="950" dirty="0"/>
          </a:p>
        </p:txBody>
      </p:sp>
      <p:sp>
        <p:nvSpPr>
          <p:cNvPr id="19" name="Text 16"/>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スマートグラス</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で自動収録</a:t>
            </a:r>
            <a:endParaRPr lang="en-US" sz="850" dirty="0"/>
          </a:p>
        </p:txBody>
      </p:sp>
      <p:sp>
        <p:nvSpPr>
          <p:cNvPr id="20" name="Shape 17"/>
          <p:cNvSpPr/>
          <p:nvPr/>
        </p:nvSpPr>
        <p:spPr>
          <a:xfrm>
            <a:off x="5372100" y="1801368"/>
            <a:ext cx="1117092" cy="384048"/>
          </a:xfrm>
          <a:prstGeom prst="chevron">
            <a:avLst/>
          </a:prstGeom>
          <a:solidFill>
            <a:srgbClr val="B8692E"/>
          </a:solidFill>
          <a:ln/>
        </p:spPr>
      </p:sp>
      <p:sp>
        <p:nvSpPr>
          <p:cNvPr id="21" name="Text 18"/>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整理・監修</a:t>
            </a:r>
            <a:endParaRPr lang="en-US" sz="950" dirty="0"/>
          </a:p>
        </p:txBody>
      </p:sp>
      <p:sp>
        <p:nvSpPr>
          <p:cNvPr id="22" name="Text 19"/>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AIが整理</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施工経験者が確認</a:t>
            </a:r>
            <a:endParaRPr lang="en-US" sz="850" dirty="0"/>
          </a:p>
        </p:txBody>
      </p:sp>
      <p:sp>
        <p:nvSpPr>
          <p:cNvPr id="23" name="Shape 20"/>
          <p:cNvSpPr/>
          <p:nvPr/>
        </p:nvSpPr>
        <p:spPr>
          <a:xfrm>
            <a:off x="6507480" y="1801368"/>
            <a:ext cx="1117092" cy="384048"/>
          </a:xfrm>
          <a:prstGeom prst="chevron">
            <a:avLst/>
          </a:prstGeom>
          <a:solidFill>
            <a:srgbClr val="4D4D4D"/>
          </a:solidFill>
          <a:ln/>
        </p:spPr>
      </p:sp>
      <p:sp>
        <p:nvSpPr>
          <p:cNvPr id="24" name="Text 21"/>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納品</a:t>
            </a:r>
            <a:endParaRPr lang="en-US" sz="950" dirty="0"/>
          </a:p>
        </p:txBody>
      </p:sp>
      <p:sp>
        <p:nvSpPr>
          <p:cNvPr id="25" name="Text 22"/>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報告書・照合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・教材</a:t>
            </a:r>
            <a:endParaRPr lang="en-US" sz="850" dirty="0"/>
          </a:p>
        </p:txBody>
      </p:sp>
      <p:sp>
        <p:nvSpPr>
          <p:cNvPr id="26" name="Shape 23"/>
          <p:cNvSpPr/>
          <p:nvPr/>
        </p:nvSpPr>
        <p:spPr>
          <a:xfrm>
            <a:off x="7642860" y="1801368"/>
            <a:ext cx="1117092" cy="384048"/>
          </a:xfrm>
          <a:prstGeom prst="chevron">
            <a:avLst/>
          </a:prstGeom>
          <a:solidFill>
            <a:srgbClr val="4D4D4D"/>
          </a:solidFill>
          <a:ln/>
        </p:spPr>
      </p:sp>
      <p:sp>
        <p:nvSpPr>
          <p:cNvPr id="27" name="Text 24"/>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定着</a:t>
            </a:r>
            <a:endParaRPr lang="en-US" sz="950" dirty="0"/>
          </a:p>
        </p:txBody>
      </p:sp>
      <p:sp>
        <p:nvSpPr>
          <p:cNvPr id="28" name="Text 25"/>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月次で</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効果を測定</a:t>
            </a:r>
            <a:endParaRPr lang="en-US" sz="850" dirty="0"/>
          </a:p>
        </p:txBody>
      </p:sp>
      <p:graphicFrame>
        <p:nvGraphicFramePr>
          <p:cNvPr id="16"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担う人・資源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能力・約束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導入担当（カスタマーサクセス）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1人で年6拠点を立ち上げる（2か月で1拠点）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施工経験者による監修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判断の意味づけ。真似されにくさの源泉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パートナー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スマートグラスのメーカー・クラウド・大学（映像AI）</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30" name="Shape 26"/>
          <p:cNvSpPr/>
          <p:nvPr/>
        </p:nvSpPr>
        <p:spPr>
          <a:xfrm>
            <a:off x="365760" y="3767328"/>
            <a:ext cx="1463040" cy="777240"/>
          </a:xfrm>
          <a:prstGeom prst="rect">
            <a:avLst/>
          </a:prstGeom>
          <a:solidFill>
            <a:srgbClr val="1A1A1A"/>
          </a:solidFill>
          <a:ln/>
        </p:spPr>
      </p:sp>
      <p:sp>
        <p:nvSpPr>
          <p:cNvPr id="31" name="Text 27"/>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マネタイズ</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どう稼ぐ・いつ</a:t>
            </a:r>
            <a:endParaRPr lang="en-US" sz="1400" dirty="0"/>
          </a:p>
        </p:txBody>
      </p:sp>
      <p:sp>
        <p:nvSpPr>
          <p:cNvPr id="32" name="Text 28"/>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基盤 月5万円＋端末 月2万円×台数（標準10台で年300万円・年額前払い）</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お客様は1台1日26分減れば元が取れる。当社は5年目に黒字</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p.9〜13・20</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収益モデル ─ 「会社の基盤」＋「端末の台数」で払う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毎年積み上がる利用料と、初年度だけの導入支援の二本。端末本体はお客様がリース</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1拠点（10台）が当社に払う金額（万円）</a:t>
            </a:r>
            <a:endParaRPr lang="en-US" sz="1050" dirty="0"/>
          </a:p>
        </p:txBody>
      </p:sp>
      <p:sp>
        <p:nvSpPr>
          <p:cNvPr id="7" name="Text 4"/>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初年度</a:t>
            </a:r>
            <a:endParaRPr lang="en-US" sz="950" dirty="0"/>
          </a:p>
        </p:txBody>
      </p:sp>
      <p:sp>
        <p:nvSpPr>
          <p:cNvPr id="8" name="seg-基盤0"/>
          <p:cNvSpPr/>
          <p:nvPr/>
        </p:nvSpPr>
        <p:spPr>
          <a:xfrm>
            <a:off x="1143000" y="1380744"/>
            <a:ext cx="345643" cy="384048"/>
          </a:xfrm>
          <a:prstGeom prst="rect">
            <a:avLst/>
          </a:prstGeom>
          <a:solidFill>
            <a:srgbClr val="1A1A1A"/>
          </a:solidFill>
          <a:ln w="9525">
            <a:solidFill>
              <a:srgbClr val="1A1A1A"/>
            </a:solidFill>
            <a:prstDash val="solid"/>
          </a:ln>
        </p:spPr>
      </p:sp>
      <p:sp>
        <p:nvSpPr>
          <p:cNvPr id="9" name="Text 6"/>
          <p:cNvSpPr txBox="1"/>
          <p:nvPr/>
        </p:nvSpPr>
        <p:spPr>
          <a:xfrm>
            <a:off x="1143000" y="1380744"/>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60</a:t>
            </a:r>
            <a:endParaRPr lang="en-US" sz="850" dirty="0"/>
          </a:p>
        </p:txBody>
      </p:sp>
      <p:sp>
        <p:nvSpPr>
          <p:cNvPr id="10" name="seg-端末×10台0"/>
          <p:cNvSpPr/>
          <p:nvPr/>
        </p:nvSpPr>
        <p:spPr>
          <a:xfrm>
            <a:off x="1488643" y="1380744"/>
            <a:ext cx="1382573" cy="384048"/>
          </a:xfrm>
          <a:prstGeom prst="rect">
            <a:avLst/>
          </a:prstGeom>
          <a:solidFill>
            <a:srgbClr val="4D4D4D"/>
          </a:solidFill>
          <a:ln w="9525">
            <a:solidFill>
              <a:srgbClr val="1A1A1A"/>
            </a:solidFill>
            <a:prstDash val="solid"/>
          </a:ln>
        </p:spPr>
      </p:sp>
      <p:sp>
        <p:nvSpPr>
          <p:cNvPr id="11" name="Text 8"/>
          <p:cNvSpPr txBox="1"/>
          <p:nvPr/>
        </p:nvSpPr>
        <p:spPr>
          <a:xfrm>
            <a:off x="1488643" y="1380744"/>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端末×10台 240</a:t>
            </a:r>
            <a:endParaRPr lang="en-US" sz="850" dirty="0"/>
          </a:p>
        </p:txBody>
      </p:sp>
      <p:sp>
        <p:nvSpPr>
          <p:cNvPr id="12" name="seg-導入支援0"/>
          <p:cNvSpPr/>
          <p:nvPr/>
        </p:nvSpPr>
        <p:spPr>
          <a:xfrm>
            <a:off x="2871216" y="1380744"/>
            <a:ext cx="1152144" cy="384048"/>
          </a:xfrm>
          <a:prstGeom prst="rect">
            <a:avLst/>
          </a:prstGeom>
          <a:solidFill>
            <a:srgbClr val="FFFFFF"/>
          </a:solidFill>
          <a:ln w="9525">
            <a:solidFill>
              <a:srgbClr val="1A1A1A"/>
            </a:solidFill>
            <a:prstDash val="solid"/>
          </a:ln>
        </p:spPr>
      </p:sp>
      <p:sp>
        <p:nvSpPr>
          <p:cNvPr id="13" name="Text 10"/>
          <p:cNvSpPr txBox="1"/>
          <p:nvPr/>
        </p:nvSpPr>
        <p:spPr>
          <a:xfrm>
            <a:off x="2871216" y="1380744"/>
            <a:ext cx="115214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導入支援 200</a:t>
            </a:r>
            <a:endParaRPr lang="en-US" sz="850" dirty="0"/>
          </a:p>
        </p:txBody>
      </p:sp>
      <p:sp>
        <p:nvSpPr>
          <p:cNvPr id="14" name="Text 11"/>
          <p:cNvSpPr txBox="1"/>
          <p:nvPr/>
        </p:nvSpPr>
        <p:spPr>
          <a:xfrm>
            <a:off x="40599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500</a:t>
            </a:r>
            <a:endParaRPr lang="en-US" sz="1100" dirty="0"/>
          </a:p>
        </p:txBody>
      </p:sp>
      <p:sp>
        <p:nvSpPr>
          <p:cNvPr id="15" name="Text 12"/>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2年目以降</a:t>
            </a:r>
            <a:endParaRPr lang="en-US" sz="950" dirty="0"/>
          </a:p>
        </p:txBody>
      </p:sp>
      <p:sp>
        <p:nvSpPr>
          <p:cNvPr id="16" name="seg-基盤1"/>
          <p:cNvSpPr/>
          <p:nvPr/>
        </p:nvSpPr>
        <p:spPr>
          <a:xfrm>
            <a:off x="1143000" y="1892808"/>
            <a:ext cx="345643" cy="384048"/>
          </a:xfrm>
          <a:prstGeom prst="rect">
            <a:avLst/>
          </a:prstGeom>
          <a:solidFill>
            <a:srgbClr val="1A1A1A"/>
          </a:solidFill>
          <a:ln w="9525">
            <a:solidFill>
              <a:srgbClr val="1A1A1A"/>
            </a:solidFill>
            <a:prstDash val="solid"/>
          </a:ln>
        </p:spPr>
      </p:sp>
      <p:sp>
        <p:nvSpPr>
          <p:cNvPr id="17" name="Text 14"/>
          <p:cNvSpPr txBox="1"/>
          <p:nvPr/>
        </p:nvSpPr>
        <p:spPr>
          <a:xfrm>
            <a:off x="1143000" y="1892808"/>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60</a:t>
            </a:r>
            <a:endParaRPr lang="en-US" sz="850" dirty="0"/>
          </a:p>
        </p:txBody>
      </p:sp>
      <p:sp>
        <p:nvSpPr>
          <p:cNvPr id="18" name="seg-端末×10台1"/>
          <p:cNvSpPr/>
          <p:nvPr/>
        </p:nvSpPr>
        <p:spPr>
          <a:xfrm>
            <a:off x="1488643" y="1892808"/>
            <a:ext cx="1382573" cy="384048"/>
          </a:xfrm>
          <a:prstGeom prst="rect">
            <a:avLst/>
          </a:prstGeom>
          <a:solidFill>
            <a:srgbClr val="4D4D4D"/>
          </a:solidFill>
          <a:ln w="9525">
            <a:solidFill>
              <a:srgbClr val="1A1A1A"/>
            </a:solidFill>
            <a:prstDash val="solid"/>
          </a:ln>
        </p:spPr>
      </p:sp>
      <p:sp>
        <p:nvSpPr>
          <p:cNvPr id="19" name="Text 16"/>
          <p:cNvSpPr txBox="1"/>
          <p:nvPr/>
        </p:nvSpPr>
        <p:spPr>
          <a:xfrm>
            <a:off x="1488643" y="1892808"/>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端末×10台 240</a:t>
            </a:r>
            <a:endParaRPr lang="en-US" sz="850" dirty="0"/>
          </a:p>
        </p:txBody>
      </p:sp>
      <p:sp>
        <p:nvSpPr>
          <p:cNvPr id="20" name="Text 17"/>
          <p:cNvSpPr txBox="1"/>
          <p:nvPr/>
        </p:nvSpPr>
        <p:spPr>
          <a:xfrm>
            <a:off x="290779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300</a:t>
            </a:r>
            <a:endParaRPr lang="en-US" sz="1100" dirty="0"/>
          </a:p>
        </p:txBody>
      </p:sp>
      <p:sp>
        <p:nvSpPr>
          <p:cNvPr id="21" name="Shape 18"/>
          <p:cNvSpPr/>
          <p:nvPr/>
        </p:nvSpPr>
        <p:spPr>
          <a:xfrm>
            <a:off x="365760" y="2468880"/>
            <a:ext cx="4069080" cy="0"/>
          </a:xfrm>
          <a:prstGeom prst="line">
            <a:avLst/>
          </a:prstGeom>
          <a:noFill/>
          <a:ln w="9525">
            <a:solidFill>
              <a:srgbClr val="BFBFBF"/>
            </a:solidFill>
            <a:prstDash val="solid"/>
          </a:ln>
        </p:spPr>
      </p:sp>
      <p:sp>
        <p:nvSpPr>
          <p:cNvPr id="22" name="Text 19"/>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基盤</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月5万円／拠点</a:t>
            </a:r>
            <a:endParaRPr lang="en-US" sz="900" dirty="0"/>
          </a:p>
        </p:txBody>
      </p:sp>
      <p:sp>
        <p:nvSpPr>
          <p:cNvPr id="23" name="Text 20"/>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会社ごとのデータ保管庫・管理画面・図面と手順の登録・月次の効果レポート</a:t>
            </a:r>
            <a:endParaRPr lang="en-US" sz="850" dirty="0"/>
          </a:p>
        </p:txBody>
      </p:sp>
      <p:sp>
        <p:nvSpPr>
          <p:cNvPr id="24" name="Shape 21"/>
          <p:cNvSpPr/>
          <p:nvPr/>
        </p:nvSpPr>
        <p:spPr>
          <a:xfrm>
            <a:off x="365760" y="2798064"/>
            <a:ext cx="4069080" cy="0"/>
          </a:xfrm>
          <a:prstGeom prst="line">
            <a:avLst/>
          </a:prstGeom>
          <a:noFill/>
          <a:ln w="9525">
            <a:solidFill>
              <a:srgbClr val="BFBFBF"/>
            </a:solidFill>
            <a:prstDash val="solid"/>
          </a:ln>
        </p:spPr>
      </p:sp>
      <p:sp>
        <p:nvSpPr>
          <p:cNvPr id="25" name="Text 22"/>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端末ライセンス</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月2万円／台</a:t>
            </a:r>
            <a:endParaRPr lang="en-US" sz="900" dirty="0"/>
          </a:p>
        </p:txBody>
      </p:sp>
      <p:sp>
        <p:nvSpPr>
          <p:cNvPr id="26" name="Text 23"/>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記録→写真の自動抽出→日報・写真台帳。録画は月80時間まで</a:t>
            </a:r>
            <a:endParaRPr lang="en-US" sz="850" dirty="0"/>
          </a:p>
        </p:txBody>
      </p:sp>
      <p:sp>
        <p:nvSpPr>
          <p:cNvPr id="27" name="Shape 24"/>
          <p:cNvSpPr/>
          <p:nvPr/>
        </p:nvSpPr>
        <p:spPr>
          <a:xfrm>
            <a:off x="365760" y="3127248"/>
            <a:ext cx="4069080" cy="0"/>
          </a:xfrm>
          <a:prstGeom prst="line">
            <a:avLst/>
          </a:prstGeom>
          <a:noFill/>
          <a:ln w="9525">
            <a:solidFill>
              <a:srgbClr val="BFBFBF"/>
            </a:solidFill>
            <a:prstDash val="solid"/>
          </a:ln>
        </p:spPr>
      </p:sp>
      <p:sp>
        <p:nvSpPr>
          <p:cNvPr id="28" name="Text 25"/>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端末本体</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当社の売上外</a:t>
            </a:r>
            <a:endParaRPr lang="en-US" sz="900" dirty="0"/>
          </a:p>
        </p:txBody>
      </p:sp>
      <p:sp>
        <p:nvSpPr>
          <p:cNvPr id="29" name="Text 26"/>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お客様がリース（カメラ8台＋HMD2台で年約53万円）</a:t>
            </a:r>
            <a:endParaRPr lang="en-US" sz="850" dirty="0"/>
          </a:p>
        </p:txBody>
      </p:sp>
      <p:sp>
        <p:nvSpPr>
          <p:cNvPr id="30" name="Shape 27"/>
          <p:cNvSpPr/>
          <p:nvPr/>
        </p:nvSpPr>
        <p:spPr>
          <a:xfrm>
            <a:off x="365760" y="3456432"/>
            <a:ext cx="4069080" cy="0"/>
          </a:xfrm>
          <a:prstGeom prst="line">
            <a:avLst/>
          </a:prstGeom>
          <a:noFill/>
          <a:ln w="9525">
            <a:solidFill>
              <a:srgbClr val="BFBFBF"/>
            </a:solidFill>
            <a:prstDash val="solid"/>
          </a:ln>
        </p:spPr>
      </p:sp>
      <p:sp>
        <p:nvSpPr>
          <p:cNvPr id="31" name="Text 28"/>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導入支援</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200万円（初年度）</a:t>
            </a:r>
            <a:endParaRPr lang="en-US" sz="900" dirty="0"/>
          </a:p>
        </p:txBody>
      </p:sp>
      <p:sp>
        <p:nvSpPr>
          <p:cNvPr id="32" name="Text 29"/>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当社の担当者が約2か月・42人日、現場に入る</a:t>
            </a:r>
            <a:endParaRPr lang="en-US" sz="850" dirty="0"/>
          </a:p>
        </p:txBody>
      </p:sp>
      <p:sp>
        <p:nvSpPr>
          <p:cNvPr id="33" name="Shape 30"/>
          <p:cNvSpPr/>
          <p:nvPr/>
        </p:nvSpPr>
        <p:spPr>
          <a:xfrm>
            <a:off x="365760" y="3785616"/>
            <a:ext cx="4069080" cy="0"/>
          </a:xfrm>
          <a:prstGeom prst="line">
            <a:avLst/>
          </a:prstGeom>
          <a:noFill/>
          <a:ln w="9525">
            <a:solidFill>
              <a:srgbClr val="BFBFBF"/>
            </a:solidFill>
            <a:prstDash val="solid"/>
          </a:ln>
        </p:spPr>
      </p:sp>
      <p:sp>
        <p:nvSpPr>
          <p:cNvPr id="34" name="Shape 31"/>
          <p:cNvSpPr/>
          <p:nvPr/>
        </p:nvSpPr>
        <p:spPr>
          <a:xfrm>
            <a:off x="365760" y="3858768"/>
            <a:ext cx="4069080" cy="713232"/>
          </a:xfrm>
          <a:prstGeom prst="rect">
            <a:avLst/>
          </a:prstGeom>
          <a:solidFill>
            <a:srgbClr val="1A1A1A"/>
          </a:solidFill>
          <a:ln/>
        </p:spPr>
      </p:sp>
      <p:sp>
        <p:nvSpPr>
          <p:cNvPr id="35" name="Text 32"/>
          <p:cNvSpPr txBox="1"/>
          <p:nvPr/>
        </p:nvSpPr>
        <p:spPr>
          <a:xfrm>
            <a:off x="475488" y="3858768"/>
            <a:ext cx="3849624" cy="713232"/>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1拠点の粗利 年216万円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（300万円−AI・保存84万円＝粗利率72%）</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LTV 約1,571万円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（216万円×7年＋導入支援の粗利59万円）</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CAC 約86万円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（営業3人2,340万円＋広告500万円）÷新規33拠点　LTV/CAC 約18倍</a:t>
            </a:r>
            <a:endParaRPr lang="en-US" sz="800" dirty="0"/>
          </a:p>
        </p:txBody>
      </p:sp>
      <p:sp>
        <p:nvSpPr>
          <p:cNvPr id="36" name="Text 33"/>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お客様から見た回収（1拠点10台・累計・万円）</a:t>
            </a:r>
            <a:endParaRPr lang="en-US" sz="1050" dirty="0"/>
          </a:p>
        </p:txBody>
      </p:sp>
      <p:graphicFrame>
        <p:nvGraphicFramePr>
          <p:cNvPr id="37" name="roi-chart" descr=""/>
          <p:cNvGraphicFramePr/>
          <p:nvPr/>
        </p:nvGraphicFramePr>
        <p:xfrm>
          <a:off x="4617720" y="1307592"/>
          <a:ext cx="4160520" cy="2286000"/>
        </p:xfrm>
        <a:graphic xmlns:a="http://schemas.openxmlformats.org/drawingml/2006/main">
          <a:graphicData uri="http://schemas.openxmlformats.org/drawingml/2006/chart">
            <c:chart xmlns:c="http://schemas.openxmlformats.org/drawingml/2006/chart" r:id="rId1"/>
          </a:graphicData>
        </a:graphic>
      </p:graphicFrame>
      <p:sp>
        <p:nvSpPr>
          <p:cNvPr id="38" name="Text 34"/>
          <p:cNvSpPr txBox="1"/>
          <p:nvPr/>
        </p:nvSpPr>
        <p:spPr>
          <a:xfrm>
            <a:off x="5074920" y="1344168"/>
            <a:ext cx="3200400" cy="201168"/>
          </a:xfrm>
          <a:prstGeom prst="rect">
            <a:avLst/>
          </a:prstGeom>
          <a:noFill/>
          <a:ln/>
        </p:spPr>
        <p:txBody>
          <a:bodyPr wrap="square" lIns="0" tIns="0" rIns="0" bIns="0" rtlCol="0" anchor="t"/>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 得の累計</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払った額の累計（横軸は月）</a:t>
            </a:r>
            <a:endParaRPr lang="en-US" sz="850" dirty="0"/>
          </a:p>
        </p:txBody>
      </p:sp>
      <p:sp>
        <p:nvSpPr>
          <p:cNvPr id="39" name="Text 35"/>
          <p:cNvSpPr txBox="1"/>
          <p:nvPr/>
        </p:nvSpPr>
        <p:spPr>
          <a:xfrm>
            <a:off x="4617720" y="3630168"/>
            <a:ext cx="4160520" cy="457200"/>
          </a:xfrm>
          <a:prstGeom prst="rect">
            <a:avLst/>
          </a:prstGeom>
          <a:noFill/>
          <a:ln/>
        </p:spPr>
        <p:txBody>
          <a:bodyPr wrap="square" lIns="0" tIns="0" rIns="0" bIns="0" rtlCol="0" anchor="t"/>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初年度 約553万円（利用料300＋導入支援200＋リース53）÷ 月約40万円 ＝ 約14か月で回収。2年目からは毎年 得479万円／払う353万円</a:t>
            </a:r>
            <a:endParaRPr lang="en-US" sz="850" dirty="0"/>
          </a:p>
        </p:txBody>
      </p:sp>
      <p:sp>
        <p:nvSpPr>
          <p:cNvPr id="40" name="Text 36"/>
          <p:cNvSpPr txBox="1"/>
          <p:nvPr/>
        </p:nvSpPr>
        <p:spPr>
          <a:xfrm>
            <a:off x="4617720" y="411480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月約40万円＝10台×20日×（職長15分＋施工管理者20分）。手戻りも実測できれば約8か月で回収</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p.25・14〜16</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売り方 ─ 最初の10社は、業界団体・展示会・提携で連れてくる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デモ → 3か月の有償試験導入 → 本契約。大手1社を目玉の事例にして協力会社へ広げる</a:t>
            </a:r>
            <a:endParaRPr lang="en-US" sz="1200" dirty="0"/>
          </a:p>
        </p:txBody>
      </p:sp>
      <p:sp>
        <p:nvSpPr>
          <p:cNvPr id="6" name="Text 3"/>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5年間の積み上げ（顧客側から）</a:t>
            </a:r>
            <a:endParaRPr lang="en-US" sz="1050" dirty="0"/>
          </a:p>
        </p:txBody>
      </p:sp>
      <p:sp>
        <p:nvSpPr>
          <p:cNvPr id="7" name="Shape 4"/>
          <p:cNvSpPr/>
          <p:nvPr/>
        </p:nvSpPr>
        <p:spPr>
          <a:xfrm>
            <a:off x="365760" y="1371600"/>
            <a:ext cx="3840480" cy="384048"/>
          </a:xfrm>
          <a:prstGeom prst="rect">
            <a:avLst/>
          </a:prstGeom>
          <a:solidFill>
            <a:srgbClr val="8C8C8C"/>
          </a:solidFill>
          <a:ln/>
        </p:spPr>
      </p:sp>
      <p:sp>
        <p:nvSpPr>
          <p:cNvPr id="8" name="Text 5"/>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関東の中堅電気工事会社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735社</a:t>
            </a:r>
            <a:endParaRPr lang="en-US" sz="950" dirty="0"/>
          </a:p>
        </p:txBody>
      </p:sp>
      <p:sp>
        <p:nvSpPr>
          <p:cNvPr id="9" name="Shape 6"/>
          <p:cNvSpPr/>
          <p:nvPr/>
        </p:nvSpPr>
        <p:spPr>
          <a:xfrm>
            <a:off x="711403" y="1828800"/>
            <a:ext cx="3149194" cy="384048"/>
          </a:xfrm>
          <a:prstGeom prst="rect">
            <a:avLst/>
          </a:prstGeom>
          <a:solidFill>
            <a:srgbClr val="4D4D4D"/>
          </a:solidFill>
          <a:ln/>
        </p:spPr>
      </p:sp>
      <p:sp>
        <p:nvSpPr>
          <p:cNvPr id="10" name="Text 7"/>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4つの条件に合う（約25%）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180社</a:t>
            </a:r>
            <a:endParaRPr lang="en-US" sz="950" dirty="0"/>
          </a:p>
        </p:txBody>
      </p:sp>
      <p:sp>
        <p:nvSpPr>
          <p:cNvPr id="11" name="Shape 8"/>
          <p:cNvSpPr/>
          <p:nvPr/>
        </p:nvSpPr>
        <p:spPr>
          <a:xfrm>
            <a:off x="1095451" y="2286000"/>
            <a:ext cx="2381098" cy="384048"/>
          </a:xfrm>
          <a:prstGeom prst="rect">
            <a:avLst/>
          </a:prstGeom>
          <a:solidFill>
            <a:srgbClr val="4D4D4D"/>
          </a:solidFill>
          <a:ln/>
        </p:spPr>
      </p:sp>
      <p:sp>
        <p:nvSpPr>
          <p:cNvPr id="12" name="Text 9"/>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会える（60%）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108社</a:t>
            </a:r>
            <a:endParaRPr lang="en-US" sz="950" dirty="0"/>
          </a:p>
        </p:txBody>
      </p:sp>
      <p:sp>
        <p:nvSpPr>
          <p:cNvPr id="13" name="Shape 10"/>
          <p:cNvSpPr/>
          <p:nvPr/>
        </p:nvSpPr>
        <p:spPr>
          <a:xfrm>
            <a:off x="1479499" y="2743200"/>
            <a:ext cx="1613002" cy="384048"/>
          </a:xfrm>
          <a:prstGeom prst="rect">
            <a:avLst/>
          </a:prstGeom>
          <a:solidFill>
            <a:srgbClr val="B8692E"/>
          </a:solidFill>
          <a:ln/>
        </p:spPr>
      </p:sp>
      <p:sp>
        <p:nvSpPr>
          <p:cNvPr id="14" name="Text 11"/>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本契約（30%）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32社</a:t>
            </a:r>
            <a:endParaRPr lang="en-US" sz="950" dirty="0"/>
          </a:p>
        </p:txBody>
      </p:sp>
      <p:sp>
        <p:nvSpPr>
          <p:cNvPr id="15" name="Text 12"/>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A1A1A"/>
                </a:solidFill>
                <a:latin typeface="Meiryo" pitchFamily="34" charset="0"/>
                <a:ea typeface="Meiryo" pitchFamily="34" charset="-122"/>
                <a:cs typeface="Meiryo" pitchFamily="34" charset="-120"/>
              </a:rPr>
              <a:t>＋ それ以外555社から29社（会える35%・本契約15%）</a:t>
            </a:r>
            <a:endParaRPr lang="en-US" sz="950" dirty="0"/>
          </a:p>
          <a:p>
            <a:pPr algn="ctr" indent="0" marL="0">
              <a:lnSpc>
                <a:spcPct val="115000"/>
              </a:lnSpc>
              <a:buNone/>
            </a:pPr>
            <a:r>
              <a:rPr lang="en-US" sz="950" dirty="0">
                <a:solidFill>
                  <a:srgbClr val="1A1A1A"/>
                </a:solidFill>
                <a:latin typeface="Meiryo" pitchFamily="34" charset="0"/>
                <a:ea typeface="Meiryo" pitchFamily="34" charset="-122"/>
                <a:cs typeface="Meiryo" pitchFamily="34" charset="-120"/>
              </a:rPr>
              <a:t>×1社1.3拠点＋大手1社5拠点＝約85拠点。解約を引いた計画は81拠点</a:t>
            </a:r>
            <a:endParaRPr lang="en-US" sz="950" dirty="0"/>
          </a:p>
        </p:txBody>
      </p:sp>
      <p:sp>
        <p:nvSpPr>
          <p:cNvPr id="16" name="Text 13"/>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接点と役割</a:t>
            </a:r>
            <a:endParaRPr lang="en-US" sz="1050" dirty="0"/>
          </a:p>
        </p:txBody>
      </p:sp>
      <p:graphicFrame>
        <p:nvGraphicFramePr>
          <p:cNvPr id="18"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接点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何をするか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業界団体・地域の工業組合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勉強会で「2024年問題と書類の削減」を話す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電設の展示会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デモアプリで、自分の工事で試す体験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スマートグラスのメーカー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端末とセットで提案（代理店）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施工管理アプリとの連携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各社の形式で出力。競わず並べて使う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大手電気工事会社1社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目玉の事例。協力会社へ同じ形式で広がる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8" name="Shape 14"/>
          <p:cNvSpPr/>
          <p:nvPr/>
        </p:nvSpPr>
        <p:spPr>
          <a:xfrm>
            <a:off x="365760" y="3246120"/>
            <a:ext cx="8412480" cy="594360"/>
          </a:xfrm>
          <a:prstGeom prst="rect">
            <a:avLst/>
          </a:prstGeom>
          <a:solidFill>
            <a:srgbClr val="F2F2F2"/>
          </a:solidFill>
          <a:ln/>
        </p:spPr>
      </p:sp>
      <p:sp>
        <p:nvSpPr>
          <p:cNvPr id="19" name="Text 15"/>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デモ</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1か月</a:t>
            </a:r>
            <a:endParaRPr lang="en-US" sz="1050" dirty="0"/>
          </a:p>
        </p:txBody>
      </p:sp>
      <p:sp>
        <p:nvSpPr>
          <p:cNvPr id="20" name="Shape 16"/>
          <p:cNvSpPr/>
          <p:nvPr/>
        </p:nvSpPr>
        <p:spPr>
          <a:xfrm>
            <a:off x="2286000" y="3547872"/>
            <a:ext cx="228600" cy="0"/>
          </a:xfrm>
          <a:prstGeom prst="line">
            <a:avLst/>
          </a:prstGeom>
          <a:noFill/>
          <a:ln w="25400">
            <a:solidFill>
              <a:srgbClr val="1A1A1A"/>
            </a:solidFill>
            <a:prstDash val="solid"/>
            <a:tailEnd type="triangle"/>
          </a:ln>
        </p:spPr>
      </p:sp>
      <p:sp>
        <p:nvSpPr>
          <p:cNvPr id="21" name="Text 17"/>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有償試験導入</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3か月・導入支援200万円</a:t>
            </a:r>
            <a:endParaRPr lang="en-US" sz="1050" dirty="0"/>
          </a:p>
        </p:txBody>
      </p:sp>
      <p:sp>
        <p:nvSpPr>
          <p:cNvPr id="22" name="Shape 18"/>
          <p:cNvSpPr/>
          <p:nvPr/>
        </p:nvSpPr>
        <p:spPr>
          <a:xfrm>
            <a:off x="4361688" y="3547872"/>
            <a:ext cx="228600" cy="0"/>
          </a:xfrm>
          <a:prstGeom prst="line">
            <a:avLst/>
          </a:prstGeom>
          <a:noFill/>
          <a:ln w="25400">
            <a:solidFill>
              <a:srgbClr val="1A1A1A"/>
            </a:solidFill>
            <a:prstDash val="solid"/>
            <a:tailEnd type="triangle"/>
          </a:ln>
        </p:spPr>
      </p:sp>
      <p:sp>
        <p:nvSpPr>
          <p:cNvPr id="23" name="Text 19"/>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本契約</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年300万円・年額前払い</a:t>
            </a:r>
            <a:endParaRPr lang="en-US" sz="1050" dirty="0"/>
          </a:p>
        </p:txBody>
      </p:sp>
      <p:sp>
        <p:nvSpPr>
          <p:cNvPr id="24" name="Shape 20"/>
          <p:cNvSpPr/>
          <p:nvPr/>
        </p:nvSpPr>
        <p:spPr>
          <a:xfrm>
            <a:off x="6437376" y="3547872"/>
            <a:ext cx="228600" cy="0"/>
          </a:xfrm>
          <a:prstGeom prst="line">
            <a:avLst/>
          </a:prstGeom>
          <a:noFill/>
          <a:ln w="25400">
            <a:solidFill>
              <a:srgbClr val="1A1A1A"/>
            </a:solidFill>
            <a:prstDash val="solid"/>
            <a:tailEnd type="triangle"/>
          </a:ln>
        </p:spPr>
      </p:sp>
      <p:sp>
        <p:nvSpPr>
          <p:cNvPr id="25" name="Text 21"/>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紹介</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協力会社・同業へ</a:t>
            </a:r>
            <a:endParaRPr lang="en-US" sz="1050" dirty="0"/>
          </a:p>
        </p:txBody>
      </p:sp>
      <p:sp>
        <p:nvSpPr>
          <p:cNvPr id="26" name="Shape 22"/>
          <p:cNvSpPr/>
          <p:nvPr/>
        </p:nvSpPr>
        <p:spPr>
          <a:xfrm>
            <a:off x="365760" y="3931920"/>
            <a:ext cx="8412480" cy="502920"/>
          </a:xfrm>
          <a:prstGeom prst="rect">
            <a:avLst/>
          </a:prstGeom>
          <a:solidFill>
            <a:srgbClr val="1A1A1A"/>
          </a:solidFill>
          <a:ln/>
        </p:spPr>
      </p:sp>
      <p:sp>
        <p:nvSpPr>
          <p:cNvPr id="27" name="Text 23"/>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最初の10社：</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準備期に有償試験3社 → 1年目に本契約3社＋試験導入 → 2年目に累計12拠点。商談期間は4〜6か月を見込む</a:t>
            </a:r>
            <a:endParaRPr lang="en-US" sz="950" dirty="0"/>
          </a:p>
        </p:txBody>
      </p:sp>
      <p:sp>
        <p:nvSpPr>
          <p:cNvPr id="28" name="Text 2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4つの条件：施工管理者30人以上・電力や官公庁の工事が多い・手戻りが高くつく工種がある・デジタル化の素地。率はすべて仮定で、最初の3社で実測する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p.14〜16・18</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売上予測 ─ 拠点×月25万円。5年目は月約2,240万円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利用料が毎年積み上がり（解約は年10%で引く）、導入支援と受託開発は新規拠点の数に比例する</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成長曲線（百万円）</a:t>
            </a:r>
            <a:endParaRPr lang="en-US" sz="1050" dirty="0"/>
          </a:p>
        </p:txBody>
      </p:sp>
      <p:sp>
        <p:nvSpPr>
          <p:cNvPr id="7" name="Text 4"/>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累積営業損益</a:t>
            </a:r>
            <a:endParaRPr lang="en-US" sz="800" dirty="0"/>
          </a:p>
        </p:txBody>
      </p:sp>
      <p:graphicFrame>
        <p:nvGraphicFramePr>
          <p:cNvPr id="8"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9" name="monthly"/>
          <p:cNvSpPr/>
          <p:nvPr/>
        </p:nvSpPr>
        <p:spPr>
          <a:xfrm>
            <a:off x="365760" y="3520440"/>
            <a:ext cx="4069080" cy="960120"/>
          </a:xfrm>
          <a:prstGeom prst="rect">
            <a:avLst/>
          </a:prstGeom>
          <a:solidFill>
            <a:srgbClr val="1A1A1A"/>
          </a:solidFill>
          <a:ln/>
        </p:spPr>
      </p:sp>
      <p:sp>
        <p:nvSpPr>
          <p:cNvPr id="10" name="Text 6"/>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Meiryo" pitchFamily="34" charset="0"/>
                <a:ea typeface="Meiryo" pitchFamily="34" charset="-122"/>
                <a:cs typeface="Meiryo" pitchFamily="34" charset="-120"/>
              </a:rPr>
              <a:t>月次売上の根拠（5年目の月平均 約2,242万円）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利用料 約1,613万円 ＝ 月25万円×（継続48拠点＋新規33拠点×半年）</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導入支援 約550万円 ＝ 200万円×新規33拠点÷12</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受託開発 約79万円</a:t>
            </a:r>
            <a:endParaRPr lang="en-US" sz="850" dirty="0"/>
          </a:p>
        </p:txBody>
      </p:sp>
      <p:sp>
        <p:nvSpPr>
          <p:cNvPr id="11" name="Text 7"/>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費用の内訳（万円）</a:t>
            </a:r>
            <a:endParaRPr lang="en-US" sz="1050" dirty="0"/>
          </a:p>
        </p:txBody>
      </p:sp>
      <p:graphicFrame>
        <p:nvGraphicFramePr>
          <p:cNvPr id="19"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46888">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3年目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社員数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11名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21名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人件費（販管費分・会社負担込み）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2,738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6,323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12,453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383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390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オフィス（賃料＋共益費）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広告・展示会</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交通（営業・定着支援）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150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端末・ツール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専門家・社外顧問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330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雑費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190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販管費 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4,348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8,485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15,423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所在地案：川崎市（関東一円へ日帰り）。人件費は役割別の年収×1.2。導入支援・受託に回った人件費は原価へ</a:t>
            </a:r>
            <a:endParaRPr lang="en-US" sz="800" dirty="0"/>
          </a:p>
        </p:txBody>
      </p:sp>
      <p:sp>
        <p:nvSpPr>
          <p:cNvPr id="14" name="Text 9"/>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売上の内訳：既存顧客の利用料（（前年末拠点−解約）×300万円）＋新規の利用料（新規×300万円×0.5）＋導入支援（新規×200万円）＋受託開発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p.19</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損益分岐点 ─ 5年目に超え、余裕率は5%</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損益分岐点売上＝販管費（固定費）÷粗利率</a:t>
            </a:r>
            <a:endParaRPr lang="en-US" sz="1200" dirty="0"/>
          </a:p>
        </p:txBody>
      </p:sp>
      <p:sp>
        <p:nvSpPr>
          <p:cNvPr id="6" name="Text 3"/>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 実際の売上</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損益分岐点売上（百万円）</a:t>
            </a:r>
            <a:endParaRPr lang="en-US" sz="850" dirty="0"/>
          </a:p>
        </p:txBody>
      </p:sp>
      <p:graphicFrame>
        <p:nvGraphicFramePr>
          <p:cNvPr id="7"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販管費（固定費）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85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131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損益分岐点売上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227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256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実際の売上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安全余裕率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bep-people"/>
          <p:cNvSpPr/>
          <p:nvPr/>
        </p:nvSpPr>
        <p:spPr>
          <a:xfrm>
            <a:off x="5349240" y="3108960"/>
            <a:ext cx="3429000" cy="1216152"/>
          </a:xfrm>
          <a:prstGeom prst="rect">
            <a:avLst/>
          </a:prstGeom>
          <a:solidFill>
            <a:srgbClr val="1A1A1A"/>
          </a:solidFill>
          <a:ln/>
        </p:spPr>
      </p:sp>
      <p:sp>
        <p:nvSpPr>
          <p:cNvPr id="10" name="Text 5"/>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販管費／人 734万円 ÷ 粗利／拠点 216万円 ＝ 3.4</a:t>
            </a:r>
            <a:endParaRPr lang="en-US" sz="900" dirty="0"/>
          </a:p>
          <a:p>
            <a:pPr algn="l" indent="0" marL="0">
              <a:lnSpc>
                <a:spcPct val="115000"/>
              </a:lnSpc>
              <a:spcAft>
                <a:spcPts val="200"/>
              </a:spcAft>
              <a:buNone/>
            </a:pPr>
            <a:r>
              <a:rPr lang="en-US" sz="900" b="1" dirty="0">
                <a:solidFill>
                  <a:srgbClr val="FFFFFF"/>
                </a:solidFill>
                <a:latin typeface="Meiryo" pitchFamily="34" charset="0"/>
                <a:ea typeface="Meiryo" pitchFamily="34" charset="-122"/>
                <a:cs typeface="Meiryo" pitchFamily="34" charset="-120"/>
              </a:rPr>
              <a:t>新規は初年度半額 → 期末で1人約4拠点が目安</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4年目 3.12（未達）→ 5年目 3.86（黒字）</a:t>
            </a:r>
            <a:endParaRPr lang="en-US" sz="900" dirty="0"/>
          </a:p>
        </p:txBody>
      </p:sp>
      <p:sp>
        <p:nvSpPr>
          <p:cNvPr id="11" name="Text 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安全余裕率＝（売上−損益分岐点売上）÷売上。1〜2年目の損益分岐点売上は166・125百万円（売上12・48百万円）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p.23</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資金計画・CF ─ 黒字倒産させない仕組みを先に置く</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必要資金1.8億円を段階的に調達し、現金残高が最も薄い4年目でも約4,000万円を残す</a:t>
            </a:r>
            <a:endParaRPr lang="en-US" sz="1200" dirty="0"/>
          </a:p>
        </p:txBody>
      </p:sp>
      <p:sp>
        <p:nvSpPr>
          <p:cNvPr id="6" name="Text 3"/>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調達の内訳（必要資金1.8億円）</a:t>
            </a:r>
            <a:endParaRPr lang="en-US" sz="1050" dirty="0"/>
          </a:p>
        </p:txBody>
      </p:sp>
      <p:graphicFrame>
        <p:nvGraphicFramePr>
          <p:cNvPr id="21"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731520"/>
                <a:gridCol w="1554480"/>
                <a:gridCol w="868680"/>
                <a:gridCol w="777240"/>
              </a:tblGrid>
              <a:tr h="310896">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時期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手段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金額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目的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準備期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自己資金・創業補助金（予定）</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試作品・実証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 期首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日本政策金融公庫</a:t>
                      </a:r>
                      <a:endParaRPr lang="en-US" sz="800" dirty="0">
                        <a:latin typeface="Meiryo" charset="0"/>
                        <a:ea typeface="Meiryo" charset="0"/>
                        <a:cs typeface="Meiryo" charset="0"/>
                      </a:endParaRPr>
                    </a:p>
                    <a:p>
                      <a:pPr algn="l" indent="0" marL="0">
                        <a:buNone/>
                      </a:pPr>
                      <a:r>
                        <a:rPr lang="en-US" sz="800" dirty="0">
                          <a:solidFill>
                            <a:srgbClr val="1A1A1A"/>
                          </a:solidFill>
                          <a:latin typeface="Meiryo" pitchFamily="34" charset="0"/>
                          <a:ea typeface="Meiryo" pitchFamily="34" charset="-122"/>
                          <a:cs typeface="Meiryo" pitchFamily="34" charset="-120"/>
                        </a:rPr>
                        <a:t>新規開業・スタートアップ支援資金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運転資金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 年央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CVC・VC（電設・建設テック）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1億1,500万円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人員・開発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シリーズA（2年目の実績で交渉）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人員・販売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1億8,000万円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予備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公庫 資本性ローン</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遅延時のみ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期末の現金残高（百万円）</a:t>
            </a:r>
            <a:endParaRPr lang="en-US" sz="1050" dirty="0"/>
          </a:p>
        </p:txBody>
      </p:sp>
      <p:sp>
        <p:nvSpPr>
          <p:cNvPr id="9" name="Text 5"/>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現金残高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最低残高（固定費3か月分）</a:t>
            </a:r>
            <a:endParaRPr lang="en-US" sz="800" dirty="0"/>
          </a:p>
        </p:txBody>
      </p:sp>
      <p:graphicFrame>
        <p:nvGraphicFramePr>
          <p:cNvPr id="10"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1" name="anti-bankruptcy"/>
          <p:cNvSpPr/>
          <p:nvPr/>
        </p:nvSpPr>
        <p:spPr>
          <a:xfrm>
            <a:off x="4526280" y="3429000"/>
            <a:ext cx="4251960" cy="1051560"/>
          </a:xfrm>
          <a:prstGeom prst="rect">
            <a:avLst/>
          </a:prstGeom>
          <a:solidFill>
            <a:srgbClr val="1A1A1A"/>
          </a:solidFill>
          <a:ln/>
        </p:spPr>
      </p:sp>
      <p:sp>
        <p:nvSpPr>
          <p:cNvPr id="12" name="Text 7"/>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黒字倒産を防ぐ4つのルール</a:t>
            </a:r>
            <a:endParaRPr lang="en-US" sz="1050" dirty="0"/>
          </a:p>
        </p:txBody>
      </p:sp>
      <p:sp>
        <p:nvSpPr>
          <p:cNvPr id="13" name="Text 8"/>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② 現金残高が固定費3か月分を下回る前に、追加調達を始める</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④ シリーズAは2年目末の継続率・台数で交渉し、未達なら採用を絞る</a:t>
            </a:r>
            <a:endParaRPr lang="en-US" sz="850" dirty="0"/>
          </a:p>
        </p:txBody>
      </p:sp>
      <p:sp>
        <p:nvSpPr>
          <p:cNvPr id="14" name="Text 9"/>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簡易計算（税・償却・返済・運転資本を除く）。固定費3か月分＝4年目の販管費131百万円÷4。出資が前提で、公庫だけなら1年目から現金不足</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p.21〜22</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黒字化の条件 ─ 鍵は拠点数より、1拠点の台数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10台のままでは計画の9割を割ると5年で黒字にならない。15台に増やせれば6割でも5年目に黒字</a:t>
            </a:r>
            <a:endParaRPr lang="en-US" sz="1200" dirty="0"/>
          </a:p>
        </p:txBody>
      </p:sp>
      <p:sp>
        <p:nvSpPr>
          <p:cNvPr id="6" name="Text 3"/>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新規拠点が計画に届かなかったら（採用も拠点数に合わせて遅らせる・百万円）</a:t>
            </a:r>
            <a:endParaRPr lang="en-US" sz="1000" dirty="0"/>
          </a:p>
        </p:txBody>
      </p:sp>
      <p:graphicFrame>
        <p:nvGraphicFramePr>
          <p:cNvPr id="22"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新規の達成度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新規拠点（1〜5年目）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計画どおり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4D4D4D"/>
                          </a:solidFill>
                          <a:latin typeface="Meiryo" pitchFamily="34" charset="0"/>
                          <a:ea typeface="Meiryo" pitchFamily="34" charset="-122"/>
                          <a:cs typeface="Meiryo" pitchFamily="34" charset="-120"/>
                        </a:rPr>
                        <a:t>3・9・18・27・33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計画の9割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3・8・16・24・30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計画の8割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2・7・14・22・26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計画の7割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2・6・13・19・23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▲15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計画の6割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2・5・11・16・20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▲19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-14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108960" y="1298448"/>
            <a:ext cx="278892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1拠点10台のまま</a:t>
            </a:r>
            <a:endParaRPr lang="en-US" sz="850" dirty="0"/>
          </a:p>
        </p:txBody>
      </p:sp>
      <p:sp>
        <p:nvSpPr>
          <p:cNvPr id="9" name="Text 5"/>
          <p:cNvSpPr txBox="1"/>
          <p:nvPr/>
        </p:nvSpPr>
        <p:spPr>
          <a:xfrm>
            <a:off x="5897880" y="1298448"/>
            <a:ext cx="288036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B8692E"/>
                </a:solidFill>
                <a:latin typeface="Meiryo" pitchFamily="34" charset="0"/>
                <a:ea typeface="Meiryo" pitchFamily="34" charset="-122"/>
                <a:cs typeface="Meiryo" pitchFamily="34" charset="-120"/>
              </a:rPr>
              <a:t>1拠点15台に増やせた場合</a:t>
            </a:r>
            <a:endParaRPr lang="en-US" sz="850" dirty="0"/>
          </a:p>
        </p:txBody>
      </p:sp>
      <p:sp>
        <p:nvSpPr>
          <p:cNvPr id="10" name="Text 6"/>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進む・直す・止まるの線（案）</a:t>
            </a:r>
            <a:endParaRPr lang="en-US" sz="1000" dirty="0"/>
          </a:p>
        </p:txBody>
      </p:sp>
      <p:graphicFrame>
        <p:nvGraphicFramePr>
          <p:cNvPr id="43"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測るもの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進む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止まる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1台1日の削減時間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26分以上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15〜26分：機能を写真台帳に絞る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15分未満：撤退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試験導入3社の本契約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2社以上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1社：値段と顧客を見直す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0社：撤退か方向転換</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新規拠点・1拠点の台数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5拠点以上・平均12台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5拠点未満：採用を止める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シリーズAの交渉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未達：調達額と採用を絞る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新規拠点・受託を同じ割合で減らし、社員数＝4＋（計画−4）×達成度で採用も遅らせた簡易計算。15台はカメラ12台＋HMD3台</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35040" y="54864"/>
            <a:ext cx="27432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計算の詳細：詳細版 p.17</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⑦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チーム ─ 現場と技術を揃え、顧問とパートナーで補う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創業者の経歴・チームメンバーのスキル・外部パートナーと顧問</a:t>
            </a:r>
            <a:endParaRPr lang="en-US" sz="1200" dirty="0"/>
          </a:p>
        </p:txBody>
      </p:sp>
      <p:sp>
        <p:nvSpPr>
          <p:cNvPr id="6" name="founder"/>
          <p:cNvSpPr/>
          <p:nvPr/>
        </p:nvSpPr>
        <p:spPr>
          <a:xfrm>
            <a:off x="365760" y="1051560"/>
            <a:ext cx="3108960" cy="3383280"/>
          </a:xfrm>
          <a:prstGeom prst="rect">
            <a:avLst/>
          </a:prstGeom>
          <a:solidFill>
            <a:srgbClr val="1A1A1A"/>
          </a:solidFill>
          <a:ln/>
        </p:spPr>
      </p:sp>
      <p:sp>
        <p:nvSpPr>
          <p:cNvPr id="7" name="Text 4"/>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代表取締役 CEO</a:t>
            </a:r>
            <a:endParaRPr lang="en-US" sz="1400" dirty="0"/>
          </a:p>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代表（創業者）</a:t>
            </a:r>
            <a:endParaRPr lang="en-US" sz="1400" dirty="0"/>
          </a:p>
        </p:txBody>
      </p:sp>
      <p:sp>
        <p:nvSpPr>
          <p:cNvPr id="8" name="Text 5"/>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1級電気工事施工管理技士・G検定・大学院修了</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専念する時期：＿＿＿＿（記入）</a:t>
            </a:r>
            <a:endParaRPr lang="en-US" sz="950" dirty="0"/>
          </a:p>
        </p:txBody>
      </p:sp>
      <p:sp>
        <p:nvSpPr>
          <p:cNvPr id="9" name="Text 6"/>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チームと外部の体制</a:t>
            </a:r>
            <a:endParaRPr lang="en-US" sz="1050" dirty="0"/>
          </a:p>
        </p:txBody>
      </p:sp>
      <p:graphicFrame>
        <p:nvGraphicFramePr>
          <p:cNvPr id="23"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325880"/>
                <a:gridCol w="822960"/>
                <a:gridCol w="2240280"/>
                <a:gridCol w="77724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役割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人数 1→5年目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主な仕事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状況</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CTO</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1→1人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映像AI・データ基盤の設計と開発の責任者</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（記入）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エンジニア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1→5人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アプリ・AI処理・クラウド・端末連携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（記入）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現場監修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1→2人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映像の意味づけ・工種の型・品質の確認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（記入）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カスタマーサクセス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0→6人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導入支援（1人年6拠点）と定着の支援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（記入）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営業</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0→3人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商談・試験導入の提案。年30商談／人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（記入）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管理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0→2人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採用・労務・経理・契約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（記入）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戦略企画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0→1人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価格・提携・大手顧客の企画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（記入）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社外顧問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映像AI（大学）・電気工事業界のOB</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（記入）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パートナー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スマートグラスのメーカー・リース会社</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（記入）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proof"/>
          <p:cNvSpPr/>
          <p:nvPr/>
        </p:nvSpPr>
        <p:spPr>
          <a:xfrm>
            <a:off x="3611880" y="3931920"/>
            <a:ext cx="5166360" cy="502920"/>
          </a:xfrm>
          <a:prstGeom prst="rect">
            <a:avLst/>
          </a:prstGeom>
          <a:solidFill>
            <a:srgbClr val="F2F2F2"/>
          </a:solidFill>
          <a:ln/>
        </p:spPr>
      </p:sp>
      <p:sp>
        <p:nvSpPr>
          <p:cNvPr id="12" name="Text 8"/>
          <p:cNvSpPr txBox="1"/>
          <p:nvPr/>
        </p:nvSpPr>
        <p:spPr>
          <a:xfrm>
            <a:off x="3749040" y="3931920"/>
            <a:ext cx="4892040" cy="50292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実行力の証拠：</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音声の自動配信は毎朝稼働中。本日のデモアプリも自作。最初の3か月で試作品を出す</a:t>
            </a:r>
            <a:endParaRPr lang="en-US" sz="95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状況欄は確定・内諾・打診中・募集中のいずれかを記入する。社員は5年目に21人（役割別の年収は詳細版 p.17）</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事業のライフサイクル ─ 成熟期には上場を目指す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解決策の3段階を、導入期・成長期・成熟期に重ねる</a:t>
            </a:r>
            <a:endParaRPr lang="en-US" sz="1200" dirty="0"/>
          </a:p>
        </p:txBody>
      </p:sp>
      <p:sp>
        <p:nvSpPr>
          <p:cNvPr id="5" name="life-0"/>
          <p:cNvSpPr/>
          <p:nvPr/>
        </p:nvSpPr>
        <p:spPr>
          <a:xfrm>
            <a:off x="365760" y="1737360"/>
            <a:ext cx="2715768" cy="2148840"/>
          </a:xfrm>
          <a:prstGeom prst="rect">
            <a:avLst/>
          </a:prstGeom>
          <a:solidFill>
            <a:srgbClr val="F2F2F2"/>
          </a:solidFill>
          <a:ln/>
        </p:spPr>
      </p:sp>
      <p:sp>
        <p:nvSpPr>
          <p:cNvPr id="6" name="Text 3"/>
          <p:cNvSpPr txBox="1"/>
          <p:nvPr/>
        </p:nvSpPr>
        <p:spPr>
          <a:xfrm>
            <a:off x="502920" y="182880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1A1A1A"/>
                </a:solidFill>
                <a:latin typeface="Meiryo" pitchFamily="34" charset="0"/>
                <a:ea typeface="Meiryo" pitchFamily="34" charset="-122"/>
                <a:cs typeface="Meiryo" pitchFamily="34" charset="-120"/>
              </a:rPr>
              <a:t>導入期</a:t>
            </a:r>
            <a:endParaRPr lang="en-US" sz="1400" dirty="0"/>
          </a:p>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準備期〜2年目</a:t>
            </a:r>
            <a:endParaRPr lang="en-US" sz="1400" dirty="0"/>
          </a:p>
        </p:txBody>
      </p:sp>
      <p:sp>
        <p:nvSpPr>
          <p:cNvPr id="7" name="Text 4"/>
          <p:cNvSpPr txBox="1"/>
          <p:nvPr/>
        </p:nvSpPr>
        <p:spPr>
          <a:xfrm>
            <a:off x="502920" y="242316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記録と報告を自動に</a:t>
            </a:r>
            <a:endParaRPr lang="en-US" sz="1100" dirty="0"/>
          </a:p>
        </p:txBody>
      </p:sp>
      <p:sp>
        <p:nvSpPr>
          <p:cNvPr id="8" name="Text 5"/>
          <p:cNvSpPr txBox="1"/>
          <p:nvPr/>
        </p:nvSpPr>
        <p:spPr>
          <a:xfrm>
            <a:off x="502920" y="274320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・関東の電気工事会社3社で有償試験導入</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・赤字。準備期の6か月で試作品と実証</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・資金：出資・公庫融資・CVC</a:t>
            </a:r>
            <a:endParaRPr lang="en-US" sz="950" dirty="0"/>
          </a:p>
        </p:txBody>
      </p:sp>
      <p:sp>
        <p:nvSpPr>
          <p:cNvPr id="9" name="life-1"/>
          <p:cNvSpPr/>
          <p:nvPr/>
        </p:nvSpPr>
        <p:spPr>
          <a:xfrm>
            <a:off x="3214116" y="1417320"/>
            <a:ext cx="2715768" cy="2468880"/>
          </a:xfrm>
          <a:prstGeom prst="rect">
            <a:avLst/>
          </a:prstGeom>
          <a:solidFill>
            <a:srgbClr val="4D4D4D"/>
          </a:solidFill>
          <a:ln/>
        </p:spPr>
      </p:sp>
      <p:sp>
        <p:nvSpPr>
          <p:cNvPr id="10" name="Text 7"/>
          <p:cNvSpPr txBox="1"/>
          <p:nvPr/>
        </p:nvSpPr>
        <p:spPr>
          <a:xfrm>
            <a:off x="3351276" y="150876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FFFFFF"/>
                </a:solidFill>
                <a:latin typeface="Meiryo" pitchFamily="34" charset="0"/>
                <a:ea typeface="Meiryo" pitchFamily="34" charset="-122"/>
                <a:cs typeface="Meiryo" pitchFamily="34" charset="-120"/>
              </a:rPr>
              <a:t>成長期</a:t>
            </a:r>
            <a:endParaRPr lang="en-US" sz="140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3〜5年目</a:t>
            </a:r>
            <a:endParaRPr lang="en-US" sz="1400" dirty="0"/>
          </a:p>
        </p:txBody>
      </p:sp>
      <p:sp>
        <p:nvSpPr>
          <p:cNvPr id="11" name="Text 8"/>
          <p:cNvSpPr txBox="1"/>
          <p:nvPr/>
        </p:nvSpPr>
        <p:spPr>
          <a:xfrm>
            <a:off x="3351276" y="210312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照合して品質を守る</a:t>
            </a:r>
            <a:endParaRPr lang="en-US" sz="1100" dirty="0"/>
          </a:p>
        </p:txBody>
      </p:sp>
      <p:sp>
        <p:nvSpPr>
          <p:cNvPr id="12" name="Text 9"/>
          <p:cNvSpPr txBox="1"/>
          <p:nvPr/>
        </p:nvSpPr>
        <p:spPr>
          <a:xfrm>
            <a:off x="3351276" y="242316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・29→81拠点。効果が出た班から台数を増やす</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・5年目に黒字化。15台にできれば4年目</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・資金：シリーズA＋予備の資本性ローン</a:t>
            </a:r>
            <a:endParaRPr lang="en-US" sz="950" dirty="0"/>
          </a:p>
        </p:txBody>
      </p:sp>
      <p:sp>
        <p:nvSpPr>
          <p:cNvPr id="13" name="life-2"/>
          <p:cNvSpPr/>
          <p:nvPr/>
        </p:nvSpPr>
        <p:spPr>
          <a:xfrm>
            <a:off x="6062472" y="1097280"/>
            <a:ext cx="2715768" cy="2788920"/>
          </a:xfrm>
          <a:prstGeom prst="rect">
            <a:avLst/>
          </a:prstGeom>
          <a:solidFill>
            <a:srgbClr val="1A1A1A"/>
          </a:solidFill>
          <a:ln/>
        </p:spPr>
      </p:sp>
      <p:sp>
        <p:nvSpPr>
          <p:cNvPr id="14" name="Text 11"/>
          <p:cNvSpPr txBox="1"/>
          <p:nvPr/>
        </p:nvSpPr>
        <p:spPr>
          <a:xfrm>
            <a:off x="6199632" y="118872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FFFFFF"/>
                </a:solidFill>
                <a:latin typeface="Meiryo" pitchFamily="34" charset="0"/>
                <a:ea typeface="Meiryo" pitchFamily="34" charset="-122"/>
                <a:cs typeface="Meiryo" pitchFamily="34" charset="-120"/>
              </a:rPr>
              <a:t>成熟期</a:t>
            </a:r>
            <a:endParaRPr lang="en-US" sz="140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6年目〜</a:t>
            </a:r>
            <a:endParaRPr lang="en-US" sz="1400" dirty="0"/>
          </a:p>
        </p:txBody>
      </p:sp>
      <p:sp>
        <p:nvSpPr>
          <p:cNvPr id="15" name="Text 12"/>
          <p:cNvSpPr txBox="1"/>
          <p:nvPr/>
        </p:nvSpPr>
        <p:spPr>
          <a:xfrm>
            <a:off x="6199632" y="178308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作業をAIが学ぶ（フィジカルAI）</a:t>
            </a:r>
            <a:endParaRPr lang="en-US" sz="1100" dirty="0"/>
          </a:p>
        </p:txBody>
      </p:sp>
      <p:sp>
        <p:nvSpPr>
          <p:cNvPr id="16" name="Text 13"/>
          <p:cNvSpPr txBox="1"/>
          <p:nvPr/>
        </p:nvSpPr>
        <p:spPr>
          <a:xfrm>
            <a:off x="6199632" y="210312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・電線・素材の工場へ拡大、海外へ輸出</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・蓄積した作業データでロボットに教える</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・上場を目指す（資本市場から調達）</a:t>
            </a:r>
            <a:endParaRPr lang="en-US" sz="950" dirty="0"/>
          </a:p>
        </p:txBody>
      </p:sp>
      <p:sp>
        <p:nvSpPr>
          <p:cNvPr id="17" name="Shape 14"/>
          <p:cNvSpPr/>
          <p:nvPr/>
        </p:nvSpPr>
        <p:spPr>
          <a:xfrm>
            <a:off x="365760" y="3977640"/>
            <a:ext cx="8412480" cy="502920"/>
          </a:xfrm>
          <a:prstGeom prst="rect">
            <a:avLst/>
          </a:prstGeom>
          <a:solidFill>
            <a:srgbClr val="F2F2F2"/>
          </a:solidFill>
          <a:ln/>
        </p:spPr>
      </p:sp>
      <p:sp>
        <p:nvSpPr>
          <p:cNvPr id="18" name="Text 15"/>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国の方針：</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「暗黙知が豊富な現場へのバーティカルAIの開発・実装を推進し、輸出も促進する」─ 内閣府「人工知能基本計画」（令和8年7月14日 閣議決定）</a:t>
            </a:r>
            <a:endParaRPr lang="en-US" sz="950" dirty="0"/>
          </a:p>
        </p:txBody>
      </p:sp>
      <p:sp>
        <p:nvSpPr>
          <p:cNvPr id="19" name="Text 16"/>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上場は目標であり、時期・市場は成長期の実績を見て判断する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準備期の6か月 ─ 最初の1拠点を動かす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費用は約500万円。自己資金と補助金でまかない、創業者の給料はゼロ</a:t>
            </a:r>
            <a:endParaRPr lang="en-US" sz="1200" dirty="0"/>
          </a:p>
        </p:txBody>
      </p:sp>
      <p:sp>
        <p:nvSpPr>
          <p:cNvPr id="5" name="Text 2"/>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準備期の費用（万円）</a:t>
            </a:r>
            <a:endParaRPr lang="en-US" sz="1050" dirty="0"/>
          </a:p>
        </p:txBody>
      </p:sp>
      <p:sp>
        <p:nvSpPr>
          <p:cNvPr id="6" name="Text 3"/>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試作品の開発</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クラウド・生成AI・外注エンジニア</a:t>
            </a:r>
            <a:endParaRPr lang="en-US" sz="950" dirty="0"/>
          </a:p>
        </p:txBody>
      </p:sp>
      <p:sp>
        <p:nvSpPr>
          <p:cNvPr id="7" name="Shape 4"/>
          <p:cNvSpPr/>
          <p:nvPr/>
        </p:nvSpPr>
        <p:spPr>
          <a:xfrm>
            <a:off x="2103120" y="1435608"/>
            <a:ext cx="1737360" cy="237744"/>
          </a:xfrm>
          <a:prstGeom prst="rect">
            <a:avLst/>
          </a:prstGeom>
          <a:solidFill>
            <a:srgbClr val="1A1A1A"/>
          </a:solidFill>
          <a:ln/>
        </p:spPr>
      </p:sp>
      <p:sp>
        <p:nvSpPr>
          <p:cNvPr id="8" name="Text 5"/>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250</a:t>
            </a:r>
            <a:endParaRPr lang="en-US" sz="1100" dirty="0"/>
          </a:p>
        </p:txBody>
      </p:sp>
      <p:sp>
        <p:nvSpPr>
          <p:cNvPr id="9" name="Text 6"/>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端末・機材</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スマートグラス・ヘルメットカメラ 数台</a:t>
            </a:r>
            <a:endParaRPr lang="en-US" sz="950" dirty="0"/>
          </a:p>
        </p:txBody>
      </p:sp>
      <p:sp>
        <p:nvSpPr>
          <p:cNvPr id="10" name="Shape 7"/>
          <p:cNvSpPr/>
          <p:nvPr/>
        </p:nvSpPr>
        <p:spPr>
          <a:xfrm>
            <a:off x="2103120" y="1892808"/>
            <a:ext cx="555955" cy="237744"/>
          </a:xfrm>
          <a:prstGeom prst="rect">
            <a:avLst/>
          </a:prstGeom>
          <a:solidFill>
            <a:srgbClr val="1A1A1A"/>
          </a:solidFill>
          <a:ln/>
        </p:spPr>
      </p:sp>
      <p:sp>
        <p:nvSpPr>
          <p:cNvPr id="11" name="Text 8"/>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80</a:t>
            </a:r>
            <a:endParaRPr lang="en-US" sz="1100" dirty="0"/>
          </a:p>
        </p:txBody>
      </p:sp>
      <p:sp>
        <p:nvSpPr>
          <p:cNvPr id="12" name="Text 9"/>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1拠点での実証</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3か月の交通・設置・現場研修</a:t>
            </a:r>
            <a:endParaRPr lang="en-US" sz="950" dirty="0"/>
          </a:p>
        </p:txBody>
      </p:sp>
      <p:sp>
        <p:nvSpPr>
          <p:cNvPr id="13" name="Shape 10"/>
          <p:cNvSpPr/>
          <p:nvPr/>
        </p:nvSpPr>
        <p:spPr>
          <a:xfrm>
            <a:off x="2103120" y="2350008"/>
            <a:ext cx="694944" cy="237744"/>
          </a:xfrm>
          <a:prstGeom prst="rect">
            <a:avLst/>
          </a:prstGeom>
          <a:solidFill>
            <a:srgbClr val="1A1A1A"/>
          </a:solidFill>
          <a:ln/>
        </p:spPr>
      </p:sp>
      <p:sp>
        <p:nvSpPr>
          <p:cNvPr id="14" name="Text 11"/>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100</a:t>
            </a:r>
            <a:endParaRPr lang="en-US" sz="1100" dirty="0"/>
          </a:p>
        </p:txBody>
      </p:sp>
      <p:sp>
        <p:nvSpPr>
          <p:cNvPr id="15" name="Text 12"/>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設立・契約・知財</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法人設立、秘密保持・データ利用契約</a:t>
            </a:r>
            <a:endParaRPr lang="en-US" sz="950" dirty="0"/>
          </a:p>
        </p:txBody>
      </p:sp>
      <p:sp>
        <p:nvSpPr>
          <p:cNvPr id="16" name="Shape 13"/>
          <p:cNvSpPr/>
          <p:nvPr/>
        </p:nvSpPr>
        <p:spPr>
          <a:xfrm>
            <a:off x="2103120" y="2807208"/>
            <a:ext cx="277978" cy="237744"/>
          </a:xfrm>
          <a:prstGeom prst="rect">
            <a:avLst/>
          </a:prstGeom>
          <a:solidFill>
            <a:srgbClr val="1A1A1A"/>
          </a:solidFill>
          <a:ln/>
        </p:spPr>
      </p:sp>
      <p:sp>
        <p:nvSpPr>
          <p:cNvPr id="17" name="Text 14"/>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40</a:t>
            </a:r>
            <a:endParaRPr lang="en-US" sz="1100" dirty="0"/>
          </a:p>
        </p:txBody>
      </p:sp>
      <p:sp>
        <p:nvSpPr>
          <p:cNvPr id="18" name="Text 15"/>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予備</a:t>
            </a:r>
            <a:endParaRPr lang="en-US" sz="950" dirty="0"/>
          </a:p>
          <a:p>
            <a:pPr algn="l" indent="0" marL="0">
              <a:lnSpc>
                <a:spcPct val="115000"/>
              </a:lnSpc>
              <a:buNone/>
            </a:pPr>
            <a:endParaRPr lang="en-US" sz="950" dirty="0"/>
          </a:p>
        </p:txBody>
      </p:sp>
      <p:sp>
        <p:nvSpPr>
          <p:cNvPr id="19" name="Shape 16"/>
          <p:cNvSpPr/>
          <p:nvPr/>
        </p:nvSpPr>
        <p:spPr>
          <a:xfrm>
            <a:off x="2103120" y="3264408"/>
            <a:ext cx="208483" cy="237744"/>
          </a:xfrm>
          <a:prstGeom prst="rect">
            <a:avLst/>
          </a:prstGeom>
          <a:solidFill>
            <a:srgbClr val="8C8C8C"/>
          </a:solidFill>
          <a:ln/>
        </p:spPr>
      </p:sp>
      <p:sp>
        <p:nvSpPr>
          <p:cNvPr id="20" name="Text 17"/>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a:t>
            </a:r>
            <a:endParaRPr lang="en-US" sz="1100" dirty="0"/>
          </a:p>
        </p:txBody>
      </p:sp>
      <p:sp>
        <p:nvSpPr>
          <p:cNvPr id="21" name="Text 18"/>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合計 500万円</a:t>
            </a:r>
            <a:endParaRPr lang="en-US" sz="1200" dirty="0"/>
          </a:p>
        </p:txBody>
      </p:sp>
      <p:sp>
        <p:nvSpPr>
          <p:cNvPr id="22" name="Text 19"/>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マイルストーン</a:t>
            </a:r>
            <a:endParaRPr lang="en-US" sz="1050" dirty="0"/>
          </a:p>
        </p:txBody>
      </p:sp>
      <p:sp>
        <p:nvSpPr>
          <p:cNvPr id="23" name="Shape 20"/>
          <p:cNvSpPr/>
          <p:nvPr/>
        </p:nvSpPr>
        <p:spPr>
          <a:xfrm>
            <a:off x="4617720" y="1399032"/>
            <a:ext cx="685800" cy="310896"/>
          </a:xfrm>
          <a:prstGeom prst="rect">
            <a:avLst/>
          </a:prstGeom>
          <a:solidFill>
            <a:srgbClr val="1A1A1A"/>
          </a:solidFill>
          <a:ln/>
        </p:spPr>
      </p:sp>
      <p:sp>
        <p:nvSpPr>
          <p:cNvPr id="24" name="Text 21"/>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3か月</a:t>
            </a:r>
            <a:endParaRPr lang="en-US" sz="950" dirty="0"/>
          </a:p>
        </p:txBody>
      </p:sp>
      <p:sp>
        <p:nvSpPr>
          <p:cNvPr id="25" name="Text 22"/>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試作品：一人称の記録 → 写真の自動抽出 → 報告書の自動作成</a:t>
            </a:r>
            <a:endParaRPr lang="en-US" sz="950" dirty="0"/>
          </a:p>
        </p:txBody>
      </p:sp>
      <p:sp>
        <p:nvSpPr>
          <p:cNvPr id="26" name="Shape 23"/>
          <p:cNvSpPr/>
          <p:nvPr/>
        </p:nvSpPr>
        <p:spPr>
          <a:xfrm>
            <a:off x="4617720" y="1856232"/>
            <a:ext cx="685800" cy="310896"/>
          </a:xfrm>
          <a:prstGeom prst="rect">
            <a:avLst/>
          </a:prstGeom>
          <a:solidFill>
            <a:srgbClr val="1A1A1A"/>
          </a:solidFill>
          <a:ln/>
        </p:spPr>
      </p:sp>
      <p:sp>
        <p:nvSpPr>
          <p:cNvPr id="27" name="Text 24"/>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28" name="Text 25"/>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1拠点で実証：報告書の作成時間がどれだけ減ったかを実測</a:t>
            </a:r>
            <a:endParaRPr lang="en-US" sz="950" dirty="0"/>
          </a:p>
        </p:txBody>
      </p:sp>
      <p:sp>
        <p:nvSpPr>
          <p:cNvPr id="29" name="Shape 26"/>
          <p:cNvSpPr/>
          <p:nvPr/>
        </p:nvSpPr>
        <p:spPr>
          <a:xfrm>
            <a:off x="4617720" y="2313432"/>
            <a:ext cx="685800" cy="310896"/>
          </a:xfrm>
          <a:prstGeom prst="rect">
            <a:avLst/>
          </a:prstGeom>
          <a:solidFill>
            <a:srgbClr val="1A1A1A"/>
          </a:solidFill>
          <a:ln/>
        </p:spPr>
      </p:sp>
      <p:sp>
        <p:nvSpPr>
          <p:cNvPr id="30" name="Text 27"/>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31" name="Text 28"/>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有償試験導入3拠点の契約、公庫融資の申込、CVCとの交渉開始</a:t>
            </a:r>
            <a:endParaRPr lang="en-US" sz="950" dirty="0"/>
          </a:p>
        </p:txBody>
      </p:sp>
      <p:sp>
        <p:nvSpPr>
          <p:cNvPr id="32" name="return"/>
          <p:cNvSpPr/>
          <p:nvPr/>
        </p:nvSpPr>
        <p:spPr>
          <a:xfrm>
            <a:off x="4617720" y="2834640"/>
            <a:ext cx="4160520" cy="1143000"/>
          </a:xfrm>
          <a:prstGeom prst="rect">
            <a:avLst/>
          </a:prstGeom>
          <a:solidFill>
            <a:srgbClr val="FFFFFF"/>
          </a:solidFill>
          <a:ln w="19050">
            <a:solidFill>
              <a:srgbClr val="1A1A1A"/>
            </a:solidFill>
            <a:prstDash val="solid"/>
          </a:ln>
        </p:spPr>
      </p:sp>
      <p:sp>
        <p:nvSpPr>
          <p:cNvPr id="33" name="Text 30"/>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準備期の後の調達</a:t>
            </a:r>
            <a:endParaRPr lang="en-US" sz="1050" dirty="0"/>
          </a:p>
        </p:txBody>
      </p:sp>
      <p:sp>
        <p:nvSpPr>
          <p:cNvPr id="34" name="Text 31"/>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1年目：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実証の結果を持って、公庫1,000万円＋CVC・VC 1億1,500万円</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3年目：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継続率と台数の実績で、シリーズA 5,000万円</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お願い：</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実証先になってくれる電気工事会社のご紹介</a:t>
            </a:r>
            <a:endParaRPr lang="en-US" sz="900" dirty="0"/>
          </a:p>
        </p:txBody>
      </p:sp>
      <p:sp>
        <p:nvSpPr>
          <p:cNvPr id="35" name="Text 32"/>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補助金の採否と自己資金の額は要確認。実証の合格ラインは1台1日26分の削減（詳細版 p.8）</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リスク ─ 最大のリスクは自分。だから役割と判断基準を先に決める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弱みは隠さない。対策とセットで示す</a:t>
            </a:r>
            <a:endParaRPr lang="en-US" sz="1200" dirty="0"/>
          </a:p>
        </p:txBody>
      </p:sp>
      <p:sp>
        <p:nvSpPr>
          <p:cNvPr id="5" name="Shape 2"/>
          <p:cNvSpPr/>
          <p:nvPr/>
        </p:nvSpPr>
        <p:spPr>
          <a:xfrm>
            <a:off x="365760" y="1051560"/>
            <a:ext cx="8412480" cy="0"/>
          </a:xfrm>
          <a:prstGeom prst="line">
            <a:avLst/>
          </a:prstGeom>
          <a:noFill/>
          <a:ln w="9525">
            <a:solidFill>
              <a:srgbClr val="BFBFBF"/>
            </a:solidFill>
            <a:prstDash val="solid"/>
          </a:ln>
        </p:spPr>
      </p:sp>
      <p:sp>
        <p:nvSpPr>
          <p:cNvPr id="6" name="Text 3"/>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創業者が律速になる</a:t>
            </a:r>
            <a:endParaRPr lang="en-US" sz="1050" dirty="0"/>
          </a:p>
        </p:txBody>
      </p:sp>
      <p:sp>
        <p:nvSpPr>
          <p:cNvPr id="7" name="Text 4"/>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役割を「型を渡す」に絞る。BSCの4指標で判断を任せ、1か月不在でも回る会社にする</a:t>
            </a:r>
            <a:endParaRPr lang="en-US" sz="950" dirty="0"/>
          </a:p>
        </p:txBody>
      </p:sp>
      <p:sp>
        <p:nvSpPr>
          <p:cNvPr id="8" name="Shape 5"/>
          <p:cNvSpPr/>
          <p:nvPr/>
        </p:nvSpPr>
        <p:spPr>
          <a:xfrm>
            <a:off x="365760" y="1508760"/>
            <a:ext cx="8412480" cy="0"/>
          </a:xfrm>
          <a:prstGeom prst="line">
            <a:avLst/>
          </a:prstGeom>
          <a:noFill/>
          <a:ln w="9525">
            <a:solidFill>
              <a:srgbClr val="BFBFBF"/>
            </a:solidFill>
            <a:prstDash val="solid"/>
          </a:ln>
        </p:spPr>
      </p:sp>
      <p:sp>
        <p:nvSpPr>
          <p:cNvPr id="9" name="Text 6"/>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前職との関係</a:t>
            </a:r>
            <a:endParaRPr lang="en-US" sz="1050" dirty="0"/>
          </a:p>
        </p:txBody>
      </p:sp>
      <p:sp>
        <p:nvSpPr>
          <p:cNvPr id="10" name="Text 7"/>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前職の顧客・機密は使わない。退職時の合意（競業・守秘）を確認し、紹介は第三者経由で</a:t>
            </a:r>
            <a:endParaRPr lang="en-US" sz="950" dirty="0"/>
          </a:p>
        </p:txBody>
      </p:sp>
      <p:sp>
        <p:nvSpPr>
          <p:cNvPr id="11" name="Shape 8"/>
          <p:cNvSpPr/>
          <p:nvPr/>
        </p:nvSpPr>
        <p:spPr>
          <a:xfrm>
            <a:off x="365760" y="1965960"/>
            <a:ext cx="8412480" cy="0"/>
          </a:xfrm>
          <a:prstGeom prst="line">
            <a:avLst/>
          </a:prstGeom>
          <a:noFill/>
          <a:ln w="9525">
            <a:solidFill>
              <a:srgbClr val="BFBFBF"/>
            </a:solidFill>
            <a:prstDash val="solid"/>
          </a:ln>
        </p:spPr>
      </p:sp>
      <p:sp>
        <p:nvSpPr>
          <p:cNvPr id="12" name="Text 9"/>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施工管理アプリのAI化</a:t>
            </a:r>
            <a:endParaRPr lang="en-US" sz="1050" dirty="0"/>
          </a:p>
        </p:txBody>
      </p:sp>
      <p:sp>
        <p:nvSpPr>
          <p:cNvPr id="13" name="Text 10"/>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競わずにつなぐ。図面に現れない判断の蓄積と、施工経験者の監修を障壁にする</a:t>
            </a:r>
            <a:endParaRPr lang="en-US" sz="950" dirty="0"/>
          </a:p>
        </p:txBody>
      </p:sp>
      <p:sp>
        <p:nvSpPr>
          <p:cNvPr id="14" name="Shape 11"/>
          <p:cNvSpPr/>
          <p:nvPr/>
        </p:nvSpPr>
        <p:spPr>
          <a:xfrm>
            <a:off x="365760" y="2423160"/>
            <a:ext cx="8412480" cy="0"/>
          </a:xfrm>
          <a:prstGeom prst="line">
            <a:avLst/>
          </a:prstGeom>
          <a:noFill/>
          <a:ln w="9525">
            <a:solidFill>
              <a:srgbClr val="BFBFBF"/>
            </a:solidFill>
            <a:prstDash val="solid"/>
          </a:ln>
        </p:spPr>
      </p:sp>
      <p:sp>
        <p:nvSpPr>
          <p:cNvPr id="15" name="Text 12"/>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常時収録への抵抗</a:t>
            </a:r>
            <a:endParaRPr lang="en-US" sz="1050" dirty="0"/>
          </a:p>
        </p:txBody>
      </p:sp>
      <p:sp>
        <p:nvSpPr>
          <p:cNvPr id="16" name="Text 13"/>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作業時間・作業エリアに限定。本人同意と労使合意、休憩中・私語は自動除外</a:t>
            </a:r>
            <a:endParaRPr lang="en-US" sz="950" dirty="0"/>
          </a:p>
        </p:txBody>
      </p:sp>
      <p:sp>
        <p:nvSpPr>
          <p:cNvPr id="17" name="Shape 14"/>
          <p:cNvSpPr/>
          <p:nvPr/>
        </p:nvSpPr>
        <p:spPr>
          <a:xfrm>
            <a:off x="365760" y="2880360"/>
            <a:ext cx="8412480" cy="0"/>
          </a:xfrm>
          <a:prstGeom prst="line">
            <a:avLst/>
          </a:prstGeom>
          <a:noFill/>
          <a:ln w="9525">
            <a:solidFill>
              <a:srgbClr val="BFBFBF"/>
            </a:solidFill>
            <a:prstDash val="solid"/>
          </a:ln>
        </p:spPr>
      </p:sp>
      <p:sp>
        <p:nvSpPr>
          <p:cNvPr id="18" name="Text 15"/>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資金ショート</a:t>
            </a:r>
            <a:endParaRPr lang="en-US" sz="1050" dirty="0"/>
          </a:p>
        </p:txBody>
      </p:sp>
      <p:sp>
        <p:nvSpPr>
          <p:cNvPr id="19" name="Text 16"/>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最低残高ルールと前払い・着手金。公庫の資本性ローンを予備枠に持つ</a:t>
            </a:r>
            <a:endParaRPr lang="en-US" sz="950" dirty="0"/>
          </a:p>
        </p:txBody>
      </p:sp>
      <p:sp>
        <p:nvSpPr>
          <p:cNvPr id="20" name="Shape 17"/>
          <p:cNvSpPr/>
          <p:nvPr/>
        </p:nvSpPr>
        <p:spPr>
          <a:xfrm>
            <a:off x="365760" y="3337560"/>
            <a:ext cx="8412480" cy="0"/>
          </a:xfrm>
          <a:prstGeom prst="line">
            <a:avLst/>
          </a:prstGeom>
          <a:noFill/>
          <a:ln w="9525">
            <a:solidFill>
              <a:srgbClr val="BFBFBF"/>
            </a:solidFill>
            <a:prstDash val="solid"/>
          </a:ln>
        </p:spPr>
      </p:sp>
      <p:sp>
        <p:nvSpPr>
          <p:cNvPr id="21" name="closing"/>
          <p:cNvSpPr/>
          <p:nvPr/>
        </p:nvSpPr>
        <p:spPr>
          <a:xfrm>
            <a:off x="365760" y="3547872"/>
            <a:ext cx="8412480" cy="1097280"/>
          </a:xfrm>
          <a:prstGeom prst="rect">
            <a:avLst/>
          </a:prstGeom>
          <a:solidFill>
            <a:srgbClr val="1A1A1A"/>
          </a:solidFill>
          <a:ln/>
        </p:spPr>
      </p:sp>
      <p:sp>
        <p:nvSpPr>
          <p:cNvPr id="22" name="Text 19"/>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Meiryo" pitchFamily="34" charset="0"/>
                <a:ea typeface="Meiryo" pitchFamily="34" charset="-122"/>
                <a:cs typeface="Meiryo" pitchFamily="34" charset="-120"/>
              </a:rPr>
              <a:t>日本の品質を支えてきた現場の勘を、人に依存しない形で残す</a:t>
            </a:r>
            <a:endParaRPr lang="en-US" sz="1500" dirty="0"/>
          </a:p>
        </p:txBody>
      </p:sp>
      <p:sp>
        <p:nvSpPr>
          <p:cNvPr id="23" name="Text 20"/>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Meiryo" pitchFamily="34" charset="0"/>
                <a:ea typeface="Meiryo" pitchFamily="34" charset="-122"/>
                <a:cs typeface="Meiryo" pitchFamily="34" charset="-120"/>
              </a:rPr>
              <a:t>その最初の一歩として、6か月で最初の1拠点を動かします。</a:t>
            </a:r>
            <a:endParaRPr lang="en-US" sz="12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dc:title>
  <dc:subject>PptxGenJS Presentation</dc:subject>
  <dc:creator>PptxGenJS</dc:creator>
  <cp:lastModifiedBy>PptxGenJS</cp:lastModifiedBy>
  <cp:revision>1</cp:revision>
  <dcterms:created xsi:type="dcterms:W3CDTF">2026-10-16T03:51:02Z</dcterms:created>
  <dcterms:modified xsi:type="dcterms:W3CDTF">2026-10-16T03:51:02Z</dcterms:modified>
</cp:coreProperties>
</file>