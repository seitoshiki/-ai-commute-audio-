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得の累計</c:v>
                </c:pt>
              </c:strCache>
            </c:strRef>
          </c:tx>
          <c:spPr>
            <a:solidFill>
              <a:srgbClr val="B8692E"/>
            </a:solidFill>
            <a:ln w="38100" cap="flat">
              <a:solidFill>
                <a:srgbClr val="B869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692E"/>
              </a:solidFill>
              <a:ln w="9525" cap="flat">
                <a:solidFill>
                  <a:srgbClr val="B8692E"/>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A1A1A"/>
            </a:solidFill>
            <a:ln w="2540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要約：1拠点10台で年約500万円。払う額の約1.5倍。1台1日23分減れば元が取れる
お客様が得する額です。得をするのは、AIグラスを掛けた班だけで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【6:20 - 7:10】
要約：日立AI Safetyと方向は同じ。だから施工・中堅・書類と技能継承に領域をずらす
正直に申し上げると、ほぼ同じ方向のサービスがあります。日立製作所、日立ビルシステム、日立パワーソリューションズが2025年10月に発表したAI Safetyです。ウェアラブルカメラの映像をAIが解析し、安全アラート、チャットボット、作業の案内、報告書の作成までを目指しています。11月からは日立ビルシステムの全国の現場で、数千人の技術者が使い始めました。技術と規模では、私たちは勝てません。だから領域をずらします。日立はビル設備の保守と安全から入っています。私たちは中堅の電気工事会社の、施工の現場から入ります。第一の価値は安全ではなく、写真台帳や検査記録といった書類の削減と、技能の継承です。報告書は電力会社や官公庁など発注者ごとの書式で出し、電気工事の工種の型を、施工経験者の監修で先に揃えます。もし日立が施工や中堅向けに来たら、競わずに提携も選びます。勝負の窓は2〜3年と見て、型とデータを先に貯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【7:10 - 7:50】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【7:50 - 8:20】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【8:20 - 8:40】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【8:40 - 9:00】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【9:00 - 9:25】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【9:25 - 9:55】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【9:55 - 10:20】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【10:20 - 10:50】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【10:50 - 11:20】
要約：10台のままでは5年目でも届かない。足りないのは約6拠点分
損益分岐点です。正直に申し上げる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【11:20 - 11:50】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【11:50 - 12:25】
要約：黒字の鍵は拠点数より、1拠点の台数。止まる線も先に決める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【12:25 - 12:50】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【12:50 - 13:25】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【13:25 - 14:00】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【14:00 - 14:25】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【14:25 - 14:40】
要約：最大のリスクは自分。だから役割と判断基準を先に決めておく
最後にリスクです。最大のリスクは、私自身が律速になること。だから役割を絞り、判断の基準を先に決めて、私がいなくても回る会社にします。日本の品質を支えてきた現場の勘を、人に依存しない形で残したい。その最初の一歩として、6か月で最初の1拠点を動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普段のメガネと同じ軽さのAIグラスで熟練者の作業を記録し、報告を自動にし、次の担い手とAIの教材にする</a:t>
            </a:r>
            <a:endParaRPr lang="en-US" sz="1150" dirty="0"/>
          </a:p>
        </p:txBody>
      </p:sp>
      <p:sp>
        <p:nvSpPr>
          <p:cNvPr id="11" name="first-step"/>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最初の一歩</a:t>
            </a:r>
            <a:endParaRPr lang="en-US" sz="1200" dirty="0"/>
          </a:p>
        </p:txBody>
      </p:sp>
      <p:sp>
        <p:nvSpPr>
          <p:cNvPr id="13" name="Text 9"/>
          <p:cNvSpPr txBox="1"/>
          <p:nvPr/>
        </p:nvSpPr>
        <p:spPr>
          <a:xfrm>
            <a:off x="3840480" y="2724912"/>
            <a:ext cx="448056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B8692E"/>
                </a:solidFill>
                <a:latin typeface="Meiryo" pitchFamily="34" charset="0"/>
                <a:ea typeface="Meiryo" pitchFamily="34" charset="-122"/>
                <a:cs typeface="Meiryo" pitchFamily="34" charset="-120"/>
              </a:rPr>
              <a:t>6か月で1拠点を動かす</a:t>
            </a:r>
            <a:endParaRPr lang="en-US" sz="2600" dirty="0"/>
          </a:p>
        </p:txBody>
      </p:sp>
      <p:sp>
        <p:nvSpPr>
          <p:cNvPr id="14" name="Text 10"/>
          <p:cNvSpPr txBox="1"/>
          <p:nvPr/>
        </p:nvSpPr>
        <p:spPr>
          <a:xfrm>
            <a:off x="3840480" y="3218688"/>
            <a:ext cx="4480560" cy="27432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3か月で試作品、3か月で実証。合格ラインは「1台1日23分の削減」</a:t>
            </a:r>
            <a:endParaRPr lang="en-US" sz="1000" dirty="0"/>
          </a:p>
        </p:txBody>
      </p:sp>
      <p:sp>
        <p:nvSpPr>
          <p:cNvPr id="15" name="Text 11"/>
          <p:cNvSpPr txBox="1"/>
          <p:nvPr/>
        </p:nvSpPr>
        <p:spPr>
          <a:xfrm>
            <a:off x="3657600" y="3886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発表の構成 ─ 課題の設問①〜⑤の順に話す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左上の番号が設問の番号。計算の過程は別冊「計算詳細版」（右上にページ）</a:t>
            </a:r>
            <a:endParaRPr lang="en-US" sz="1200" dirty="0"/>
          </a:p>
        </p:txBody>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設問</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問い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本編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一言の答え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①</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どんな事業か・選んだ理由・想い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p.3〜15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AIグラスで現場の作業を記録し、報告と育成を自動にする。施工管理で見た「勘が消える」を止めたい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②</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どんなスタッフと働くか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p.16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5年目23人。現場監修と導入コンサルタント（コンサル部隊）を社内に持つ。私は型と判断の基準をつくる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経営理念（ホームページで伝えること）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p.17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現場の勘を、次の担い手へ。監視ではなく、技術を残す仕組み</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④</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年単位の経営計画と収支</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p.18〜27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1拠点10台で年300万円。5年目81拠点・売上約2.7億円。黒字化は1拠点15台が条件</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⑤</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各段階で想定される課題</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p.28〜31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準備期は効果、導入期は売れるか、成長期は台数と人、成熟期は競合。実現可能性の弱点も自分で示す</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premise"/>
          <p:cNvSpPr/>
          <p:nvPr/>
        </p:nvSpPr>
        <p:spPr>
          <a:xfrm>
            <a:off x="365760" y="3886200"/>
            <a:ext cx="8412480" cy="566928"/>
          </a:xfrm>
          <a:prstGeom prst="rect">
            <a:avLst/>
          </a:prstGeom>
          <a:solidFill>
            <a:srgbClr val="1A1A1A"/>
          </a:solidFill>
          <a:ln/>
        </p:spPr>
      </p:sp>
      <p:sp>
        <p:nvSpPr>
          <p:cNvPr id="7" name="Text 3"/>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課題の前提：</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AIグラスを掛けて作業するだけ。報告書・図面との照合・教材までを一続きで届ける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会社の基盤 月5万円＋端末1台 月2万円の利用料（標準10台で年300万円）が毎年積み上がる。初年度だけ導入支援200万円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選んだ理由と想い ─ 現場の勘が消えるのを見てきた</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お金を払う理由がある市場、使える技術、そして自分がやる理由。3つがそろった</a:t>
            </a:r>
            <a:endParaRPr lang="en-US" sz="1200" dirty="0"/>
          </a:p>
        </p:txBody>
      </p:sp>
      <p:sp>
        <p:nvSpPr>
          <p:cNvPr id="5" name="reason-0"/>
          <p:cNvSpPr/>
          <p:nvPr/>
        </p:nvSpPr>
        <p:spPr>
          <a:xfrm>
            <a:off x="365760" y="1051560"/>
            <a:ext cx="2715768" cy="1965960"/>
          </a:xfrm>
          <a:prstGeom prst="rect">
            <a:avLst/>
          </a:prstGeom>
          <a:solidFill>
            <a:srgbClr val="FFFFFF"/>
          </a:solidFill>
          <a:ln w="9525">
            <a:solidFill>
              <a:srgbClr val="BFBFBF"/>
            </a:solidFill>
            <a:prstDash val="solid"/>
          </a:ln>
        </p:spPr>
      </p:sp>
      <p:sp>
        <p:nvSpPr>
          <p:cNvPr id="6" name="Shape 3"/>
          <p:cNvSpPr/>
          <p:nvPr/>
        </p:nvSpPr>
        <p:spPr>
          <a:xfrm>
            <a:off x="365760" y="1051560"/>
            <a:ext cx="2715768" cy="502920"/>
          </a:xfrm>
          <a:prstGeom prst="rect">
            <a:avLst/>
          </a:prstGeom>
          <a:solidFill>
            <a:srgbClr val="1A1A1A"/>
          </a:solidFill>
          <a:ln/>
        </p:spPr>
      </p:sp>
      <p:sp>
        <p:nvSpPr>
          <p:cNvPr id="7" name="Text 4"/>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市場の理由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払う理由がある</a:t>
            </a:r>
            <a:endParaRPr lang="en-US" sz="1400" dirty="0"/>
          </a:p>
        </p:txBody>
      </p:sp>
      <p:sp>
        <p:nvSpPr>
          <p:cNvPr id="8" name="Text 5"/>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・手戻りだけで建設全体に年約1.5兆円</a:t>
            </a:r>
            <a:endParaRPr lang="en-US" sz="950" dirty="0"/>
          </a:p>
        </p:txBody>
      </p:sp>
      <p:sp>
        <p:nvSpPr>
          <p:cNvPr id="9" name="reason-1"/>
          <p:cNvSpPr/>
          <p:nvPr/>
        </p:nvSpPr>
        <p:spPr>
          <a:xfrm>
            <a:off x="3214116" y="1051560"/>
            <a:ext cx="2715768" cy="1965960"/>
          </a:xfrm>
          <a:prstGeom prst="rect">
            <a:avLst/>
          </a:prstGeom>
          <a:solidFill>
            <a:srgbClr val="FFFFFF"/>
          </a:solidFill>
          <a:ln w="9525">
            <a:solidFill>
              <a:srgbClr val="BFBFBF"/>
            </a:solidFill>
            <a:prstDash val="solid"/>
          </a:ln>
        </p:spPr>
      </p:sp>
      <p:sp>
        <p:nvSpPr>
          <p:cNvPr id="10" name="Shape 7"/>
          <p:cNvSpPr/>
          <p:nvPr/>
        </p:nvSpPr>
        <p:spPr>
          <a:xfrm>
            <a:off x="3214116" y="1051560"/>
            <a:ext cx="2715768" cy="502920"/>
          </a:xfrm>
          <a:prstGeom prst="rect">
            <a:avLst/>
          </a:prstGeom>
          <a:solidFill>
            <a:srgbClr val="1A1A1A"/>
          </a:solidFill>
          <a:ln/>
        </p:spPr>
      </p:sp>
      <p:sp>
        <p:nvSpPr>
          <p:cNvPr id="11" name="Text 8"/>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技術の理由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今なら作れる</a:t>
            </a:r>
            <a:endParaRPr lang="en-US" sz="1400" dirty="0"/>
          </a:p>
        </p:txBody>
      </p:sp>
      <p:sp>
        <p:nvSpPr>
          <p:cNvPr id="12" name="Text 9"/>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・表示付きのグラスも発売（2025年）</a:t>
            </a:r>
            <a:endParaRPr lang="en-US" sz="950" dirty="0"/>
          </a:p>
        </p:txBody>
      </p:sp>
      <p:sp>
        <p:nvSpPr>
          <p:cNvPr id="13" name="reason-2"/>
          <p:cNvSpPr/>
          <p:nvPr/>
        </p:nvSpPr>
        <p:spPr>
          <a:xfrm>
            <a:off x="6062472" y="1051560"/>
            <a:ext cx="2715768" cy="1965960"/>
          </a:xfrm>
          <a:prstGeom prst="rect">
            <a:avLst/>
          </a:prstGeom>
          <a:solidFill>
            <a:srgbClr val="FFFFFF"/>
          </a:solidFill>
          <a:ln w="9525">
            <a:solidFill>
              <a:srgbClr val="BFBFBF"/>
            </a:solidFill>
            <a:prstDash val="solid"/>
          </a:ln>
        </p:spPr>
      </p:sp>
      <p:sp>
        <p:nvSpPr>
          <p:cNvPr id="14" name="Shape 11"/>
          <p:cNvSpPr/>
          <p:nvPr/>
        </p:nvSpPr>
        <p:spPr>
          <a:xfrm>
            <a:off x="6062472" y="1051560"/>
            <a:ext cx="2715768" cy="502920"/>
          </a:xfrm>
          <a:prstGeom prst="rect">
            <a:avLst/>
          </a:prstGeom>
          <a:solidFill>
            <a:srgbClr val="B8692E"/>
          </a:solidFill>
          <a:ln/>
        </p:spPr>
      </p:sp>
      <p:sp>
        <p:nvSpPr>
          <p:cNvPr id="15" name="Text 12"/>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自分の理由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私がやる</a:t>
            </a:r>
            <a:endParaRPr lang="en-US" sz="1400" dirty="0"/>
          </a:p>
        </p:txBody>
      </p:sp>
      <p:sp>
        <p:nvSpPr>
          <p:cNvPr id="16" name="Text 13"/>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・AIの仕組みを独学で作り、毎日動かしている</a:t>
            </a:r>
            <a:endParaRPr lang="en-US" sz="950" dirty="0"/>
          </a:p>
        </p:txBody>
      </p:sp>
      <p:sp>
        <p:nvSpPr>
          <p:cNvPr id="17" name="omoi"/>
          <p:cNvSpPr/>
          <p:nvPr/>
        </p:nvSpPr>
        <p:spPr>
          <a:xfrm>
            <a:off x="365760" y="3154680"/>
            <a:ext cx="8412480" cy="1280160"/>
          </a:xfrm>
          <a:prstGeom prst="rect">
            <a:avLst/>
          </a:prstGeom>
          <a:solidFill>
            <a:srgbClr val="1A1A1A"/>
          </a:solidFill>
          <a:ln/>
        </p:spPr>
      </p:sp>
      <p:sp>
        <p:nvSpPr>
          <p:cNvPr id="18" name="Text 15"/>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E3A774"/>
                </a:solidFill>
                <a:latin typeface="Meiryo" pitchFamily="34" charset="0"/>
                <a:ea typeface="Meiryo" pitchFamily="34" charset="-122"/>
                <a:cs typeface="Meiryo" pitchFamily="34" charset="-120"/>
              </a:rPr>
              <a:t>想い</a:t>
            </a:r>
            <a:endParaRPr lang="en-US" sz="1400" dirty="0"/>
          </a:p>
          <a:p>
            <a:pPr algn="l" indent="0" marL="0">
              <a:lnSpc>
                <a:spcPct val="115000"/>
              </a:lnSpc>
              <a:spcAft>
                <a:spcPts val="400"/>
              </a:spcAft>
              <a:buNone/>
            </a:pPr>
            <a:r>
              <a:rPr lang="en-US" sz="1400" b="1" dirty="0">
                <a:solidFill>
                  <a:srgbClr val="FFFFFF"/>
                </a:solidFill>
                <a:latin typeface="Meiryo" pitchFamily="34" charset="0"/>
                <a:ea typeface="Meiryo" pitchFamily="34" charset="-122"/>
                <a:cs typeface="Meiryo"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Meiryo" pitchFamily="34" charset="0"/>
                <a:ea typeface="Meiryo" pitchFamily="34" charset="-122"/>
                <a:cs typeface="Meiryo"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19"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約1,940時間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建設業の1年の総労働時間（残業込み・令和6年）(3)</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損失の大きさ ─ 手戻りだけで、建設全体に年1.5兆円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勘の喪失は思いの問題ではなく、お金の問題。熟練者が抜けるほど、やり直しと断る工事が増える</a:t>
            </a:r>
            <a:endParaRPr lang="en-US" sz="1200" dirty="0"/>
          </a:p>
        </p:txBody>
      </p:sp>
      <p:sp>
        <p:nvSpPr>
          <p:cNvPr id="6" name="loss-0"/>
          <p:cNvSpPr/>
          <p:nvPr/>
        </p:nvSpPr>
        <p:spPr>
          <a:xfrm>
            <a:off x="365760" y="1051560"/>
            <a:ext cx="3977640" cy="868680"/>
          </a:xfrm>
          <a:prstGeom prst="rect">
            <a:avLst/>
          </a:prstGeom>
          <a:solidFill>
            <a:srgbClr val="1A1A1A"/>
          </a:solidFill>
          <a:ln/>
        </p:spPr>
      </p:sp>
      <p:sp>
        <p:nvSpPr>
          <p:cNvPr id="7" name="Text 4"/>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E3A774"/>
                </a:solidFill>
                <a:latin typeface="Meiryo" pitchFamily="34" charset="0"/>
                <a:ea typeface="Meiryo" pitchFamily="34" charset="-122"/>
                <a:cs typeface="Meiryo" pitchFamily="34" charset="-120"/>
              </a:rPr>
              <a:t>約1.5兆円／年</a:t>
            </a:r>
            <a:endParaRPr lang="en-US" sz="1700" dirty="0"/>
          </a:p>
        </p:txBody>
      </p:sp>
      <p:sp>
        <p:nvSpPr>
          <p:cNvPr id="8" name="Text 5"/>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建設全体の手戻り</a:t>
            </a:r>
            <a:endParaRPr lang="en-US" sz="950" dirty="0"/>
          </a:p>
        </p:txBody>
      </p:sp>
      <p:sp>
        <p:nvSpPr>
          <p:cNvPr id="9" name="Text 6"/>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建設投資 約75.6兆円（2025年度見通し）× 手戻り2%</a:t>
            </a:r>
            <a:endParaRPr lang="en-US" sz="850" dirty="0"/>
          </a:p>
        </p:txBody>
      </p:sp>
      <p:sp>
        <p:nvSpPr>
          <p:cNvPr id="10" name="loss-1"/>
          <p:cNvSpPr/>
          <p:nvPr/>
        </p:nvSpPr>
        <p:spPr>
          <a:xfrm>
            <a:off x="365760" y="2011680"/>
            <a:ext cx="3977640" cy="868680"/>
          </a:xfrm>
          <a:prstGeom prst="rect">
            <a:avLst/>
          </a:prstGeom>
          <a:solidFill>
            <a:srgbClr val="F2F2F2"/>
          </a:solidFill>
          <a:ln/>
        </p:spPr>
      </p:sp>
      <p:sp>
        <p:nvSpPr>
          <p:cNvPr id="11" name="Text 8"/>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約2,400億円／年</a:t>
            </a:r>
            <a:endParaRPr lang="en-US" sz="1700" dirty="0"/>
          </a:p>
        </p:txBody>
      </p:sp>
      <p:sp>
        <p:nvSpPr>
          <p:cNvPr id="12" name="Text 9"/>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うち電気工事</a:t>
            </a:r>
            <a:endParaRPr lang="en-US" sz="950" dirty="0"/>
          </a:p>
        </p:txBody>
      </p:sp>
      <p:sp>
        <p:nvSpPr>
          <p:cNvPr id="13" name="Text 10"/>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電気工事業の完成工事高 約12兆円 × 手戻り2%</a:t>
            </a:r>
            <a:endParaRPr lang="en-US" sz="850" dirty="0"/>
          </a:p>
        </p:txBody>
      </p:sp>
      <p:sp>
        <p:nvSpPr>
          <p:cNvPr id="14" name="loss-2"/>
          <p:cNvSpPr/>
          <p:nvPr/>
        </p:nvSpPr>
        <p:spPr>
          <a:xfrm>
            <a:off x="365760" y="2971800"/>
            <a:ext cx="3977640" cy="868680"/>
          </a:xfrm>
          <a:prstGeom prst="rect">
            <a:avLst/>
          </a:prstGeom>
          <a:solidFill>
            <a:srgbClr val="F2F2F2"/>
          </a:solidFill>
          <a:ln/>
        </p:spPr>
      </p:sp>
      <p:sp>
        <p:nvSpPr>
          <p:cNvPr id="15" name="Text 12"/>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約175万人</a:t>
            </a:r>
            <a:endParaRPr lang="en-US" sz="1700" dirty="0"/>
          </a:p>
        </p:txBody>
      </p:sp>
      <p:sp>
        <p:nvSpPr>
          <p:cNvPr id="16" name="Text 13"/>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55歳以上の建設業就業者</a:t>
            </a:r>
            <a:endParaRPr lang="en-US" sz="950" dirty="0"/>
          </a:p>
        </p:txBody>
      </p:sp>
      <p:sp>
        <p:nvSpPr>
          <p:cNvPr id="17" name="Text 14"/>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477万人 × 36.7%。10〜15年で引退に向かう</a:t>
            </a:r>
            <a:endParaRPr lang="en-US" sz="850" dirty="0"/>
          </a:p>
        </p:txBody>
      </p:sp>
      <p:sp>
        <p:nvSpPr>
          <p:cNvPr id="18" name="Text 15"/>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勘が消えると、なぜお金が消えるか</a:t>
            </a:r>
            <a:endParaRPr lang="en-US" sz="1100" dirty="0"/>
          </a:p>
        </p:txBody>
      </p:sp>
      <p:sp>
        <p:nvSpPr>
          <p:cNvPr id="19" name="Shape 16"/>
          <p:cNvSpPr/>
          <p:nvPr/>
        </p:nvSpPr>
        <p:spPr>
          <a:xfrm>
            <a:off x="4663440" y="1380744"/>
            <a:ext cx="4114800" cy="475488"/>
          </a:xfrm>
          <a:prstGeom prst="rect">
            <a:avLst/>
          </a:prstGeom>
          <a:solidFill>
            <a:srgbClr val="F2F2F2"/>
          </a:solidFill>
          <a:ln/>
        </p:spPr>
      </p:sp>
      <p:sp>
        <p:nvSpPr>
          <p:cNvPr id="20" name="Text 17"/>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熟練者が辞める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判断の理由は手順書にない</a:t>
            </a:r>
            <a:endParaRPr lang="en-US" sz="1000" dirty="0"/>
          </a:p>
        </p:txBody>
      </p:sp>
      <p:sp>
        <p:nvSpPr>
          <p:cNvPr id="21" name="Shape 18"/>
          <p:cNvSpPr/>
          <p:nvPr/>
        </p:nvSpPr>
        <p:spPr>
          <a:xfrm>
            <a:off x="6720840" y="1865376"/>
            <a:ext cx="0" cy="109728"/>
          </a:xfrm>
          <a:prstGeom prst="line">
            <a:avLst/>
          </a:prstGeom>
          <a:noFill/>
          <a:ln w="19050">
            <a:solidFill>
              <a:srgbClr val="1A1A1A"/>
            </a:solidFill>
            <a:prstDash val="solid"/>
            <a:tailEnd type="triangle"/>
          </a:ln>
        </p:spPr>
      </p:sp>
      <p:sp>
        <p:nvSpPr>
          <p:cNvPr id="22" name="Shape 19"/>
          <p:cNvSpPr/>
          <p:nvPr/>
        </p:nvSpPr>
        <p:spPr>
          <a:xfrm>
            <a:off x="4663440" y="1984248"/>
            <a:ext cx="4114800" cy="475488"/>
          </a:xfrm>
          <a:prstGeom prst="rect">
            <a:avLst/>
          </a:prstGeom>
          <a:solidFill>
            <a:srgbClr val="F2F2F2"/>
          </a:solidFill>
          <a:ln/>
        </p:spPr>
      </p:sp>
      <p:sp>
        <p:nvSpPr>
          <p:cNvPr id="23" name="Text 20"/>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若手が迷う・間違える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寸法・基準点・重なり順の取り違い</a:t>
            </a:r>
            <a:endParaRPr lang="en-US" sz="1000" dirty="0"/>
          </a:p>
        </p:txBody>
      </p:sp>
      <p:sp>
        <p:nvSpPr>
          <p:cNvPr id="24" name="Shape 21"/>
          <p:cNvSpPr/>
          <p:nvPr/>
        </p:nvSpPr>
        <p:spPr>
          <a:xfrm>
            <a:off x="6720840" y="2468880"/>
            <a:ext cx="0" cy="109728"/>
          </a:xfrm>
          <a:prstGeom prst="line">
            <a:avLst/>
          </a:prstGeom>
          <a:noFill/>
          <a:ln w="19050">
            <a:solidFill>
              <a:srgbClr val="1A1A1A"/>
            </a:solidFill>
            <a:prstDash val="solid"/>
            <a:tailEnd type="triangle"/>
          </a:ln>
        </p:spPr>
      </p:sp>
      <p:sp>
        <p:nvSpPr>
          <p:cNvPr id="25" name="Shape 22"/>
          <p:cNvSpPr/>
          <p:nvPr/>
        </p:nvSpPr>
        <p:spPr>
          <a:xfrm>
            <a:off x="4663440" y="2587752"/>
            <a:ext cx="4114800" cy="475488"/>
          </a:xfrm>
          <a:prstGeom prst="rect">
            <a:avLst/>
          </a:prstGeom>
          <a:solidFill>
            <a:srgbClr val="F2F2F2"/>
          </a:solidFill>
          <a:ln/>
        </p:spPr>
      </p:sp>
      <p:sp>
        <p:nvSpPr>
          <p:cNvPr id="26" name="Text 23"/>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手戻りと工期遅れ</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材料・人件費・やり直しの費用</a:t>
            </a:r>
            <a:endParaRPr lang="en-US" sz="1000" dirty="0"/>
          </a:p>
        </p:txBody>
      </p:sp>
      <p:sp>
        <p:nvSpPr>
          <p:cNvPr id="27" name="Shape 24"/>
          <p:cNvSpPr/>
          <p:nvPr/>
        </p:nvSpPr>
        <p:spPr>
          <a:xfrm>
            <a:off x="6720840" y="3072384"/>
            <a:ext cx="0" cy="109728"/>
          </a:xfrm>
          <a:prstGeom prst="line">
            <a:avLst/>
          </a:prstGeom>
          <a:noFill/>
          <a:ln w="19050">
            <a:solidFill>
              <a:srgbClr val="1A1A1A"/>
            </a:solidFill>
            <a:prstDash val="solid"/>
            <a:tailEnd type="triangle"/>
          </a:ln>
        </p:spPr>
      </p:sp>
      <p:sp>
        <p:nvSpPr>
          <p:cNvPr id="28" name="Shape 25"/>
          <p:cNvSpPr/>
          <p:nvPr/>
        </p:nvSpPr>
        <p:spPr>
          <a:xfrm>
            <a:off x="4663440" y="3191256"/>
            <a:ext cx="4114800" cy="475488"/>
          </a:xfrm>
          <a:prstGeom prst="rect">
            <a:avLst/>
          </a:prstGeom>
          <a:solidFill>
            <a:srgbClr val="B8692E"/>
          </a:solidFill>
          <a:ln/>
        </p:spPr>
      </p:sp>
      <p:sp>
        <p:nvSpPr>
          <p:cNvPr id="29" name="Text 26"/>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残業の上限で人を足せない</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受けられる工事が減る</a:t>
            </a:r>
            <a:endParaRPr lang="en-US" sz="1000" dirty="0"/>
          </a:p>
        </p:txBody>
      </p:sp>
      <p:sp>
        <p:nvSpPr>
          <p:cNvPr id="30" name="Shape 27"/>
          <p:cNvSpPr/>
          <p:nvPr/>
        </p:nvSpPr>
        <p:spPr>
          <a:xfrm>
            <a:off x="365760" y="3977640"/>
            <a:ext cx="8412480" cy="502920"/>
          </a:xfrm>
          <a:prstGeom prst="rect">
            <a:avLst/>
          </a:prstGeom>
          <a:solidFill>
            <a:srgbClr val="FFFFFF"/>
          </a:solidFill>
          <a:ln w="19050">
            <a:solidFill>
              <a:srgbClr val="B8692E"/>
            </a:solidFill>
            <a:prstDash val="solid"/>
          </a:ln>
        </p:spPr>
      </p:sp>
      <p:sp>
        <p:nvSpPr>
          <p:cNvPr id="31" name="Text 28"/>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当社が5年目に届ける価値：</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81拠点 × 年約499万円（書類の時間だけ）＝ 年約4.0億円。手戻りの削減が実測できれば上乗せ</a:t>
            </a:r>
            <a:endParaRPr lang="en-US" sz="1050" dirty="0"/>
          </a:p>
        </p:txBody>
      </p:sp>
      <p:sp>
        <p:nvSpPr>
          <p:cNvPr id="32" name="Text 2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p.5〜8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導入効果 ─ 1拠点10台で年約500万円。払う額の約1.5倍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得をするのは、AIグラスを掛けた班だけ。確かな部分（書類と写真整理の時間）だけを計画に入れる</a:t>
            </a:r>
            <a:endParaRPr lang="en-US" sz="1200" dirty="0"/>
          </a:p>
        </p:txBody>
      </p:sp>
      <p:sp>
        <p:nvSpPr>
          <p:cNvPr id="6" name="Shape 3"/>
          <p:cNvSpPr/>
          <p:nvPr/>
        </p:nvSpPr>
        <p:spPr>
          <a:xfrm>
            <a:off x="365760" y="1051560"/>
            <a:ext cx="4937760" cy="960120"/>
          </a:xfrm>
          <a:prstGeom prst="rect">
            <a:avLst/>
          </a:prstGeom>
          <a:solidFill>
            <a:srgbClr val="F2F2F2"/>
          </a:solidFill>
          <a:ln/>
        </p:spPr>
      </p:sp>
      <p:sp>
        <p:nvSpPr>
          <p:cNvPr id="7" name="Text 4"/>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B8692E"/>
                </a:solidFill>
                <a:latin typeface="Meiryo" pitchFamily="34" charset="0"/>
                <a:ea typeface="Meiryo" pitchFamily="34" charset="-122"/>
                <a:cs typeface="Meiryo" pitchFamily="34" charset="-120"/>
              </a:rPr>
              <a:t>式：</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B8692E"/>
                </a:solidFill>
                <a:latin typeface="Meiryo" pitchFamily="34" charset="0"/>
                <a:ea typeface="Meiryo" pitchFamily="34" charset="-122"/>
                <a:cs typeface="Meiryo" pitchFamily="34" charset="-120"/>
              </a:rPr>
              <a:t>＝ 年 約499万円</a:t>
            </a:r>
            <a:endParaRPr lang="en-US" sz="1000" dirty="0"/>
          </a:p>
        </p:txBody>
      </p:sp>
      <p:sp>
        <p:nvSpPr>
          <p:cNvPr id="8" name="Text 5"/>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時給＝統計の年収×会社負担1.17÷残業を含む年1,938時間。1台1日35分は仮説で、実証で測る</a:t>
            </a:r>
            <a:endParaRPr lang="en-US" sz="800" dirty="0"/>
          </a:p>
        </p:txBody>
      </p:sp>
      <p:sp>
        <p:nvSpPr>
          <p:cNvPr id="9" name="Text 6"/>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お客様の得（書類）</a:t>
            </a:r>
            <a:endParaRPr lang="en-US" sz="950" dirty="0"/>
          </a:p>
        </p:txBody>
      </p:sp>
      <p:sp>
        <p:nvSpPr>
          <p:cNvPr id="10" name="Shape 7"/>
          <p:cNvSpPr/>
          <p:nvPr/>
        </p:nvSpPr>
        <p:spPr>
          <a:xfrm>
            <a:off x="2148840" y="2478024"/>
            <a:ext cx="1301430" cy="237744"/>
          </a:xfrm>
          <a:prstGeom prst="rect">
            <a:avLst/>
          </a:prstGeom>
          <a:solidFill>
            <a:srgbClr val="B8692E"/>
          </a:solidFill>
          <a:ln/>
        </p:spPr>
      </p:sp>
      <p:sp>
        <p:nvSpPr>
          <p:cNvPr id="11" name="Text 8"/>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499万円</a:t>
            </a:r>
            <a:endParaRPr lang="en-US" sz="1000" dirty="0"/>
          </a:p>
        </p:txBody>
      </p:sp>
      <p:sp>
        <p:nvSpPr>
          <p:cNvPr id="12" name="Text 9"/>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お客様が払う額</a:t>
            </a:r>
            <a:endParaRPr lang="en-US" sz="950" dirty="0"/>
          </a:p>
        </p:txBody>
      </p:sp>
      <p:sp>
        <p:nvSpPr>
          <p:cNvPr id="13" name="Shape 10"/>
          <p:cNvSpPr/>
          <p:nvPr/>
        </p:nvSpPr>
        <p:spPr>
          <a:xfrm>
            <a:off x="2148840" y="2935224"/>
            <a:ext cx="864993" cy="237744"/>
          </a:xfrm>
          <a:prstGeom prst="rect">
            <a:avLst/>
          </a:prstGeom>
          <a:solidFill>
            <a:srgbClr val="1A1A1A"/>
          </a:solidFill>
          <a:ln/>
        </p:spPr>
      </p:sp>
      <p:sp>
        <p:nvSpPr>
          <p:cNvPr id="14" name="Text 11"/>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332万円</a:t>
            </a:r>
            <a:endParaRPr lang="en-US" sz="1000" dirty="0"/>
          </a:p>
        </p:txBody>
      </p:sp>
      <p:sp>
        <p:nvSpPr>
          <p:cNvPr id="15" name="Text 12"/>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手戻りも減れば（上振れ）</a:t>
            </a:r>
            <a:endParaRPr lang="en-US" sz="950" dirty="0"/>
          </a:p>
        </p:txBody>
      </p:sp>
      <p:sp>
        <p:nvSpPr>
          <p:cNvPr id="16" name="Shape 13"/>
          <p:cNvSpPr/>
          <p:nvPr/>
        </p:nvSpPr>
        <p:spPr>
          <a:xfrm>
            <a:off x="2148840" y="3392424"/>
            <a:ext cx="2240280" cy="237744"/>
          </a:xfrm>
          <a:prstGeom prst="rect">
            <a:avLst/>
          </a:prstGeom>
          <a:solidFill>
            <a:srgbClr val="8C8C8C"/>
          </a:solidFill>
          <a:ln/>
        </p:spPr>
      </p:sp>
      <p:sp>
        <p:nvSpPr>
          <p:cNvPr id="17" name="Text 14"/>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859万円</a:t>
            </a:r>
            <a:endParaRPr lang="en-US" sz="1000" dirty="0"/>
          </a:p>
        </p:txBody>
      </p:sp>
      <p:sp>
        <p:nvSpPr>
          <p:cNvPr id="18" name="Text 15"/>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払う額＝当社への利用料300万円＋グラスのリース約32万円</a:t>
            </a:r>
            <a:endParaRPr lang="en-US" sz="800" dirty="0"/>
          </a:p>
        </p:txBody>
      </p:sp>
      <p:sp>
        <p:nvSpPr>
          <p:cNvPr id="19" name="Shape 16"/>
          <p:cNvSpPr/>
          <p:nvPr/>
        </p:nvSpPr>
        <p:spPr>
          <a:xfrm>
            <a:off x="5577840" y="1051560"/>
            <a:ext cx="3200400" cy="1371600"/>
          </a:xfrm>
          <a:prstGeom prst="rect">
            <a:avLst/>
          </a:prstGeom>
          <a:solidFill>
            <a:srgbClr val="1A1A1A"/>
          </a:solidFill>
          <a:ln/>
        </p:spPr>
      </p:sp>
      <p:sp>
        <p:nvSpPr>
          <p:cNvPr id="20" name="Text 17"/>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想定は35分。実証の合格ラインにする</a:t>
            </a:r>
            <a:endParaRPr lang="en-US" sz="1000" dirty="0"/>
          </a:p>
        </p:txBody>
      </p:sp>
      <p:sp>
        <p:nvSpPr>
          <p:cNvPr id="21" name="Shape 18"/>
          <p:cNvSpPr/>
          <p:nvPr/>
        </p:nvSpPr>
        <p:spPr>
          <a:xfrm>
            <a:off x="5577840" y="2532888"/>
            <a:ext cx="3200400" cy="1490472"/>
          </a:xfrm>
          <a:prstGeom prst="rect">
            <a:avLst/>
          </a:prstGeom>
          <a:solidFill>
            <a:srgbClr val="F2F2F2"/>
          </a:solidFill>
          <a:ln/>
        </p:spPr>
      </p:sp>
      <p:sp>
        <p:nvSpPr>
          <p:cNvPr id="22" name="Text 19"/>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計画に入れない2つ</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新人の指導：金額にせず、独り立ちまでの月数で測る</a:t>
            </a:r>
            <a:endParaRPr lang="en-US" sz="1000" dirty="0"/>
          </a:p>
        </p:txBody>
      </p:sp>
      <p:sp>
        <p:nvSpPr>
          <p:cNvPr id="23" name="Shape 20"/>
          <p:cNvSpPr/>
          <p:nvPr/>
        </p:nvSpPr>
        <p:spPr>
          <a:xfrm>
            <a:off x="365760" y="4114800"/>
            <a:ext cx="8412480" cy="384048"/>
          </a:xfrm>
          <a:prstGeom prst="rect">
            <a:avLst/>
          </a:prstGeom>
          <a:solidFill>
            <a:srgbClr val="FFFFFF"/>
          </a:solidFill>
          <a:ln w="19050">
            <a:solidFill>
              <a:srgbClr val="B8692E"/>
            </a:solidFill>
            <a:prstDash val="solid"/>
          </a:ln>
        </p:spPr>
      </p:sp>
      <p:sp>
        <p:nvSpPr>
          <p:cNvPr id="24" name="Text 21"/>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言い方：</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作業者のARグラス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p.10・26・29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端末と使い方 ─ メガネと同じ軽さのAIグラスを職長が掛ける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グラスは作らず市販品を選ぶ。誰が・どこで・何台・何を撮るかを先に決める</a:t>
            </a:r>
            <a:endParaRPr lang="en-US" sz="1200" dirty="0"/>
          </a:p>
        </p:txBody>
      </p:sp>
      <p:sp>
        <p:nvSpPr>
          <p:cNvPr id="6" name="Text 3"/>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決めごと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1班に1台、職長が掛ける（電工全員には配らない）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何台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1拠点10台＝5現場×2班。効果が出た班から増やす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どこで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作業エリアだけ。休憩・移動・私語は記録しない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何を撮る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作業の区切り・声の合図・検査の場面を短く切り出す。録画は端末に残し、AIに送るのは選んだ場面だけ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どう送る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 → スマホ → クラウド。圏外は後で送る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誰が見る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施工管理者は報告書を確認、熟練者は判断を足す、若手は教材で学ぶ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端末の構成（標準10台）</a:t>
            </a:r>
            <a:endParaRPr lang="en-US" sz="1050" dirty="0"/>
          </a:p>
        </p:txBody>
      </p:sp>
      <p:sp>
        <p:nvSpPr>
          <p:cNvPr id="9" name="Shape 5"/>
          <p:cNvSpPr/>
          <p:nvPr/>
        </p:nvSpPr>
        <p:spPr>
          <a:xfrm>
            <a:off x="4800600" y="1344168"/>
            <a:ext cx="566928" cy="530352"/>
          </a:xfrm>
          <a:prstGeom prst="rect">
            <a:avLst/>
          </a:prstGeom>
          <a:solidFill>
            <a:srgbClr val="B8692E"/>
          </a:solidFill>
          <a:ln/>
        </p:spPr>
      </p:sp>
      <p:sp>
        <p:nvSpPr>
          <p:cNvPr id="10" name="Text 6"/>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8台</a:t>
            </a:r>
            <a:endParaRPr lang="en-US" sz="1100" dirty="0"/>
          </a:p>
        </p:txBody>
      </p:sp>
      <p:sp>
        <p:nvSpPr>
          <p:cNvPr id="11" name="Text 7"/>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カメラ付きAIグラス</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約8万円・約50g。記録と音声メモ（例：Ray-Ban Meta 第2世代）</a:t>
            </a:r>
            <a:endParaRPr lang="en-US" sz="950" dirty="0"/>
          </a:p>
        </p:txBody>
      </p:sp>
      <p:sp>
        <p:nvSpPr>
          <p:cNvPr id="12" name="Shape 8"/>
          <p:cNvSpPr/>
          <p:nvPr/>
        </p:nvSpPr>
        <p:spPr>
          <a:xfrm>
            <a:off x="4800600" y="1947672"/>
            <a:ext cx="566928" cy="530352"/>
          </a:xfrm>
          <a:prstGeom prst="rect">
            <a:avLst/>
          </a:prstGeom>
          <a:solidFill>
            <a:srgbClr val="1A1A1A"/>
          </a:solidFill>
          <a:ln/>
        </p:spPr>
      </p:sp>
      <p:sp>
        <p:nvSpPr>
          <p:cNvPr id="13" name="Text 9"/>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2台</a:t>
            </a:r>
            <a:endParaRPr lang="en-US" sz="1100" dirty="0"/>
          </a:p>
        </p:txBody>
      </p:sp>
      <p:sp>
        <p:nvSpPr>
          <p:cNvPr id="14" name="Text 10"/>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表示付きARグラス</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約12万円・約70g。手元に図面と手順（例：Meta Ray-Ban Display）</a:t>
            </a:r>
            <a:endParaRPr lang="en-US" sz="950" dirty="0"/>
          </a:p>
        </p:txBody>
      </p:sp>
      <p:sp>
        <p:nvSpPr>
          <p:cNvPr id="15" name="Shape 11"/>
          <p:cNvSpPr/>
          <p:nvPr/>
        </p:nvSpPr>
        <p:spPr>
          <a:xfrm>
            <a:off x="4800600" y="2551176"/>
            <a:ext cx="566928" cy="530352"/>
          </a:xfrm>
          <a:prstGeom prst="rect">
            <a:avLst/>
          </a:prstGeom>
          <a:solidFill>
            <a:srgbClr val="8C8C8C"/>
          </a:solidFill>
          <a:ln/>
        </p:spPr>
      </p:sp>
      <p:sp>
        <p:nvSpPr>
          <p:cNvPr id="16" name="Text 12"/>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選択</a:t>
            </a:r>
            <a:endParaRPr lang="en-US" sz="1100" dirty="0"/>
          </a:p>
        </p:txBody>
      </p:sp>
      <p:sp>
        <p:nvSpPr>
          <p:cNvPr id="17" name="Text 13"/>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産業用ヘッドセット</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約37万円〜。ヘルメット装着・防じん。粉じん・高所の現場だけ（例：RealWear）</a:t>
            </a:r>
            <a:endParaRPr lang="en-US" sz="950" dirty="0"/>
          </a:p>
        </p:txBody>
      </p:sp>
      <p:sp>
        <p:nvSpPr>
          <p:cNvPr id="18" name="Shape 14"/>
          <p:cNvSpPr/>
          <p:nvPr/>
        </p:nvSpPr>
        <p:spPr>
          <a:xfrm>
            <a:off x="365760" y="3611880"/>
            <a:ext cx="8412480" cy="841248"/>
          </a:xfrm>
          <a:prstGeom prst="rect">
            <a:avLst/>
          </a:prstGeom>
          <a:solidFill>
            <a:srgbClr val="FFFFFF"/>
          </a:solidFill>
          <a:ln w="19050">
            <a:solidFill>
              <a:srgbClr val="B8692E"/>
            </a:solidFill>
            <a:prstDash val="solid"/>
          </a:ln>
        </p:spPr>
      </p:sp>
      <p:sp>
        <p:nvSpPr>
          <p:cNvPr id="19" name="Text 15"/>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グラスの持ち方：</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お客様がリース（10台で年約32万円）。試験導入はレンタル、3年目からは端末込みの料金も用意（詳細版 p.29）</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人が入力・人が見て判断・自動で判断を渡す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施工管理アプリ・産業用ヘッドセットとは競わずにつなぐ。強みは電気工事の判断の記録と監修</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008937"/>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1976933"/>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遠隔臨場カメラ"/>
          <p:cNvSpPr/>
          <p:nvPr/>
        </p:nvSpPr>
        <p:spPr>
          <a:xfrm>
            <a:off x="3461004" y="3539642"/>
            <a:ext cx="137160" cy="137160"/>
          </a:xfrm>
          <a:prstGeom prst="ellipse">
            <a:avLst/>
          </a:prstGeom>
          <a:solidFill>
            <a:srgbClr val="FFFFFF"/>
          </a:solidFill>
          <a:ln w="15875">
            <a:solidFill>
              <a:srgbClr val="1A1A1A"/>
            </a:solidFill>
            <a:prstDash val="solid"/>
          </a:ln>
        </p:spPr>
      </p:sp>
      <p:sp>
        <p:nvSpPr>
          <p:cNvPr id="22" name="Text 19"/>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3" name="pos-RealWear（遠隔支援）"/>
          <p:cNvSpPr/>
          <p:nvPr/>
        </p:nvSpPr>
        <p:spPr>
          <a:xfrm>
            <a:off x="3099816" y="2403958"/>
            <a:ext cx="137160" cy="137160"/>
          </a:xfrm>
          <a:prstGeom prst="ellipse">
            <a:avLst/>
          </a:prstGeom>
          <a:solidFill>
            <a:srgbClr val="FFFFFF"/>
          </a:solidFill>
          <a:ln w="15875">
            <a:solidFill>
              <a:srgbClr val="1A1A1A"/>
            </a:solidFill>
            <a:prstDash val="solid"/>
          </a:ln>
        </p:spPr>
      </p:sp>
      <p:sp>
        <p:nvSpPr>
          <p:cNvPr id="24" name="Text 21"/>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RealWear（遠隔支援）</a:t>
            </a:r>
            <a:endParaRPr lang="en-US" sz="800" dirty="0"/>
          </a:p>
        </p:txBody>
      </p:sp>
      <p:sp>
        <p:nvSpPr>
          <p:cNvPr id="25" name="pos-日立 AI Safety（保守）"/>
          <p:cNvSpPr/>
          <p:nvPr/>
        </p:nvSpPr>
        <p:spPr>
          <a:xfrm>
            <a:off x="3533242" y="2107692"/>
            <a:ext cx="137160" cy="137160"/>
          </a:xfrm>
          <a:prstGeom prst="ellipse">
            <a:avLst/>
          </a:prstGeom>
          <a:solidFill>
            <a:srgbClr val="FFFFFF"/>
          </a:solidFill>
          <a:ln w="15875">
            <a:solidFill>
              <a:srgbClr val="1A1A1A"/>
            </a:solidFill>
            <a:prstDash val="solid"/>
          </a:ln>
        </p:spPr>
      </p:sp>
      <p:sp>
        <p:nvSpPr>
          <p:cNvPr id="26" name="Text 23"/>
          <p:cNvSpPr txBox="1"/>
          <p:nvPr/>
        </p:nvSpPr>
        <p:spPr>
          <a:xfrm>
            <a:off x="1942186" y="20756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日立 AI Safety（保守）</a:t>
            </a:r>
            <a:endParaRPr lang="en-US" sz="800" dirty="0"/>
          </a:p>
        </p:txBody>
      </p:sp>
      <p:sp>
        <p:nvSpPr>
          <p:cNvPr id="27" name="pos-カンツギ"/>
          <p:cNvSpPr/>
          <p:nvPr/>
        </p:nvSpPr>
        <p:spPr>
          <a:xfrm>
            <a:off x="3790188" y="1779422"/>
            <a:ext cx="201168" cy="201168"/>
          </a:xfrm>
          <a:prstGeom prst="ellipse">
            <a:avLst/>
          </a:prstGeom>
          <a:solidFill>
            <a:srgbClr val="1A1A1A"/>
          </a:solidFill>
          <a:ln w="15875">
            <a:solidFill>
              <a:srgbClr val="1A1A1A"/>
            </a:solidFill>
            <a:prstDash val="solid"/>
          </a:ln>
        </p:spPr>
      </p:sp>
      <p:sp>
        <p:nvSpPr>
          <p:cNvPr id="28" name="Text 25"/>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sp>
        <p:nvSpPr>
          <p:cNvPr id="29"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30" name="Text 27"/>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31" name="Text 28"/>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会社・サービス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記録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報告書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判断・教材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ANDPAD・蔵衛門</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人が撮影・入力</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写真台帳</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SPIDERPLUS</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人が図面に記録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検査帳票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遠隔臨場カメラ（Safie等）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映像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人が見る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RealWear（ヘッドセット）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両手が空く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写真・メモ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遠隔の人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 AI Safety（保守）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ウェアラブル</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開発中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安全・手順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tebiki／Teachme Biz</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器のみ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カンツギ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一人称で自動</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各社の書式で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照合＋教材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3" name="threat"/>
          <p:cNvSpPr/>
          <p:nvPr/>
        </p:nvSpPr>
        <p:spPr>
          <a:xfrm>
            <a:off x="4526280" y="3392424"/>
            <a:ext cx="4251960" cy="777240"/>
          </a:xfrm>
          <a:prstGeom prst="rect">
            <a:avLst/>
          </a:prstGeom>
          <a:solidFill>
            <a:srgbClr val="1A1A1A"/>
          </a:solidFill>
          <a:ln/>
        </p:spPr>
      </p:sp>
      <p:sp>
        <p:nvSpPr>
          <p:cNvPr id="34" name="Text 30"/>
          <p:cNvSpPr txBox="1"/>
          <p:nvPr/>
        </p:nvSpPr>
        <p:spPr>
          <a:xfrm>
            <a:off x="4636008" y="3392424"/>
            <a:ext cx="4032504" cy="777240"/>
          </a:xfrm>
          <a:prstGeom prst="rect">
            <a:avLst/>
          </a:prstGeom>
          <a:noFill/>
          <a:ln/>
        </p:spPr>
        <p:txBody>
          <a:bodyPr wrap="square" lIns="0" tIns="0" rIns="0" bIns="0" rtlCol="0" anchor="ctr"/>
          <a:lstStyle/>
          <a:p>
            <a:pPr algn="l" indent="0" marL="0">
              <a:lnSpc>
                <a:spcPct val="115000"/>
              </a:lnSpc>
              <a:spcAft>
                <a:spcPts val="200"/>
              </a:spcAft>
              <a:buNone/>
            </a:pPr>
            <a:r>
              <a:rPr lang="en-US" sz="800" b="1" dirty="0">
                <a:solidFill>
                  <a:srgbClr val="FFFFFF"/>
                </a:solidFill>
                <a:latin typeface="Meiryo" pitchFamily="34" charset="0"/>
                <a:ea typeface="Meiryo" pitchFamily="34" charset="-122"/>
                <a:cs typeface="Meiryo" pitchFamily="34" charset="-120"/>
              </a:rPr>
              <a:t>最大の競合：</a:t>
            </a:r>
            <a:pPr algn="l" indent="0" marL="0">
              <a:lnSpc>
                <a:spcPct val="115000"/>
              </a:lnSpc>
              <a:spcAft>
                <a:spcPts val="200"/>
              </a:spcAft>
              <a:buNone/>
            </a:pPr>
            <a:r>
              <a:rPr lang="en-US" sz="800" dirty="0">
                <a:solidFill>
                  <a:srgbClr val="FFFFFF"/>
                </a:solidFill>
                <a:latin typeface="Meiryo" pitchFamily="34" charset="0"/>
                <a:ea typeface="Meiryo" pitchFamily="34" charset="-122"/>
                <a:cs typeface="Meiryo" pitchFamily="34" charset="-120"/>
              </a:rPr>
              <a:t>日立 AI Safety（ほぼ同じ方向。次のページ）。施工管理アプリ・RealWearも自動報告を加えうる</a:t>
            </a:r>
            <a:endParaRPr lang="en-US" sz="800" dirty="0"/>
          </a:p>
          <a:p>
            <a:pPr algn="l" indent="0" marL="0">
              <a:lnSpc>
                <a:spcPct val="115000"/>
              </a:lnSpc>
              <a:spcAft>
                <a:spcPts val="200"/>
              </a:spcAft>
              <a:buNone/>
            </a:pPr>
            <a:r>
              <a:rPr lang="en-US" sz="80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800" dirty="0">
                <a:solidFill>
                  <a:srgbClr val="FFFFFF"/>
                </a:solidFill>
                <a:latin typeface="Meiryo" pitchFamily="34" charset="0"/>
                <a:ea typeface="Meiryo" pitchFamily="34" charset="-122"/>
                <a:cs typeface="Meiryo" pitchFamily="34" charset="-120"/>
              </a:rPr>
              <a:t>競わずにつなぐ（報告書は各社の形式、端末はRealWearも選べる）。領域は電気工事の施工にずらす</a:t>
            </a:r>
            <a:endParaRPr lang="en-US" sz="800" dirty="0"/>
          </a:p>
        </p:txBody>
      </p:sp>
      <p:sp>
        <p:nvSpPr>
          <p:cNvPr id="35" name="Text 31"/>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出典：各社公表資料・販売店資料（RealWear Navigator 520／Arc 3、Safie Pocket2）、日立製作所ニュースリリース（2025年10月）。競争戦略はニッチャー×差別化集中</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差別化 ─ 日立と方向は同じ。だから領域をずらす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日立は大手の自社保守（ビル設備・安全）から。当社は中堅の電気工事会社の施工（記録・書類・技能継承）から</a:t>
            </a:r>
            <a:endParaRPr lang="en-US" sz="1200" dirty="0"/>
          </a:p>
        </p:txBody>
      </p:sp>
      <p:sp>
        <p:nvSpPr>
          <p:cNvPr id="5" name="Shape 2"/>
          <p:cNvSpPr/>
          <p:nvPr/>
        </p:nvSpPr>
        <p:spPr>
          <a:xfrm>
            <a:off x="365760" y="1024128"/>
            <a:ext cx="4069080" cy="1741149"/>
          </a:xfrm>
          <a:prstGeom prst="rect">
            <a:avLst/>
          </a:prstGeom>
          <a:solidFill>
            <a:srgbClr val="FFFFFF"/>
          </a:solidFill>
          <a:ln w="9525">
            <a:solidFill>
              <a:srgbClr val="BFBFBF"/>
            </a:solidFill>
            <a:prstDash val="solid"/>
          </a:ln>
        </p:spPr>
      </p:sp>
      <p:pic>
        <p:nvPicPr>
          <p:cNvPr id="6" name="Image 0" descr="/home/user/-ai-commute-audio-/deck/assets/ref-hitachi-ai-safety.png">    </p:cNvPr>
          <p:cNvPicPr>
            <a:picLocks noChangeAspect="1"/>
          </p:cNvPicPr>
          <p:nvPr/>
        </p:nvPicPr>
        <p:blipFill>
          <a:blip r:embed="rId1"/>
          <a:stretch>
            <a:fillRect/>
          </a:stretch>
        </p:blipFill>
        <p:spPr>
          <a:xfrm>
            <a:off x="393192" y="1051560"/>
            <a:ext cx="4014216" cy="1686285"/>
          </a:xfrm>
          <a:prstGeom prst="rect">
            <a:avLst/>
          </a:prstGeom>
        </p:spPr>
      </p:pic>
      <p:sp>
        <p:nvSpPr>
          <p:cNvPr id="7" name="Text 3"/>
          <p:cNvSpPr txBox="1"/>
          <p:nvPr/>
        </p:nvSpPr>
        <p:spPr>
          <a:xfrm>
            <a:off x="365760" y="2801853"/>
            <a:ext cx="4069080" cy="292608"/>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引用：日立製作所・日立ビルシステム・日立パワーソリューションズ ニュースリリース（2025年10月10日）「AI Safetyソリューションのイメージ図」</a:t>
            </a:r>
            <a:endParaRPr lang="en-US" sz="750" dirty="0"/>
          </a:p>
        </p:txBody>
      </p:sp>
      <p:sp>
        <p:nvSpPr>
          <p:cNvPr id="8" name="Text 4"/>
          <p:cNvSpPr txBox="1"/>
          <p:nvPr/>
        </p:nvSpPr>
        <p:spPr>
          <a:xfrm>
            <a:off x="365760" y="3121893"/>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日立の強み（正直に）：</a:t>
            </a:r>
            <a:endParaRPr lang="en-US" sz="90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NVIDIAと組んだ映像AI（VLM）、日立ビルシステムの全国の現場で数千人が運用（2025年11月〜）、ブランドと保守網。技術と規模では勝てない</a:t>
            </a:r>
            <a:endParaRPr lang="en-US" sz="900" dirty="0"/>
          </a:p>
        </p:txBody>
      </p:sp>
      <p:graphicFrame>
        <p:nvGraphicFramePr>
          <p:cNvPr id="16" name="vs-hitachi"/>
          <p:cNvGraphicFramePr>
            <a:graphicFrameLocks noGrp="1"/>
          </p:cNvGraphicFramePr>
          <p:nvPr>
            <p:extLst>
              <p:ext uri="{D42A27DB-BD31-4B8C-83A1-F6EECF244321}">
                <p14:modId xmlns:p14="http://schemas.microsoft.com/office/powerpoint/2010/main" val="1579011935"/>
              </p:ext>
            </p:extLst>
          </p:nvPr>
        </p:nvGraphicFramePr>
        <p:xfrm>
          <a:off x="4617720" y="1024128"/>
          <a:ext cx="4160520" cy="914400"/>
        </p:xfrm>
        <a:graphic>
          <a:graphicData uri="http://schemas.openxmlformats.org/drawingml/2006/table">
            <a:tbl>
              <a:tblPr/>
              <a:tblGrid>
                <a:gridCol w="777240"/>
                <a:gridCol w="1645920"/>
                <a:gridCol w="1737360"/>
              </a:tblGrid>
              <a:tr h="301752">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日立 AI Safety</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カンツギ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仕事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ビル設備の保守・点検（昇降機など）</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電気工事の施工（接続・配線）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使う人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日立グループの自社技術者・大手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中堅の電気工事会社（協力会社）</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第一の価値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安全（危険箇所の事前通知）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書類の削減と技能の継承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報告書</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保守の作業報告（自動化は開発中）</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発注者ごとの施工写真台帳・検査記録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知識の型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日立の保守ナレッジ</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電気工事の工種の型（現場監修）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ウェアラブルカメラ＋スマホ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普段使いのAIグラス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大手向けの個別導入（価格非公開）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月25万円・2か月で導入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diff-strategy"/>
          <p:cNvSpPr/>
          <p:nvPr/>
        </p:nvSpPr>
        <p:spPr>
          <a:xfrm>
            <a:off x="365760" y="3657600"/>
            <a:ext cx="8412480" cy="804672"/>
          </a:xfrm>
          <a:prstGeom prst="rect">
            <a:avLst/>
          </a:prstGeom>
          <a:solidFill>
            <a:srgbClr val="1A1A1A"/>
          </a:solidFill>
          <a:ln/>
        </p:spPr>
      </p:sp>
      <p:sp>
        <p:nvSpPr>
          <p:cNvPr id="11" name="Text 6"/>
          <p:cNvSpPr txBox="1"/>
          <p:nvPr/>
        </p:nvSpPr>
        <p:spPr>
          <a:xfrm>
            <a:off x="502920" y="3657600"/>
            <a:ext cx="8138160" cy="80467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E3A774"/>
                </a:solidFill>
                <a:latin typeface="Meiryo" pitchFamily="34" charset="0"/>
                <a:ea typeface="Meiryo" pitchFamily="34" charset="-122"/>
                <a:cs typeface="Meiryo" pitchFamily="34" charset="-120"/>
              </a:rPr>
              <a:t>差別化戦略：</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①安全アラートでは競わない（日立の土俵）　②施工の書類（写真台帳・検査記録）を発注者の書式で出す　③電気工事の工種の型と技能継承の教材を先に揃える</a:t>
            </a:r>
            <a:endParaRPr lang="en-US" sz="850" dirty="0"/>
          </a:p>
          <a:p>
            <a:pPr algn="l" indent="0" marL="0">
              <a:lnSpc>
                <a:spcPct val="115000"/>
              </a:lnSpc>
              <a:spcAft>
                <a:spcPts val="200"/>
              </a:spcAft>
              <a:buNone/>
            </a:pPr>
            <a:r>
              <a:rPr lang="en-US" sz="850" b="1" dirty="0">
                <a:solidFill>
                  <a:srgbClr val="E3A774"/>
                </a:solidFill>
                <a:latin typeface="Meiryo" pitchFamily="34" charset="0"/>
                <a:ea typeface="Meiryo" pitchFamily="34" charset="-122"/>
                <a:cs typeface="Meiryo" pitchFamily="34" charset="-120"/>
              </a:rPr>
              <a:t>もし日立が施工・中堅向けに来たら：</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競わず提携も選ぶ（日立の基盤に電気工事の型を載せる・協力会社へ広げる）。勝負の窓は2〜3年と見て、型とデータを先に貯める</a:t>
            </a:r>
            <a:endParaRPr lang="en-US" sz="85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出典：日立ニュースリリース（2025年10月・11月）、BUILT・ITmedia、ザクティ（2025年12月）。日立の価格・外販の予定は未確認</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スタッフ ─ 5年目23人、現場監修とコンサル部隊を内製</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人数・特性・任せる役割、そして自分の役割。帳票の設定は外部に委託せず、社内に知見を貯める</a:t>
            </a:r>
            <a:endParaRPr lang="en-US" sz="1200" dirty="0"/>
          </a:p>
        </p:txBody>
      </p:sp>
      <p:sp>
        <p:nvSpPr>
          <p:cNvPr id="6" name="founder"/>
          <p:cNvSpPr/>
          <p:nvPr/>
        </p:nvSpPr>
        <p:spPr>
          <a:xfrm>
            <a:off x="365760" y="1051560"/>
            <a:ext cx="3108960" cy="3383280"/>
          </a:xfrm>
          <a:prstGeom prst="rect">
            <a:avLst/>
          </a:prstGeom>
          <a:solidFill>
            <a:srgbClr val="1A1A1A"/>
          </a:solidFill>
          <a:ln/>
        </p:spPr>
      </p:sp>
      <p:sp>
        <p:nvSpPr>
          <p:cNvPr id="7" name="Text 4"/>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代表（創業者）</a:t>
            </a:r>
            <a:endParaRPr lang="en-US" sz="1400" dirty="0"/>
          </a:p>
        </p:txBody>
      </p:sp>
      <p:sp>
        <p:nvSpPr>
          <p:cNvPr id="8" name="Text 5"/>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E3A774"/>
                </a:solidFill>
                <a:latin typeface="Meiryo" pitchFamily="34" charset="0"/>
                <a:ea typeface="Meiryo" pitchFamily="34" charset="-122"/>
                <a:cs typeface="Meiryo" pitchFamily="34" charset="-120"/>
              </a:rPr>
              <a:t>私の役割：最初の営業・現場監修の統括・理念と判断の基準づくり</a:t>
            </a:r>
            <a:endParaRPr lang="en-US" sz="950" dirty="0"/>
          </a:p>
        </p:txBody>
      </p:sp>
      <p:sp>
        <p:nvSpPr>
          <p:cNvPr id="9" name="Text 6"/>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17"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役割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人数 1→5年目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任せる仕事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求める特性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CTO</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1→1人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映像AI・データ基盤の設計と開発の責任者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映像AIとクラウドを設計した経験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1→5人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アプリ・AI処理・クラウド・グラス連携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現場に足を運ぶのをいとわない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映像の意味づけ（ラベル付け）・工種の型・品質の確認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電気工事の施工管理10年以上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1→8人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導入支援・各社の帳票と連携の設定・定着支援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現場と事務所の両方の言葉で話せる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0→3人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商談・試験導入の提案。年30商談／人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電設業界の人脈と技術の理解</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採用・労務・経理・契約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少人数で幅広く回せる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0→1人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価格・提携・大手顧客の企画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数字で提携と価格を設計できる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社外顧問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映像AI（大学）・電気工事業界のOB</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月1〜2回の助言</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proof"/>
          <p:cNvSpPr/>
          <p:nvPr/>
        </p:nvSpPr>
        <p:spPr>
          <a:xfrm>
            <a:off x="3611880" y="3977640"/>
            <a:ext cx="5166360" cy="457200"/>
          </a:xfrm>
          <a:prstGeom prst="rect">
            <a:avLst/>
          </a:prstGeom>
          <a:solidFill>
            <a:srgbClr val="F2F2F2"/>
          </a:solidFill>
          <a:ln/>
        </p:spPr>
      </p:sp>
      <p:sp>
        <p:nvSpPr>
          <p:cNvPr id="12" name="Text 8"/>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コンサル部隊を社内に持つ理由：</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各社の帳票や連携の設定を外部に任せると、知見が社外に残る。社内で行い、型として製品に戻す</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経営理念 ─ 現場の勘を、次の担い手へ。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ホームページで多くの人に伝える内容：使命 → 大切にすること → 一人ひとりへの約束</a:t>
            </a:r>
            <a:endParaRPr lang="en-US" sz="1200" dirty="0"/>
          </a:p>
        </p:txBody>
      </p:sp>
      <p:sp>
        <p:nvSpPr>
          <p:cNvPr id="5" name="mission"/>
          <p:cNvSpPr/>
          <p:nvPr/>
        </p:nvSpPr>
        <p:spPr>
          <a:xfrm>
            <a:off x="365760" y="1051560"/>
            <a:ext cx="3291840" cy="3401568"/>
          </a:xfrm>
          <a:prstGeom prst="rect">
            <a:avLst/>
          </a:prstGeom>
          <a:solidFill>
            <a:srgbClr val="1A1A1A"/>
          </a:solidFill>
          <a:ln/>
        </p:spPr>
      </p:sp>
      <p:sp>
        <p:nvSpPr>
          <p:cNvPr id="6" name="Text 3"/>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Meiryo" pitchFamily="34" charset="0"/>
                <a:ea typeface="Meiryo" pitchFamily="34" charset="-122"/>
                <a:cs typeface="Meiryo" pitchFamily="34" charset="-120"/>
              </a:rPr>
              <a:t> </a:t>
            </a:r>
            <a:endParaRPr lang="en-US" sz="1400" dirty="0"/>
          </a:p>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人が減っても、現場が迷わず回る。若手が「聞ける先輩がいない」と困らない</a:t>
            </a:r>
            <a:endParaRPr lang="en-US" sz="1400" dirty="0"/>
          </a:p>
        </p:txBody>
      </p:sp>
      <p:sp>
        <p:nvSpPr>
          <p:cNvPr id="7" name="Text 4"/>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大切にする3つのこと（バリュー）</a:t>
            </a:r>
            <a:endParaRPr lang="en-US" sz="1050" dirty="0"/>
          </a:p>
        </p:txBody>
      </p:sp>
      <p:sp>
        <p:nvSpPr>
          <p:cNvPr id="8" name="Shape 5"/>
          <p:cNvSpPr/>
          <p:nvPr/>
        </p:nvSpPr>
        <p:spPr>
          <a:xfrm>
            <a:off x="3886200" y="1380744"/>
            <a:ext cx="329184" cy="347472"/>
          </a:xfrm>
          <a:prstGeom prst="rect">
            <a:avLst/>
          </a:prstGeom>
          <a:solidFill>
            <a:srgbClr val="B8692E"/>
          </a:solidFill>
          <a:ln/>
        </p:spPr>
      </p:sp>
      <p:sp>
        <p:nvSpPr>
          <p:cNvPr id="9" name="Text 6"/>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10" name="Text 7"/>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現場を主役に</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作業の手を止めない。入力を増やさない。現場の言葉で話す</a:t>
            </a:r>
            <a:endParaRPr lang="en-US" sz="1000" dirty="0"/>
          </a:p>
        </p:txBody>
      </p:sp>
      <p:sp>
        <p:nvSpPr>
          <p:cNvPr id="11" name="Shape 8"/>
          <p:cNvSpPr/>
          <p:nvPr/>
        </p:nvSpPr>
        <p:spPr>
          <a:xfrm>
            <a:off x="3886200" y="1837944"/>
            <a:ext cx="329184" cy="347472"/>
          </a:xfrm>
          <a:prstGeom prst="rect">
            <a:avLst/>
          </a:prstGeom>
          <a:solidFill>
            <a:srgbClr val="B8692E"/>
          </a:solidFill>
          <a:ln/>
        </p:spPr>
      </p:sp>
      <p:sp>
        <p:nvSpPr>
          <p:cNvPr id="12" name="Text 9"/>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3" name="Text 10"/>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勘に敬意を</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記録は本人の同意のもとで。誰の技術かを残し、評価につなげる</a:t>
            </a:r>
            <a:endParaRPr lang="en-US" sz="1000" dirty="0"/>
          </a:p>
        </p:txBody>
      </p:sp>
      <p:sp>
        <p:nvSpPr>
          <p:cNvPr id="14" name="Shape 11"/>
          <p:cNvSpPr/>
          <p:nvPr/>
        </p:nvSpPr>
        <p:spPr>
          <a:xfrm>
            <a:off x="3886200" y="2295144"/>
            <a:ext cx="329184" cy="347472"/>
          </a:xfrm>
          <a:prstGeom prst="rect">
            <a:avLst/>
          </a:prstGeom>
          <a:solidFill>
            <a:srgbClr val="B8692E"/>
          </a:solidFill>
          <a:ln/>
        </p:spPr>
      </p:sp>
      <p:sp>
        <p:nvSpPr>
          <p:cNvPr id="15" name="Text 12"/>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6" name="Text 13"/>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数字で約束する</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効果は毎月測って見せる。効かなければ正直に言う</a:t>
            </a:r>
            <a:endParaRPr lang="en-US" sz="1000" dirty="0"/>
          </a:p>
        </p:txBody>
      </p:sp>
      <p:sp>
        <p:nvSpPr>
          <p:cNvPr id="17" name="Text 14"/>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一人ひとりへの約束（ホームページの3つの入口）</a:t>
            </a:r>
            <a:endParaRPr lang="en-US" sz="1050" dirty="0"/>
          </a:p>
        </p:txBody>
      </p:sp>
      <p:graphicFrame>
        <p:nvGraphicFramePr>
          <p:cNvPr id="18"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誰に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伝えること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お客様（工事会社）</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書類の時間を減らし、効果を毎月の数字で示す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現場で働く人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監視ではない。あなたの技術を残し、若手と評価につなげる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社会・次の世代</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現場の勘を業界の財産にし、AIとロボットに教える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p.24</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6"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7" name="sam"/>
          <p:cNvSpPr/>
          <p:nvPr/>
        </p:nvSpPr>
        <p:spPr>
          <a:xfrm>
            <a:off x="1005840" y="2103120"/>
            <a:ext cx="2194560" cy="2286000"/>
          </a:xfrm>
          <a:prstGeom prst="ellipse">
            <a:avLst/>
          </a:prstGeom>
          <a:solidFill>
            <a:srgbClr val="4D4D4D"/>
          </a:solidFill>
          <a:ln/>
        </p:spPr>
      </p:sp>
      <p:sp>
        <p:nvSpPr>
          <p:cNvPr id="8" name="som"/>
          <p:cNvSpPr/>
          <p:nvPr/>
        </p:nvSpPr>
        <p:spPr>
          <a:xfrm>
            <a:off x="1554480" y="3108960"/>
            <a:ext cx="1097280" cy="1097280"/>
          </a:xfrm>
          <a:prstGeom prst="ellipse">
            <a:avLst/>
          </a:prstGeom>
          <a:solidFill>
            <a:srgbClr val="1A1A1A"/>
          </a:solidFill>
          <a:ln/>
        </p:spPr>
      </p:sp>
      <p:sp>
        <p:nvSpPr>
          <p:cNvPr id="9" name="Text 6"/>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10" name="Text 7"/>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1" name="Text 8"/>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2.43億円</a:t>
            </a:r>
            <a:endParaRPr lang="en-US" sz="1050" dirty="0"/>
          </a:p>
        </p:txBody>
      </p:sp>
      <p:sp>
        <p:nvSpPr>
          <p:cNvPr id="12" name="Text 9"/>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9"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D4D4D"/>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D4D4D"/>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5" name="growth"/>
          <p:cNvSpPr/>
          <p:nvPr/>
        </p:nvSpPr>
        <p:spPr>
          <a:xfrm>
            <a:off x="4297680" y="3017520"/>
            <a:ext cx="4480560" cy="1261872"/>
          </a:xfrm>
          <a:prstGeom prst="rect">
            <a:avLst/>
          </a:prstGeom>
          <a:solidFill>
            <a:srgbClr val="1A1A1A"/>
          </a:solidFill>
          <a:ln/>
        </p:spPr>
      </p:sp>
      <p:sp>
        <p:nvSpPr>
          <p:cNvPr id="16" name="Text 12"/>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自社が狙う市場：5年目81拠点×年300万円＝約2.43億円（ターゲット市場の約1.7%）</a:t>
            </a:r>
            <a:endParaRPr lang="en-US" sz="850" dirty="0"/>
          </a:p>
        </p:txBody>
      </p:sp>
      <p:sp>
        <p:nvSpPr>
          <p:cNvPr id="17" name="Text 13"/>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6" name="Text 3"/>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20"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9" name="icp"/>
          <p:cNvSpPr/>
          <p:nvPr/>
        </p:nvSpPr>
        <p:spPr>
          <a:xfrm>
            <a:off x="5486400" y="1051560"/>
            <a:ext cx="3291840" cy="1371600"/>
          </a:xfrm>
          <a:prstGeom prst="rect">
            <a:avLst/>
          </a:prstGeom>
          <a:solidFill>
            <a:srgbClr val="1A1A1A"/>
          </a:solidFill>
          <a:ln/>
        </p:spPr>
      </p:sp>
      <p:sp>
        <p:nvSpPr>
          <p:cNvPr id="10" name="Text 6"/>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1" name="Text 7"/>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2" name="Shape 8"/>
          <p:cNvSpPr/>
          <p:nvPr/>
        </p:nvSpPr>
        <p:spPr>
          <a:xfrm>
            <a:off x="5486400" y="2843784"/>
            <a:ext cx="502920" cy="274320"/>
          </a:xfrm>
          <a:prstGeom prst="rect">
            <a:avLst/>
          </a:prstGeom>
          <a:solidFill>
            <a:srgbClr val="B8692E"/>
          </a:solidFill>
          <a:ln/>
        </p:spPr>
      </p:sp>
      <p:sp>
        <p:nvSpPr>
          <p:cNvPr id="13" name="Text 9"/>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4" name="Text 10"/>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5" name="Shape 11"/>
          <p:cNvSpPr/>
          <p:nvPr/>
        </p:nvSpPr>
        <p:spPr>
          <a:xfrm>
            <a:off x="5486400" y="3209544"/>
            <a:ext cx="502920" cy="274320"/>
          </a:xfrm>
          <a:prstGeom prst="rect">
            <a:avLst/>
          </a:prstGeom>
          <a:solidFill>
            <a:srgbClr val="4D4D4D"/>
          </a:solidFill>
          <a:ln/>
        </p:spPr>
      </p:sp>
      <p:sp>
        <p:nvSpPr>
          <p:cNvPr id="16" name="Text 12"/>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7" name="Text 13"/>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8" name="Shape 14"/>
          <p:cNvSpPr/>
          <p:nvPr/>
        </p:nvSpPr>
        <p:spPr>
          <a:xfrm>
            <a:off x="5486400" y="3575304"/>
            <a:ext cx="502920" cy="274320"/>
          </a:xfrm>
          <a:prstGeom prst="rect">
            <a:avLst/>
          </a:prstGeom>
          <a:solidFill>
            <a:srgbClr val="4D4D4D"/>
          </a:solidFill>
          <a:ln/>
        </p:spPr>
      </p:sp>
      <p:sp>
        <p:nvSpPr>
          <p:cNvPr id="19" name="Text 15"/>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20" name="Text 16"/>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1"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6" name="Shape 3"/>
          <p:cNvSpPr/>
          <p:nvPr/>
        </p:nvSpPr>
        <p:spPr>
          <a:xfrm>
            <a:off x="365760" y="1024128"/>
            <a:ext cx="1463040" cy="685800"/>
          </a:xfrm>
          <a:prstGeom prst="rect">
            <a:avLst/>
          </a:prstGeom>
          <a:solidFill>
            <a:srgbClr val="1A1A1A"/>
          </a:solidFill>
          <a:ln/>
        </p:spPr>
      </p:sp>
      <p:sp>
        <p:nvSpPr>
          <p:cNvPr id="7" name="Text 4"/>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8" name="Text 5"/>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9" name="Shape 6"/>
          <p:cNvSpPr/>
          <p:nvPr/>
        </p:nvSpPr>
        <p:spPr>
          <a:xfrm>
            <a:off x="365760" y="1801368"/>
            <a:ext cx="1463040" cy="1874520"/>
          </a:xfrm>
          <a:prstGeom prst="rect">
            <a:avLst/>
          </a:prstGeom>
          <a:solidFill>
            <a:srgbClr val="1A1A1A"/>
          </a:solidFill>
          <a:ln/>
        </p:spPr>
      </p:sp>
      <p:sp>
        <p:nvSpPr>
          <p:cNvPr id="10" name="Text 7"/>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1" name="Shape 8"/>
          <p:cNvSpPr/>
          <p:nvPr/>
        </p:nvSpPr>
        <p:spPr>
          <a:xfrm>
            <a:off x="1965960" y="1801368"/>
            <a:ext cx="1117092" cy="384048"/>
          </a:xfrm>
          <a:prstGeom prst="chevron">
            <a:avLst/>
          </a:prstGeom>
          <a:solidFill>
            <a:srgbClr val="4D4D4D"/>
          </a:solidFill>
          <a:ln/>
        </p:spPr>
      </p:sp>
      <p:sp>
        <p:nvSpPr>
          <p:cNvPr id="12" name="Text 9"/>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3" name="Text 10"/>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4" name="Shape 11"/>
          <p:cNvSpPr/>
          <p:nvPr/>
        </p:nvSpPr>
        <p:spPr>
          <a:xfrm>
            <a:off x="3101340" y="1801368"/>
            <a:ext cx="1117092" cy="384048"/>
          </a:xfrm>
          <a:prstGeom prst="chevron">
            <a:avLst/>
          </a:prstGeom>
          <a:solidFill>
            <a:srgbClr val="4D4D4D"/>
          </a:solidFill>
          <a:ln/>
        </p:spPr>
      </p:sp>
      <p:sp>
        <p:nvSpPr>
          <p:cNvPr id="15" name="Text 12"/>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6" name="Text 13"/>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7" name="Shape 14"/>
          <p:cNvSpPr/>
          <p:nvPr/>
        </p:nvSpPr>
        <p:spPr>
          <a:xfrm>
            <a:off x="4236720" y="1801368"/>
            <a:ext cx="1117092" cy="384048"/>
          </a:xfrm>
          <a:prstGeom prst="chevron">
            <a:avLst/>
          </a:prstGeom>
          <a:solidFill>
            <a:srgbClr val="4D4D4D"/>
          </a:solidFill>
          <a:ln/>
        </p:spPr>
      </p:sp>
      <p:sp>
        <p:nvSpPr>
          <p:cNvPr id="18" name="Text 15"/>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9" name="Text 16"/>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AIグラスで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要所を自動記録</a:t>
            </a:r>
            <a:endParaRPr lang="en-US" sz="850" dirty="0"/>
          </a:p>
        </p:txBody>
      </p:sp>
      <p:sp>
        <p:nvSpPr>
          <p:cNvPr id="20" name="Shape 17"/>
          <p:cNvSpPr/>
          <p:nvPr/>
        </p:nvSpPr>
        <p:spPr>
          <a:xfrm>
            <a:off x="5372100" y="1801368"/>
            <a:ext cx="1117092" cy="384048"/>
          </a:xfrm>
          <a:prstGeom prst="chevron">
            <a:avLst/>
          </a:prstGeom>
          <a:solidFill>
            <a:srgbClr val="B8692E"/>
          </a:solidFill>
          <a:ln/>
        </p:spPr>
      </p:sp>
      <p:sp>
        <p:nvSpPr>
          <p:cNvPr id="21" name="Text 18"/>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2" name="Text 19"/>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3" name="Shape 20"/>
          <p:cNvSpPr/>
          <p:nvPr/>
        </p:nvSpPr>
        <p:spPr>
          <a:xfrm>
            <a:off x="6507480" y="1801368"/>
            <a:ext cx="1117092" cy="384048"/>
          </a:xfrm>
          <a:prstGeom prst="chevron">
            <a:avLst/>
          </a:prstGeom>
          <a:solidFill>
            <a:srgbClr val="4D4D4D"/>
          </a:solidFill>
          <a:ln/>
        </p:spPr>
      </p:sp>
      <p:sp>
        <p:nvSpPr>
          <p:cNvPr id="24" name="Text 21"/>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5" name="Text 22"/>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6" name="Shape 23"/>
          <p:cNvSpPr/>
          <p:nvPr/>
        </p:nvSpPr>
        <p:spPr>
          <a:xfrm>
            <a:off x="7642860" y="1801368"/>
            <a:ext cx="1117092" cy="384048"/>
          </a:xfrm>
          <a:prstGeom prst="chevron">
            <a:avLst/>
          </a:prstGeom>
          <a:solidFill>
            <a:srgbClr val="4D4D4D"/>
          </a:solidFill>
          <a:ln/>
        </p:spPr>
      </p:sp>
      <p:sp>
        <p:nvSpPr>
          <p:cNvPr id="27" name="Text 24"/>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8" name="Text 25"/>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21"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導入コンサルタント（当社のコンサル部隊）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1人で年6拠点を立ち上げ、各社の帳票と連携を設定。知見を製品に戻す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グラスのメーカー・リース会社・クラウド・大学（映像AI）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0" name="Shape 26"/>
          <p:cNvSpPr/>
          <p:nvPr/>
        </p:nvSpPr>
        <p:spPr>
          <a:xfrm>
            <a:off x="365760" y="3767328"/>
            <a:ext cx="1463040" cy="777240"/>
          </a:xfrm>
          <a:prstGeom prst="rect">
            <a:avLst/>
          </a:prstGeom>
          <a:solidFill>
            <a:srgbClr val="1A1A1A"/>
          </a:solidFill>
          <a:ln/>
        </p:spPr>
      </p:sp>
      <p:sp>
        <p:nvSpPr>
          <p:cNvPr id="31" name="Text 27"/>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2" name="Text 28"/>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基盤 月5万円＋端末 月2万円×台数（標準10台で年300万円・年額前払い）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お客様は1台1日23分減れば元が取れる。当社の黒字化は1拠点15台が条件（p.26）</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p.9〜13・20・27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「会社の基盤」＋「端末の台数」で払う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毎年積み上がる利用料と、初年度だけの導入支援の二本。報告書の形に整えるところまで利用料に含む</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1拠点（10台）が当社に払う金額（万円）</a:t>
            </a:r>
            <a:endParaRPr lang="en-US" sz="1050" dirty="0"/>
          </a:p>
        </p:txBody>
      </p:sp>
      <p:sp>
        <p:nvSpPr>
          <p:cNvPr id="7" name="Text 4"/>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8" name="seg-基盤0"/>
          <p:cNvSpPr/>
          <p:nvPr/>
        </p:nvSpPr>
        <p:spPr>
          <a:xfrm>
            <a:off x="1143000" y="1380744"/>
            <a:ext cx="345643" cy="384048"/>
          </a:xfrm>
          <a:prstGeom prst="rect">
            <a:avLst/>
          </a:prstGeom>
          <a:solidFill>
            <a:srgbClr val="1A1A1A"/>
          </a:solidFill>
          <a:ln w="9525">
            <a:solidFill>
              <a:srgbClr val="1A1A1A"/>
            </a:solidFill>
            <a:prstDash val="solid"/>
          </a:ln>
        </p:spPr>
      </p:sp>
      <p:sp>
        <p:nvSpPr>
          <p:cNvPr id="9" name="Text 6"/>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0" name="seg-端末×10台0"/>
          <p:cNvSpPr/>
          <p:nvPr/>
        </p:nvSpPr>
        <p:spPr>
          <a:xfrm>
            <a:off x="1488643" y="1380744"/>
            <a:ext cx="1382573" cy="384048"/>
          </a:xfrm>
          <a:prstGeom prst="rect">
            <a:avLst/>
          </a:prstGeom>
          <a:solidFill>
            <a:srgbClr val="4D4D4D"/>
          </a:solidFill>
          <a:ln w="9525">
            <a:solidFill>
              <a:srgbClr val="1A1A1A"/>
            </a:solidFill>
            <a:prstDash val="solid"/>
          </a:ln>
        </p:spPr>
      </p:sp>
      <p:sp>
        <p:nvSpPr>
          <p:cNvPr id="11" name="Text 8"/>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12" name="seg-導入支援0"/>
          <p:cNvSpPr/>
          <p:nvPr/>
        </p:nvSpPr>
        <p:spPr>
          <a:xfrm>
            <a:off x="2871216" y="1380744"/>
            <a:ext cx="1152144" cy="384048"/>
          </a:xfrm>
          <a:prstGeom prst="rect">
            <a:avLst/>
          </a:prstGeom>
          <a:solidFill>
            <a:srgbClr val="FFFFFF"/>
          </a:solidFill>
          <a:ln w="9525">
            <a:solidFill>
              <a:srgbClr val="1A1A1A"/>
            </a:solidFill>
            <a:prstDash val="solid"/>
          </a:ln>
        </p:spPr>
      </p:sp>
      <p:sp>
        <p:nvSpPr>
          <p:cNvPr id="13" name="Text 10"/>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4" name="Text 11"/>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5" name="Text 12"/>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6" name="seg-基盤1"/>
          <p:cNvSpPr/>
          <p:nvPr/>
        </p:nvSpPr>
        <p:spPr>
          <a:xfrm>
            <a:off x="1143000" y="1892808"/>
            <a:ext cx="345643" cy="384048"/>
          </a:xfrm>
          <a:prstGeom prst="rect">
            <a:avLst/>
          </a:prstGeom>
          <a:solidFill>
            <a:srgbClr val="1A1A1A"/>
          </a:solidFill>
          <a:ln w="9525">
            <a:solidFill>
              <a:srgbClr val="1A1A1A"/>
            </a:solidFill>
            <a:prstDash val="solid"/>
          </a:ln>
        </p:spPr>
      </p:sp>
      <p:sp>
        <p:nvSpPr>
          <p:cNvPr id="17" name="Text 14"/>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8" name="seg-端末×10台1"/>
          <p:cNvSpPr/>
          <p:nvPr/>
        </p:nvSpPr>
        <p:spPr>
          <a:xfrm>
            <a:off x="1488643" y="1892808"/>
            <a:ext cx="1382573" cy="384048"/>
          </a:xfrm>
          <a:prstGeom prst="rect">
            <a:avLst/>
          </a:prstGeom>
          <a:solidFill>
            <a:srgbClr val="4D4D4D"/>
          </a:solidFill>
          <a:ln w="9525">
            <a:solidFill>
              <a:srgbClr val="1A1A1A"/>
            </a:solidFill>
            <a:prstDash val="solid"/>
          </a:ln>
        </p:spPr>
      </p:sp>
      <p:sp>
        <p:nvSpPr>
          <p:cNvPr id="19" name="Text 16"/>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20" name="Text 17"/>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1" name="Shape 18"/>
          <p:cNvSpPr/>
          <p:nvPr/>
        </p:nvSpPr>
        <p:spPr>
          <a:xfrm>
            <a:off x="365760" y="2468880"/>
            <a:ext cx="4069080" cy="0"/>
          </a:xfrm>
          <a:prstGeom prst="line">
            <a:avLst/>
          </a:prstGeom>
          <a:noFill/>
          <a:ln w="9525">
            <a:solidFill>
              <a:srgbClr val="BFBFBF"/>
            </a:solidFill>
            <a:prstDash val="solid"/>
          </a:ln>
        </p:spPr>
      </p:sp>
      <p:sp>
        <p:nvSpPr>
          <p:cNvPr id="22" name="Text 19"/>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月5万円／拠点</a:t>
            </a:r>
            <a:endParaRPr lang="en-US" sz="900" dirty="0"/>
          </a:p>
        </p:txBody>
      </p:sp>
      <p:sp>
        <p:nvSpPr>
          <p:cNvPr id="23" name="Text 20"/>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会社ごとのデータ保管庫・管理画面・図面と手順・各社の報告書の型・月次の効果レポート</a:t>
            </a:r>
            <a:endParaRPr lang="en-US" sz="850" dirty="0"/>
          </a:p>
        </p:txBody>
      </p:sp>
      <p:sp>
        <p:nvSpPr>
          <p:cNvPr id="24" name="Shape 21"/>
          <p:cNvSpPr/>
          <p:nvPr/>
        </p:nvSpPr>
        <p:spPr>
          <a:xfrm>
            <a:off x="365760" y="2798064"/>
            <a:ext cx="4069080" cy="0"/>
          </a:xfrm>
          <a:prstGeom prst="line">
            <a:avLst/>
          </a:prstGeom>
          <a:noFill/>
          <a:ln w="9525">
            <a:solidFill>
              <a:srgbClr val="BFBFBF"/>
            </a:solidFill>
            <a:prstDash val="solid"/>
          </a:ln>
        </p:spPr>
      </p:sp>
      <p:sp>
        <p:nvSpPr>
          <p:cNvPr id="25" name="Text 22"/>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端末ライセンス</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月2万円／台</a:t>
            </a:r>
            <a:endParaRPr lang="en-US" sz="900" dirty="0"/>
          </a:p>
        </p:txBody>
      </p:sp>
      <p:sp>
        <p:nvSpPr>
          <p:cNvPr id="26" name="Text 23"/>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記録→写真の自動抽出→日報・写真台帳を各社の書式で。AIで解析する場面に月の上限</a:t>
            </a:r>
            <a:endParaRPr lang="en-US" sz="850" dirty="0"/>
          </a:p>
        </p:txBody>
      </p:sp>
      <p:sp>
        <p:nvSpPr>
          <p:cNvPr id="27" name="Shape 24"/>
          <p:cNvSpPr/>
          <p:nvPr/>
        </p:nvSpPr>
        <p:spPr>
          <a:xfrm>
            <a:off x="365760" y="3127248"/>
            <a:ext cx="4069080" cy="0"/>
          </a:xfrm>
          <a:prstGeom prst="line">
            <a:avLst/>
          </a:prstGeom>
          <a:noFill/>
          <a:ln w="9525">
            <a:solidFill>
              <a:srgbClr val="BFBFBF"/>
            </a:solidFill>
            <a:prstDash val="solid"/>
          </a:ln>
        </p:spPr>
      </p:sp>
      <p:sp>
        <p:nvSpPr>
          <p:cNvPr id="28" name="Text 25"/>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端末本体</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当社の売上外</a:t>
            </a:r>
            <a:endParaRPr lang="en-US" sz="900" dirty="0"/>
          </a:p>
        </p:txBody>
      </p:sp>
      <p:sp>
        <p:nvSpPr>
          <p:cNvPr id="29" name="Text 26"/>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お客様がリース（AIグラス8台＋表示付き2台で年約32万円）</a:t>
            </a:r>
            <a:endParaRPr lang="en-US" sz="850" dirty="0"/>
          </a:p>
        </p:txBody>
      </p:sp>
      <p:sp>
        <p:nvSpPr>
          <p:cNvPr id="30" name="Shape 27"/>
          <p:cNvSpPr/>
          <p:nvPr/>
        </p:nvSpPr>
        <p:spPr>
          <a:xfrm>
            <a:off x="365760" y="3456432"/>
            <a:ext cx="4069080" cy="0"/>
          </a:xfrm>
          <a:prstGeom prst="line">
            <a:avLst/>
          </a:prstGeom>
          <a:noFill/>
          <a:ln w="9525">
            <a:solidFill>
              <a:srgbClr val="BFBFBF"/>
            </a:solidFill>
            <a:prstDash val="solid"/>
          </a:ln>
        </p:spPr>
      </p:sp>
      <p:sp>
        <p:nvSpPr>
          <p:cNvPr id="31" name="Text 28"/>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a:t>
            </a:r>
            <a:endParaRPr lang="en-US" sz="900" dirty="0"/>
          </a:p>
        </p:txBody>
      </p:sp>
      <p:sp>
        <p:nvSpPr>
          <p:cNvPr id="32" name="Text 29"/>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導入コンサルタントが約2か月・42人日、現場に入る（内訳は詳細版 p.13）</a:t>
            </a:r>
            <a:endParaRPr lang="en-US" sz="850" dirty="0"/>
          </a:p>
        </p:txBody>
      </p:sp>
      <p:sp>
        <p:nvSpPr>
          <p:cNvPr id="33" name="Shape 30"/>
          <p:cNvSpPr/>
          <p:nvPr/>
        </p:nvSpPr>
        <p:spPr>
          <a:xfrm>
            <a:off x="365760" y="3785616"/>
            <a:ext cx="4069080" cy="0"/>
          </a:xfrm>
          <a:prstGeom prst="line">
            <a:avLst/>
          </a:prstGeom>
          <a:noFill/>
          <a:ln w="9525">
            <a:solidFill>
              <a:srgbClr val="BFBFBF"/>
            </a:solidFill>
            <a:prstDash val="solid"/>
          </a:ln>
        </p:spPr>
      </p:sp>
      <p:sp>
        <p:nvSpPr>
          <p:cNvPr id="34" name="Shape 31"/>
          <p:cNvSpPr/>
          <p:nvPr/>
        </p:nvSpPr>
        <p:spPr>
          <a:xfrm>
            <a:off x="365760" y="3858768"/>
            <a:ext cx="4069080" cy="713232"/>
          </a:xfrm>
          <a:prstGeom prst="rect">
            <a:avLst/>
          </a:prstGeom>
          <a:solidFill>
            <a:srgbClr val="1A1A1A"/>
          </a:solidFill>
          <a:ln/>
        </p:spPr>
      </p:sp>
      <p:sp>
        <p:nvSpPr>
          <p:cNvPr id="35" name="Text 32"/>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1拠点の粗利 年216万円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約1,571万円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約86万円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（営業3人2,340万円＋広告500万円）÷新規33拠点　LTV/CAC 約18倍</a:t>
            </a:r>
            <a:endParaRPr lang="en-US" sz="800" dirty="0"/>
          </a:p>
        </p:txBody>
      </p:sp>
      <p:sp>
        <p:nvSpPr>
          <p:cNvPr id="36" name="Text 3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お客様から見た回収（1拠点10台・累計・万円）</a:t>
            </a:r>
            <a:endParaRPr lang="en-US" sz="1050" dirty="0"/>
          </a:p>
        </p:txBody>
      </p:sp>
      <p:graphicFrame>
        <p:nvGraphicFramePr>
          <p:cNvPr id="37"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38" name="Text 34"/>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 得の累計</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払った額の累計（横軸は月）</a:t>
            </a:r>
            <a:endParaRPr lang="en-US" sz="850" dirty="0"/>
          </a:p>
        </p:txBody>
      </p:sp>
      <p:sp>
        <p:nvSpPr>
          <p:cNvPr id="39" name="Text 35"/>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初年度 約532万円（利用料300＋導入支援200＋リース32）÷ 月約42万円 ＝ 約13か月で回収。2年目からは毎年 得499万円／払う332万円</a:t>
            </a:r>
            <a:endParaRPr lang="en-US" sz="850" dirty="0"/>
          </a:p>
        </p:txBody>
      </p:sp>
      <p:sp>
        <p:nvSpPr>
          <p:cNvPr id="40" name="Text 36"/>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p.25・14〜16</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6" name="Text 3"/>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7" name="Shape 4"/>
          <p:cNvSpPr/>
          <p:nvPr/>
        </p:nvSpPr>
        <p:spPr>
          <a:xfrm>
            <a:off x="365760" y="1371600"/>
            <a:ext cx="3840480" cy="384048"/>
          </a:xfrm>
          <a:prstGeom prst="rect">
            <a:avLst/>
          </a:prstGeom>
          <a:solidFill>
            <a:srgbClr val="8C8C8C"/>
          </a:solidFill>
          <a:ln/>
        </p:spPr>
      </p:sp>
      <p:sp>
        <p:nvSpPr>
          <p:cNvPr id="8" name="Text 5"/>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関東の中堅電気工事会社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9" name="Shape 6"/>
          <p:cNvSpPr/>
          <p:nvPr/>
        </p:nvSpPr>
        <p:spPr>
          <a:xfrm>
            <a:off x="711403" y="1828800"/>
            <a:ext cx="3149194" cy="384048"/>
          </a:xfrm>
          <a:prstGeom prst="rect">
            <a:avLst/>
          </a:prstGeom>
          <a:solidFill>
            <a:srgbClr val="4D4D4D"/>
          </a:solidFill>
          <a:ln/>
        </p:spPr>
      </p:sp>
      <p:sp>
        <p:nvSpPr>
          <p:cNvPr id="10" name="Text 7"/>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4つの条件に合う（約25%）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180社</a:t>
            </a:r>
            <a:endParaRPr lang="en-US" sz="950" dirty="0"/>
          </a:p>
        </p:txBody>
      </p:sp>
      <p:sp>
        <p:nvSpPr>
          <p:cNvPr id="11" name="Shape 8"/>
          <p:cNvSpPr/>
          <p:nvPr/>
        </p:nvSpPr>
        <p:spPr>
          <a:xfrm>
            <a:off x="1095451" y="2286000"/>
            <a:ext cx="2381098" cy="384048"/>
          </a:xfrm>
          <a:prstGeom prst="rect">
            <a:avLst/>
          </a:prstGeom>
          <a:solidFill>
            <a:srgbClr val="4D4D4D"/>
          </a:solidFill>
          <a:ln/>
        </p:spPr>
      </p:sp>
      <p:sp>
        <p:nvSpPr>
          <p:cNvPr id="12" name="Text 9"/>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会える（60%）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108社</a:t>
            </a:r>
            <a:endParaRPr lang="en-US" sz="950" dirty="0"/>
          </a:p>
        </p:txBody>
      </p:sp>
      <p:sp>
        <p:nvSpPr>
          <p:cNvPr id="13" name="Shape 10"/>
          <p:cNvSpPr/>
          <p:nvPr/>
        </p:nvSpPr>
        <p:spPr>
          <a:xfrm>
            <a:off x="1479499" y="2743200"/>
            <a:ext cx="1613002" cy="384048"/>
          </a:xfrm>
          <a:prstGeom prst="rect">
            <a:avLst/>
          </a:prstGeom>
          <a:solidFill>
            <a:srgbClr val="B8692E"/>
          </a:solidFill>
          <a:ln/>
        </p:spPr>
      </p:sp>
      <p:sp>
        <p:nvSpPr>
          <p:cNvPr id="14" name="Text 11"/>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本契約（30%）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32社</a:t>
            </a:r>
            <a:endParaRPr lang="en-US" sz="950" dirty="0"/>
          </a:p>
        </p:txBody>
      </p:sp>
      <p:sp>
        <p:nvSpPr>
          <p:cNvPr id="15" name="Text 12"/>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それ以外555社から29社（会える35%・本契約15%）</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×1社1.3拠点＋大手1社5拠点＝約85拠点。解約を引いた計画は81拠点</a:t>
            </a:r>
            <a:endParaRPr lang="en-US" sz="950" dirty="0"/>
          </a:p>
        </p:txBody>
      </p:sp>
      <p:sp>
        <p:nvSpPr>
          <p:cNvPr id="16" name="Text 1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23"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グラスのメーカー・販売店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8" name="Shape 14"/>
          <p:cNvSpPr/>
          <p:nvPr/>
        </p:nvSpPr>
        <p:spPr>
          <a:xfrm>
            <a:off x="365760" y="3246120"/>
            <a:ext cx="8412480" cy="594360"/>
          </a:xfrm>
          <a:prstGeom prst="rect">
            <a:avLst/>
          </a:prstGeom>
          <a:solidFill>
            <a:srgbClr val="F2F2F2"/>
          </a:solidFill>
          <a:ln/>
        </p:spPr>
      </p:sp>
      <p:sp>
        <p:nvSpPr>
          <p:cNvPr id="19" name="Text 15"/>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20" name="Shape 16"/>
          <p:cNvSpPr/>
          <p:nvPr/>
        </p:nvSpPr>
        <p:spPr>
          <a:xfrm>
            <a:off x="2286000" y="3547872"/>
            <a:ext cx="228600" cy="0"/>
          </a:xfrm>
          <a:prstGeom prst="line">
            <a:avLst/>
          </a:prstGeom>
          <a:noFill/>
          <a:ln w="25400">
            <a:solidFill>
              <a:srgbClr val="1A1A1A"/>
            </a:solidFill>
            <a:prstDash val="solid"/>
            <a:tailEnd type="triangle"/>
          </a:ln>
        </p:spPr>
      </p:sp>
      <p:sp>
        <p:nvSpPr>
          <p:cNvPr id="21" name="Text 17"/>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2" name="Shape 18"/>
          <p:cNvSpPr/>
          <p:nvPr/>
        </p:nvSpPr>
        <p:spPr>
          <a:xfrm>
            <a:off x="4361688" y="3547872"/>
            <a:ext cx="228600" cy="0"/>
          </a:xfrm>
          <a:prstGeom prst="line">
            <a:avLst/>
          </a:prstGeom>
          <a:noFill/>
          <a:ln w="25400">
            <a:solidFill>
              <a:srgbClr val="1A1A1A"/>
            </a:solidFill>
            <a:prstDash val="solid"/>
            <a:tailEnd type="triangle"/>
          </a:ln>
        </p:spPr>
      </p:sp>
      <p:sp>
        <p:nvSpPr>
          <p:cNvPr id="23" name="Text 19"/>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4" name="Shape 20"/>
          <p:cNvSpPr/>
          <p:nvPr/>
        </p:nvSpPr>
        <p:spPr>
          <a:xfrm>
            <a:off x="6437376" y="3547872"/>
            <a:ext cx="228600" cy="0"/>
          </a:xfrm>
          <a:prstGeom prst="line">
            <a:avLst/>
          </a:prstGeom>
          <a:noFill/>
          <a:ln w="25400">
            <a:solidFill>
              <a:srgbClr val="1A1A1A"/>
            </a:solidFill>
            <a:prstDash val="solid"/>
            <a:tailEnd type="triangle"/>
          </a:ln>
        </p:spPr>
      </p:sp>
      <p:sp>
        <p:nvSpPr>
          <p:cNvPr id="25" name="Text 21"/>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6" name="Shape 22"/>
          <p:cNvSpPr/>
          <p:nvPr/>
        </p:nvSpPr>
        <p:spPr>
          <a:xfrm>
            <a:off x="365760" y="3931920"/>
            <a:ext cx="8412480" cy="502920"/>
          </a:xfrm>
          <a:prstGeom prst="rect">
            <a:avLst/>
          </a:prstGeom>
          <a:solidFill>
            <a:srgbClr val="1A1A1A"/>
          </a:solidFill>
          <a:ln/>
        </p:spPr>
      </p:sp>
      <p:sp>
        <p:nvSpPr>
          <p:cNvPr id="27" name="Text 23"/>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p.14〜16・18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拠点×月25万円。5年目は月約2,240万円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利用料が毎年積み上がり（解約は年10%で引く）、導入支援と個社設定は新規拠点の数に比例する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7" name="Text 4"/>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8"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9" name="monthly"/>
          <p:cNvSpPr/>
          <p:nvPr/>
        </p:nvSpPr>
        <p:spPr>
          <a:xfrm>
            <a:off x="365760" y="3520440"/>
            <a:ext cx="4069080" cy="960120"/>
          </a:xfrm>
          <a:prstGeom prst="rect">
            <a:avLst/>
          </a:prstGeom>
          <a:solidFill>
            <a:srgbClr val="1A1A1A"/>
          </a:solidFill>
          <a:ln/>
        </p:spPr>
      </p:sp>
      <p:sp>
        <p:nvSpPr>
          <p:cNvPr id="10" name="Text 6"/>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個社設定（大手の基幹連携など） 約79万円</a:t>
            </a:r>
            <a:endParaRPr lang="en-US" sz="850" dirty="0"/>
          </a:p>
        </p:txBody>
      </p:sp>
      <p:sp>
        <p:nvSpPr>
          <p:cNvPr id="11" name="Text 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24"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12名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23名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人件費（販管費分・会社負担込み）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3,458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7,043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13,893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オフィス（賃料＋共益費）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交通（営業・定着支援）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専門家・社外顧問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AIの学習（計算費）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5,158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9,445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17,313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所在地案：川崎市（関東一円へ日帰り）。人件費は役割別の年収×1.2。導入支援・個社設定に回った人件費は原価へ</a:t>
            </a:r>
            <a:endParaRPr lang="en-US" sz="800" dirty="0"/>
          </a:p>
        </p:txBody>
      </p:sp>
      <p:sp>
        <p:nvSpPr>
          <p:cNvPr id="14" name="Text 9"/>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5年目で分岐点の94%。あと約6拠点分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損益分岐点売上＝販管費（固定費）÷粗利率。10台のままでは5年目でも届かない</a:t>
            </a:r>
            <a:endParaRPr lang="en-US" sz="1200" dirty="0"/>
          </a:p>
        </p:txBody>
      </p:sp>
      <p:sp>
        <p:nvSpPr>
          <p:cNvPr id="6" name="Text 3"/>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7"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94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142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176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245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288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bep-people"/>
          <p:cNvSpPr/>
          <p:nvPr/>
        </p:nvSpPr>
        <p:spPr>
          <a:xfrm>
            <a:off x="5349240" y="3108960"/>
            <a:ext cx="3429000" cy="1216152"/>
          </a:xfrm>
          <a:prstGeom prst="rect">
            <a:avLst/>
          </a:prstGeom>
          <a:solidFill>
            <a:srgbClr val="1A1A1A"/>
          </a:solidFill>
          <a:ln/>
        </p:spPr>
      </p:sp>
      <p:sp>
        <p:nvSpPr>
          <p:cNvPr id="10" name="Text 5"/>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4年目 2.94 → 5年目 3.52（まだ届かない）</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 ─ 自己資金2.55億円を、段階に分けて入れる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課題の前提「豊富な資金」。赤字の累計のピーク約1.8億円＋最低残高＋遅れへの備え</a:t>
            </a:r>
            <a:endParaRPr lang="en-US" sz="1200" dirty="0"/>
          </a:p>
        </p:txBody>
      </p:sp>
      <p:sp>
        <p:nvSpPr>
          <p:cNvPr id="6" name="Text 3"/>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資金の入れ方（すべて自己資金）</a:t>
            </a:r>
            <a:endParaRPr lang="en-US" sz="1050" dirty="0"/>
          </a:p>
        </p:txBody>
      </p:sp>
      <p:graphicFrame>
        <p:nvGraphicFramePr>
          <p:cNvPr id="26"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入れる条件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使い道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試作品・実証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実証で1台1日23分以上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人員・開発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人員・販売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2億5,500万円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why-own"/>
          <p:cNvSpPr/>
          <p:nvPr/>
        </p:nvSpPr>
        <p:spPr>
          <a:xfrm>
            <a:off x="365760" y="3108960"/>
            <a:ext cx="3931920" cy="1325880"/>
          </a:xfrm>
          <a:prstGeom prst="rect">
            <a:avLst/>
          </a:prstGeom>
          <a:solidFill>
            <a:srgbClr val="F2F2F2"/>
          </a:solidFill>
          <a:ln/>
        </p:spPr>
      </p:sp>
      <p:sp>
        <p:nvSpPr>
          <p:cNvPr id="9" name="Text 5"/>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なぜ一度に全部を入れないか</a:t>
            </a:r>
            <a:endParaRPr lang="en-US" sz="900" dirty="0"/>
          </a:p>
          <a:p>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D4D4D"/>
                </a:solidFill>
                <a:latin typeface="Meiryo" pitchFamily="34" charset="0"/>
                <a:ea typeface="Meiryo" pitchFamily="34" charset="-122"/>
                <a:cs typeface="Meiryo" pitchFamily="34" charset="-120"/>
              </a:rPr>
              <a:t>外の資金を入れるなら成熟期（上場）。融資・出資を使わないので、返済と利息はない</a:t>
            </a:r>
            <a:endParaRPr lang="en-US" sz="900" dirty="0"/>
          </a:p>
        </p:txBody>
      </p:sp>
      <p:sp>
        <p:nvSpPr>
          <p:cNvPr id="10" name="Text 6"/>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11" name="Text 7"/>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12"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3" name="anti-bankruptcy"/>
          <p:cNvSpPr/>
          <p:nvPr/>
        </p:nvSpPr>
        <p:spPr>
          <a:xfrm>
            <a:off x="4526280" y="3429000"/>
            <a:ext cx="4251960" cy="1051560"/>
          </a:xfrm>
          <a:prstGeom prst="rect">
            <a:avLst/>
          </a:prstGeom>
          <a:solidFill>
            <a:srgbClr val="1A1A1A"/>
          </a:solidFill>
          <a:ln/>
        </p:spPr>
      </p:sp>
      <p:sp>
        <p:nvSpPr>
          <p:cNvPr id="14" name="Text 9"/>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5" name="Text 10"/>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3年目の追加資金は、継続率と台数の線を越えたときだけ入れる</a:t>
            </a:r>
            <a:endParaRPr lang="en-US" sz="850" dirty="0"/>
          </a:p>
        </p:txBody>
      </p:sp>
      <p:sp>
        <p:nvSpPr>
          <p:cNvPr id="16" name="Text 11"/>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p.21〜22</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 ─ 鍵は拠点数より、1拠点の台数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10台のままでは計画どおりでも5年で黒字にならない。15台に増やせれば新規が計画の6割でも5年目に黒字</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7"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5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追加の5,000万円を入れるか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年単位の計画 ─ 何をして、いくら売り、いくら残るか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事業の中身・拠点・社員・収支を1年ずつ。判定の線を越えたら次の年へ進む</a:t>
            </a:r>
            <a:endParaRPr lang="en-US" sz="1200" dirty="0"/>
          </a:p>
        </p:txBody>
      </p:sp>
      <p:graphicFrame>
        <p:nvGraphicFramePr>
          <p:cNvPr id="28"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56692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やること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試作品・1拠点で実証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試験導入3社。記録と報告を自動に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本契約へ。写真台帳を各社の形式で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図面との照合。大手1社を事例に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表示付きグラスで手元AR（1工種）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教材化。電線工場へ試験導入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営業損益（百万円）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期末の現金（百万円）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進む条件（判定の線）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2社以上が本契約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継続率90%→追加資金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yearly-msg"/>
          <p:cNvSpPr/>
          <p:nvPr/>
        </p:nvSpPr>
        <p:spPr>
          <a:xfrm>
            <a:off x="365760" y="3749040"/>
            <a:ext cx="8412480" cy="713232"/>
          </a:xfrm>
          <a:prstGeom prst="rect">
            <a:avLst/>
          </a:prstGeom>
          <a:solidFill>
            <a:srgbClr val="1A1A1A"/>
          </a:solidFill>
          <a:ln/>
        </p:spPr>
      </p:sp>
      <p:sp>
        <p:nvSpPr>
          <p:cNvPr id="8" name="Text 4"/>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5年間は赤字。</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黒字化の条件：</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効果が出た班から台数を増やし、1拠点15台にすると5年目に黒字（営業利益約43百万円・p.26）</a:t>
            </a:r>
            <a:endParaRPr lang="en-US" sz="95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段階ごとの課題 ─ 準備期・導入期・成長期・成熟期</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各段階の一番の課題、起こりうること、打ち手、進む条件</a:t>
            </a:r>
            <a:endParaRPr lang="en-US" sz="1200" dirty="0"/>
          </a:p>
        </p:txBody>
      </p:sp>
      <p:sp>
        <p:nvSpPr>
          <p:cNvPr id="5" name="stage-0"/>
          <p:cNvSpPr/>
          <p:nvPr/>
        </p:nvSpPr>
        <p:spPr>
          <a:xfrm>
            <a:off x="365760" y="1024128"/>
            <a:ext cx="2034540" cy="566928"/>
          </a:xfrm>
          <a:prstGeom prst="rect">
            <a:avLst/>
          </a:prstGeom>
          <a:solidFill>
            <a:srgbClr val="B8692E"/>
          </a:solidFill>
          <a:ln/>
        </p:spPr>
      </p:sp>
      <p:sp>
        <p:nvSpPr>
          <p:cNvPr id="6" name="Text 3"/>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準備期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0〜6か月</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課題：効果が出るか</a:t>
            </a:r>
            <a:endParaRPr lang="en-US" sz="1400" dirty="0"/>
          </a:p>
        </p:txBody>
      </p:sp>
      <p:sp>
        <p:nvSpPr>
          <p:cNvPr id="7" name="Shape 4"/>
          <p:cNvSpPr/>
          <p:nvPr/>
        </p:nvSpPr>
        <p:spPr>
          <a:xfrm>
            <a:off x="365760" y="1645920"/>
            <a:ext cx="2034540" cy="1188720"/>
          </a:xfrm>
          <a:prstGeom prst="rect">
            <a:avLst/>
          </a:prstGeom>
          <a:solidFill>
            <a:srgbClr val="F2F2F2"/>
          </a:solidFill>
          <a:ln/>
        </p:spPr>
      </p:sp>
      <p:sp>
        <p:nvSpPr>
          <p:cNvPr id="8" name="Text 5"/>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グラスの電池・録画の制約で記録が途切れる。削減が23分に届かない</a:t>
            </a:r>
            <a:endParaRPr lang="en-US" sz="1400" dirty="0"/>
          </a:p>
        </p:txBody>
      </p:sp>
      <p:sp>
        <p:nvSpPr>
          <p:cNvPr id="9" name="Shape 6"/>
          <p:cNvSpPr/>
          <p:nvPr/>
        </p:nvSpPr>
        <p:spPr>
          <a:xfrm>
            <a:off x="365760" y="2889504"/>
            <a:ext cx="2034540" cy="1051560"/>
          </a:xfrm>
          <a:prstGeom prst="rect">
            <a:avLst/>
          </a:prstGeom>
          <a:solidFill>
            <a:srgbClr val="FFFFFF"/>
          </a:solidFill>
          <a:ln w="9525">
            <a:solidFill>
              <a:srgbClr val="BFBFBF"/>
            </a:solidFill>
            <a:prstDash val="solid"/>
          </a:ln>
        </p:spPr>
      </p:sp>
      <p:sp>
        <p:nvSpPr>
          <p:cNvPr id="10" name="Text 7"/>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要所だけを記録。写真台帳から自動に。2〜3班で小さく測る</a:t>
            </a:r>
            <a:endParaRPr lang="en-US" sz="1400" dirty="0"/>
          </a:p>
        </p:txBody>
      </p:sp>
      <p:sp>
        <p:nvSpPr>
          <p:cNvPr id="11" name="Shape 8"/>
          <p:cNvSpPr/>
          <p:nvPr/>
        </p:nvSpPr>
        <p:spPr>
          <a:xfrm>
            <a:off x="365760" y="3995928"/>
            <a:ext cx="2034540" cy="457200"/>
          </a:xfrm>
          <a:prstGeom prst="rect">
            <a:avLst/>
          </a:prstGeom>
          <a:solidFill>
            <a:srgbClr val="FFFFFF"/>
          </a:solidFill>
          <a:ln w="15875">
            <a:solidFill>
              <a:srgbClr val="B8692E"/>
            </a:solidFill>
            <a:prstDash val="solid"/>
          </a:ln>
        </p:spPr>
      </p:sp>
      <p:sp>
        <p:nvSpPr>
          <p:cNvPr id="12" name="Text 9"/>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1台1日23分以上</a:t>
            </a:r>
            <a:endParaRPr lang="en-US" sz="1400" dirty="0"/>
          </a:p>
        </p:txBody>
      </p:sp>
      <p:sp>
        <p:nvSpPr>
          <p:cNvPr id="13" name="stage-1"/>
          <p:cNvSpPr/>
          <p:nvPr/>
        </p:nvSpPr>
        <p:spPr>
          <a:xfrm>
            <a:off x="2491740" y="1024128"/>
            <a:ext cx="2034540" cy="566928"/>
          </a:xfrm>
          <a:prstGeom prst="rect">
            <a:avLst/>
          </a:prstGeom>
          <a:solidFill>
            <a:srgbClr val="4D4D4D"/>
          </a:solidFill>
          <a:ln/>
        </p:spPr>
      </p:sp>
      <p:sp>
        <p:nvSpPr>
          <p:cNvPr id="14" name="Text 11"/>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導入期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課題：売れるか・定着するか</a:t>
            </a:r>
            <a:endParaRPr lang="en-US" sz="1400" dirty="0"/>
          </a:p>
        </p:txBody>
      </p:sp>
      <p:sp>
        <p:nvSpPr>
          <p:cNvPr id="15" name="Shape 12"/>
          <p:cNvSpPr/>
          <p:nvPr/>
        </p:nvSpPr>
        <p:spPr>
          <a:xfrm>
            <a:off x="2491740" y="1645920"/>
            <a:ext cx="2034540" cy="1188720"/>
          </a:xfrm>
          <a:prstGeom prst="rect">
            <a:avLst/>
          </a:prstGeom>
          <a:solidFill>
            <a:srgbClr val="F2F2F2"/>
          </a:solidFill>
          <a:ln/>
        </p:spPr>
      </p:sp>
      <p:sp>
        <p:nvSpPr>
          <p:cNvPr id="16" name="Text 13"/>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年300万円を払うか未検証。現場が「監視」と感じて使わない。創業者が全部を抱える</a:t>
            </a:r>
            <a:endParaRPr lang="en-US" sz="1400" dirty="0"/>
          </a:p>
        </p:txBody>
      </p:sp>
      <p:sp>
        <p:nvSpPr>
          <p:cNvPr id="17" name="Shape 14"/>
          <p:cNvSpPr/>
          <p:nvPr/>
        </p:nvSpPr>
        <p:spPr>
          <a:xfrm>
            <a:off x="2491740" y="2889504"/>
            <a:ext cx="2034540" cy="1051560"/>
          </a:xfrm>
          <a:prstGeom prst="rect">
            <a:avLst/>
          </a:prstGeom>
          <a:solidFill>
            <a:srgbClr val="FFFFFF"/>
          </a:solidFill>
          <a:ln w="9525">
            <a:solidFill>
              <a:srgbClr val="BFBFBF"/>
            </a:solidFill>
            <a:prstDash val="solid"/>
          </a:ln>
        </p:spPr>
      </p:sp>
      <p:sp>
        <p:nvSpPr>
          <p:cNvPr id="18" name="Text 15"/>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有償の試験導入。記録の範囲と労使の合意を先に。コンサル部隊の1人目を最初に採用</a:t>
            </a:r>
            <a:endParaRPr lang="en-US" sz="1400" dirty="0"/>
          </a:p>
        </p:txBody>
      </p:sp>
      <p:sp>
        <p:nvSpPr>
          <p:cNvPr id="19" name="Shape 16"/>
          <p:cNvSpPr/>
          <p:nvPr/>
        </p:nvSpPr>
        <p:spPr>
          <a:xfrm>
            <a:off x="2491740" y="3995928"/>
            <a:ext cx="2034540" cy="457200"/>
          </a:xfrm>
          <a:prstGeom prst="rect">
            <a:avLst/>
          </a:prstGeom>
          <a:solidFill>
            <a:srgbClr val="FFFFFF"/>
          </a:solidFill>
          <a:ln w="15875">
            <a:solidFill>
              <a:srgbClr val="B8692E"/>
            </a:solidFill>
            <a:prstDash val="solid"/>
          </a:ln>
        </p:spPr>
      </p:sp>
      <p:sp>
        <p:nvSpPr>
          <p:cNvPr id="20" name="Text 17"/>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1年目末に2社以上が本契約</a:t>
            </a:r>
            <a:endParaRPr lang="en-US" sz="1400" dirty="0"/>
          </a:p>
        </p:txBody>
      </p:sp>
      <p:sp>
        <p:nvSpPr>
          <p:cNvPr id="21" name="stage-2"/>
          <p:cNvSpPr/>
          <p:nvPr/>
        </p:nvSpPr>
        <p:spPr>
          <a:xfrm>
            <a:off x="4617720" y="1024128"/>
            <a:ext cx="2034540" cy="566928"/>
          </a:xfrm>
          <a:prstGeom prst="rect">
            <a:avLst/>
          </a:prstGeom>
          <a:solidFill>
            <a:srgbClr val="4D4D4D"/>
          </a:solidFill>
          <a:ln/>
        </p:spPr>
      </p:sp>
      <p:sp>
        <p:nvSpPr>
          <p:cNvPr id="22" name="Text 19"/>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成長期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3〜5年目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課題：台数と人</a:t>
            </a:r>
            <a:endParaRPr lang="en-US" sz="1400" dirty="0"/>
          </a:p>
        </p:txBody>
      </p:sp>
      <p:sp>
        <p:nvSpPr>
          <p:cNvPr id="23" name="Shape 20"/>
          <p:cNvSpPr/>
          <p:nvPr/>
        </p:nvSpPr>
        <p:spPr>
          <a:xfrm>
            <a:off x="4617720" y="1645920"/>
            <a:ext cx="2034540" cy="1188720"/>
          </a:xfrm>
          <a:prstGeom prst="rect">
            <a:avLst/>
          </a:prstGeom>
          <a:solidFill>
            <a:srgbClr val="F2F2F2"/>
          </a:solidFill>
          <a:ln/>
        </p:spPr>
      </p:sp>
      <p:sp>
        <p:nvSpPr>
          <p:cNvPr id="24" name="Text 21"/>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10台のままでは黒字にならない。コンサル・エンジニアの採用が追いつかない。AI費用とラベル付けが増える</a:t>
            </a:r>
            <a:endParaRPr lang="en-US" sz="1400" dirty="0"/>
          </a:p>
        </p:txBody>
      </p:sp>
      <p:sp>
        <p:nvSpPr>
          <p:cNvPr id="25" name="Shape 22"/>
          <p:cNvSpPr/>
          <p:nvPr/>
        </p:nvSpPr>
        <p:spPr>
          <a:xfrm>
            <a:off x="4617720" y="2889504"/>
            <a:ext cx="2034540" cy="1051560"/>
          </a:xfrm>
          <a:prstGeom prst="rect">
            <a:avLst/>
          </a:prstGeom>
          <a:solidFill>
            <a:srgbClr val="FFFFFF"/>
          </a:solidFill>
          <a:ln w="9525">
            <a:solidFill>
              <a:srgbClr val="BFBFBF"/>
            </a:solidFill>
            <a:prstDash val="solid"/>
          </a:ln>
        </p:spPr>
      </p:sp>
      <p:sp>
        <p:nvSpPr>
          <p:cNvPr id="26" name="Text 23"/>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効果が出た班から台数を増やす提案。採用を拠点数に連動。解析する場面に上限</a:t>
            </a:r>
            <a:endParaRPr lang="en-US" sz="1400" dirty="0"/>
          </a:p>
        </p:txBody>
      </p:sp>
      <p:sp>
        <p:nvSpPr>
          <p:cNvPr id="27" name="Shape 24"/>
          <p:cNvSpPr/>
          <p:nvPr/>
        </p:nvSpPr>
        <p:spPr>
          <a:xfrm>
            <a:off x="4617720" y="3995928"/>
            <a:ext cx="2034540" cy="457200"/>
          </a:xfrm>
          <a:prstGeom prst="rect">
            <a:avLst/>
          </a:prstGeom>
          <a:solidFill>
            <a:srgbClr val="FFFFFF"/>
          </a:solidFill>
          <a:ln w="15875">
            <a:solidFill>
              <a:srgbClr val="B8692E"/>
            </a:solidFill>
            <a:prstDash val="solid"/>
          </a:ln>
        </p:spPr>
      </p:sp>
      <p:sp>
        <p:nvSpPr>
          <p:cNvPr id="28" name="Text 25"/>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2年目末に平均12台・継続率90%</a:t>
            </a:r>
            <a:endParaRPr lang="en-US" sz="1400" dirty="0"/>
          </a:p>
        </p:txBody>
      </p:sp>
      <p:sp>
        <p:nvSpPr>
          <p:cNvPr id="29" name="stage-3"/>
          <p:cNvSpPr/>
          <p:nvPr/>
        </p:nvSpPr>
        <p:spPr>
          <a:xfrm>
            <a:off x="6743700" y="1024128"/>
            <a:ext cx="2034540" cy="566928"/>
          </a:xfrm>
          <a:prstGeom prst="rect">
            <a:avLst/>
          </a:prstGeom>
          <a:solidFill>
            <a:srgbClr val="1A1A1A"/>
          </a:solidFill>
          <a:ln/>
        </p:spPr>
      </p:sp>
      <p:sp>
        <p:nvSpPr>
          <p:cNvPr id="30" name="Text 27"/>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成熟期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6年目〜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課題：競合と次の市場</a:t>
            </a:r>
            <a:endParaRPr lang="en-US" sz="1400" dirty="0"/>
          </a:p>
        </p:txBody>
      </p:sp>
      <p:sp>
        <p:nvSpPr>
          <p:cNvPr id="31" name="Shape 28"/>
          <p:cNvSpPr/>
          <p:nvPr/>
        </p:nvSpPr>
        <p:spPr>
          <a:xfrm>
            <a:off x="6743700" y="1645920"/>
            <a:ext cx="2034540" cy="1188720"/>
          </a:xfrm>
          <a:prstGeom prst="rect">
            <a:avLst/>
          </a:prstGeom>
          <a:solidFill>
            <a:srgbClr val="F2F2F2"/>
          </a:solidFill>
          <a:ln/>
        </p:spPr>
      </p:sp>
      <p:sp>
        <p:nvSpPr>
          <p:cNvPr id="32" name="Text 29"/>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施工管理アプリ・端末メーカーのAI化。データの持ち主の取り決め。工場・海外へ広げる体制</a:t>
            </a:r>
            <a:endParaRPr lang="en-US" sz="1400" dirty="0"/>
          </a:p>
        </p:txBody>
      </p:sp>
      <p:sp>
        <p:nvSpPr>
          <p:cNvPr id="33" name="Shape 30"/>
          <p:cNvSpPr/>
          <p:nvPr/>
        </p:nvSpPr>
        <p:spPr>
          <a:xfrm>
            <a:off x="6743700" y="2889504"/>
            <a:ext cx="2034540" cy="1051560"/>
          </a:xfrm>
          <a:prstGeom prst="rect">
            <a:avLst/>
          </a:prstGeom>
          <a:solidFill>
            <a:srgbClr val="FFFFFF"/>
          </a:solidFill>
          <a:ln w="9525">
            <a:solidFill>
              <a:srgbClr val="BFBFBF"/>
            </a:solidFill>
            <a:prstDash val="solid"/>
          </a:ln>
        </p:spPr>
      </p:sp>
      <p:sp>
        <p:nvSpPr>
          <p:cNvPr id="34" name="Text 31"/>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電気工事の判断データと監修で差をつける。データ利用の契約を最初から。提携で広げる</a:t>
            </a:r>
            <a:endParaRPr lang="en-US" sz="1400" dirty="0"/>
          </a:p>
        </p:txBody>
      </p:sp>
      <p:sp>
        <p:nvSpPr>
          <p:cNvPr id="35" name="Shape 32"/>
          <p:cNvSpPr/>
          <p:nvPr/>
        </p:nvSpPr>
        <p:spPr>
          <a:xfrm>
            <a:off x="6743700" y="3995928"/>
            <a:ext cx="2034540" cy="457200"/>
          </a:xfrm>
          <a:prstGeom prst="rect">
            <a:avLst/>
          </a:prstGeom>
          <a:solidFill>
            <a:srgbClr val="FFFFFF"/>
          </a:solidFill>
          <a:ln w="15875">
            <a:solidFill>
              <a:srgbClr val="B8692E"/>
            </a:solidFill>
            <a:prstDash val="solid"/>
          </a:ln>
        </p:spPr>
      </p:sp>
      <p:sp>
        <p:nvSpPr>
          <p:cNvPr id="36" name="Text 33"/>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黒字の継続。上場は実績で判断</a:t>
            </a:r>
            <a:endParaRPr lang="en-US" sz="1400" dirty="0"/>
          </a:p>
        </p:txBody>
      </p:sp>
      <p:sp>
        <p:nvSpPr>
          <p:cNvPr id="37" name="Text 3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条件に届かなければ「直す」か「止まる」。線の全体は p.26。実現可能性の弱いところは次のページ</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p.26・28・29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実現可能性の見直し ─ 自分で見つけた弱いところ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計画を疑って見つけた点。隠さず、確かめ方・直し方とセットで示す</a:t>
            </a:r>
            <a:endParaRPr lang="en-US" sz="1200" dirty="0"/>
          </a:p>
        </p:txBody>
      </p:sp>
      <p:graphicFrame>
        <p:nvGraphicFramePr>
          <p:cNvPr id="30"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弱いところ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何が問題か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どう確かめる・直す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2062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普段使いのグラスの性能</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一般向けAIグラスは動画1回3分程度まで（報道）。開発者向けの映像は720p・30fps。連続で撮ると電池が持たない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要所の短い記録に絞る。準備期に実機を1日使って測る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現場の安全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保護めがねの規格に合うカメラ付きグラスは少ない。落下・粉じんに弱い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安全担当と確認。粉じん・高所は産業用（RealWear等）を選べる設計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データの通り道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一般向けグラスはメーカーのアプリを経由する。図面・顧客情報の扱い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規約と設定を確認。当社アプリ経由・国内保存に限る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年300万円は未検証。得は払う額の約1.5倍で余裕が小さい。試験導入で導入支援200万円も重い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試験導入3社に価格を聞く。写真台帳の自動化で削減分を上げる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黒字化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1拠点10台のままでは5年で黒字にならない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2年目末に平均12台を判定の線にする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6</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CTO（年収1,000万円）・コンサル8人・ラベル付けの監修を採れるか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採用を拠点数に連動。顧問・大学と組む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獲得費用（CAC）</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1〜2年目の私の営業の時間をCACに入れていない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入れると上がる。実績で更新して見せる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日本の根拠がない（海外の目安）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更新時の継続率を記録して差し替える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準備期の6か月 ─ 最初の課題「効果が出るか」を確かめる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費用は約500万円。自己資金でまかない、創業者の給料はゼロ</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準備期の費用（万円）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グラス・機材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AIグラス・表示付きグラス・スマホ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1拠点で実証：報告書の作成時間と、グラスで1日記録できるかを実測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有償試験導入3拠点の契約、CTO・コンサルの採用開始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準備期の後の資金</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1年目：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3年目：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実証先になってくれる電気工事会社のご紹介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競合のAI化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施工管理アプリ・RealWear等とは競わずにつなぐ。判断の蓄積と施工経験者の監修を障壁にする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資金の使いすぎ</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自己資金でも段階に分けて入れる。最低残高ルールと前払い・着手金</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日本の品質を支えてきた現場の勘を、人に依存しない形で残す</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その最初の一歩として、6か月で最初の1拠点を動かします。</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2026-10-16T05:25:48Z</dcterms:created>
  <dcterms:modified xsi:type="dcterms:W3CDTF">2026-10-16T05:25:48Z</dcterms:modified>
</cp:coreProperties>
</file>