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要約：表紙
カンツギのサービス説明です。職長がAIグラスを掛けて作業するだけで、写真台帳と日報ができ、熟練者の判断が若手の教材になります。今日は、現場の方と経営の方、それぞれの使い方をお話しします。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要約：困りごと
困りごとは立場ごとに違います。職長は撮影と日報で手が止まる。施工管理者は事務所に戻ってから写真の整理と台帳。経営は、残業の上限とベテランの退職です。どれも、人を増やしても減らない時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要約：変わること
変わるのは、撮る・書く・探すの3つです。要所で「ここ撮って」と言えば、写真と寸法が残ります。日報と写真台帳は下書きされて届くので、確認して直すだけです。やることは、掛ける・話す・確認する、の3つだけ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要約：1日の流れ
1日の流れで見ると、朝礼で今日の手順と注意点を確認し、作業中は掛けているだけで記録が残ります。要所では図面との違いを知らせ、熟練者は離れた所から判断できます。終業時には日報と台帳の下書きができていて、翌朝、若手は昨日の判断を3分の音声で聞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要約：職長
職長の方がやることは、掛けることと、要所で声を出すことだけです。黒板を書いたり、撮影のために手を止めたりする必要はありません。図面と違う所があれば、その場で知らせます。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要約：施工管理者
施工管理者の方には、写真台帳と日報が下書きされて届きます。写真は手順ごとに割り当てられ、黒板の項目は会話と図面から埋まります。書式は、電力会社の指定様式や官公庁の電子納品に合わせます。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要約：熟練者と若手
熟練者の判断は、なぜそうするかまで含めて記録します。それを手順ごとの解説動画と、通勤中に聞ける3分の音声番組にして、若手に渡します。教材は、施工管理の経験者が確認してから配ります。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要約：現場の方へ
現場の方に最初に約束することが4つあります。撮るのは作業エリアと要所だけ。本人の同意のもとで記録し、削除にも応じる。記録は評価のためではなく、技術を残すため。そして、入力は増やしません。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要約：経営の方へ
経営の方には数字でお話しします。1拠点10台で、書類と写真整理の時間だけで年約500万円。お客様の支払いはリースを含めて約332万円なので、約1.5倍です。お客様が元を取るには、1台1日23分減れば足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要約：導入の進め方
まず1拠点・2〜3班で3か月試します。導入前の2週間と導入後の4週間を比べ、1台1日23分以上減っていれば本契約、届かなければ機能を絞るか終了します。当社の導入コンサルタントが現場に入ります。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要約：よくある質問
よくある質問です。現場の方からは、重さ、見られている感じ、操作、電池。経営の方からは、価値、今のアプリとの二重、情報の扱い、解約について、よく聞かれます。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要約：まずは1拠点から
まずは1拠点で、3か月、数字で確かめてください。現場の勘を次の担い手へ。ありがとうございました。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42048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8644" y="4802429"/>
            <a:ext cx="868680" cy="1861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47731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現場の勘を次の担い手へ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T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109728"/>
            <a:ext cx="8924544" cy="4924044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347472"/>
            <a:ext cx="1737360" cy="37229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11480" y="82296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サービス説明資料（電気工事会社の現場の方・経営の方へ）</a:t>
            </a:r>
            <a:endParaRPr lang="en-US" sz="1000" dirty="0"/>
          </a:p>
        </p:txBody>
      </p:sp>
      <p:sp>
        <p:nvSpPr>
          <p:cNvPr id="5" name="Text 1"/>
          <p:cNvSpPr txBox="1"/>
          <p:nvPr/>
        </p:nvSpPr>
        <p:spPr>
          <a:xfrm>
            <a:off x="411480" y="1078992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掛けて働くだけで、</a:t>
            </a:r>
            <a:endParaRPr lang="en-US" sz="2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写真台帳と日報ができる</a:t>
            </a:r>
            <a:endParaRPr lang="en-US" sz="2400" dirty="0"/>
          </a:p>
        </p:txBody>
      </p:sp>
      <p:sp>
        <p:nvSpPr>
          <p:cNvPr id="6" name="Text 2"/>
          <p:cNvSpPr txBox="1"/>
          <p:nvPr/>
        </p:nvSpPr>
        <p:spPr>
          <a:xfrm>
            <a:off x="411480" y="205740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AIグラスで作業を記録し、書類づくりと技能の引き継ぎを自動化します。職長・施工管理者・熟練者・若手・経営、それぞれの使い方をまとめました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411480" y="2743200"/>
            <a:ext cx="484632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11480" y="2880360"/>
            <a:ext cx="1554480" cy="11430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02920" y="29260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31638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35分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35844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減る想定（職長15分＋施工管理者20分）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2057400" y="2880360"/>
            <a:ext cx="1554480" cy="11430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148840" y="29260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1拠点10台で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148840" y="31638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年約500万円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2148840" y="35844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書類と写真整理の時間だけ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3703320" y="2880360"/>
            <a:ext cx="1554480" cy="11430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3794760" y="29260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お客様が元を取るのは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794760" y="316382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794760" y="358444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試験導入の合格ライン</a:t>
            </a:r>
            <a:endParaRPr lang="en-US" sz="750" dirty="0"/>
          </a:p>
        </p:txBody>
      </p:sp>
      <p:pic>
        <p:nvPicPr>
          <p:cNvPr id="20" name="Image 1" descr="/home/user/-ai-commute-audio-/deck/assets/shot-gl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914400"/>
            <a:ext cx="3291840" cy="1381965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486400" y="2323797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AIグラスに映る表示（架空の工事のデモ）</a:t>
            </a:r>
            <a:endParaRPr lang="en-US" sz="800" dirty="0"/>
          </a:p>
        </p:txBody>
      </p:sp>
      <p:pic>
        <p:nvPicPr>
          <p:cNvPr id="22" name="Image 2" descr="/home/user/-ai-commute-audio-/deck/assets/shot-manager.png">    </p:cNvPr>
          <p:cNvPicPr>
            <a:picLocks noChangeAspect="1"/>
          </p:cNvPicPr>
          <p:nvPr/>
        </p:nvPicPr>
        <p:blipFill>
          <a:blip r:embed="rId3"/>
          <a:srcRect l="0" r="0" t="4250" b="4250"/>
          <a:stretch/>
        </p:blipFill>
        <p:spPr>
          <a:xfrm>
            <a:off x="5486400" y="2606040"/>
            <a:ext cx="3291840" cy="18288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5486400" y="44622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事務所に届く進み具合と報告書の下書き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411480" y="4160520"/>
            <a:ext cx="4846320" cy="457200"/>
          </a:xfrm>
          <a:prstGeom prst="rect">
            <a:avLst/>
          </a:prstGeom>
          <a:solidFill>
            <a:srgbClr val="FFF4C2"/>
          </a:solidFill>
          <a:ln/>
        </p:spPr>
      </p:sp>
      <p:sp>
        <p:nvSpPr>
          <p:cNvPr id="25" name="Text 19"/>
          <p:cNvSpPr txBox="1"/>
          <p:nvPr/>
        </p:nvSpPr>
        <p:spPr>
          <a:xfrm>
            <a:off x="502920" y="4160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この資料の数字は事業計画の試算です。値段は見積、削減時間は仮説で、試験導入で測ります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6035040" y="4754880"/>
            <a:ext cx="2999232" cy="278892"/>
          </a:xfrm>
          <a:prstGeom prst="rect">
            <a:avLst/>
          </a:prstGeom>
          <a:solidFill>
            <a:srgbClr val="FFFFFF"/>
          </a:solidFill>
          <a:ln w="9525">
            <a:solidFill>
              <a:srgbClr val="1B365D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6108192" y="4754880"/>
            <a:ext cx="2377440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件名 </a:t>
            </a:r>
            <a:pPr algn="l"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カンツギ サービス説明資料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8503920" y="4754880"/>
            <a:ext cx="530352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1／12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8503920" y="4754880"/>
            <a:ext cx="0" cy="278892"/>
          </a:xfrm>
          <a:prstGeom prst="line">
            <a:avLst/>
          </a:prstGeom>
          <a:noFill/>
          <a:ln w="9525">
            <a:solidFill>
              <a:srgbClr val="1B365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困りごと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困りごと：書類と引き継ぎが、現場の時間を取っている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立場ごとに困っていることが違う。どれも人を増やしても減らない時間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2697480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3776" y="105156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職長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5760" y="1435608"/>
            <a:ext cx="2697480" cy="16916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93776" y="1508760"/>
            <a:ext cx="244144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・作業の手を止めて、撮影と黒板の書き込み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・日報は終業後に手で書く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・図面を見に車や事務所へ戻る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・若手に同じことを何度も説明する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65760" y="3200400"/>
            <a:ext cx="269748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DB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5488" y="32004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日報・撮影 1日約15分（想定）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3223260" y="1051560"/>
            <a:ext cx="2697480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351276" y="105156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施工管理者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23260" y="1435608"/>
            <a:ext cx="2697480" cy="16916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351276" y="1508760"/>
            <a:ext cx="244144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・事務所に戻ってから写真の整理と写真台帳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・どの写真がどの手順か分からない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・撮り忘れに後から気づき、撮り直しになる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・現場に行かないと進み具合が分からない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223260" y="3200400"/>
            <a:ext cx="269748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DB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32988" y="32004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写真整理・台帳 1日約20分（想定）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080760" y="1051560"/>
            <a:ext cx="2697480" cy="38404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08776" y="1051560"/>
            <a:ext cx="2441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工事部長・経営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080760" y="1435608"/>
            <a:ext cx="2697480" cy="16916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208776" y="1508760"/>
            <a:ext cx="2441448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・2024年から残業は原則 月45時間まで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・55歳以上が36.7%。ベテランの判断が退職で消える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・若手の独り立ちまでに年数がかかる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・手戻りの原因が、後から追えない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080760" y="3200400"/>
            <a:ext cx="2697480" cy="45720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DB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90488" y="3200400"/>
            <a:ext cx="2478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人を増やしても書類の時間は減らない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5760" y="3840480"/>
            <a:ext cx="8412480" cy="5029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3776" y="3840480"/>
            <a:ext cx="8156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AIグラスで変えられるのは3つ：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記録する（撮る・書く）・整理する（写真台帳・日報）・引き継ぐ（熟練者の判断を教材に）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年齢の比率は国土交通省（総務省「労働力調査」2024年平均）。削減時間は仮説で、試験導入で測る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変わること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変わること：撮る・書く・探すを、AIが代わりにやる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やることは「掛ける・話す・確認する」の3つだけ。入力の手間は増やさない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4" name="beforeaft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240280"/>
                <a:gridCol w="3520440"/>
                <a:gridCol w="1051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仕事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いま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使った後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誰の時間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撮影と黒板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作業を止めて撮る。黒板を書く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要所で「ここ撮って」と言うだけ。黒板の項目は会話と図面から埋まる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職長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日報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終業後に手で書く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会話と記録から下書きされる。確認して直すだけ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職長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写真の整理・写真台帳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事務所で写真を選び、台帳に貼る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手順ごとに写真を割り当てた台帳の下書きが届く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施工管理者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図面との照合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現場で測って、図面と見比べる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図面との違いをその場で知らせる（表示付きのグラス）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職長・若手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熟練者の判断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口頭で伝わり、記録に残らない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「なぜそうするか」を動画と音声ごと記録する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熟練者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若手への説明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同じことを何度も説明する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手順ごとの解説動画と、3分の音声番組で渡す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若手</a:t>
                      </a:r>
                      <a:endParaRPr lang="en-US" sz="9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365760" y="3886200"/>
            <a:ext cx="8412480" cy="566928"/>
          </a:xfrm>
          <a:prstGeom prst="rect">
            <a:avLst/>
          </a:prstGeom>
          <a:solidFill>
            <a:srgbClr val="FFF4C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93776" y="3886200"/>
            <a:ext cx="8156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録画は端末に残す：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AIに送るのは大事な場面だけ（解析する場面に月の上限）。だから通信量と費用が読める。休憩・移動・私語は記録しない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使う場面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使う場面：1日の流れで見ると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職長がAIグラスを掛けるのは、朝礼から終業まで。翌朝、若手が前日の判断を聞く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362456"/>
            <a:ext cx="8046720" cy="0"/>
          </a:xfrm>
          <a:prstGeom prst="line">
            <a:avLst/>
          </a:prstGeom>
          <a:noFill/>
          <a:ln w="25400">
            <a:solidFill>
              <a:srgbClr val="B8C4D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143000"/>
            <a:ext cx="777240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114300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8:00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691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朝礼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" y="2011680"/>
            <a:ext cx="132588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8912" y="2057400"/>
            <a:ext cx="1179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今日の手順と注意点を確認。過去にミスがあった所を共有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057400" y="1143000"/>
            <a:ext cx="777240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57400" y="114300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8:30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783080" y="1691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作業開始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783080" y="2011680"/>
            <a:ext cx="132588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56232" y="2057400"/>
            <a:ext cx="1179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掛けるだけで記録が始まる。撮るのは作業エリアだけ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474720" y="1143000"/>
            <a:ext cx="777240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474720" y="114300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10:40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1691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要所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200400" y="2011680"/>
            <a:ext cx="132588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73552" y="2057400"/>
            <a:ext cx="1179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「ここ撮って」で写真と寸法を記録。図面と違えばその場で知らせる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892040" y="1143000"/>
            <a:ext cx="777240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892040" y="114300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13:00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617720" y="1691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遠隔の確認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617720" y="2011680"/>
            <a:ext cx="132588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690872" y="2057400"/>
            <a:ext cx="1179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熟練者が離れた所から映像を見て判断。その判断も記録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6309360" y="1143000"/>
            <a:ext cx="777240" cy="43891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09360" y="114300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16:30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035040" y="1691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終業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035040" y="2011680"/>
            <a:ext cx="132588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08192" y="2057400"/>
            <a:ext cx="1179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日報と写真台帳の下書きができている。確認して承認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726680" y="1143000"/>
            <a:ext cx="777240" cy="438912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726680" y="1143000"/>
            <a:ext cx="777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翌朝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7452360" y="1691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振り返り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452360" y="2011680"/>
            <a:ext cx="132588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525512" y="2057400"/>
            <a:ext cx="11795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若手が昨日の勘どころを3分の音声で聞く</a:t>
            </a:r>
            <a:endParaRPr lang="en-US" sz="900" dirty="0"/>
          </a:p>
        </p:txBody>
      </p:sp>
      <p:graphicFrame>
        <p:nvGraphicFramePr>
          <p:cNvPr id="5" name="da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66160"/>
          <a:ext cx="84124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645920"/>
                <a:gridCol w="1645920"/>
                <a:gridCol w="164592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職長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施工管理者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熟練者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若手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この1日で減る・残るもの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撮影・黒板・日報 約15分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写真整理・台帳 約20分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判断が記録に残る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前日の勘どころを聞ける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" name="Text 35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時刻は例。削減時間は1台1日の想定（仮説）で、試験導入で測る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使う場面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職長：要所を声で残すだけで、記録が終わる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ケーブル接続の例。手を止めずに、寸法と判断が残る（デモは架空の工事）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/home/user/-ai-commute-audio-/deck/assets/shot-gl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4846320" cy="2034559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65760" y="3223279"/>
            <a:ext cx="731520" cy="25603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365760" y="3223279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見つける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3195847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図面は120mm、実物は112mm。8mm短いことをその場で知らせる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365760" y="3552463"/>
            <a:ext cx="731520" cy="25603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365760" y="3552463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直す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88720" y="3525031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熟練者の「テープ基準で測り直す」という指示も記録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365760" y="3881647"/>
            <a:ext cx="731520" cy="25603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365760" y="3881647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まとめる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88720" y="3854215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写真は手順ごとに報告書へ。報告書に使う時間は0分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486400" y="1051560"/>
            <a:ext cx="3291840" cy="13258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614416" y="1051560"/>
            <a:ext cx="303580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やること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① グラスを掛ける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② 要所で「ここ撮って」と言う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③ 終業時に日報の下書きを確認する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0" y="2487168"/>
            <a:ext cx="3291840" cy="11887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6DB5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614416" y="2487168"/>
            <a:ext cx="30358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やらなくていいこと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・撮影のために手を止める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・黒板を書く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・日報を一から書く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486400" y="3767328"/>
            <a:ext cx="3291840" cy="713232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5614416" y="3767328"/>
            <a:ext cx="3035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グラス：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約50gのスポーツ型（記録用）。図面を手元に出す班は表示付き。粉じん・高所の現場は産業用も選べる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使う場面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施工管理者：写真台帳と日報が、下書きされて届く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AIが手順ごとに写真を割り当て、黒板の項目を会話と図面から埋める。確認して承認するだけ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/home/user/-ai-commute-audio-/deck/assets/sample-phototable-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2424303" cy="3429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4498848"/>
            <a:ext cx="242430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写真台帳の見本（架空の工事）</a:t>
            </a:r>
            <a:endParaRPr lang="en-US" sz="750" dirty="0"/>
          </a:p>
        </p:txBody>
      </p:sp>
      <p:pic>
        <p:nvPicPr>
          <p:cNvPr id="9" name="Image 1" descr="/home/user/-ai-commute-audio-/deck/assets/shot-manager.png">    </p:cNvPr>
          <p:cNvPicPr>
            <a:picLocks noChangeAspect="1"/>
          </p:cNvPicPr>
          <p:nvPr/>
        </p:nvPicPr>
        <p:blipFill>
          <a:blip r:embed="rId2"/>
          <a:srcRect l="0" r="0" t="0" b="41487"/>
          <a:stretch/>
        </p:blipFill>
        <p:spPr>
          <a:xfrm>
            <a:off x="3064383" y="1051560"/>
            <a:ext cx="5713857" cy="20299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64383" y="3099816"/>
            <a:ext cx="57138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事務所の画面：進み具合と、手順ごとに割り当てた写真（デモ）</a:t>
            </a:r>
            <a:endParaRPr lang="en-US" sz="750" dirty="0"/>
          </a:p>
        </p:txBody>
      </p:sp>
      <p:sp>
        <p:nvSpPr>
          <p:cNvPr id="11" name="Shape 6"/>
          <p:cNvSpPr/>
          <p:nvPr/>
        </p:nvSpPr>
        <p:spPr>
          <a:xfrm>
            <a:off x="3064383" y="3355848"/>
            <a:ext cx="1843659" cy="111556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3155823" y="3429000"/>
            <a:ext cx="16607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書式は発注者ごとに合わせる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電力会社の指定様式の写真台帳、官公庁の電子納品（デジタル写真管理情報基準）、自社の施工管理アプリへの出力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4999482" y="3355848"/>
            <a:ext cx="1843659" cy="111556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5090922" y="3429000"/>
            <a:ext cx="16607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撮り忘れがその日のうちに分かる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手順ごとに写真がそろっているかを見せる。翌日の撮り直しを減らす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6934581" y="3355848"/>
            <a:ext cx="1843659" cy="1115568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026021" y="3429000"/>
            <a:ext cx="16607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現場に行かなくても進み具合が分かる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会話と映像から、どの手順まで終わったかを判定する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使う場面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熟練者と若手：判断を残し、教材で渡す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ベテランの「なぜそうするか」を記録し、手順ごとの動画と3分の音声にする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pic>
        <p:nvPicPr>
          <p:cNvPr id="7" name="Image 0" descr="/home/user/-ai-commute-audio-/deck/assets/shot-trai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5486400" cy="241372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65760" y="3483574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手順ごとの解説動画（左）と、通勤中に聞く音声番組の台本（右）。デモ</a:t>
            </a:r>
            <a:endParaRPr lang="en-US" sz="750" dirty="0"/>
          </a:p>
        </p:txBody>
      </p:sp>
      <p:sp>
        <p:nvSpPr>
          <p:cNvPr id="9" name="Shape 5"/>
          <p:cNvSpPr/>
          <p:nvPr/>
        </p:nvSpPr>
        <p:spPr>
          <a:xfrm>
            <a:off x="6080760" y="1051560"/>
            <a:ext cx="2697480" cy="118872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190488" y="105156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熟練者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離れた所から映像を見て「測り直せ」と指示。その判断が理由ごと記録に残る。誰の技術かを名前で残す（本人の同意のうえ）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080760" y="2331720"/>
            <a:ext cx="2697480" cy="10972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6190488" y="2331720"/>
            <a:ext cx="247802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若手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9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手順ごとの解説動画で予習し、前日の勘どころを3分の音声で聞く。独り立ちまでの月数で効果を測る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65760" y="3840480"/>
            <a:ext cx="8412480" cy="603504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93776" y="3840480"/>
            <a:ext cx="81564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教材の確認：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当社の現場監修（施工管理の経験者）が「勘どころ」を確かめてから配る。教材の一部は業界団体や学校で使えるよう無償で公開する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現場の方へ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現場の方へ：監視ではなく、技術を残す道具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使う人が嫌がる仕組みは続かない。最初に4つを約束する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384048" cy="10972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65760" y="105156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49808" y="1051560"/>
            <a:ext cx="2221992" cy="10972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59536" y="105156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撮るのは作業エリアと要所だけ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休憩・移動・私語は記録しない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08960" y="1051560"/>
            <a:ext cx="384048" cy="10972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108960" y="105156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493008" y="1051560"/>
            <a:ext cx="2221992" cy="10972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02736" y="105156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本人の同意のもとで記録する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見たい・消したいの依頼にも応じる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365760" y="2286000"/>
            <a:ext cx="384048" cy="109728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228600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9808" y="2286000"/>
            <a:ext cx="2221992" cy="10972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59536" y="228600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評価のためではなく、技術を残すため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誰の技術かを名前で残す（同意のうえ）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108960" y="2286000"/>
            <a:ext cx="384048" cy="109728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108960" y="2286000"/>
            <a:ext cx="3840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493008" y="2286000"/>
            <a:ext cx="2221992" cy="109728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02736" y="2286000"/>
            <a:ext cx="20025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入力を増やさない</a:t>
            </a:r>
            <a:endParaRPr lang="en-US" sz="1050" dirty="0"/>
          </a:p>
          <a:p>
            <a:pPr algn="l" indent="0" marL="0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掛ける・話す・確認する、だけ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5897880" y="10515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データの扱い</a:t>
            </a:r>
            <a:endParaRPr lang="en-US" sz="1100" dirty="0"/>
          </a:p>
        </p:txBody>
      </p:sp>
      <p:graphicFrame>
        <p:nvGraphicFramePr>
          <p:cNvPr id="9" name="dat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325880"/>
          <a:ext cx="288036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項目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扱い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保存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会社ごとに分けて当社の基盤に保存（3年）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見る人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権限で決める（班・現場・事務所）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図面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会社ごとに分け、外に出さない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端末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管理ツール（MDM）で管理。紛失時は遠隔で止める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削除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本人と会社の依頼で消す</a:t>
                      </a:r>
                      <a:endParaRPr lang="en-US" sz="85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365760" y="3657600"/>
            <a:ext cx="8412480" cy="786384"/>
          </a:xfrm>
          <a:prstGeom prst="rect">
            <a:avLst/>
          </a:prstGeom>
          <a:solidFill>
            <a:srgbClr val="FFF4C2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493776" y="3657600"/>
            <a:ext cx="815644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試験導入の前に確かめること：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保護めがねとの併用・技適・国内の正規販売・電池の持ち（要所だけの記録で1日もつか）。厳しい現場は産業用の端末を選べる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経営の方へ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経営の方へ：1拠点10台で年約500万円。支払いの約1.5倍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効果はAIグラスを掛けた班の分だけ数える。書類と写真整理の時間だけで、手戻りの削減は入れない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4846320" cy="96012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93776" y="1051560"/>
            <a:ext cx="4590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式：</a:t>
            </a:r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10台 × 年240日 ×（職長15分×約3,300円 ＋ 施工管理者20分×約3,700円）</a:t>
            </a:r>
            <a:endParaRPr lang="en-US" sz="95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＝ 年 約499万円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時給＝統計の年収×会社負担1.17÷残業を含む年1,938時間。浮く時間は年1,400時間（10台）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35000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効果（書類の時間）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103120" y="2404872"/>
            <a:ext cx="2194560" cy="219456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43400" y="235000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499万円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2715768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お客様の支払い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103120" y="2770632"/>
            <a:ext cx="1458610" cy="219456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07450" y="2715768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332万円</a:t>
            </a:r>
            <a:endParaRPr lang="en-US" sz="1000" dirty="0"/>
          </a:p>
        </p:txBody>
      </p:sp>
      <p:graphicFrame>
        <p:nvGraphicFramePr>
          <p:cNvPr id="10" name="day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108960"/>
          <a:ext cx="48463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097280"/>
                <a:gridCol w="137160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使う日数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効果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÷支払い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元が取れる分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240日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499万円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1.50倍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23分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200日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416万円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1.25倍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28分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pa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051560"/>
          <a:ext cx="3291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1拠点10台の支払い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万円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当社の利用料（基盤＋10台）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AIグラスのリース（お客様名義）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32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2年目からの合計（毎年）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332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1年目は＋導入支援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200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1年目の合計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532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6"/>
                    </a:solidFill>
                  </a:tcPr>
                </a:tc>
              </a:tr>
            </a:tbl>
          </a:graphicData>
        </a:graphic>
      </p:graphicFrame>
      <p:sp>
        <p:nvSpPr>
          <p:cNvPr id="18" name="Shape 13"/>
          <p:cNvSpPr/>
          <p:nvPr/>
        </p:nvSpPr>
        <p:spPr>
          <a:xfrm>
            <a:off x="5486400" y="2834640"/>
            <a:ext cx="3291840" cy="105156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614416" y="2834640"/>
            <a:ext cx="3035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お客様が元を取る条件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 23分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試験導入で測り、届かなければ本契約しない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365760" y="3977640"/>
            <a:ext cx="8412480" cy="475488"/>
          </a:xfrm>
          <a:prstGeom prst="rect">
            <a:avLst/>
          </a:prstGeom>
          <a:solidFill>
            <a:srgbClr val="FFFFFF"/>
          </a:solidFill>
          <a:ln w="15875">
            <a:solidFill>
              <a:srgbClr val="2F6DB5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493776" y="3977640"/>
            <a:ext cx="8156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自社の数字で：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導入効果シミュレーター（台数・削減時間・年収・使う日数を入れると、効果と倍率と元が取れる分が出る）で、一緒に計算できます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導入の進め方：まず1拠点・2〜3班で3か月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導入前の2週間と導入後の4週間を比べ、数字で決める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1051560"/>
            <a:ext cx="201168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105156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1か月目　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準備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5760" y="1508760"/>
            <a:ext cx="2011680" cy="12344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1563624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現状調査・端末の設定・図面と手順の登録・報告書の型の登録・研修（2回）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386584" y="1280160"/>
            <a:ext cx="103327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499055" y="1051560"/>
            <a:ext cx="201168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608783" y="105156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2週間　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いまを測る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499055" y="1508760"/>
            <a:ext cx="2011680" cy="12344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590495" y="1563624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導入前の日報・写真整理・台帳の時間を、職長と施工管理者が記録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19879" y="1280160"/>
            <a:ext cx="103327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632350" y="1051560"/>
            <a:ext cx="2011680" cy="457200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742078" y="105156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4週間　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使う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32350" y="1508760"/>
            <a:ext cx="2011680" cy="12344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23790" y="1563624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職長がグラスを掛けて使う。当社の導入コンサルタントが週2日立ち会う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653174" y="1280160"/>
            <a:ext cx="103327" cy="0"/>
          </a:xfrm>
          <a:prstGeom prst="line">
            <a:avLst/>
          </a:prstGeom>
          <a:noFill/>
          <a:ln w="25400">
            <a:solidFill>
              <a:srgbClr val="1B365D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765646" y="1051560"/>
            <a:ext cx="2011680" cy="457200"/>
          </a:xfrm>
          <a:prstGeom prst="rect">
            <a:avLst/>
          </a:prstGeom>
          <a:solidFill>
            <a:srgbClr val="2F6DB5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75374" y="1051560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判定　</a:t>
            </a:r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決める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765646" y="1508760"/>
            <a:ext cx="2011680" cy="123444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857086" y="1563624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1台1日23分以上で本契約。15〜23分は機能を絞って続ける。15分未満は終了</a:t>
            </a:r>
            <a:endParaRPr lang="en-US" sz="950" dirty="0"/>
          </a:p>
        </p:txBody>
      </p:sp>
      <p:graphicFrame>
        <p:nvGraphicFramePr>
          <p:cNvPr id="11" name="ro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926080"/>
          <a:ext cx="84124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023360"/>
                <a:gridCol w="338328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当社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お客様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人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導入コンサルタント（約2か月・42人日）、現場監修（施工管理の経験者）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DX担当1名、職長2〜3名、施工管理者1〜2名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決めること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撮影の計画（何を・誰が・何時間）、報告書の型、測り方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対象の現場と班、合格ラインの確認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費用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導入支援 200万円（着手金50%、結果で本契約に切り替え）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試験導入中のグラスは当社がレンタルして渡す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よくある質問：現場の方から・経営の方から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答えは数字と約束で。分からないことは、試験導入で測ると答える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10515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現場の方から</a:t>
            </a:r>
            <a:endParaRPr lang="en-US" sz="1100" dirty="0"/>
          </a:p>
        </p:txBody>
      </p:sp>
      <p:graphicFrame>
        <p:nvGraphicFramePr>
          <p:cNvPr id="12" name="qa-fiel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44168"/>
          <a:ext cx="4114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5146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質問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答え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重くないか、邪魔にならないか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約50gで普段のメガネに近い。粉じん・高所は産業用も選べる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ずっと見られているのでは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撮るのは作業エリアと要所だけ。本人の同意のもとで、削除もできる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操作を覚えるのが大変では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掛ける・話す・確認するだけ。初日に研修を2回行う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電池はもつのか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連続撮影は短いので要所だけ記録する。1日もつかを試験導入で確かめる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663440" y="10515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経営の方から</a:t>
            </a:r>
            <a:endParaRPr lang="en-US" sz="1100" dirty="0"/>
          </a:p>
        </p:txBody>
      </p:sp>
      <p:graphicFrame>
        <p:nvGraphicFramePr>
          <p:cNvPr id="23" name="qa-mgm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344168"/>
          <a:ext cx="4114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5146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質問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答え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本当に年300万円の価値があるか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お客様が元を取るのは1台1日23分。測ってから決められる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今の施工管理アプリと二重にならないか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写真と台帳をアプリへ出力する（個社設定）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図面や映像が外に出ないか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会社ごとに分けて保存し、権限と削除を決める。端末は管理ツールで管理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途中でやめられるか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年額の契約。更新の3か月前に効果を一緒に振り返る</a:t>
                      </a:r>
                      <a:endParaRPr lang="en-US" sz="9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365760" y="4553712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7B8794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値段は見積、削減時間は仮説。端末の条件（保護めがね・技適・国内販売）は試験導入の前に確認する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053328" y="4759452"/>
            <a:ext cx="11704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導入</a:t>
            </a:r>
            <a:endParaRPr lang="en-US" sz="750" dirty="0"/>
          </a:p>
        </p:txBody>
      </p:sp>
      <p:sp>
        <p:nvSpPr>
          <p:cNvPr id="4" name="title"/>
          <p:cNvSpPr txBox="1"/>
          <p:nvPr/>
        </p:nvSpPr>
        <p:spPr>
          <a:xfrm>
            <a:off x="365760" y="256032"/>
            <a:ext cx="8412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50" b="1" dirty="0">
                <a:solidFill>
                  <a:srgbClr val="1B365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まずは1拠点から：3か月で、効果を数字で確かめる</a:t>
            </a:r>
            <a:endParaRPr lang="en-US" sz="1850" dirty="0"/>
          </a:p>
        </p:txBody>
      </p:sp>
      <p:sp>
        <p:nvSpPr>
          <p:cNvPr id="5" name="lead"/>
          <p:cNvSpPr txBox="1"/>
          <p:nvPr/>
        </p:nvSpPr>
        <p:spPr>
          <a:xfrm>
            <a:off x="365760" y="694944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A556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合格ラインを先に決めて、届かなければ本契約しない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950976"/>
            <a:ext cx="8412480" cy="0"/>
          </a:xfrm>
          <a:prstGeom prst="line">
            <a:avLst/>
          </a:prstGeom>
          <a:noFill/>
          <a:ln w="15875">
            <a:solidFill>
              <a:srgbClr val="1B365D"/>
            </a:solidFill>
            <a:prstDash val="solid"/>
          </a:ln>
        </p:spPr>
      </p:sp>
      <p:graphicFrame>
        <p:nvGraphicFramePr>
          <p:cNvPr id="13" name="trial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49377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749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試験導入の条件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1B365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65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対象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1拠点・2〜3班（職長がグラスを掛ける）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期間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3か月（準備1か月・測定2週間・使用4週間）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費用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導入支援 200万円（着手金50%）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合格ライン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1台1日23分以上の削減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本契約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933"/>
                          </a:solidFill>
                          <a:latin typeface="BIZ UDPGothic" pitchFamily="34" charset="0"/>
                          <a:ea typeface="BIZ UDPGothic" pitchFamily="34" charset="-122"/>
                          <a:cs typeface="BIZ UDPGothic" pitchFamily="34" charset="-120"/>
                        </a:rPr>
                        <a:t>1拠点10台で年300万円＋AIグラスのリース約32万円</a:t>
                      </a:r>
                      <a:endParaRPr lang="en-US" sz="1000" dirty="0">
                        <a:latin typeface="BIZ UDPGothic" charset="0"/>
                        <a:ea typeface="BIZ UDPGothic" charset="0"/>
                        <a:cs typeface="BIZ UDPGothic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8C4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577840" y="1051560"/>
            <a:ext cx="3200400" cy="2304288"/>
          </a:xfrm>
          <a:prstGeom prst="rect">
            <a:avLst/>
          </a:prstGeom>
          <a:solidFill>
            <a:srgbClr val="1B365D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5715000" y="1051560"/>
            <a:ext cx="292608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現場の勘を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次の担い手へ</a:t>
            </a: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C400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株式会社カンツギ（設立準備中）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65760" y="3520440"/>
            <a:ext cx="8412480" cy="914400"/>
          </a:xfrm>
          <a:prstGeom prst="rect">
            <a:avLst/>
          </a:prstGeom>
          <a:solidFill>
            <a:srgbClr val="EAF0F6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93776" y="3520440"/>
            <a:ext cx="81564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2F6DB5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この資料について：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F2933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数字は事業計画の試算（値段は見積、削減時間は仮説、端末とリースは市販品の公表値を当てはめた仮定）。画面と写真台帳は架空の工事のデモ。計算の過程は「計算詳細版」と裏取りのExcelにまとめています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73168"/>
            <a:ext cx="530352" cy="24688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1B365D"/>
                </a:solidFill>
                <a:latin typeface="BIZ UDPGothic"/>
                <a:ea typeface="BIZ UDPGothic"/>
                <a:cs typeface="BIZ UDPGothic"/>
              </a:defRPr>
            </a:lvl1pPr>
          </a:lstStyle>
          <a:p>
            <a:pPr algn="ct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カンツギ サービス説明資料</dc:title>
  <dc:subject>PptxGenJS Presentation</dc:subject>
  <dc:creator>PptxGenJS</dc:creator>
  <cp:lastModifiedBy>PptxGenJS</cp:lastModifiedBy>
  <cp:revision>1</cp:revision>
  <dcterms:created xsi:type="dcterms:W3CDTF">2026-10-20T03:13:23Z</dcterms:created>
  <dcterms:modified xsi:type="dcterms:W3CDTF">2026-10-20T03:13:23Z</dcterms:modified>
</cp:coreProperties>
</file>