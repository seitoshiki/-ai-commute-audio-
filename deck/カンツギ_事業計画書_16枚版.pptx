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</c:v>
                </c:pt>
              </c:strCache>
            </c:strRef>
          </c:tx>
          <c:spPr>
            <a:solidFill>
              <a:srgbClr val="1A1A1A"/>
            </a:solidFill>
            <a:ln w="381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B8692E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1年</c:v>
                  </c:pt>
                  <c:pt idx="1">
                    <c:v>2年</c:v>
                  </c:pt>
                  <c:pt idx="2">
                    <c:v>3年</c:v>
                  </c:pt>
                  <c:pt idx="3">
                    <c:v>4年</c:v>
                  </c:pt>
                  <c:pt idx="4">
                    <c:v>5年</c:v>
                  </c:pt>
                  <c:pt idx="5">
                    <c:v>6年</c:v>
                  </c:pt>
                  <c:pt idx="6">
                    <c:v>7年</c:v>
                  </c:pt>
                  <c:pt idx="7">
                    <c:v>8年</c:v>
                  </c:pt>
                  <c:pt idx="8">
                    <c:v>9年</c:v>
                  </c:pt>
                  <c:pt idx="9">
                    <c:v>10年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12</c:v>
                </c:pt>
                <c:pt idx="1">
                  <c:v>48</c:v>
                </c:pt>
                <c:pt idx="2">
                  <c:v>107</c:v>
                </c:pt>
                <c:pt idx="3">
                  <c:v>178</c:v>
                </c:pt>
                <c:pt idx="4">
                  <c:v>269</c:v>
                </c:pt>
                <c:pt idx="5">
                  <c:v>355</c:v>
                </c:pt>
                <c:pt idx="6">
                  <c:v>438</c:v>
                </c:pt>
                <c:pt idx="7">
                  <c:v>518</c:v>
                </c:pt>
                <c:pt idx="8">
                  <c:v>591</c:v>
                </c:pt>
                <c:pt idx="9">
                  <c:v>655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750" u="none">
                  <a:solidFill>
                    <a:srgbClr val="B8692E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営業損益</c:v>
                </c:pt>
              </c:strCache>
            </c:strRef>
          </c:tx>
          <c:spPr>
            <a:solidFill>
              <a:srgbClr val="B8692E"/>
            </a:solidFill>
            <a:ln w="31750" cap="flat">
              <a:solidFill>
                <a:srgbClr val="B869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B8692E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square"/>
            <c:size val="5"/>
            <c:spPr>
              <a:solidFill>
                <a:srgbClr val="B8692E"/>
              </a:solidFill>
              <a:ln w="9525" cap="flat">
                <a:solidFill>
                  <a:srgbClr val="B869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1年</c:v>
                  </c:pt>
                  <c:pt idx="1">
                    <c:v>2年</c:v>
                  </c:pt>
                  <c:pt idx="2">
                    <c:v>3年</c:v>
                  </c:pt>
                  <c:pt idx="3">
                    <c:v>4年</c:v>
                  </c:pt>
                  <c:pt idx="4">
                    <c:v>5年</c:v>
                  </c:pt>
                  <c:pt idx="5">
                    <c:v>6年</c:v>
                  </c:pt>
                  <c:pt idx="6">
                    <c:v>7年</c:v>
                  </c:pt>
                  <c:pt idx="7">
                    <c:v>8年</c:v>
                  </c:pt>
                  <c:pt idx="8">
                    <c:v>9年</c:v>
                  </c:pt>
                  <c:pt idx="9">
                    <c:v>10年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-48</c:v>
                </c:pt>
                <c:pt idx="1">
                  <c:v>-48</c:v>
                </c:pt>
                <c:pt idx="2">
                  <c:v>-37</c:v>
                </c:pt>
                <c:pt idx="3">
                  <c:v>-39</c:v>
                </c:pt>
                <c:pt idx="4">
                  <c:v>-11</c:v>
                </c:pt>
                <c:pt idx="5">
                  <c:v>45</c:v>
                </c:pt>
                <c:pt idx="6">
                  <c:v>79</c:v>
                </c:pt>
                <c:pt idx="7">
                  <c:v>120</c:v>
                </c:pt>
                <c:pt idx="8">
                  <c:v>163</c:v>
                </c:pt>
                <c:pt idx="9">
                  <c:v>190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750" u="none">
                  <a:solidFill>
                    <a:srgbClr val="B8692E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累積</c:v>
                </c:pt>
              </c:strCache>
            </c:strRef>
          </c:tx>
          <c:spPr>
            <a:solidFill>
              <a:srgbClr val="8C8C8C"/>
            </a:solidFill>
            <a:ln w="2540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B8692E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1年</c:v>
                  </c:pt>
                  <c:pt idx="1">
                    <c:v>2年</c:v>
                  </c:pt>
                  <c:pt idx="2">
                    <c:v>3年</c:v>
                  </c:pt>
                  <c:pt idx="3">
                    <c:v>4年</c:v>
                  </c:pt>
                  <c:pt idx="4">
                    <c:v>5年</c:v>
                  </c:pt>
                  <c:pt idx="5">
                    <c:v>6年</c:v>
                  </c:pt>
                  <c:pt idx="6">
                    <c:v>7年</c:v>
                  </c:pt>
                  <c:pt idx="7">
                    <c:v>8年</c:v>
                  </c:pt>
                  <c:pt idx="8">
                    <c:v>9年</c:v>
                  </c:pt>
                  <c:pt idx="9">
                    <c:v>10年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-48</c:v>
                </c:pt>
                <c:pt idx="1">
                  <c:v>-96</c:v>
                </c:pt>
                <c:pt idx="2">
                  <c:v>-133</c:v>
                </c:pt>
                <c:pt idx="3">
                  <c:v>-172</c:v>
                </c:pt>
                <c:pt idx="4">
                  <c:v>-183</c:v>
                </c:pt>
                <c:pt idx="5">
                  <c:v>-138</c:v>
                </c:pt>
                <c:pt idx="6">
                  <c:v>-59</c:v>
                </c:pt>
                <c:pt idx="7">
                  <c:v>61</c:v>
                </c:pt>
                <c:pt idx="8">
                  <c:v>224</c:v>
                </c:pt>
                <c:pt idx="9">
                  <c:v>414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750" u="none">
                  <a:solidFill>
                    <a:srgbClr val="B8692E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"/>
          <c:min val="-20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【0:00 - 0:35】
要約：表紙と構成
株式会社カンツギです。勘を継ぐ、と書きます。割れた器を金で継ぐ金継ぎのように、途切れそうな現場の勘をデータで継ぐ会社です。今日は課題の5つの設問、事業の中身と理由、スタッフ、経営理念、経営計画、段階ごとの課題の順に、10分でお話しします。前提は、来年、豊富な自己資金で事業を立ち上げることです。最初の一歩は、6か月で1拠点を動かす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【0:35 - 1:15】
要約：事業と、選んだ理由
何をするか。職長や施工管理者が、普段のメガネと同じ軽さのAIグラスを掛けて働くだけで、作業を記録し、写真台帳と日報を作り、図面と照合し、若手の教材にします。施工管理アプリとの違いは、人が撮って入力しないことです。お客様は関東の中堅の電気工事会社で、1拠点10台で年300万円。選んだ理由は三つ。払う理由がある市場、使える技術、そして施工管理5年で、ベテランの判断が退職とともに消えるのを見てきた自分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【1:15 - 1:50】
要約：背景と課題
困っている人は三人います。推進するDX担当、使う施工管理者と電工、お金を出す工事部長です。建設業は55歳以上が36.7%、2024年からは残業に上限があり、書類と育成に回す人がいません。熟練者が抜けると、若手が寸法や順番を間違え、やり直しが増えます。手戻りは建設全体で年約1.5兆円、電気工事だけで約2,400億円と見積もっています。勘の喪失は、お金の問題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【1:50 - 2:30】
要約：解決策とデモ
これがデモの画面です。若手の作業を記録し、半導電層が図面より8ミリ短いことを見つけ、遠隔の熟練者の「テープ基準で測り直す」という判断も記録します。写真は手順ごとに報告書へ自動で入り、作業者が報告書に使う時間はゼロです。渡す先は、若手、管理者、次の担い手の三つ。真似されにくさは、記録が貯まるほど強くなること、意味づけは施工経験者にしかできないこと、電気工事の型を先に揃える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【2:30 - 3:05】
要約：使い方と端末
使い方です。メガネは全員には配らず、1班に1台、職長が掛けます。1支店で10台。撮るのは作業エリアだけで、休憩や移動は撮りません。録画はメガネに残し、大事な場面だけをAIに送ります。端末は記録用のAIグラス8台と、図面を手元に映す表示付き2台。粉じんの多い現場は産業用も選べます。グラスは試験導入ではレンタル、本契約からはお客様名義のリースで、手続きは当社が代行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【3:05 - 3:45】
要約：競合と差別化
競合です。施工管理アプリは、人が撮って入力する器です。一方、日立グループはほぼ同じ方向です。ビル保守のAI Safetyと、日立パワーソリューションズの受変電の点検AI。ただ日立は、自社の保守契約にAIを組み込んで稼ぐ形で、AIは品質と原価のための道具です。技術と規模では勝てないので、領域をずらします。安全と保守では競わず、中堅の電気工事会社の施工の書類と技能継承を、月額で。日立が来たら、提携も選び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【3:45 - 4:20】
要約：スタッフ
一緒に働く人です。5年目に23人。核は三つの役割です。映像AIとデータ基盤をつくるエンジニア。電気工事の施工管理10年以上で、映像のどこが大事かに印を付ける現場監修。そして、お客様の現場に入り、各社の書類の形に合わせて設定する導入コンサルタントです。この設定は外注せず社内で行い、型として製品に戻します。私の役割は、最初の営業と現場監修の統括、理念と判断の基準づくり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【4:20 - 4:55】
要約：経営理念
経営理念は、現場の勘を、次の担い手へ。熟練者の判断をデータで継ぎ、人が減っても日本の現場の品質を守ることが使命です。大切にすることは三つ。現場を主役に、入力を増やさない。勘に敬意を、記録は本人の同意で、誰の技術かを残す。数字で約束、効果を毎月見せる。ホームページでは、現場で働く方に、これは監視ではなく、あなたの技術を残す仕組みだと最初に伝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【4:55 - 5:30】
要約：市場とターゲット
市場です。電気工事と電気通信工事の中堅以上、約3,100社に、1拠点年300万円を掛けて、ターゲット市場は約141億円です。最初は関東の中堅735社のうち、書類が多く手戻りが痛い約180社に絞ります。業界団体の勉強会、展示会、グラスの販売店から会い、3か月の有償試験導入から本契約へ進みます。5年で約85拠点、解約を引いて81拠点。市場の約1.7%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【5:30 - 6:05】
要約：お客様の得
お客様の得です。グラスを掛けた班で、職長の日報と撮影が1日15分、施工管理者の写真整理が20分減ると、統計から出した時給で、10台で年約500万円。払う額は利用料とリースで約332万円なので、約1.5倍です。初年度は導入支援も含めて約13か月で回収。逆に言えば、1台1日23分減れば元が取れる。これを実証の合格ライン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【6:05 - 6:40】
要約：当社の稼ぎ方
当社の稼ぎ方です。基盤が月5万円、メガネ1台が月2万円で、10台なら年300万円。報告書の形に整えるところまで含みます。AIと保存の費用は1台月約6,000円で、引くと1拠点年216万円が残り、粗利率は72%。注意点は、全部をAIで解析すると1台月5万円かかり赤字になることです。だから解析は選んだ場面だけ。7年で見ると、獲得費用の約18倍が残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【6:40 - 7:15】
要約：年単位の計画と収支
年単位の計画です。1年目は3社の試験導入、2年目に本契約、3年目は図面との照合と大手の事例、4年目は手元AR、5年目は教材化まで。5年目に81拠点、売上約2.7億円です。ただ正直に言うと、人を先に雇うので5年間は赤字で、5年目も約11百万円の赤字。損益分岐点まで、あと約6拠点分。社員1人あたり約4拠点が目安ですが、5年目は3.5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【7:15 - 7:50】
要約：資金と黒字化の条件
資金は自己資金で約2.55億円。一度には入れません。実証に合格したら1年目に2億円、3年目に継続率と台数の線を越えたら5,000万円を足します。黒字の鍵は、拠点数より1拠点の台数です。15台に増やせれば、新規が計画の6割でも5年目に黒字。そして止まる線も先に決めます。実証で1台1日15分も減らなければ撤退、2年目末に平均12台に届かなければ採用を止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【7:50 - 8:25】
要約：10年で見ると
では10年ならどうか。5年目までは変えずに延ばすと、10台のままでも6年目に黒字、8年目に5年分の赤字を取り戻します。10年目の営業利益は約190百万円、15台なら約347百万円。去年のお客様が今年も払う積み上げ型なので、時間が味方になります。条件は6年目から採用のペースを落とすこと。値下げやAI費用の倍増では、自己資金の追加が要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【8:25 - 9:00】
要約：段階ごとの課題
段階ごとの課題です。準備期は効果が出るか、導入期は売れるか続くか、成長期は台数と人、成熟期は大手との競争です。自分で見つけた弱いところもあります。普段使いのグラスは録画と電池に限りがあり、現場には弱い。300万円はまだ誰にも確かめていない。10台では5年で黒字にならない。そして最大のリスクは私自身です。どれも、確かめ方と直し方を決め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【9:00 - 9:35】
要約：準備期と、最後に
最初の6か月は約500万円で、試作品と1拠点の実証をします。最後に私の願いです。10年続ければ、書類に使っていた約137万時間が、現場と若手の指導に戻ります。利益は目的ではなく、続けるための条件。配当は求めず、共感する仲間と育てます。ただし止まる線は守ります。日本の現場の勘を、次の担い手へ。最初の一歩として、6か月で1拠点を動かします。ありがとうござ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4754880"/>
            <a:ext cx="1325880" cy="28411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483717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現場の勘を、次の担い手へ。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4754880"/>
            <a:ext cx="1325880" cy="28411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3108960" cy="514350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640080"/>
            <a:ext cx="2468880" cy="529046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320040" y="141732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</a:t>
            </a:r>
            <a:endParaRPr lang="en-US" sz="2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次の担い手へ。</a:t>
            </a:r>
            <a:endParaRPr lang="en-US" sz="2000" dirty="0"/>
          </a:p>
        </p:txBody>
      </p:sp>
      <p:sp>
        <p:nvSpPr>
          <p:cNvPr id="6" name="Text 2"/>
          <p:cNvSpPr txBox="1"/>
          <p:nvPr/>
        </p:nvSpPr>
        <p:spPr>
          <a:xfrm>
            <a:off x="320040" y="2468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株式会社カンツギ（事業計画）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320040" y="27432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勘継＝金継ぎのように現場の勘を継ぐ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320040" y="4206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発表者：＿＿＿＿＿＿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3429000" y="320040"/>
            <a:ext cx="5349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事業計画書（10分・16枚）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3429000" y="566928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人が減っても、現場が迷わず回る仕組みをつくる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3429000" y="96012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普段のメガネと同じ軽さのAIグラスで熟練者の作業を記録し、報告を自動にし、次の担い手とAIの教材にする</a:t>
            </a:r>
            <a:endParaRPr lang="en-US" sz="1050" dirty="0"/>
          </a:p>
        </p:txBody>
      </p:sp>
      <p:graphicFrame>
        <p:nvGraphicFramePr>
          <p:cNvPr id="2" name="toc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0" y="1481328"/>
          <a:ext cx="5349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429000"/>
                <a:gridCol w="4572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設問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一言の答え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頁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① 事業・理由・想い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AIグラスで作業を記録し、書類と育成を自動に。勘が消えるのを止めたい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2〜6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② スタッフ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5年目23人。現場監修とコンサル部隊を社内に持つ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③ 経営理念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現場の勘を、次の担い手へ。監視ではなく、技術を残す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④ 経営計画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年300万円／拠点。5年は赤字、10年なら6年目に黒字。15台で5年目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9〜14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⑤ 段階ごとの課題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効果→売れるか→台数と人→大手。弱点も自分で示す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15〜16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8"/>
          <p:cNvSpPr/>
          <p:nvPr/>
        </p:nvSpPr>
        <p:spPr>
          <a:xfrm>
            <a:off x="3429000" y="3611880"/>
            <a:ext cx="534924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B8692E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3557016" y="3611880"/>
            <a:ext cx="5093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課題の前提：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来年、豊富な資金をもとに新しい事業を立ち上げて経営する。資金は自己資金（融資・出資は使わない）。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最初の一歩：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6か月で1拠点を動かす。合格ラインは「1台1日23分の削減」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事業と選んだ理由 ─ 記録して、書類と育成を自動に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AIグラスを掛けて作業するだけ。報告書・図面との照合・教材までを一続きで届ける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24128"/>
            <a:ext cx="2395728" cy="157276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75488" y="1097280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何のビジネス？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75488" y="1408176"/>
            <a:ext cx="217627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職長・施工管理者がAIグラスを掛けるだけで、一人称の動画と会話を記録。AIが写真台帳・日報を作り、図面と照合し、教材にする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2871216" y="1024128"/>
            <a:ext cx="2395728" cy="157276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980944" y="1097280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既存との違い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2980944" y="1408176"/>
            <a:ext cx="217627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施工管理アプリは人が撮って入力する器。当社は自動で記録し「照合→報告→教材」まで一続き。施工経験者が中身を監修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65760" y="2706624"/>
            <a:ext cx="2395728" cy="157276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75488" y="2779776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誰の悩みを解く？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475488" y="3090672"/>
            <a:ext cx="217627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関東の中堅電気工事会社。残業の上限と高齢化で、写真台帳・報告書と若手の育成に回す時間がない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871216" y="2706624"/>
            <a:ext cx="2395728" cy="157276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2980944" y="2779776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収益構造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2980944" y="3090672"/>
            <a:ext cx="217627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 月5万円＋端末 月2万円×台数。10台で年300万円が毎年積み上がる。初年度だけ導入支援200万円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486400" y="102412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選んだ理由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0" y="1353312"/>
            <a:ext cx="566928" cy="43891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486400" y="1353312"/>
            <a:ext cx="566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126480" y="1316736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55歳以上36.7%・残業に上限。お金を払ってでも解きたい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486400" y="1901952"/>
            <a:ext cx="566928" cy="43891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486400" y="1901952"/>
            <a:ext cx="566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技術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6126480" y="1865376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見て理解するAIと、約50gのAIグラスが実用に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5486400" y="2450592"/>
            <a:ext cx="566928" cy="438912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486400" y="2450592"/>
            <a:ext cx="566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6126480" y="2414016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地中送電線の施工管理5年。勘が退職で消えるのを見た。AIも自分で作れる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486400" y="2926080"/>
            <a:ext cx="3291840" cy="10972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614416" y="2926080"/>
            <a:ext cx="30358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想い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割れた器を金で継ぐ「金継ぎ」のように、途切れそうな現場の勘をデータで継ぐ。人が減っても、日本の現場の品質を落とさない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最初の顧客：関東の中堅電気工事会社（施工管理者30人以上）。成長期以降に電線・素材の工場へ広げる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背景と課題 ─ 書類と育成に追われ、熟練者が辞めると止まる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AIは事務作業の支援から、作業者の「目と手」の支援へ。困っているのは三者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24128"/>
            <a:ext cx="2715768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2715768" cy="38404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75488" y="1024128"/>
            <a:ext cx="2496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DX推進担当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推進する人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75488" y="1463040"/>
            <a:ext cx="2496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・ツールを入れても現場に定着しない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・成果を数字で説明できない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214116" y="1024128"/>
            <a:ext cx="2715768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214116" y="1024128"/>
            <a:ext cx="2715768" cy="38404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323844" y="1024128"/>
            <a:ext cx="2496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施工管理者・電工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使う人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323844" y="1463040"/>
            <a:ext cx="2496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・写真の整理・日報・報告書に毎日追われる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・聞ける熟練者がいない。手順書に勘どころがない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062472" y="1024128"/>
            <a:ext cx="2715768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062472" y="1024128"/>
            <a:ext cx="2715768" cy="38404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172200" y="1024128"/>
            <a:ext cx="2496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工事部長・社長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お金を出す人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172200" y="1463040"/>
            <a:ext cx="2496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・残業に上限。人を増やせない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・熟練者の判断が退職とともに消える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65760" y="2578608"/>
            <a:ext cx="2034540" cy="10241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57200" y="2633472"/>
            <a:ext cx="18516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36.7%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3090672"/>
            <a:ext cx="18516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建設業で働く人のうち55歳以上（29歳以下は11.7%）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2491740" y="2578608"/>
            <a:ext cx="2034540" cy="10241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583180" y="2633472"/>
            <a:ext cx="18516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月45時間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2583180" y="3090672"/>
            <a:ext cx="18516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2024年4月から建設業にも残業の上限（原則）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617720" y="2578608"/>
            <a:ext cx="2034540" cy="102412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709160" y="2633472"/>
            <a:ext cx="18516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年約1.5兆円</a:t>
            </a:r>
            <a:endParaRPr lang="en-US" sz="1900" dirty="0"/>
          </a:p>
        </p:txBody>
      </p:sp>
      <p:sp>
        <p:nvSpPr>
          <p:cNvPr id="25" name="Text 22"/>
          <p:cNvSpPr txBox="1"/>
          <p:nvPr/>
        </p:nvSpPr>
        <p:spPr>
          <a:xfrm>
            <a:off x="4709160" y="3090672"/>
            <a:ext cx="18516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建設全体の手戻り（建設投資75.6兆円×2%）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743700" y="2578608"/>
            <a:ext cx="2034540" cy="102412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835140" y="2633472"/>
            <a:ext cx="18516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約2,400億円</a:t>
            </a:r>
            <a:endParaRPr lang="en-US" sz="1900" dirty="0"/>
          </a:p>
        </p:txBody>
      </p:sp>
      <p:sp>
        <p:nvSpPr>
          <p:cNvPr id="28" name="Text 25"/>
          <p:cNvSpPr txBox="1"/>
          <p:nvPr/>
        </p:nvSpPr>
        <p:spPr>
          <a:xfrm>
            <a:off x="6835140" y="3090672"/>
            <a:ext cx="18516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うち電気工事（完成工事高 約12兆円×2%）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365760" y="3749040"/>
            <a:ext cx="8412480" cy="713232"/>
          </a:xfrm>
          <a:prstGeom prst="rect">
            <a:avLst/>
          </a:prstGeom>
          <a:solidFill>
            <a:srgbClr val="FFFFFF"/>
          </a:solidFill>
          <a:ln w="19050">
            <a:solidFill>
              <a:srgbClr val="B8692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93776" y="3749040"/>
            <a:ext cx="81564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勘が消えると、お金が消える：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熟練者が辞める → 若手が迷い間違える（寸法・基準点・重なり順）→ 手戻りと工期遅れ → 残業の上限で人を足せず、受けられる工事が減る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国土交通省（労働力調査 2024年平均、477万人）、労働基準法。手戻り率2%は海外研究（工事費の0.4〜6%）から控えめに置いた仮定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解決策 ─ 記録は自動。渡す先は三つ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デモ：架空のケーブル接続工事。若手の作業を記録し、8mmの差異を検出、報告書と教材までつながる</a:t>
            </a:r>
            <a:endParaRPr lang="en-US" sz="1200" dirty="0"/>
          </a:p>
        </p:txBody>
      </p:sp>
      <p:pic>
        <p:nvPicPr>
          <p:cNvPr id="5" name="Image 0" descr="/home/user/-ai-commute-audio-/deck/assets/shot-gl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05840"/>
            <a:ext cx="4572000" cy="191939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365760" y="3044107"/>
            <a:ext cx="457200" cy="2286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365760" y="3044107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検出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914400" y="3016675"/>
            <a:ext cx="4023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半導電層の端部 実測112mm／図面120mm（8mm不足）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365760" y="3336715"/>
            <a:ext cx="457200" cy="2286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365760" y="333671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是正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914400" y="3309283"/>
            <a:ext cx="4023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遠隔の熟練者が「テープ基準で測り直す」と指示。判断として記録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365760" y="3629323"/>
            <a:ext cx="457200" cy="2286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365760" y="3629323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914400" y="3601891"/>
            <a:ext cx="4023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手順ごとに写真を自動割当。作業者の報告書作成は0分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5120640" y="100584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渡す先は三つ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120640" y="1280160"/>
            <a:ext cx="36576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120640" y="12984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若手へ　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図面・手順を現物に重ね、差異をその場で表示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120640" y="1664208"/>
            <a:ext cx="36576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120640" y="16824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管理者へ　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写真を抜き出し、当日の写真台帳・日報を自動作成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5120640" y="2048256"/>
            <a:ext cx="365760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120640" y="206654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次の担い手へ　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ベテランの判断を、動画・音声・研修資料の教材に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5120640" y="2423160"/>
            <a:ext cx="3657600" cy="202996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5248656" y="2468880"/>
            <a:ext cx="3401568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真似されにくい3つの仕組み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記録が貯まるほど強くなる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図面に現れない現場処置の記録は、後発に移せない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意味づけは施工経験者にしかできない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映像のどこが大事かを現場監修が印を付け、AIが育つ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電気工事の型を業界で先に揃える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工種ごとの手順と、発注者ごとの報告書の型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デモアプリは claude.ai 上で再生できる（作業の再生・1件ずつ送り・全体像）。寸法・人物はすべて架空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使い方と端末 ─ 1班に1台、職長がAIグラスを掛ける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グラスは作らず市販品を選ぶ。誰が・どこで・何台・何を撮るかを先に決める</a:t>
            </a:r>
            <a:endParaRPr lang="en-US" sz="1200" dirty="0"/>
          </a:p>
        </p:txBody>
      </p:sp>
      <p:graphicFrame>
        <p:nvGraphicFramePr>
          <p:cNvPr id="6" name="usag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4128"/>
          <a:ext cx="438912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36118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決めごと（1拠点の例）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誰が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1班に1台、職長が掛ける（電工全員には配らない）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何台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1拠点10台＝5現場×2班。効果が出た班から増やす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どこで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作業エリアだけ。休憩・移動・私語は記録しない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何を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作業の区切り・声の合図・検査の場面。録画は端末に残し、AIに送るのは選んだ場面だけ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どう送る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グラス → スマホ → クラウド。圏外は後で送る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誰が見る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施工管理者は報告書を確認、熟練者は判断を足す、若手は教材で学ぶ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983480" y="1024128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端末の構成（標準10台）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4983480" y="1298448"/>
            <a:ext cx="548640" cy="457200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4983480" y="129844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8台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5605272" y="1298448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カメラ付きAIグラス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約8万円・約50g。記録と音声メモ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4983480" y="1810512"/>
            <a:ext cx="548640" cy="4572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4983480" y="18105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2台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5605272" y="1810512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表示付きARグラス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約12万円・約70g。手元に図面と手順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983480" y="2322576"/>
            <a:ext cx="548640" cy="45720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4983480" y="23225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選択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5605272" y="2322576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産業用ヘッドセット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約37万円〜。粉じん・高所の現場だけ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983480" y="2788920"/>
            <a:ext cx="3794760" cy="7772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093208" y="2788920"/>
            <a:ext cx="3575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手元AR：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壁に貼った約2mの組立図を、手元に実物大で。ミスしやすい所は音声とレーザーで止める。寸法の最終確認はスケール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365760" y="3703320"/>
            <a:ext cx="8412480" cy="74980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493776" y="3703320"/>
            <a:ext cx="81564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グラスの持ち方：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試験導入は当社がレンタル → 本契約はお客様名義のリース（手続きは当社が代行、10台で年約32万円）→ 3年目から端末込みの料金も選べる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当社が作るもの：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アプリ・AI・データ基盤。グラス本体は作らず、進化したら乗り換える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価格・重さは公表値と販売店の参考価格。国内の正規販売・技適・保護めがねの規格・電池の持ちは準備期に実機で確認する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競合と差別化 ─ 日立と同じ方向。だから領域をずらす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施工管理アプリは人が入力する器。日立は自社の保守契約にAIを組み込んで稼ぐ。当社は中堅の施工を月額で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2412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ポジショニングマップ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2400300" y="1481328"/>
            <a:ext cx="1805940" cy="12573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7" name="Shape 4"/>
          <p:cNvSpPr/>
          <p:nvPr/>
        </p:nvSpPr>
        <p:spPr>
          <a:xfrm>
            <a:off x="594360" y="2738628"/>
            <a:ext cx="3611880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400300" y="1481328"/>
            <a:ext cx="0" cy="2514600"/>
          </a:xfrm>
          <a:prstGeom prst="line">
            <a:avLst/>
          </a:prstGeom>
          <a:noFill/>
          <a:ln w="9525">
            <a:solidFill>
              <a:srgbClr val="8C8C8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485900" y="126187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判断を渡す・教える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485900" y="40233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記録して終わり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76606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人が撮って入力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2926080" y="276606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自動で記録 →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963778" y="3076956"/>
            <a:ext cx="128016" cy="12801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8370" y="30403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ANDPAD（施工管理）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1613916" y="2825496"/>
            <a:ext cx="128016" cy="12801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778508" y="278892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SPIDERPLUS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819302" y="3579876"/>
            <a:ext cx="128016" cy="12801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83894" y="35433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蔵衛門（工事写真）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1036015" y="2221992"/>
            <a:ext cx="128016" cy="12801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200607" y="218541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tebiki（手順）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2119579" y="1769364"/>
            <a:ext cx="128016" cy="12801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28523" y="173278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日立PS（受変電の点検）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3419856" y="3630168"/>
            <a:ext cx="128016" cy="12801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828800" y="35935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遠隔臨場カメラ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058668" y="2473452"/>
            <a:ext cx="128016" cy="12801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467612" y="243687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RealWear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3492094" y="2171700"/>
            <a:ext cx="128016" cy="12801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901038" y="213512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日立 AI Safety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3744468" y="1783080"/>
            <a:ext cx="201168" cy="201168"/>
          </a:xfrm>
          <a:prstGeom prst="ellipse">
            <a:avLst/>
          </a:prstGeom>
          <a:solidFill>
            <a:srgbClr val="1A1A1A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153412" y="17830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カンツギ</a:t>
            </a:r>
            <a:endParaRPr lang="en-US" sz="1000" dirty="0"/>
          </a:p>
        </p:txBody>
      </p:sp>
      <p:graphicFrame>
        <p:nvGraphicFramePr>
          <p:cNvPr id="7" name="v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024128"/>
          <a:ext cx="425196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143000"/>
                <a:gridCol w="1234440"/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日立 AI Safety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日立PS 点検AI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カンツギ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仕事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ビル設備の保守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受変電設備の点検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電気工事の施工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使う人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日立の自社技術者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日立PSの保守員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中堅の電気工事会社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AIの働き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映像で危険を通知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点検前後の写真でミスを照合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記録→書類→教材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稼ぎ方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保守契約・ビル向け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保守契約（AIは品質と原価）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月額の利用料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段階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現場で運用中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検証中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準備期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Shape 28"/>
          <p:cNvSpPr/>
          <p:nvPr/>
        </p:nvSpPr>
        <p:spPr>
          <a:xfrm>
            <a:off x="4526280" y="3108960"/>
            <a:ext cx="4251960" cy="134416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4654296" y="3108960"/>
            <a:ext cx="399592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差別化戦略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安全と保守では競わない（日立の土俵）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施工の書類（写真台帳・検査記録）を発注者の書式で出す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電気工事の工種の型と教材を、業界共通で先に揃える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日立が来たら：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競わず提携も選ぶ。勝負の窓は2〜3年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日立PS＝日立パワーソリューションズ。出典：日立ニュースリリース（2025年3月・10月・11月）、Physical AI 事例（2026年7月）。日立の価格・外販は未確認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 ─ 5年目23人。現場監修とコンサルを内製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人数・特性・任せる役割、そして自分の役割。帳票の設定は外部に委託せず、社内に知見を貯める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24128"/>
            <a:ext cx="2606040" cy="34290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93776" y="1097280"/>
            <a:ext cx="2350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代表取締役 CEO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代表（創業者）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1682496"/>
            <a:ext cx="2350008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電線メーカーで66kV／275kV 地中送電線の施工管理5年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Python・FastAPI・Docker・RAGを独学し業務に実装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ニュース要約→音声→毎朝配信を個人で運用中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1級電気工事施工管理技士・G検定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私の役割：最初の営業・現場監修の統括・理念と判断の基準づくり</a:t>
            </a:r>
            <a:endParaRPr lang="en-US" sz="950" dirty="0"/>
          </a:p>
        </p:txBody>
      </p:sp>
      <p:graphicFrame>
        <p:nvGraphicFramePr>
          <p:cNvPr id="8" name="team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154680" y="1024128"/>
          <a:ext cx="562356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685800"/>
                <a:gridCol w="2148840"/>
                <a:gridCol w="164592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役割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人数 1→5年目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任せる仕事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求める特性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CTO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1→1人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映像AI・データ基盤の設計と開発の責任者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映像AIとクラウドを設計した経験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エンジニア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1→5人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アプリ・AI処理・クラウド・グラス連携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現場に足を運ぶのをいとわない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現場監修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1→2人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映像の意味づけ（ラベル付け）・工種の型・品質の確認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電気工事の施工管理10年以上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導入コンサルタント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1→8人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導入支援・各社の帳票と連携の設定・定着支援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現場と事務所の両方の言葉で話せる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営業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0→3人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商談・試験導入の提案。年30商談／人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電設業界の人脈と技術の理解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0→2人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採用・労務・経理・契約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少人数で幅広く回せる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戦略企画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0→1人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価格・提携・大手顧客の企画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数字で提携と価格を設計できる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社外顧問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2人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映像AI（大学）・電気工事業界のOB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月1〜2回の助言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3154680" y="3840480"/>
            <a:ext cx="5623560" cy="61264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3264408" y="3840480"/>
            <a:ext cx="540410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コンサル部隊を社内に持つ理由：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各社の帳票や連携の設定を外部に任せると、知見が社外に残る。社内で行い、型として製品に戻す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人件費は役割別の年収×1.2（会社負担）＋採用費（年収30%×紹介会社経由50%）＋社外顧問 年180万円。パートナー：グラスのメーカー・リース会社・大学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経営理念 ─ 現場の勘を、次の担い手へ。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ホームページで多くの人に伝える内容：使命 → 大切にすること → 一人ひとりへの約束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24128"/>
            <a:ext cx="3200400" cy="34290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30352" y="1115568"/>
            <a:ext cx="287121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使命（ミッション）</a:t>
            </a:r>
            <a:endParaRPr lang="en-US" sz="14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</a:t>
            </a:r>
            <a:endParaRPr lang="en-US" sz="14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次の担い手へ。</a:t>
            </a:r>
            <a:endParaRPr lang="en-US" sz="14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熟練者の判断をデータで継ぎ、人が減っても日本の現場の品質を守る</a:t>
            </a:r>
            <a:endParaRPr lang="en-US" sz="14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6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</a:t>
            </a:r>
            <a:endParaRPr lang="en-US" sz="14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目指す姿（ビジョン）</a:t>
            </a:r>
            <a:endParaRPr lang="en-US" sz="14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人が減っても、現場が迷わず回る。若手が「聞ける先輩がいない」と困らない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794760" y="1024128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大切にする3つのこと（バリュー）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794760" y="1353312"/>
            <a:ext cx="347472" cy="384048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794760" y="1353312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24528" y="1316736"/>
            <a:ext cx="4553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現場を主役に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作業の手を止めない。入力を増やさない。現場の言葉で話す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794760" y="1828800"/>
            <a:ext cx="347472" cy="384048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794760" y="182880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224528" y="1792224"/>
            <a:ext cx="4553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勘に敬意を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記録は本人の同意のもとで。誰の技術かを残し、評価につなげる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794760" y="2304288"/>
            <a:ext cx="347472" cy="384048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794760" y="2304288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224528" y="2267712"/>
            <a:ext cx="4553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数字で約束する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効果は毎月測って見せる。効かなければ正直に言う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3794760" y="2807208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一人ひとりへの約束（ホームページの3つの入口）</a:t>
            </a:r>
            <a:endParaRPr lang="en-US" sz="1100" dirty="0"/>
          </a:p>
        </p:txBody>
      </p:sp>
      <p:graphicFrame>
        <p:nvGraphicFramePr>
          <p:cNvPr id="9" name="promis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94760" y="3081528"/>
          <a:ext cx="49834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5204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誰に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伝えること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お客様（工事会社）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書類の時間を減らし、効果を毎月の数字で示す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現場で働く人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監視ではない。あなたの技術を残し、若手と評価につなげる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社会・次の世代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現場の勘を業界の財産にし、AIとロボットに教える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トップページの一文：「ベテランの『ここが大事』を、メガネ型のカメラとAIで残し、報告書と若手の教材に変えます」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市場とターゲット ─ 約141億円。最初は関東の中堅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全体市場（年7〜9%成長）→ ターゲット市場（顧客数×年額）→ 一次ターゲット180社 → 5年で81拠点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24128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ターゲット市場の数え方（顧客数×年額、億円）</a:t>
            </a:r>
            <a:endParaRPr lang="en-US" sz="1100" dirty="0"/>
          </a:p>
        </p:txBody>
      </p:sp>
      <p:graphicFrame>
        <p:nvGraphicFramePr>
          <p:cNvPr id="10" name="se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98448"/>
          <a:ext cx="4206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業種＼規模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大（300人以上）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中（30〜299人）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300社×1,500万＝45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2,100社×300万＝63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電気通信工事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100社×1,500万＝15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600社×300万＝18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合計（中堅以上 約3,100社）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約141億円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365760" y="2596896"/>
            <a:ext cx="4206240" cy="105156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493776" y="2596896"/>
            <a:ext cx="3950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全体市場の伸び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国内建設テック（建築）1,845→3,043億円、年7.4%（2023→2030年度）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自社が狙う市場：5年目81拠点×300万円＝約2.4億円（約1.7%）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365760" y="37033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小規模は書類が少なく元が取れにくいので外す。大手は支店5拠点分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4800600" y="1024128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一次ターゲットの4条件</a:t>
            </a:r>
            <a:endParaRPr lang="en-US" sz="1100" dirty="0"/>
          </a:p>
        </p:txBody>
      </p:sp>
      <p:graphicFrame>
        <p:nvGraphicFramePr>
          <p:cNvPr id="19" name="ic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00600" y="1298448"/>
          <a:ext cx="39776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78892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規模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施工管理者30人以上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書類の重さ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電力会社・官公庁の工事が多い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手戻りの痛さ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ケーブル接続など高くつく工種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デジタルの素地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施工管理アプリ・DX担当がいる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4800600" y="2395728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5年間の積み上げ（仮説）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4800600" y="2670048"/>
            <a:ext cx="3977640" cy="256032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4800600" y="2670048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関東の中堅 735社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5158588" y="2962656"/>
            <a:ext cx="3261665" cy="256032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5158588" y="2962656"/>
            <a:ext cx="326166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4条件に合う 180社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5516575" y="3255264"/>
            <a:ext cx="2545690" cy="256032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5516575" y="3255264"/>
            <a:ext cx="2545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会える（60%）108社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5874563" y="3547872"/>
            <a:ext cx="1829714" cy="256032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5874563" y="3547872"/>
            <a:ext cx="18297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本契約（30%）32社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4800600" y="3840480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＋その他555社から29社 → 約85拠点（解約後81）</a:t>
            </a:r>
            <a:endParaRPr lang="en-US" sz="850" dirty="0"/>
          </a:p>
        </p:txBody>
      </p:sp>
      <p:sp>
        <p:nvSpPr>
          <p:cNvPr id="22" name="Shape 17"/>
          <p:cNvSpPr/>
          <p:nvPr/>
        </p:nvSpPr>
        <p:spPr>
          <a:xfrm>
            <a:off x="365760" y="4069080"/>
            <a:ext cx="8412480" cy="38404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493776" y="4069080"/>
            <a:ext cx="8156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売り方：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業界団体の勉強会・電設の展示会・グラスの販売店 → デモ → 3か月の有償試験導入（導入支援200万円）→ 本契約 → 協力会社へ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電気工事業の許可業者65,497社（令和7年3月末）から規模別に推計（内訳は仮定）。矢野経済研究所 No.3789。率はすべて仮定で最初の3社で実測する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お客様の得 ─ 1拠点10台で年約500万円。払う額の約1.5倍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得をするのはグラスを掛けた班だけ。確かな部分（書類と写真整理の時間）だけを計画に入れる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24128"/>
            <a:ext cx="4937760" cy="9601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93776" y="1024128"/>
            <a:ext cx="46817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式：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10台 × 年240日 ×（職長15分×3,300円 ＋ 施工管理者20分×3,700円）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 年 約499万円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202996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時給＝統計の年収×会社負担1.17÷残業を含む年1,938時間（毎月勤労統計 令和6年）。1台1日35分は仮説で、実証で測る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244144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お客様の得（書類）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103120" y="2496312"/>
            <a:ext cx="1354550" cy="219456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503390" y="244144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499万円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365760" y="284378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お客様が払う額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2103120" y="2898648"/>
            <a:ext cx="900299" cy="21945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049139" y="284378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332万円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365760" y="324612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手戻りも減れば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103120" y="3300984"/>
            <a:ext cx="2331720" cy="219456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480560" y="324612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859万円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365760" y="36758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払う額＝利用料300万円＋グラスのリース約32万円。手戻り＝完成工事高30億円×2%×対象工種30%×削減20%（上振れ・計画外）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577840" y="1024128"/>
            <a:ext cx="3200400" cy="13258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705856" y="1024128"/>
            <a:ext cx="294436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元が取れる条件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1台1日 23分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想定は35分。実証の合格ラインにする</a:t>
            </a:r>
            <a:endParaRPr lang="en-US" sz="1000" dirty="0"/>
          </a:p>
        </p:txBody>
      </p:sp>
      <p:graphicFrame>
        <p:nvGraphicFramePr>
          <p:cNvPr id="11" name="roi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2468880"/>
          <a:ext cx="3200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1拠点10台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万円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初年度に払う額（＋導入支援200）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532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回収期間（初年度）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約13か月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2年目からの毎年の差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＋167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手戻りも入れた倍率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約2.6倍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7"/>
          <p:cNvSpPr/>
          <p:nvPr/>
        </p:nvSpPr>
        <p:spPr>
          <a:xfrm>
            <a:off x="365760" y="4069080"/>
            <a:ext cx="841248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B8692E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93776" y="4069080"/>
            <a:ext cx="8156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新人の指導：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他の仕事と混ざって測れないので金額にせず、独り立ちまでの月数・付き添い時間・やり直し件数で測る</a:t>
            </a:r>
            <a:endParaRPr lang="en-US" sz="950" dirty="0"/>
          </a:p>
        </p:txBody>
      </p:sp>
      <p:sp>
        <p:nvSpPr>
          <p:cNvPr id="23" name="Text 19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年収：賃金構造基本統計調査（電気工事従事者 約551万円、施工管理者は建築・土木技術者で代用 約620万円）。計算の詳細は計算詳細版 p.5〜8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当社の稼ぎ方 ─ 1拠点の粗利は年216万円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会社の基盤＋端末の台数で払う。報告書の形に整えるところまで利用料に含む。グラス本体はお客様のリース</a:t>
            </a:r>
            <a:endParaRPr lang="en-US" sz="1200" dirty="0"/>
          </a:p>
        </p:txBody>
      </p:sp>
      <p:graphicFrame>
        <p:nvGraphicFramePr>
          <p:cNvPr id="12" name="pric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4128"/>
          <a:ext cx="420624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051560"/>
                <a:gridCol w="219456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項目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値段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中身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基盤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月5万円／拠点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記録の保管庫・図面と手順・各社の報告書の型・管理画面・月次の効果レポート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端末ライセンス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月2万円／台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記録→写真の自動抽出→写真台帳・日報を各社の書式で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導入支援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200万円（初年度）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導入コンサルタントが約2か月・42人日、現場に入る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個社設定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個別（売上の5%以下）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大手の基幹システム連携など、標準で足りない所だけ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365760" y="2990088"/>
            <a:ext cx="4206240" cy="1417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93776" y="2990088"/>
            <a:ext cx="39502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1拠点（10台）の損得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 300万円 − AI・保存 84万円 ＝ 粗利 216万円（72%）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 200万円 − 原価 約141万円 ＝ 粗利 約59万円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LTV 約1,571万円（7年）÷ CAC 約86万円 ＝ 約18倍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4800600" y="1024128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AI・保存の費用（端末1台・月）</a:t>
            </a:r>
            <a:endParaRPr lang="en-US" sz="1100" dirty="0"/>
          </a:p>
        </p:txBody>
      </p:sp>
      <p:graphicFrame>
        <p:nvGraphicFramePr>
          <p:cNvPr id="23" name="clou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00600" y="1298448"/>
          <a:ext cx="39776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14300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中身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円／月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音声の文字起こし（1日4時間）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2,200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大事な場面の画像解析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日報・報告書の文章生成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動画の保存（3年）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転送・監視・端末管理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1,900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4800600" y="3145536"/>
            <a:ext cx="3977640" cy="1261872"/>
          </a:xfrm>
          <a:prstGeom prst="rect">
            <a:avLst/>
          </a:prstGeom>
          <a:solidFill>
            <a:srgbClr val="FFFFFF"/>
          </a:solidFill>
          <a:ln w="19050">
            <a:solidFill>
              <a:srgbClr val="B8692E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4910328" y="3145536"/>
            <a:ext cx="375818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崩れるのは台数より使い方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全編をクラウドで毎秒解析すると1台月約5万円で値段を超える。だから録画は端末に残し、解析は選んだ場面だけ。場面の選び方は 決まり → 汎用AI → 現場監修の印で学習した自社AI の3段階</a:t>
            </a:r>
            <a:endParaRPr lang="en-US" sz="1000" dirty="0"/>
          </a:p>
        </p:txBody>
      </p:sp>
      <p:sp>
        <p:nvSpPr>
          <p:cNvPr id="12" name="Text 7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単価はクラウド・AIの公表価格（$1＝150円）からの見積。CAC＝（営業3人の人件費＋広告500万円）÷新規33拠点。1〜2年目の創業者の営業時間は入れていない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年単位の計画と収支 ─ 5年は赤字。5年目は分岐点の94%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人を先に雇うので5年間は赤字。隠さずに示し、黒字の条件（p.13）と10年の姿（p.14）につなぐ</a:t>
            </a:r>
            <a:endParaRPr lang="en-US" sz="1200" dirty="0"/>
          </a:p>
        </p:txBody>
      </p:sp>
      <p:graphicFrame>
        <p:nvGraphicFramePr>
          <p:cNvPr id="13" name="yearly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4128"/>
          <a:ext cx="841248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097280"/>
                <a:gridCol w="1179576"/>
                <a:gridCol w="1179576"/>
                <a:gridCol w="1179576"/>
                <a:gridCol w="1179576"/>
                <a:gridCol w="1179576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準備期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やること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試作品・1拠点で実証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試験導入3社。記録と報告を自動に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本契約へ。写真台帳を各社の形式で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図面との照合。大手1社を事例に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表示付きグラスで手元AR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教材化。電線工場へ試験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新規／期末の拠点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3／3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9／12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18／29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27／53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33／81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社員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23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売上（百万円）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48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107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178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269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粗利率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26%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54%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58%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販管費（百万円）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52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72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94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142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173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営業損益（百万円）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▲5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▲48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▲48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▲37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▲39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▲11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期末の現金（百万円）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152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104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117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78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67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進む条件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1台1日23分以上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2社以上が本契約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平均12台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継続率90%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365760" y="3794760"/>
            <a:ext cx="4114800" cy="667512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75488" y="3794760"/>
            <a:ext cx="389534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売上で見た損益分岐点：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5年目の分岐点 約288百万円に対し売上 約269百万円。足りないのは約6拠点分の粗利</a:t>
            </a:r>
            <a:endParaRPr lang="en-US" sz="950" dirty="0"/>
          </a:p>
        </p:txBody>
      </p:sp>
      <p:sp>
        <p:nvSpPr>
          <p:cNvPr id="8" name="Shape 4"/>
          <p:cNvSpPr/>
          <p:nvPr/>
        </p:nvSpPr>
        <p:spPr>
          <a:xfrm>
            <a:off x="4663440" y="3794760"/>
            <a:ext cx="4114800" cy="66751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773168" y="3794760"/>
            <a:ext cx="389534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人で見た損益分岐点：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社員1人の販管費 約753万円÷1拠点の粗利216万円＝約3.5。期末で1人約4拠点が目安、5年目は3.52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売上＝既存の利用料＋新規の利用料（半年分）＋導入支援＋個社設定。解約は年10%。人件費は役割別の年収×1.2、AIの学習費（2年目〜）も入れた簡易計算（税・償却を除く）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資金と黒字化の条件 ─ 鍵は1拠点の台数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自己資金2.55億円を段階投入。資金が豊富でも一度に使わない。進む・直す・止まるの線を先に引く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2412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資金の入れ方（すべて自己資金）</a:t>
            </a:r>
            <a:endParaRPr lang="en-US" sz="1100" dirty="0"/>
          </a:p>
        </p:txBody>
      </p:sp>
      <p:graphicFrame>
        <p:nvGraphicFramePr>
          <p:cNvPr id="14" name="fun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98448"/>
          <a:ext cx="40690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057400"/>
                <a:gridCol w="128016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時期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入れる条件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金額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準備期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500万円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実証で1台1日23分以上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2億円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継続率90%・平均12台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5,000万円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2億5,500万円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365760" y="2688336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内訳：5年間の赤字の累計ピーク約1.83億円＋最低残高（固定費3か月分）＋遅れへの備え。現金の谷は約67百万円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365760" y="3145536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新規が計画に届かなかったら（採用も連動）</a:t>
            </a:r>
            <a:endParaRPr lang="en-US" sz="1100" dirty="0"/>
          </a:p>
        </p:txBody>
      </p:sp>
      <p:graphicFrame>
        <p:nvGraphicFramePr>
          <p:cNvPr id="27" name="shor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419856"/>
          <a:ext cx="406908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280160"/>
                <a:gridCol w="146304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新規の達成度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10台のまま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15台に増やせたら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計画どおり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5年でしない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計画の8割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5年でしない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計画の6割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5年でしない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4663440" y="102412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進む・直す・止まるの線</a:t>
            </a:r>
            <a:endParaRPr lang="en-US" sz="1100" dirty="0"/>
          </a:p>
        </p:txBody>
      </p:sp>
      <p:graphicFrame>
        <p:nvGraphicFramePr>
          <p:cNvPr id="40" name="gat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298448"/>
          <a:ext cx="41148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371600"/>
                <a:gridCol w="17830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時期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進む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直す・止まる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実証（準備期）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1台1日23分以上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15〜23分：写真台帳に絞る／15分未満：撤退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1年目末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試験導入3社のうち2社以上が本契約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1社：値段と顧客を見直す／0社：撤退か方向転換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2年目末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5拠点以上・平均12台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未達：採用を止める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継続率90%以上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未達：追加資金と採用を絞る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6"/>
          <p:cNvSpPr/>
          <p:nvPr/>
        </p:nvSpPr>
        <p:spPr>
          <a:xfrm>
            <a:off x="4663440" y="3200400"/>
            <a:ext cx="4114800" cy="125272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4791456" y="3200400"/>
            <a:ext cx="385876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黒字の鍵は拠点数より、1拠点の台数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10台のままでは計画どおりでも5年で黒字にならない（5年目▲11百万円）。効果が出た班から15台に増やせれば5年目に黒字（43百万円）、新規が計画の6割でも黒字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だから「平均12台」を2年目末の線に置く</a:t>
            </a:r>
            <a:endParaRPr lang="en-US" sz="900" dirty="0"/>
          </a:p>
        </p:txBody>
      </p:sp>
      <p:sp>
        <p:nvSpPr>
          <p:cNvPr id="14" name="Text 8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固定費3か月分＝4年目の販管費÷4。新規拠点・個社設定を同じ割合で減らし、社員数＝4＋（計画−4）×達成度で採用も遅らせた簡易計算。15台はAIグラス12台＋表示付き3台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10年で見ると ─ 10台でも6年目に黒字、8年目に回収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5年目までの計画は変えずに、6〜10年目を同じ式で延ばした。条件は6年目から採用のペースを落とすこと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2412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━ 売上</a:t>
            </a:r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■ 営業損益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┅ 累積の営業損益（百万円）</a:t>
            </a:r>
            <a:endParaRPr lang="en-US" sz="8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65760" y="1261872"/>
          <a:ext cx="484632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kpi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630168"/>
          <a:ext cx="48463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拠点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81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109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162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207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社員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23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売上（百万円）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269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355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518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655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5440680" y="1024128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前提を崩しても10年で黒字か</a:t>
            </a:r>
            <a:endParaRPr lang="en-US" sz="1100" dirty="0"/>
          </a:p>
        </p:txBody>
      </p:sp>
      <p:graphicFrame>
        <p:nvGraphicFramePr>
          <p:cNvPr id="29" name="stress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1298448"/>
          <a:ext cx="33375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40080"/>
                <a:gridCol w="777240"/>
                <a:gridCol w="68580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10年で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黒字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赤字を回収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最低現金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計画どおり（10台）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67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1拠点15台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110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解約 年20%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値下げ −20%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-21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AI・保存費が2倍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-54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5440680" y="2962656"/>
            <a:ext cx="3337560" cy="151790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5568696" y="2962656"/>
            <a:ext cx="3081528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読み方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積み上げ型なので、6年目から黒字が厚くなる。10年目の営業利益は約190百万円（15台なら約347百万円）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値下げとAI費用2倍では現金がいったんマイナス。自己資金の追加が要る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6〜10年目の前提：新規 年36→40拠点（関東の中堅で頭打ち）、社員24→32人、解約は年10%。電線工場・海外は入れていない。10年目でターゲット市場の約4.4%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段階ごとの課題と、自分で見つけた弱いところ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各段階の一番の課題と打ち手。計画を疑って見つけた弱点は、確かめ方とセットで示す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24128"/>
            <a:ext cx="2034540" cy="502920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38912" y="1024128"/>
            <a:ext cx="18882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0〜6か月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課題：効果が出るか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65760" y="1572768"/>
            <a:ext cx="2034540" cy="9144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38912" y="1600200"/>
            <a:ext cx="188823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グラスの電池・録画の制約で記録が途切れる → 要所だけ記録、写真台帳から自動に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2491740" y="1024128"/>
            <a:ext cx="2034540" cy="502920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564892" y="1024128"/>
            <a:ext cx="18882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導入期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1〜2年目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課題：売れるか・続くか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491740" y="1572768"/>
            <a:ext cx="2034540" cy="9144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2564892" y="1600200"/>
            <a:ext cx="188823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300万円を払うか未検証。監視と感じて使わない → 有償試験導入、記録の範囲と労使合意を先に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617720" y="1024128"/>
            <a:ext cx="2034540" cy="502920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690872" y="1024128"/>
            <a:ext cx="18882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成長期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3〜5年目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課題：台数と人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17720" y="1572768"/>
            <a:ext cx="2034540" cy="9144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690872" y="1600200"/>
            <a:ext cx="188823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10台では黒字にならない。採用が追いつかない → 台数を増やす提案、採用を拠点数に連動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743700" y="1024128"/>
            <a:ext cx="2034540" cy="502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816852" y="1024128"/>
            <a:ext cx="18882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成熟期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6年目〜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課題：大手との競争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743700" y="1572768"/>
            <a:ext cx="2034540" cy="9144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816852" y="1600200"/>
            <a:ext cx="188823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日立などのAI化。データの持ち主 → 工種の型と監修で差、データ契約を最初から、提携</a:t>
            </a:r>
            <a:endParaRPr lang="en-US" sz="850" dirty="0"/>
          </a:p>
        </p:txBody>
      </p:sp>
      <p:graphicFrame>
        <p:nvGraphicFramePr>
          <p:cNvPr id="16" name="weak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606040"/>
          <a:ext cx="84124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931920"/>
                <a:gridCol w="301752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弱いところ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何が問題か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どう確かめる・直す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普段使いのグラス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動画1回3分程度まで（報道）・720p・連続撮影で電池が持たない・保護めがねの規格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要所の短い記録に絞る。準備期に実機を1日使う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値段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年300万円は未検証。得は約1.5倍で余裕が小さい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試験導入3社に価格を聞く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黒字化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10台のままでは5年で黒字にならない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2年目末に平均12台を線にする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人とCAC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CTO・コンサル8人を採れるか。CACに創業者の営業時間がない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採用を拠点数に連動。実績で更新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最大のリスクは自分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創業者が律速になる・前職との関係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役割を絞り判断基準を先に。前職の顧客と機密は使わない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ほかに：データがメーカーのアプリを経由する（規約と設定を確認）、解約率10%に日本の根拠がない（更新時の継続率で差し替える）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準備期の6か月と、最後に ─ 儲けより、残したいもの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最初の課題「効果が出るか」を確かめる。黒字は目的ではなく、続けるための条件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2412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準備期の費用（約500万円・自己資金）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298448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試作品の開発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1828800" y="1344168"/>
            <a:ext cx="1828800" cy="146304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703320" y="129844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250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1545336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1拠点での実証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828800" y="1591056"/>
            <a:ext cx="731520" cy="14630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606040" y="154533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65760" y="1792224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グラス・機材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828800" y="1837944"/>
            <a:ext cx="585216" cy="14630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459736" y="1792224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65760" y="2039112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設立・契約・知財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1828800" y="2084832"/>
            <a:ext cx="292608" cy="14630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167128" y="203911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228600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予備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1828800" y="2331720"/>
            <a:ext cx="219456" cy="14630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093976" y="22860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365760" y="2633472"/>
            <a:ext cx="566928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65760" y="26334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3か月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005840" y="2596896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試作品：記録→写真の自動抽出→報告書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365760" y="2999232"/>
            <a:ext cx="566928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365760" y="2999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6か月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005840" y="2962656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1拠点で実証：1台1日23分減ったか、グラスで1日記録できるか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65760" y="3364992"/>
            <a:ext cx="566928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365760" y="336499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6か月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1005840" y="3328416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有償試験導入3拠点の契約。合格なら2億円を入れて採用開始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4526280" y="1024128"/>
            <a:ext cx="4251960" cy="9144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4654296" y="1024128"/>
            <a:ext cx="39959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10年で現場に戻る時間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約137万時間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約49億円分の書類の時間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526280" y="2011680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創業者としての姿勢（社会起業家として）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4526280" y="2331720"/>
            <a:ext cx="274320" cy="274320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526280" y="2331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4873752" y="2286000"/>
            <a:ext cx="3904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利益は目的ではなく、続けるための条件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配当は求めず、現場の支援と開発に戻す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4526280" y="2697480"/>
            <a:ext cx="274320" cy="274320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526280" y="2697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4873752" y="2651760"/>
            <a:ext cx="3904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自己資金は、見返りを求めない投資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共感する工事会社・職人・業界団体と一緒に育てる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4526280" y="3063240"/>
            <a:ext cx="274320" cy="274320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452628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4873752" y="3017520"/>
            <a:ext cx="3904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技能の教材は、業界の財産に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一部を業界団体と学校に無償で公開する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4526280" y="3429000"/>
            <a:ext cx="274320" cy="274320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4526280" y="3429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000" dirty="0"/>
          </a:p>
        </p:txBody>
      </p:sp>
      <p:sp>
        <p:nvSpPr>
          <p:cNvPr id="44" name="Text 41"/>
          <p:cNvSpPr txBox="1"/>
          <p:nvPr/>
        </p:nvSpPr>
        <p:spPr>
          <a:xfrm>
            <a:off x="4873752" y="3383280"/>
            <a:ext cx="3904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それでも、止まる線は守る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資金は有限。続けられる形を探し続ける</a:t>
            </a:r>
            <a:endParaRPr lang="en-US" sz="950" dirty="0"/>
          </a:p>
        </p:txBody>
      </p:sp>
      <p:sp>
        <p:nvSpPr>
          <p:cNvPr id="45" name="Shape 42"/>
          <p:cNvSpPr/>
          <p:nvPr/>
        </p:nvSpPr>
        <p:spPr>
          <a:xfrm>
            <a:off x="365760" y="3840480"/>
            <a:ext cx="8412480" cy="62179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530352" y="3840480"/>
            <a:ext cx="80832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日本の品質を支えてきた現場の勘を、人に依存しない形で次の担い手へ。</a:t>
            </a:r>
            <a:endParaRPr lang="en-US" sz="14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私の資金と時間は、そのための種です。最初の一歩として、6か月で最初の1拠点を動かします。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時間と価値は10年計画（10台）の延べ拠点数×1拠点の削減（年1,400時間・約500万円）。削減時間（1台1日35分）は仮説で、実証で測る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株式会社カンツギ 事業計画書（16枚版）</dc:title>
  <dc:subject>PptxGenJS Presentation</dc:subject>
  <dc:creator>PptxGenJS</dc:creator>
  <cp:lastModifiedBy>PptxGenJS</cp:lastModifiedBy>
  <cp:revision>1</cp:revision>
  <dcterms:created xsi:type="dcterms:W3CDTF">2026-10-16T06:03:47Z</dcterms:created>
  <dcterms:modified xsi:type="dcterms:W3CDTF">2026-10-16T06:03:47Z</dcterms:modified>
</cp:coreProperties>
</file>