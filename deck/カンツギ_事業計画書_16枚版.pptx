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1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売上</c:v>
                </c:pt>
              </c:strCache>
            </c:strRef>
          </c:tx>
          <c:spPr>
            <a:solidFill>
              <a:srgbClr val="1B365D"/>
            </a:solidFill>
            <a:ln w="38100" cap="flat">
              <a:solidFill>
                <a:srgbClr val="1B365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50" u="none">
                    <a:solidFill>
                      <a:srgbClr val="2F6DB5"/>
                    </a:solidFill>
                    <a:latin typeface="+mn-lt"/>
                  </a:defRPr>
                </a:pPr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1B365D"/>
              </a:solidFill>
              <a:ln w="9525" cap="flat">
                <a:solidFill>
                  <a:srgbClr val="1B365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Sheet1!$A$2:$A$11</c:f>
              <c:multiLvlStrCache>
                <c:ptCount val="10"/>
                <c:lvl>
                  <c:pt idx="0">
                    <c:v>1年</c:v>
                  </c:pt>
                  <c:pt idx="1">
                    <c:v>2年</c:v>
                  </c:pt>
                  <c:pt idx="2">
                    <c:v>3年</c:v>
                  </c:pt>
                  <c:pt idx="3">
                    <c:v>4年</c:v>
                  </c:pt>
                  <c:pt idx="4">
                    <c:v>5年</c:v>
                  </c:pt>
                  <c:pt idx="5">
                    <c:v>6年</c:v>
                  </c:pt>
                  <c:pt idx="6">
                    <c:v>7年</c:v>
                  </c:pt>
                  <c:pt idx="7">
                    <c:v>8年</c:v>
                  </c:pt>
                  <c:pt idx="8">
                    <c:v>9年</c:v>
                  </c:pt>
                  <c:pt idx="9">
                    <c:v>10年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12</c:v>
                </c:pt>
                <c:pt idx="1">
                  <c:v>48</c:v>
                </c:pt>
                <c:pt idx="2">
                  <c:v>107</c:v>
                </c:pt>
                <c:pt idx="3">
                  <c:v>178</c:v>
                </c:pt>
                <c:pt idx="4">
                  <c:v>269</c:v>
                </c:pt>
                <c:pt idx="5">
                  <c:v>355</c:v>
                </c:pt>
                <c:pt idx="6">
                  <c:v>438</c:v>
                </c:pt>
                <c:pt idx="7">
                  <c:v>518</c:v>
                </c:pt>
                <c:pt idx="8">
                  <c:v>591</c:v>
                </c:pt>
                <c:pt idx="9">
                  <c:v>655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750" u="none">
                  <a:solidFill>
                    <a:srgbClr val="2F6DB5"/>
                  </a:solidFill>
                  <a:latin typeface="+mn-lt"/>
                </a:defRPr>
              </a:pPr>
            </a:p>
          </c:txPr>
          <c:dLblPos val="t"/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営業損益</c:v>
                </c:pt>
              </c:strCache>
            </c:strRef>
          </c:tx>
          <c:spPr>
            <a:solidFill>
              <a:srgbClr val="2F6DB5"/>
            </a:solidFill>
            <a:ln w="31750" cap="flat">
              <a:solidFill>
                <a:srgbClr val="2F6DB5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50" u="none">
                    <a:solidFill>
                      <a:srgbClr val="2F6DB5"/>
                    </a:solidFill>
                    <a:latin typeface="+mn-lt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square"/>
            <c:size val="5"/>
            <c:spPr>
              <a:solidFill>
                <a:srgbClr val="2F6DB5"/>
              </a:solidFill>
              <a:ln w="9525" cap="flat">
                <a:solidFill>
                  <a:srgbClr val="2F6DB5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Sheet1!$A$2:$A$11</c:f>
              <c:multiLvlStrCache>
                <c:ptCount val="10"/>
                <c:lvl>
                  <c:pt idx="0">
                    <c:v>1年</c:v>
                  </c:pt>
                  <c:pt idx="1">
                    <c:v>2年</c:v>
                  </c:pt>
                  <c:pt idx="2">
                    <c:v>3年</c:v>
                  </c:pt>
                  <c:pt idx="3">
                    <c:v>4年</c:v>
                  </c:pt>
                  <c:pt idx="4">
                    <c:v>5年</c:v>
                  </c:pt>
                  <c:pt idx="5">
                    <c:v>6年</c:v>
                  </c:pt>
                  <c:pt idx="6">
                    <c:v>7年</c:v>
                  </c:pt>
                  <c:pt idx="7">
                    <c:v>8年</c:v>
                  </c:pt>
                  <c:pt idx="8">
                    <c:v>9年</c:v>
                  </c:pt>
                  <c:pt idx="9">
                    <c:v>10年</c:v>
                  </c:pt>
                </c:lvl>
              </c:multiLvlStrCache>
            </c:multiLvl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-48</c:v>
                </c:pt>
                <c:pt idx="1">
                  <c:v>-48</c:v>
                </c:pt>
                <c:pt idx="2">
                  <c:v>-37</c:v>
                </c:pt>
                <c:pt idx="3">
                  <c:v>-39</c:v>
                </c:pt>
                <c:pt idx="4">
                  <c:v>-11</c:v>
                </c:pt>
                <c:pt idx="5">
                  <c:v>45</c:v>
                </c:pt>
                <c:pt idx="6">
                  <c:v>79</c:v>
                </c:pt>
                <c:pt idx="7">
                  <c:v>120</c:v>
                </c:pt>
                <c:pt idx="8">
                  <c:v>163</c:v>
                </c:pt>
                <c:pt idx="9">
                  <c:v>190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750" u="none">
                  <a:solidFill>
                    <a:srgbClr val="2F6DB5"/>
                  </a:solidFill>
                  <a:latin typeface="+mn-lt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lineChart>
        <c:varyColors val="0"/>
        <c:ser>
          <c:idx val="2"/>
          <c:order val="2"/>
          <c:tx>
            <c:strRef>
              <c:f>Sheet1!$D$1</c:f>
              <c:strCache>
                <c:ptCount val="1"/>
                <c:pt idx="0">
                  <c:v>累積</c:v>
                </c:pt>
              </c:strCache>
            </c:strRef>
          </c:tx>
          <c:spPr>
            <a:solidFill>
              <a:srgbClr val="7B8794"/>
            </a:solidFill>
            <a:ln w="25400" cap="flat">
              <a:solidFill>
                <a:srgbClr val="7B8794"/>
              </a:solidFill>
              <a:prstDash val="dash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50" u="none">
                    <a:solidFill>
                      <a:srgbClr val="2F6DB5"/>
                    </a:solidFill>
                    <a:latin typeface="+mn-lt"/>
                  </a:defRPr>
                </a:pPr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7B8794"/>
              </a:solidFill>
              <a:ln w="9525" cap="flat">
                <a:solidFill>
                  <a:srgbClr val="7B879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Sheet1!$A$2:$A$11</c:f>
              <c:multiLvlStrCache>
                <c:ptCount val="10"/>
                <c:lvl>
                  <c:pt idx="0">
                    <c:v>1年</c:v>
                  </c:pt>
                  <c:pt idx="1">
                    <c:v>2年</c:v>
                  </c:pt>
                  <c:pt idx="2">
                    <c:v>3年</c:v>
                  </c:pt>
                  <c:pt idx="3">
                    <c:v>4年</c:v>
                  </c:pt>
                  <c:pt idx="4">
                    <c:v>5年</c:v>
                  </c:pt>
                  <c:pt idx="5">
                    <c:v>6年</c:v>
                  </c:pt>
                  <c:pt idx="6">
                    <c:v>7年</c:v>
                  </c:pt>
                  <c:pt idx="7">
                    <c:v>8年</c:v>
                  </c:pt>
                  <c:pt idx="8">
                    <c:v>9年</c:v>
                  </c:pt>
                  <c:pt idx="9">
                    <c:v>10年</c:v>
                  </c:pt>
                </c:lvl>
              </c:multiLvlStrCache>
            </c:multiLvlStrRef>
          </c:cat>
          <c:val>
            <c:numRef>
              <c:f>Sheet1!$D$2:$D$11</c:f>
              <c:numCache>
                <c:formatCode>General</c:formatCode>
                <c:ptCount val="10"/>
                <c:pt idx="0">
                  <c:v>-48</c:v>
                </c:pt>
                <c:pt idx="1">
                  <c:v>-96</c:v>
                </c:pt>
                <c:pt idx="2">
                  <c:v>-133</c:v>
                </c:pt>
                <c:pt idx="3">
                  <c:v>-172</c:v>
                </c:pt>
                <c:pt idx="4">
                  <c:v>-183</c:v>
                </c:pt>
                <c:pt idx="5">
                  <c:v>-138</c:v>
                </c:pt>
                <c:pt idx="6">
                  <c:v>-59</c:v>
                </c:pt>
                <c:pt idx="7">
                  <c:v>61</c:v>
                </c:pt>
                <c:pt idx="8">
                  <c:v>224</c:v>
                </c:pt>
                <c:pt idx="9">
                  <c:v>414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750" u="none">
                  <a:solidFill>
                    <a:srgbClr val="2F6DB5"/>
                  </a:solidFill>
                  <a:latin typeface="+mn-lt"/>
                </a:defRPr>
              </a:pPr>
            </a:p>
          </c:txPr>
          <c:dLblPos val="t"/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4A556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00"/>
          <c:min val="-200"/>
        </c:scaling>
        <c:delete val="0"/>
        <c:axPos val="l"/>
        <c:majorGridlines>
          <c:spPr>
            <a:ln w="6350" cap="flat">
              <a:solidFill>
                <a:srgbClr val="B8C4D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4A5563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100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【0:00 - 0:20】
要約：表紙と構成
株式会社カンツギです。カンツギは「勘を継ぐ」と書きます。割れた器を金で継ぐ金継ぎのように、途切れそうな現場の勘をデータで継ぐ、という意味を込めました。課題の5つの設問の順に、10分でお話しし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【0:20 - 1:10】
要約：事業と想い
最初に、この事業をやる理由です。私は地中送電線の現場で、ベテランの判断が手順書に残らないまま、退職とともに消えていくのを見てきました。その判断をデータで残し、次の担い手に渡したい。これが出発点です。事業は、職長がAIグラスを掛けて作業するだけで、写真台帳と日報ができ、若手の教材にもなるサービスです。選んだ理由は3つです。人を増やしても解決できない人手不足。実用レベルになったAIとAIグラス。そして、現場とAIの実装の両方を経験してきた自分です。利益は目的ではなく、この事業を続けるための条件だと考えてい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【1:10 - 1:40】
要約：背景と課題
背景です。建設業で働く人の36.7%が55歳以上で、29歳以下は11.7%しかいません。2024年からは、残業も原則月45時間までになりました。熟練者が辞めると、若手が寸法や順番を間違えて、手戻りが増えます。手戻りは建設全体で年約1.5兆円、電気工事だけで約2,400億円と見積もってい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【1:40 - 2:45】
要約：解決策と図解
解決策は、この図の3段階です。1つ目、職長がAIグラスを掛けて、いつも通り作業するだけで記録が残ります。車のドライブレコーダーに近いイメージです。2つ目、AIが大事な場面だけを選んで整理します。3つ目、それを3つの相手に渡します。若手にはその場で図面との違いを、管理者には写真台帳と日報を、次の担い手には教材を渡します。左下の例では、ケーブルの接続で図面より8mm短い所を見つけ、ベテランの「測り直せ」という判断ごと記録しています。電気工事を知らない方は、図面と違う所をその場で教えてくれる記録係、と考えてください。他社がすぐに真似できない理由は、記録が使うほど貯まることと、大事な場面を判断できるのは施工経験者だけであること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【2:45 - 3:20】
要約：使い方と端末
使い方は、1班に1台、職長がAIグラスを掛けるだけです。電工全員には配りません。1拠点で10台、撮るのは作業エリアだけです。録画はAIグラスに残し、作業の区切りや「ここ撮って」という声が入った場面だけをAIに送ります。端末は記録用が8台、図面を手元に表示する用が2台です。粉じんの多い現場では産業用も選べます。AIグラスはお客様名義のリースで、手続きは当社が代行し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【3:20 - 4:00】
要約：競合と差別化
競合は2種類です。1つ目は施工管理アプリで、人が撮って入力する前提です。2つ目は日立グループで、方向はほぼ同じです。ビル保守のAI Safetyと、日立パワーソリューションズの受変電設備の点検AIがあります。ただ、日立は自社の保守契約の中でAIを使う形です。技術と規模では勝てないので、対象を中堅の電気工事会社の施工に絞り、書類と技能継承を月額で提供します。日立が同じ領域に来た場合は、提携も選択肢に入れ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【4:00 - 4:40】
要約：スタッフ
5年目に23人の体制にします。中心は3つの役割です。映像AIをつくるエンジニア。電気工事の施工管理を10年以上経験し、映像のどこが大事かを判断する現場監修。そして、お客様ごとの書類の形を設定する導入コンサルタントです。この設定は外注しません。外注するとノウハウが社外に残るので、社内で設定して製品に戻します。私の役割は、最初の営業と現場監修の統括、そして判断基準をつくること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【4:40 - 5:10】
要約：経営理念
経営理念は「現場の勘を次の担い手へ」です。大切にすることは3つです。1つ目は、現場を主役にして、入力の手間を増やさないこと。2つ目は、記録は本人の同意を取り、誰の技術かを残すこと。3つ目は、効果を毎月数字で見せることです。特に現場の方には、これは監視ではなく、自分の技術を残す仕組みだと伝えたいと考えてい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【5:10 - 5:45】
要約：市場とターゲット
市場規模は、電気工事と電気通信工事の中堅以上、約3,100社に年額を掛けて、約141億円と推定しています。社数は国の統計ですが、規模ごとの内訳は仮定を置いています。最初は関東の中堅のうち、電力会社や官公庁の工事が多く、書類の多い約180社に絞ります。業界団体の勉強会や展示会で会い、3か月の有償試験導入から本契約に進めます。5年で約85拠点、解約を引いて81拠点の計画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【5:45 - 6:15】
要約：お客様の効果
お客様の効果は、AIグラスを掛けた班の分だけで計算しています。職長の日報が1日15分、施工管理者の写真整理が20分減ると、10台で年約500万円です。お客様の支払いはリースを含めて約332万円なので、約1.5倍です。言い換えると、お客様が元を取るには、1台1日23分減れば足ります。この23分を、実証の合格ラインにし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【6:15 - 6:45】
要約：当社の収益
当社の収益は、基盤が月5万円、端末が1台月2万円で、10台なら年300万円です。AIと保存の費用は1台月約6,000円で、差し引くと1拠点で年216万円が残ります。粗利率は72%です。注意点は、全ての映像をAIで解析すると1台月5万円かかり、赤字になることです。なので、解析するのは選んだ場面だけにし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【6:45 - 7:10】
要約：年単位の計画と収支
年単位の計画です。1年目は3社の試験導入、3年目は図面との照合、5年目は教材化まで進めます。5年目で81拠点、売上は約2.7億円です。ただし、人を先に採用するので5年間は赤字で、5年目も約1,100万円の赤字です。損益分岐点まで、あと約6拠点分が足りません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【7:10 - 7:45】
要約：資金と黒字化の条件
資金は自己資金で約2.55億円です。一度には入れず、実証に合格したら1年目に2億円、3年目に継続率と台数の基準を満たしたら5,000万円を追加します。黒字化の条件は、拠点数より1拠点あたりの台数です。15台に増やせれば、新規が計画の6割でも5年目に黒字になります。撤退ラインも決めていて、実証で1台1日15分も減らなければ撤退し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【7:45 - 8:20】
要約：10年の見通し
10年で見た場合です。5年目までの計画は変えずに延ばすと、10台のままでも6年目に黒字になり、8年目に5年間の赤字を回収します。10年目の営業利益は約1.9億円です。利用料が毎年積み上がる形なので、6年目以降は利益が伸びます。条件は、6年目から採用のペースを落とすことです。値下げやAI費用が2倍になった場合は、現金が一時的に足りなくなり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【8:20 - 8:55】
要約：段階ごとの課題
段階ごとの課題です。準備期は効果が出るか、導入期は売れるか、成長期は台数と採用、成熟期は大手との競合です。計画を見直して見つけた弱いところもあります。AIグラスは録画時間と電池に制約があること。300万円という価格を、まだお客様に確認できていないこと。10台のままでは5年で黒字にならないこと。そして、私自身がボトルネックになるリスクです。どれも確かめ方を決めてい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【8:55 - 9:25】
要約：準備期の6か月
最後に、最初の6か月です。費用は約500万円で、試作品をつくり、1拠点で実証します。確かめるのは、1台1日23分減るかどうかです。減れば2億円を入れて採用を始め、15分も減らなければ撤退します。まずは6か月で1拠点を立ち上げます。以上で発表を終わります。ご清聴ありがとうございまし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" y="109728"/>
            <a:ext cx="8924544" cy="4924044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1B365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35040" y="4754880"/>
            <a:ext cx="2999232" cy="278892"/>
          </a:xfrm>
          <a:prstGeom prst="rect">
            <a:avLst/>
          </a:prstGeom>
          <a:solidFill>
            <a:srgbClr val="FFFFFF"/>
          </a:solidFill>
          <a:ln w="9525">
            <a:solidFill>
              <a:srgbClr val="1B365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242048" y="4754880"/>
            <a:ext cx="0" cy="278892"/>
          </a:xfrm>
          <a:prstGeom prst="line">
            <a:avLst/>
          </a:prstGeom>
          <a:noFill/>
          <a:ln w="9525">
            <a:solidFill>
              <a:srgbClr val="1B365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503920" y="4754880"/>
            <a:ext cx="0" cy="278892"/>
          </a:xfrm>
          <a:prstGeom prst="line">
            <a:avLst/>
          </a:prstGeom>
          <a:noFill/>
          <a:ln w="9525">
            <a:solidFill>
              <a:srgbClr val="1B365D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38644" y="4802429"/>
            <a:ext cx="868680" cy="18614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65760" y="4773168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B8794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現場の勘を次の担い手へ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773168"/>
            <a:ext cx="530352" cy="24688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1B365D"/>
                </a:solidFill>
                <a:latin typeface="BIZ UDPGothic"/>
                <a:ea typeface="BIZ UDPGothic"/>
                <a:cs typeface="BIZ UDPGothic"/>
              </a:defRPr>
            </a:lvl1pPr>
          </a:lstStyle>
          <a:p>
            <a:pPr algn="ctr"/>
            <a:fld id="{F7021451-1387-4CA6-816F-3879F97B5CBC}" type="slidenum">
              <a:rPr b="1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T_COV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" y="109728"/>
            <a:ext cx="8924544" cy="4924044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1B365D"/>
            </a:solidFill>
            <a:prstDash val="solid"/>
          </a:ln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773168"/>
            <a:ext cx="530352" cy="24688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1B365D"/>
                </a:solidFill>
                <a:latin typeface="BIZ UDPGothic"/>
                <a:ea typeface="BIZ UDPGothic"/>
                <a:cs typeface="BIZ UDPGothic"/>
              </a:defRPr>
            </a:lvl1pPr>
          </a:lstStyle>
          <a:p>
            <a:pPr algn="ctr"/>
            <a:fld id="{F7021451-1387-4CA6-816F-3879F97B5CBC}" type="slidenum">
              <a:rPr b="1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347472"/>
            <a:ext cx="1737360" cy="372291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411480" y="822960"/>
            <a:ext cx="5120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A556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事業計画書（10分・16枚）</a:t>
            </a:r>
            <a:endParaRPr lang="en-US" sz="1050" dirty="0"/>
          </a:p>
        </p:txBody>
      </p:sp>
      <p:sp>
        <p:nvSpPr>
          <p:cNvPr id="5" name="Text 1"/>
          <p:cNvSpPr txBox="1"/>
          <p:nvPr/>
        </p:nvSpPr>
        <p:spPr>
          <a:xfrm>
            <a:off x="411480" y="1060704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600" b="1" dirty="0">
                <a:solidFill>
                  <a:srgbClr val="1B365D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現場の勘を次の担い手へ</a:t>
            </a:r>
            <a:endParaRPr lang="en-US" sz="2600" dirty="0"/>
          </a:p>
        </p:txBody>
      </p:sp>
      <p:sp>
        <p:nvSpPr>
          <p:cNvPr id="6" name="Text 2"/>
          <p:cNvSpPr txBox="1"/>
          <p:nvPr/>
        </p:nvSpPr>
        <p:spPr>
          <a:xfrm>
            <a:off x="411480" y="164592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F29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人が減っても、現場が迷わず回る仕組みをつくる。AIグラスで熟練者の作業を記録し、書類づくりと若手の育成を自動化する</a:t>
            </a:r>
            <a:endParaRPr lang="en-US" sz="1050" dirty="0"/>
          </a:p>
        </p:txBody>
      </p:sp>
      <p:sp>
        <p:nvSpPr>
          <p:cNvPr id="7" name="Shape 3"/>
          <p:cNvSpPr/>
          <p:nvPr/>
        </p:nvSpPr>
        <p:spPr>
          <a:xfrm>
            <a:off x="411480" y="2212848"/>
            <a:ext cx="8321040" cy="0"/>
          </a:xfrm>
          <a:prstGeom prst="line">
            <a:avLst/>
          </a:prstGeom>
          <a:noFill/>
          <a:ln w="15875">
            <a:solidFill>
              <a:srgbClr val="1B365D"/>
            </a:solidFill>
            <a:prstDash val="solid"/>
          </a:ln>
        </p:spPr>
      </p:sp>
      <p:graphicFrame>
        <p:nvGraphicFramePr>
          <p:cNvPr id="2" name="toc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359152"/>
          <a:ext cx="5120640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3246120"/>
                <a:gridCol w="457200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設問</a:t>
                      </a:r>
                      <a:endParaRPr lang="en-US" sz="9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B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一言の答え</a:t>
                      </a:r>
                      <a:endParaRPr lang="en-US" sz="9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B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頁</a:t>
                      </a:r>
                      <a:endParaRPr lang="en-US" sz="9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B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65D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① 事業・理由・想い</a:t>
                      </a:r>
                      <a:endParaRPr lang="en-US" sz="9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AIグラスで作業を記録し、書類と育成を自動化する。現場で勘が消えるのを止めたい</a:t>
                      </a:r>
                      <a:endParaRPr lang="en-US" sz="9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2〜6</a:t>
                      </a:r>
                      <a:endParaRPr lang="en-US" sz="9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② スタッフ</a:t>
                      </a:r>
                      <a:endParaRPr lang="en-US" sz="9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5年目23人。現場監修と導入コンサルタントを社内に置く</a:t>
                      </a:r>
                      <a:endParaRPr lang="en-US" sz="9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7</a:t>
                      </a:r>
                      <a:endParaRPr lang="en-US" sz="9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③ 経営理念</a:t>
                      </a:r>
                      <a:endParaRPr lang="en-US" sz="9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現場の勘を次の担い手へ。記録は監視ではなく、技術を残すため</a:t>
                      </a:r>
                      <a:endParaRPr lang="en-US" sz="9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8</a:t>
                      </a:r>
                      <a:endParaRPr lang="en-US" sz="9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④ 経営計画</a:t>
                      </a:r>
                      <a:endParaRPr lang="en-US" sz="9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1拠点年300万円。5年間は赤字、10年なら6年目に黒字。15台なら5年目</a:t>
                      </a:r>
                      <a:endParaRPr lang="en-US" sz="9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9〜14</a:t>
                      </a:r>
                      <a:endParaRPr lang="en-US" sz="9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⑤ 段階ごとの課題</a:t>
                      </a:r>
                      <a:endParaRPr lang="en-US" sz="9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効果 → 販売と定着 → 台数と採用 → 大手との競合</a:t>
                      </a:r>
                      <a:endParaRPr lang="en-US" sz="9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15〜16</a:t>
                      </a:r>
                      <a:endParaRPr lang="en-US" sz="9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4"/>
          <p:cNvSpPr/>
          <p:nvPr/>
        </p:nvSpPr>
        <p:spPr>
          <a:xfrm>
            <a:off x="5934456" y="2368296"/>
            <a:ext cx="1207008" cy="1207008"/>
          </a:xfrm>
          <a:prstGeom prst="ellipse">
            <a:avLst/>
          </a:prstGeom>
          <a:solidFill>
            <a:srgbClr val="3A3F44"/>
          </a:solidFill>
          <a:ln w="6350">
            <a:solidFill>
              <a:srgbClr val="2B2B2B"/>
            </a:solidFill>
            <a:prstDash val="solid"/>
          </a:ln>
        </p:spPr>
      </p:sp>
      <p:sp>
        <p:nvSpPr>
          <p:cNvPr id="10" name="Shape 5"/>
          <p:cNvSpPr/>
          <p:nvPr/>
        </p:nvSpPr>
        <p:spPr>
          <a:xfrm>
            <a:off x="6025896" y="2459736"/>
            <a:ext cx="1024128" cy="1024128"/>
          </a:xfrm>
          <a:prstGeom prst="ellipse">
            <a:avLst/>
          </a:prstGeom>
          <a:solidFill>
            <a:srgbClr val="8C6239"/>
          </a:solidFill>
          <a:ln w="6350">
            <a:solidFill>
              <a:srgbClr val="2B2B2B"/>
            </a:solidFill>
            <a:prstDash val="solid"/>
          </a:ln>
        </p:spPr>
      </p:sp>
      <p:sp>
        <p:nvSpPr>
          <p:cNvPr id="11" name="Shape 6"/>
          <p:cNvSpPr/>
          <p:nvPr/>
        </p:nvSpPr>
        <p:spPr>
          <a:xfrm>
            <a:off x="6080760" y="2514600"/>
            <a:ext cx="914400" cy="914400"/>
          </a:xfrm>
          <a:prstGeom prst="ellipse">
            <a:avLst/>
          </a:prstGeom>
          <a:solidFill>
            <a:srgbClr val="2B2B2B"/>
          </a:solidFill>
          <a:ln w="6350">
            <a:solidFill>
              <a:srgbClr val="2B2B2B"/>
            </a:solidFill>
            <a:prstDash val="solid"/>
          </a:ln>
        </p:spPr>
      </p:sp>
      <p:sp>
        <p:nvSpPr>
          <p:cNvPr id="12" name="Shape 7"/>
          <p:cNvSpPr/>
          <p:nvPr/>
        </p:nvSpPr>
        <p:spPr>
          <a:xfrm>
            <a:off x="6117336" y="2551176"/>
            <a:ext cx="841248" cy="841248"/>
          </a:xfrm>
          <a:prstGeom prst="ellipse">
            <a:avLst/>
          </a:prstGeom>
          <a:solidFill>
            <a:srgbClr val="F2F4F6"/>
          </a:solidFill>
          <a:ln w="6350">
            <a:solidFill>
              <a:srgbClr val="2B2B2B"/>
            </a:solidFill>
            <a:prstDash val="solid"/>
          </a:ln>
        </p:spPr>
      </p:sp>
      <p:sp>
        <p:nvSpPr>
          <p:cNvPr id="13" name="Shape 8"/>
          <p:cNvSpPr/>
          <p:nvPr/>
        </p:nvSpPr>
        <p:spPr>
          <a:xfrm>
            <a:off x="6318504" y="2752344"/>
            <a:ext cx="438912" cy="438912"/>
          </a:xfrm>
          <a:prstGeom prst="ellipse">
            <a:avLst/>
          </a:prstGeom>
          <a:solidFill>
            <a:srgbClr val="2B2B2B"/>
          </a:solidFill>
          <a:ln w="6350">
            <a:solidFill>
              <a:srgbClr val="2B2B2B"/>
            </a:solidFill>
            <a:prstDash val="solid"/>
          </a:ln>
        </p:spPr>
      </p:sp>
      <p:sp>
        <p:nvSpPr>
          <p:cNvPr id="14" name="Shape 9"/>
          <p:cNvSpPr/>
          <p:nvPr/>
        </p:nvSpPr>
        <p:spPr>
          <a:xfrm>
            <a:off x="6355080" y="2788920"/>
            <a:ext cx="365760" cy="365760"/>
          </a:xfrm>
          <a:prstGeom prst="ellipse">
            <a:avLst/>
          </a:prstGeom>
          <a:solidFill>
            <a:srgbClr val="B87333"/>
          </a:solidFill>
          <a:ln w="6350">
            <a:solidFill>
              <a:srgbClr val="2B2B2B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6153912" y="2514600"/>
            <a:ext cx="1207008" cy="54864"/>
          </a:xfrm>
          <a:prstGeom prst="line">
            <a:avLst/>
          </a:prstGeom>
          <a:noFill/>
          <a:ln w="6350">
            <a:solidFill>
              <a:srgbClr val="4A5563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7406640" y="246888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4A556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シース</a:t>
            </a:r>
            <a:endParaRPr lang="en-US" sz="850" dirty="0"/>
          </a:p>
        </p:txBody>
      </p:sp>
      <p:sp>
        <p:nvSpPr>
          <p:cNvPr id="17" name="Shape 12"/>
          <p:cNvSpPr/>
          <p:nvPr/>
        </p:nvSpPr>
        <p:spPr>
          <a:xfrm>
            <a:off x="6053328" y="2825496"/>
            <a:ext cx="1307592" cy="73152"/>
          </a:xfrm>
          <a:prstGeom prst="line">
            <a:avLst/>
          </a:prstGeom>
          <a:noFill/>
          <a:ln w="6350">
            <a:solidFill>
              <a:srgbClr val="4A5563"/>
            </a:solidFill>
            <a:prstDash val="solid"/>
          </a:ln>
        </p:spPr>
      </p:sp>
      <p:sp>
        <p:nvSpPr>
          <p:cNvPr id="18" name="Text 13"/>
          <p:cNvSpPr txBox="1"/>
          <p:nvPr/>
        </p:nvSpPr>
        <p:spPr>
          <a:xfrm>
            <a:off x="7406640" y="2798064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4A556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遮へい層</a:t>
            </a:r>
            <a:endParaRPr lang="en-US" sz="850" dirty="0"/>
          </a:p>
        </p:txBody>
      </p:sp>
      <p:sp>
        <p:nvSpPr>
          <p:cNvPr id="19" name="Shape 14"/>
          <p:cNvSpPr/>
          <p:nvPr/>
        </p:nvSpPr>
        <p:spPr>
          <a:xfrm>
            <a:off x="6812280" y="3081528"/>
            <a:ext cx="548640" cy="146304"/>
          </a:xfrm>
          <a:prstGeom prst="line">
            <a:avLst/>
          </a:prstGeom>
          <a:noFill/>
          <a:ln w="6350">
            <a:solidFill>
              <a:srgbClr val="4A5563"/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7406640" y="3127248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4A556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絶縁体</a:t>
            </a:r>
            <a:endParaRPr lang="en-US" sz="850" dirty="0"/>
          </a:p>
        </p:txBody>
      </p:sp>
      <p:sp>
        <p:nvSpPr>
          <p:cNvPr id="21" name="Shape 16"/>
          <p:cNvSpPr/>
          <p:nvPr/>
        </p:nvSpPr>
        <p:spPr>
          <a:xfrm>
            <a:off x="6611112" y="3319272"/>
            <a:ext cx="749808" cy="237744"/>
          </a:xfrm>
          <a:prstGeom prst="line">
            <a:avLst/>
          </a:prstGeom>
          <a:noFill/>
          <a:ln w="6350">
            <a:solidFill>
              <a:srgbClr val="4A5563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7406640" y="345643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4A556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導体</a:t>
            </a:r>
            <a:endParaRPr lang="en-US" sz="850" dirty="0"/>
          </a:p>
        </p:txBody>
      </p:sp>
      <p:sp>
        <p:nvSpPr>
          <p:cNvPr id="23" name="Text 18"/>
          <p:cNvSpPr txBox="1"/>
          <p:nvPr/>
        </p:nvSpPr>
        <p:spPr>
          <a:xfrm>
            <a:off x="5806440" y="365760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4A556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地中送電ケーブル（CV）の断面</a:t>
            </a:r>
            <a:endParaRPr lang="en-US" sz="800" dirty="0"/>
          </a:p>
        </p:txBody>
      </p:sp>
      <p:sp>
        <p:nvSpPr>
          <p:cNvPr id="24" name="Shape 19"/>
          <p:cNvSpPr/>
          <p:nvPr/>
        </p:nvSpPr>
        <p:spPr>
          <a:xfrm>
            <a:off x="5806440" y="3931920"/>
            <a:ext cx="2926080" cy="713232"/>
          </a:xfrm>
          <a:prstGeom prst="rect">
            <a:avLst/>
          </a:prstGeom>
          <a:solidFill>
            <a:srgbClr val="EAF0F6"/>
          </a:solidFill>
          <a:ln/>
        </p:spPr>
      </p:sp>
      <p:sp>
        <p:nvSpPr>
          <p:cNvPr id="25" name="Text 20"/>
          <p:cNvSpPr txBox="1"/>
          <p:nvPr/>
        </p:nvSpPr>
        <p:spPr>
          <a:xfrm>
            <a:off x="5897880" y="3931920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850" b="1" dirty="0">
                <a:solidFill>
                  <a:srgbClr val="1B365D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課題の前提：</a:t>
            </a:r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850" dirty="0">
                <a:solidFill>
                  <a:srgbClr val="1F29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豊富な自己資金で事業を立ち上げる（融資・出資は使わない）</a:t>
            </a:r>
            <a:endParaRPr lang="en-US" sz="850" dirty="0"/>
          </a:p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850" b="1" dirty="0">
                <a:solidFill>
                  <a:srgbClr val="1B365D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最初の目標：</a:t>
            </a:r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850" dirty="0">
                <a:solidFill>
                  <a:srgbClr val="1F29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6か月で1拠点。合格ラインは1台1日23分の削減</a:t>
            </a:r>
            <a:endParaRPr lang="en-US" sz="850" dirty="0"/>
          </a:p>
        </p:txBody>
      </p:sp>
      <p:sp>
        <p:nvSpPr>
          <p:cNvPr id="26" name="Shape 21"/>
          <p:cNvSpPr/>
          <p:nvPr/>
        </p:nvSpPr>
        <p:spPr>
          <a:xfrm>
            <a:off x="6035040" y="4754880"/>
            <a:ext cx="2999232" cy="278892"/>
          </a:xfrm>
          <a:prstGeom prst="rect">
            <a:avLst/>
          </a:prstGeom>
          <a:solidFill>
            <a:srgbClr val="FFFFFF"/>
          </a:solidFill>
          <a:ln w="9525">
            <a:solidFill>
              <a:srgbClr val="1B365D"/>
            </a:solidFill>
            <a:prstDash val="solid"/>
          </a:ln>
        </p:spPr>
      </p:sp>
      <p:sp>
        <p:nvSpPr>
          <p:cNvPr id="27" name="Text 22"/>
          <p:cNvSpPr txBox="1"/>
          <p:nvPr/>
        </p:nvSpPr>
        <p:spPr>
          <a:xfrm>
            <a:off x="6108192" y="4754880"/>
            <a:ext cx="237744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4A556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件名 </a:t>
            </a:r>
            <a:pPr algn="l" indent="0" marL="0">
              <a:lnSpc>
                <a:spcPct val="115000"/>
              </a:lnSpc>
              <a:buNone/>
            </a:pPr>
            <a:r>
              <a:rPr lang="en-US" sz="800" b="1" dirty="0">
                <a:solidFill>
                  <a:srgbClr val="1B365D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株式会社カンツギ 事業計画書</a:t>
            </a:r>
            <a:endParaRPr lang="en-US" sz="800" dirty="0"/>
          </a:p>
        </p:txBody>
      </p:sp>
      <p:sp>
        <p:nvSpPr>
          <p:cNvPr id="28" name="Text 23"/>
          <p:cNvSpPr txBox="1"/>
          <p:nvPr/>
        </p:nvSpPr>
        <p:spPr>
          <a:xfrm>
            <a:off x="8503920" y="4754880"/>
            <a:ext cx="530352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1B365D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1／16</a:t>
            </a:r>
            <a:endParaRPr lang="en-US" sz="900" dirty="0"/>
          </a:p>
        </p:txBody>
      </p:sp>
      <p:sp>
        <p:nvSpPr>
          <p:cNvPr id="29" name="Shape 24"/>
          <p:cNvSpPr/>
          <p:nvPr/>
        </p:nvSpPr>
        <p:spPr>
          <a:xfrm>
            <a:off x="8503920" y="4754880"/>
            <a:ext cx="0" cy="278892"/>
          </a:xfrm>
          <a:prstGeom prst="line">
            <a:avLst/>
          </a:prstGeom>
          <a:noFill/>
          <a:ln w="9525">
            <a:solidFill>
              <a:srgbClr val="1B365D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365760" y="274320"/>
            <a:ext cx="402336" cy="402336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365760" y="2743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1</a:t>
            </a:r>
            <a:endParaRPr lang="en-US" sz="1700" dirty="0"/>
          </a:p>
        </p:txBody>
      </p:sp>
      <p:sp>
        <p:nvSpPr>
          <p:cNvPr id="5" name="Text 2"/>
          <p:cNvSpPr txBox="1"/>
          <p:nvPr/>
        </p:nvSpPr>
        <p:spPr>
          <a:xfrm>
            <a:off x="6053328" y="4759452"/>
            <a:ext cx="11887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750" b="1" dirty="0">
                <a:solidFill>
                  <a:srgbClr val="1B365D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① 事業</a:t>
            </a:r>
            <a:endParaRPr lang="en-US" sz="750" dirty="0"/>
          </a:p>
        </p:txBody>
      </p:sp>
      <p:sp>
        <p:nvSpPr>
          <p:cNvPr id="6" name="title"/>
          <p:cNvSpPr txBox="1"/>
          <p:nvPr/>
        </p:nvSpPr>
        <p:spPr>
          <a:xfrm>
            <a:off x="859536" y="256032"/>
            <a:ext cx="79187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50" b="1" dirty="0">
                <a:solidFill>
                  <a:srgbClr val="1B365D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事業と想い：現場の勘が消えるのを止めたい</a:t>
            </a:r>
            <a:endParaRPr lang="en-US" sz="1850" dirty="0"/>
          </a:p>
        </p:txBody>
      </p:sp>
      <p:sp>
        <p:nvSpPr>
          <p:cNvPr id="7" name="lead"/>
          <p:cNvSpPr txBox="1"/>
          <p:nvPr/>
        </p:nvSpPr>
        <p:spPr>
          <a:xfrm>
            <a:off x="365760" y="694944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A556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地中送電の現場で見てきたことが出発点。AIグラスで記録し、書類と育成を自動化する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365760" y="950976"/>
            <a:ext cx="8412480" cy="0"/>
          </a:xfrm>
          <a:prstGeom prst="line">
            <a:avLst/>
          </a:prstGeom>
          <a:noFill/>
          <a:ln w="15875">
            <a:solidFill>
              <a:srgbClr val="1B365D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65760" y="1024128"/>
            <a:ext cx="4114800" cy="3429000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530352" y="1069848"/>
            <a:ext cx="3785616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F5C40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想い</a:t>
            </a:r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endParaRPr lang="en-US" sz="1000" dirty="0"/>
          </a:p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地中送電の現場で、ベテランの判断が手順書に残らないまま、退職で消えるのを見てきた。その判断をデータで残し、次の担い手に渡したい</a:t>
            </a:r>
            <a:endParaRPr lang="en-US" sz="1000" dirty="0"/>
          </a:p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endParaRPr lang="en-US" sz="1000" dirty="0"/>
          </a:p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950" b="1" dirty="0">
                <a:solidFill>
                  <a:srgbClr val="F5C40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10年で現場に戻る時間</a:t>
            </a:r>
            <a:endParaRPr lang="en-US" sz="1000" dirty="0"/>
          </a:p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22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約137万時間</a:t>
            </a:r>
            <a:endParaRPr lang="en-US" sz="1000" dirty="0"/>
          </a:p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85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書類に使っていた時間が、現場の仕事と若手の指導に戻る（10年計画の延べ拠点数×1拠点の削減）</a:t>
            </a:r>
            <a:endParaRPr lang="en-US" sz="1000" dirty="0"/>
          </a:p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endParaRPr lang="en-US" sz="1000" dirty="0"/>
          </a:p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F5C40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利益は目的ではなく、事業を続けるための条件。配当は求めず、現場の支援と開発に回す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663440" y="1024128"/>
            <a:ext cx="4114800" cy="1371600"/>
          </a:xfrm>
          <a:prstGeom prst="rect">
            <a:avLst/>
          </a:prstGeom>
          <a:solidFill>
            <a:srgbClr val="EAF0F6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4791456" y="1024128"/>
            <a:ext cx="38587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2F6DB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事業を一文で</a:t>
            </a:r>
            <a:pPr algn="l" indent="0" marL="0">
              <a:lnSpc>
                <a:spcPct val="115000"/>
              </a:lnSpc>
              <a:spcAft>
                <a:spcPts val="300"/>
              </a:spcAft>
              <a:buNone/>
            </a:pPr>
            <a:endParaRPr lang="en-US" sz="1000" dirty="0"/>
          </a:p>
          <a:p>
            <a:pPr algn="l"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1F29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職長がAIグラスを掛けて作業するだけで、写真台帳・日報・図面との照合・若手の教材までつくる</a:t>
            </a:r>
            <a:endParaRPr lang="en-US" sz="1000" dirty="0"/>
          </a:p>
          <a:p>
            <a:pPr algn="l"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950" dirty="0">
                <a:solidFill>
                  <a:srgbClr val="4A556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お客様は関東の中堅電気工事会社。残業規制と高齢化で、書類と育成に回す時間がない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4663440" y="2505456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B365D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選んだ理由（3つ）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663440" y="2843784"/>
            <a:ext cx="566928" cy="438912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4663440" y="2843784"/>
            <a:ext cx="5669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市場</a:t>
            </a:r>
            <a:endParaRPr lang="en-US" sz="1050" dirty="0"/>
          </a:p>
        </p:txBody>
      </p:sp>
      <p:sp>
        <p:nvSpPr>
          <p:cNvPr id="16" name="Text 13"/>
          <p:cNvSpPr txBox="1"/>
          <p:nvPr/>
        </p:nvSpPr>
        <p:spPr>
          <a:xfrm>
            <a:off x="5321808" y="2807208"/>
            <a:ext cx="34564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F29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55歳以上が36.7%、残業は月45時間まで。人を増やして解決できない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4663440" y="3392424"/>
            <a:ext cx="566928" cy="438912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4663440" y="3392424"/>
            <a:ext cx="5669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技術</a:t>
            </a:r>
            <a:endParaRPr lang="en-US" sz="1050" dirty="0"/>
          </a:p>
        </p:txBody>
      </p:sp>
      <p:sp>
        <p:nvSpPr>
          <p:cNvPr id="19" name="Text 16"/>
          <p:cNvSpPr txBox="1"/>
          <p:nvPr/>
        </p:nvSpPr>
        <p:spPr>
          <a:xfrm>
            <a:off x="5321808" y="3355848"/>
            <a:ext cx="34564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F29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映像を理解するAIと、約50gのAIグラスが実用レベルになった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4663440" y="3941064"/>
            <a:ext cx="566928" cy="438912"/>
          </a:xfrm>
          <a:prstGeom prst="rect">
            <a:avLst/>
          </a:prstGeom>
          <a:solidFill>
            <a:srgbClr val="2F6DB5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4663440" y="3941064"/>
            <a:ext cx="5669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自分</a:t>
            </a:r>
            <a:endParaRPr lang="en-US" sz="1050" dirty="0"/>
          </a:p>
        </p:txBody>
      </p:sp>
      <p:sp>
        <p:nvSpPr>
          <p:cNvPr id="22" name="Text 19"/>
          <p:cNvSpPr txBox="1"/>
          <p:nvPr/>
        </p:nvSpPr>
        <p:spPr>
          <a:xfrm>
            <a:off x="5321808" y="3904488"/>
            <a:ext cx="34564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F29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地中送電線の施工管理を5年。現場とAI実装の両方がわかる</a:t>
            </a:r>
            <a:endParaRPr lang="en-US" sz="950" dirty="0"/>
          </a:p>
        </p:txBody>
      </p:sp>
      <p:sp>
        <p:nvSpPr>
          <p:cNvPr id="23" name="Text 20"/>
          <p:cNvSpPr txBox="1"/>
          <p:nvPr/>
        </p:nvSpPr>
        <p:spPr>
          <a:xfrm>
            <a:off x="365760" y="4553712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7B8794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最初の顧客：関東の中堅電気工事会社（施工管理者30人以上）。収益構造は p.11、他社との違いは p.6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773168"/>
            <a:ext cx="530352" cy="24688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1B365D"/>
                </a:solidFill>
                <a:latin typeface="BIZ UDPGothic"/>
                <a:ea typeface="BIZ UDPGothic"/>
                <a:cs typeface="BIZ UDPGothic"/>
              </a:defRPr>
            </a:lvl1pPr>
          </a:lstStyle>
          <a:p>
            <a:pPr algn="ctr"/>
            <a:fld id="{F7021451-1387-4CA6-816F-3879F97B5CBC}" type="slidenum">
              <a:rPr b="1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365760" y="274320"/>
            <a:ext cx="402336" cy="402336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365760" y="2743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1</a:t>
            </a:r>
            <a:endParaRPr lang="en-US" sz="1700" dirty="0"/>
          </a:p>
        </p:txBody>
      </p:sp>
      <p:sp>
        <p:nvSpPr>
          <p:cNvPr id="5" name="Text 2"/>
          <p:cNvSpPr txBox="1"/>
          <p:nvPr/>
        </p:nvSpPr>
        <p:spPr>
          <a:xfrm>
            <a:off x="6053328" y="4759452"/>
            <a:ext cx="11887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750" b="1" dirty="0">
                <a:solidFill>
                  <a:srgbClr val="1B365D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① 事業</a:t>
            </a:r>
            <a:endParaRPr lang="en-US" sz="750" dirty="0"/>
          </a:p>
        </p:txBody>
      </p:sp>
      <p:sp>
        <p:nvSpPr>
          <p:cNvPr id="6" name="title"/>
          <p:cNvSpPr txBox="1"/>
          <p:nvPr/>
        </p:nvSpPr>
        <p:spPr>
          <a:xfrm>
            <a:off x="859536" y="256032"/>
            <a:ext cx="79187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50" b="1" dirty="0">
                <a:solidFill>
                  <a:srgbClr val="1B365D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背景と課題：熟練者が辞めると、現場が止まる</a:t>
            </a:r>
            <a:endParaRPr lang="en-US" sz="1850" dirty="0"/>
          </a:p>
        </p:txBody>
      </p:sp>
      <p:sp>
        <p:nvSpPr>
          <p:cNvPr id="7" name="lead"/>
          <p:cNvSpPr txBox="1"/>
          <p:nvPr/>
        </p:nvSpPr>
        <p:spPr>
          <a:xfrm>
            <a:off x="365760" y="694944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A556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人手不足と残業規制で、書類と育成に回す時間がない。困っているのは次の三者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365760" y="950976"/>
            <a:ext cx="8412480" cy="0"/>
          </a:xfrm>
          <a:prstGeom prst="line">
            <a:avLst/>
          </a:prstGeom>
          <a:noFill/>
          <a:ln w="15875">
            <a:solidFill>
              <a:srgbClr val="1B365D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65760" y="1024128"/>
            <a:ext cx="2715768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B8C4D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65760" y="1024128"/>
            <a:ext cx="2715768" cy="384048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475488" y="1024128"/>
            <a:ext cx="2496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DX推進担当</a:t>
            </a:r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　推進する人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475488" y="1463040"/>
            <a:ext cx="24963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950" dirty="0">
                <a:solidFill>
                  <a:srgbClr val="1F29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・ツールを入れても現場に定着しない</a:t>
            </a:r>
            <a:endParaRPr lang="en-US" sz="950" dirty="0"/>
          </a:p>
          <a:p>
            <a:pPr algn="l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950" dirty="0">
                <a:solidFill>
                  <a:srgbClr val="1F29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・成果を数字で説明できない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3214116" y="1024128"/>
            <a:ext cx="2715768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B8C4D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214116" y="1024128"/>
            <a:ext cx="2715768" cy="384048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3323844" y="1024128"/>
            <a:ext cx="2496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施工管理者・電工</a:t>
            </a:r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　使う人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3323844" y="1463040"/>
            <a:ext cx="24963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950" dirty="0">
                <a:solidFill>
                  <a:srgbClr val="1F29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・写真の整理・日報・報告書に毎日追われる</a:t>
            </a:r>
            <a:endParaRPr lang="en-US" sz="950" dirty="0"/>
          </a:p>
          <a:p>
            <a:pPr algn="l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950" dirty="0">
                <a:solidFill>
                  <a:srgbClr val="1F29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・聞ける熟練者がいない。手順書に勘どころがない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6062472" y="1024128"/>
            <a:ext cx="2715768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B8C4D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062472" y="1024128"/>
            <a:ext cx="2715768" cy="384048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6172200" y="1024128"/>
            <a:ext cx="2496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工事部長・社長</a:t>
            </a:r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　お金を出す人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6172200" y="1463040"/>
            <a:ext cx="24963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950" dirty="0">
                <a:solidFill>
                  <a:srgbClr val="1F29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・残業に上限。人を増やせない</a:t>
            </a:r>
            <a:endParaRPr lang="en-US" sz="950" dirty="0"/>
          </a:p>
          <a:p>
            <a:pPr algn="l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950" dirty="0">
                <a:solidFill>
                  <a:srgbClr val="1F29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・熟練者の判断が退職とともに消える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365760" y="2578608"/>
            <a:ext cx="2034540" cy="1024128"/>
          </a:xfrm>
          <a:prstGeom prst="rect">
            <a:avLst/>
          </a:prstGeom>
          <a:solidFill>
            <a:srgbClr val="EAF0F6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457200" y="2633472"/>
            <a:ext cx="18516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900" b="1" dirty="0">
                <a:solidFill>
                  <a:srgbClr val="1B365D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36.7%</a:t>
            </a:r>
            <a:endParaRPr lang="en-US" sz="1900" dirty="0"/>
          </a:p>
        </p:txBody>
      </p:sp>
      <p:sp>
        <p:nvSpPr>
          <p:cNvPr id="23" name="Text 20"/>
          <p:cNvSpPr txBox="1"/>
          <p:nvPr/>
        </p:nvSpPr>
        <p:spPr>
          <a:xfrm>
            <a:off x="457200" y="3090672"/>
            <a:ext cx="18516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1B365D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建設業で働く人のうち55歳以上（29歳以下は11.7%）</a:t>
            </a:r>
            <a:endParaRPr lang="en-US" sz="850" dirty="0"/>
          </a:p>
        </p:txBody>
      </p:sp>
      <p:sp>
        <p:nvSpPr>
          <p:cNvPr id="24" name="Shape 21"/>
          <p:cNvSpPr/>
          <p:nvPr/>
        </p:nvSpPr>
        <p:spPr>
          <a:xfrm>
            <a:off x="2491740" y="2578608"/>
            <a:ext cx="2034540" cy="1024128"/>
          </a:xfrm>
          <a:prstGeom prst="rect">
            <a:avLst/>
          </a:prstGeom>
          <a:solidFill>
            <a:srgbClr val="EAF0F6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2583180" y="2633472"/>
            <a:ext cx="18516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900" b="1" dirty="0">
                <a:solidFill>
                  <a:srgbClr val="1B365D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月45時間</a:t>
            </a:r>
            <a:endParaRPr lang="en-US" sz="1900" dirty="0"/>
          </a:p>
        </p:txBody>
      </p:sp>
      <p:sp>
        <p:nvSpPr>
          <p:cNvPr id="26" name="Text 23"/>
          <p:cNvSpPr txBox="1"/>
          <p:nvPr/>
        </p:nvSpPr>
        <p:spPr>
          <a:xfrm>
            <a:off x="2583180" y="3090672"/>
            <a:ext cx="18516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1B365D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2024年4月から建設業にも残業の上限（原則）</a:t>
            </a:r>
            <a:endParaRPr lang="en-US" sz="850" dirty="0"/>
          </a:p>
        </p:txBody>
      </p:sp>
      <p:sp>
        <p:nvSpPr>
          <p:cNvPr id="27" name="Shape 24"/>
          <p:cNvSpPr/>
          <p:nvPr/>
        </p:nvSpPr>
        <p:spPr>
          <a:xfrm>
            <a:off x="4617720" y="2578608"/>
            <a:ext cx="2034540" cy="1024128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28" name="Text 25"/>
          <p:cNvSpPr txBox="1"/>
          <p:nvPr/>
        </p:nvSpPr>
        <p:spPr>
          <a:xfrm>
            <a:off x="4709160" y="2633472"/>
            <a:ext cx="18516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900" b="1" dirty="0">
                <a:solidFill>
                  <a:srgbClr val="F5C40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年約1.5兆円</a:t>
            </a:r>
            <a:endParaRPr lang="en-US" sz="1900" dirty="0"/>
          </a:p>
        </p:txBody>
      </p:sp>
      <p:sp>
        <p:nvSpPr>
          <p:cNvPr id="29" name="Text 26"/>
          <p:cNvSpPr txBox="1"/>
          <p:nvPr/>
        </p:nvSpPr>
        <p:spPr>
          <a:xfrm>
            <a:off x="4709160" y="3090672"/>
            <a:ext cx="18516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建設全体の手戻り（建設投資75.6兆円×2%）</a:t>
            </a:r>
            <a:endParaRPr lang="en-US" sz="850" dirty="0"/>
          </a:p>
        </p:txBody>
      </p:sp>
      <p:sp>
        <p:nvSpPr>
          <p:cNvPr id="30" name="Shape 27"/>
          <p:cNvSpPr/>
          <p:nvPr/>
        </p:nvSpPr>
        <p:spPr>
          <a:xfrm>
            <a:off x="6743700" y="2578608"/>
            <a:ext cx="2034540" cy="1024128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31" name="Text 28"/>
          <p:cNvSpPr txBox="1"/>
          <p:nvPr/>
        </p:nvSpPr>
        <p:spPr>
          <a:xfrm>
            <a:off x="6835140" y="2633472"/>
            <a:ext cx="18516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900" b="1" dirty="0">
                <a:solidFill>
                  <a:srgbClr val="F5C40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約2,400億円</a:t>
            </a:r>
            <a:endParaRPr lang="en-US" sz="1900" dirty="0"/>
          </a:p>
        </p:txBody>
      </p:sp>
      <p:sp>
        <p:nvSpPr>
          <p:cNvPr id="32" name="Text 29"/>
          <p:cNvSpPr txBox="1"/>
          <p:nvPr/>
        </p:nvSpPr>
        <p:spPr>
          <a:xfrm>
            <a:off x="6835140" y="3090672"/>
            <a:ext cx="18516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うち電気工事（完成工事高 約12兆円×2%）</a:t>
            </a:r>
            <a:endParaRPr lang="en-US" sz="850" dirty="0"/>
          </a:p>
        </p:txBody>
      </p:sp>
      <p:sp>
        <p:nvSpPr>
          <p:cNvPr id="33" name="Shape 30"/>
          <p:cNvSpPr/>
          <p:nvPr/>
        </p:nvSpPr>
        <p:spPr>
          <a:xfrm>
            <a:off x="365760" y="3749040"/>
            <a:ext cx="8412480" cy="713232"/>
          </a:xfrm>
          <a:prstGeom prst="rect">
            <a:avLst/>
          </a:prstGeom>
          <a:solidFill>
            <a:srgbClr val="FFFFFF"/>
          </a:solidFill>
          <a:ln w="19050">
            <a:solidFill>
              <a:srgbClr val="2F6DB5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493776" y="3749040"/>
            <a:ext cx="815644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2F6DB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熟練者が辞めた後に起きること：</a:t>
            </a:r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F29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若手が寸法・基準点・重なり順を間違える → 手戻りと工期遅れが出る → 残業規制で人を足せず、受けられる工事が減る</a:t>
            </a:r>
            <a:endParaRPr lang="en-US" sz="1000" dirty="0"/>
          </a:p>
        </p:txBody>
      </p:sp>
      <p:sp>
        <p:nvSpPr>
          <p:cNvPr id="35" name="Text 32"/>
          <p:cNvSpPr txBox="1"/>
          <p:nvPr/>
        </p:nvSpPr>
        <p:spPr>
          <a:xfrm>
            <a:off x="365760" y="4553712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7B8794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国土交通省（労働力調査 2024年平均、477万人）、労働基準法。手戻り率2%は海外研究（工事費の0.4〜6%）から控えめに置いた仮定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773168"/>
            <a:ext cx="530352" cy="24688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1B365D"/>
                </a:solidFill>
                <a:latin typeface="BIZ UDPGothic"/>
                <a:ea typeface="BIZ UDPGothic"/>
                <a:cs typeface="BIZ UDPGothic"/>
              </a:defRPr>
            </a:lvl1pPr>
          </a:lstStyle>
          <a:p>
            <a:pPr algn="ctr"/>
            <a:fld id="{F7021451-1387-4CA6-816F-3879F97B5CBC}" type="slidenum">
              <a:rPr b="1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365760" y="274320"/>
            <a:ext cx="402336" cy="402336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365760" y="2743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1</a:t>
            </a:r>
            <a:endParaRPr lang="en-US" sz="1700" dirty="0"/>
          </a:p>
        </p:txBody>
      </p:sp>
      <p:sp>
        <p:nvSpPr>
          <p:cNvPr id="5" name="Text 2"/>
          <p:cNvSpPr txBox="1"/>
          <p:nvPr/>
        </p:nvSpPr>
        <p:spPr>
          <a:xfrm>
            <a:off x="6053328" y="4759452"/>
            <a:ext cx="11887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750" b="1" dirty="0">
                <a:solidFill>
                  <a:srgbClr val="1B365D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① 事業</a:t>
            </a:r>
            <a:endParaRPr lang="en-US" sz="750" dirty="0"/>
          </a:p>
        </p:txBody>
      </p:sp>
      <p:sp>
        <p:nvSpPr>
          <p:cNvPr id="6" name="title"/>
          <p:cNvSpPr txBox="1"/>
          <p:nvPr/>
        </p:nvSpPr>
        <p:spPr>
          <a:xfrm>
            <a:off x="859536" y="256032"/>
            <a:ext cx="79187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50" b="1" dirty="0">
                <a:solidFill>
                  <a:srgbClr val="1B365D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解決策：掛けて働くだけで、記録・整理・引き継ぎまで</a:t>
            </a:r>
            <a:endParaRPr lang="en-US" sz="1850" dirty="0"/>
          </a:p>
        </p:txBody>
      </p:sp>
      <p:sp>
        <p:nvSpPr>
          <p:cNvPr id="7" name="lead"/>
          <p:cNvSpPr txBox="1"/>
          <p:nvPr/>
        </p:nvSpPr>
        <p:spPr>
          <a:xfrm>
            <a:off x="365760" y="694944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A556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図面と違う所をその場で教え、書類まで作る「記録係」。電気工事を知らなくても、この3段階で見てください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365760" y="950976"/>
            <a:ext cx="8412480" cy="0"/>
          </a:xfrm>
          <a:prstGeom prst="line">
            <a:avLst/>
          </a:prstGeom>
          <a:noFill/>
          <a:ln w="15875">
            <a:solidFill>
              <a:srgbClr val="1B365D"/>
            </a:solidFill>
            <a:prstDash val="solid"/>
          </a:ln>
        </p:spPr>
      </p:sp>
      <p:pic>
        <p:nvPicPr>
          <p:cNvPr id="9" name="Image 0" descr="/home/user/-ai-commute-audio-/deck/assets/shot-overview-lar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005840"/>
            <a:ext cx="4800600" cy="2021305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365760" y="3082009"/>
            <a:ext cx="4800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B365D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例（デモ）：ケーブルをつなぐ作業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365760" y="3383761"/>
            <a:ext cx="713232" cy="237744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365760" y="3383761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見つける</a:t>
            </a:r>
            <a:endParaRPr lang="en-US" sz="900" dirty="0"/>
          </a:p>
        </p:txBody>
      </p:sp>
      <p:sp>
        <p:nvSpPr>
          <p:cNvPr id="13" name="Text 9"/>
          <p:cNvSpPr txBox="1"/>
          <p:nvPr/>
        </p:nvSpPr>
        <p:spPr>
          <a:xfrm>
            <a:off x="1170432" y="3356329"/>
            <a:ext cx="3995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F29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図面は120mm、実物は112mm。8mm短いことをその場で知らせる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365760" y="3685513"/>
            <a:ext cx="713232" cy="237744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365760" y="3685513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直す</a:t>
            </a:r>
            <a:endParaRPr lang="en-US" sz="900" dirty="0"/>
          </a:p>
        </p:txBody>
      </p:sp>
      <p:sp>
        <p:nvSpPr>
          <p:cNvPr id="16" name="Text 12"/>
          <p:cNvSpPr txBox="1"/>
          <p:nvPr/>
        </p:nvSpPr>
        <p:spPr>
          <a:xfrm>
            <a:off x="1170432" y="3658081"/>
            <a:ext cx="3995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F29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離れた所にいるベテランが「測り直せ」と指示。その判断も記録する</a:t>
            </a:r>
            <a:endParaRPr lang="en-US" sz="950" dirty="0"/>
          </a:p>
        </p:txBody>
      </p:sp>
      <p:sp>
        <p:nvSpPr>
          <p:cNvPr id="17" name="Shape 13"/>
          <p:cNvSpPr/>
          <p:nvPr/>
        </p:nvSpPr>
        <p:spPr>
          <a:xfrm>
            <a:off x="365760" y="3987265"/>
            <a:ext cx="713232" cy="237744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18" name="Text 14"/>
          <p:cNvSpPr txBox="1"/>
          <p:nvPr/>
        </p:nvSpPr>
        <p:spPr>
          <a:xfrm>
            <a:off x="365760" y="3987265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まとめる</a:t>
            </a:r>
            <a:endParaRPr lang="en-US" sz="900" dirty="0"/>
          </a:p>
        </p:txBody>
      </p:sp>
      <p:sp>
        <p:nvSpPr>
          <p:cNvPr id="19" name="Text 15"/>
          <p:cNvSpPr txBox="1"/>
          <p:nvPr/>
        </p:nvSpPr>
        <p:spPr>
          <a:xfrm>
            <a:off x="1170432" y="3959833"/>
            <a:ext cx="3995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F29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写真は手順ごとに報告書へ。作業者が書く時間は0分</a:t>
            </a:r>
            <a:endParaRPr lang="en-US" sz="950" dirty="0"/>
          </a:p>
        </p:txBody>
      </p:sp>
      <p:pic>
        <p:nvPicPr>
          <p:cNvPr id="20" name="Image 1" descr="/home/user/-ai-commute-audio-/deck/assets/shot-glas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9240" y="1005840"/>
            <a:ext cx="3429000" cy="1439547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5349240" y="2463675"/>
            <a:ext cx="3429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4A556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デモ画面：AIグラスに映る表示（架空の工事）</a:t>
            </a:r>
            <a:endParaRPr lang="en-US" sz="800" dirty="0"/>
          </a:p>
        </p:txBody>
      </p:sp>
      <p:sp>
        <p:nvSpPr>
          <p:cNvPr id="22" name="Shape 17"/>
          <p:cNvSpPr/>
          <p:nvPr/>
        </p:nvSpPr>
        <p:spPr>
          <a:xfrm>
            <a:off x="5349240" y="2719707"/>
            <a:ext cx="3429000" cy="1733421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23" name="Text 18"/>
          <p:cNvSpPr txBox="1"/>
          <p:nvPr/>
        </p:nvSpPr>
        <p:spPr>
          <a:xfrm>
            <a:off x="5477256" y="2719707"/>
            <a:ext cx="3172968" cy="17334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F5C40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他社がすぐに真似できない理由</a:t>
            </a:r>
            <a:pPr algn="l" indent="0" marL="0">
              <a:lnSpc>
                <a:spcPct val="115000"/>
              </a:lnSpc>
              <a:spcAft>
                <a:spcPts val="300"/>
              </a:spcAft>
              <a:buNone/>
            </a:pPr>
            <a:endParaRPr lang="en-US" sz="950" dirty="0"/>
          </a:p>
          <a:p>
            <a:pPr algn="l"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1. 記録は使うほど貯まり、後から来た会社に移せない</a:t>
            </a:r>
            <a:endParaRPr lang="en-US" sz="950" dirty="0"/>
          </a:p>
          <a:p>
            <a:pPr algn="l"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2. 大事な場面を判断できるのは施工経験者だけ</a:t>
            </a:r>
            <a:endParaRPr lang="en-US" sz="950" dirty="0"/>
          </a:p>
          <a:p>
            <a:pPr algn="l"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3. 電気工事の手順と報告書の型を先に揃える</a:t>
            </a:r>
            <a:endParaRPr lang="en-US" sz="950" dirty="0"/>
          </a:p>
        </p:txBody>
      </p:sp>
      <p:sp>
        <p:nvSpPr>
          <p:cNvPr id="24" name="Text 19"/>
          <p:cNvSpPr txBox="1"/>
          <p:nvPr/>
        </p:nvSpPr>
        <p:spPr>
          <a:xfrm>
            <a:off x="365760" y="4553712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7B8794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寸法・人物はすべて架空。デモアプリは claude.ai 上で再生できる（作業の再生・1件ずつ送り・全体像）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773168"/>
            <a:ext cx="530352" cy="24688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1B365D"/>
                </a:solidFill>
                <a:latin typeface="BIZ UDPGothic"/>
                <a:ea typeface="BIZ UDPGothic"/>
                <a:cs typeface="BIZ UDPGothic"/>
              </a:defRPr>
            </a:lvl1pPr>
          </a:lstStyle>
          <a:p>
            <a:pPr algn="ctr"/>
            <a:fld id="{F7021451-1387-4CA6-816F-3879F97B5CBC}" type="slidenum">
              <a:rPr b="1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365760" y="274320"/>
            <a:ext cx="402336" cy="402336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365760" y="2743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1</a:t>
            </a:r>
            <a:endParaRPr lang="en-US" sz="1700" dirty="0"/>
          </a:p>
        </p:txBody>
      </p:sp>
      <p:sp>
        <p:nvSpPr>
          <p:cNvPr id="5" name="Text 2"/>
          <p:cNvSpPr txBox="1"/>
          <p:nvPr/>
        </p:nvSpPr>
        <p:spPr>
          <a:xfrm>
            <a:off x="6053328" y="4759452"/>
            <a:ext cx="11887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750" b="1" dirty="0">
                <a:solidFill>
                  <a:srgbClr val="1B365D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① 事業</a:t>
            </a:r>
            <a:endParaRPr lang="en-US" sz="750" dirty="0"/>
          </a:p>
        </p:txBody>
      </p:sp>
      <p:sp>
        <p:nvSpPr>
          <p:cNvPr id="6" name="title"/>
          <p:cNvSpPr txBox="1"/>
          <p:nvPr/>
        </p:nvSpPr>
        <p:spPr>
          <a:xfrm>
            <a:off x="859536" y="256032"/>
            <a:ext cx="79187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50" b="1" dirty="0">
                <a:solidFill>
                  <a:srgbClr val="1B365D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使い方と端末：1班に1台、職長がAIグラスを掛ける</a:t>
            </a:r>
            <a:endParaRPr lang="en-US" sz="1850" dirty="0"/>
          </a:p>
        </p:txBody>
      </p:sp>
      <p:sp>
        <p:nvSpPr>
          <p:cNvPr id="7" name="lead"/>
          <p:cNvSpPr txBox="1"/>
          <p:nvPr/>
        </p:nvSpPr>
        <p:spPr>
          <a:xfrm>
            <a:off x="365760" y="694944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A556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端末は作らず市販品を使う。誰が・何台・どこで・何を撮るかを最初に決める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365760" y="950976"/>
            <a:ext cx="8412480" cy="0"/>
          </a:xfrm>
          <a:prstGeom prst="line">
            <a:avLst/>
          </a:prstGeom>
          <a:noFill/>
          <a:ln w="15875">
            <a:solidFill>
              <a:srgbClr val="1B365D"/>
            </a:solidFill>
            <a:prstDash val="solid"/>
          </a:ln>
        </p:spPr>
      </p:sp>
      <p:graphicFrame>
        <p:nvGraphicFramePr>
          <p:cNvPr id="6" name="usag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24128"/>
          <a:ext cx="4389120" cy="914400"/>
        </p:xfrm>
        <a:graphic>
          <a:graphicData uri="http://schemas.openxmlformats.org/drawingml/2006/table">
            <a:tbl>
              <a:tblPr/>
              <a:tblGrid>
                <a:gridCol w="777240"/>
                <a:gridCol w="3611880"/>
              </a:tblGrid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B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決めごと（1拠点の例）</a:t>
                      </a:r>
                      <a:endParaRPr lang="en-US" sz="9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B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65D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誰が</a:t>
                      </a:r>
                      <a:endParaRPr lang="en-US" sz="9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1班に1台、職長が掛ける（電工全員には配らない）</a:t>
                      </a:r>
                      <a:endParaRPr lang="en-US" sz="9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何台</a:t>
                      </a:r>
                      <a:endParaRPr lang="en-US" sz="9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1拠点10台＝5現場×2班。効果が出た班から増やす</a:t>
                      </a:r>
                      <a:endParaRPr lang="en-US" sz="9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どこで</a:t>
                      </a:r>
                      <a:endParaRPr lang="en-US" sz="9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作業エリアだけ。休憩・移動・私語は記録しない</a:t>
                      </a:r>
                      <a:endParaRPr lang="en-US" sz="9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何を</a:t>
                      </a:r>
                      <a:endParaRPr lang="en-US" sz="9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作業の区切り・声の合図・検査の場面。録画は端末に残し、AIに送るのは選んだ場面だけ</a:t>
                      </a:r>
                      <a:endParaRPr lang="en-US" sz="9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どう送る</a:t>
                      </a:r>
                      <a:endParaRPr lang="en-US" sz="9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グラス → スマホ → クラウド。圏外は後で送る</a:t>
                      </a:r>
                      <a:endParaRPr lang="en-US" sz="9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誰が見る</a:t>
                      </a:r>
                      <a:endParaRPr lang="en-US" sz="9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施工管理者は報告書を確認、熟練者は判断を足す、若手は教材で学ぶ</a:t>
                      </a:r>
                      <a:endParaRPr lang="en-US" sz="9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 6"/>
          <p:cNvSpPr txBox="1"/>
          <p:nvPr/>
        </p:nvSpPr>
        <p:spPr>
          <a:xfrm>
            <a:off x="4983480" y="1024128"/>
            <a:ext cx="3794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F29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端末の構成（標準10台）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4983480" y="1298448"/>
            <a:ext cx="548640" cy="457200"/>
          </a:xfrm>
          <a:prstGeom prst="rect">
            <a:avLst/>
          </a:prstGeom>
          <a:solidFill>
            <a:srgbClr val="2F6DB5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4983480" y="129844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8台</a:t>
            </a:r>
            <a:endParaRPr lang="en-US" sz="1100" dirty="0"/>
          </a:p>
        </p:txBody>
      </p:sp>
      <p:sp>
        <p:nvSpPr>
          <p:cNvPr id="13" name="Text 9"/>
          <p:cNvSpPr txBox="1"/>
          <p:nvPr/>
        </p:nvSpPr>
        <p:spPr>
          <a:xfrm>
            <a:off x="5605272" y="1298448"/>
            <a:ext cx="3172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F29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カメラ付きAIグラス</a:t>
            </a:r>
            <a:endParaRPr lang="en-US" sz="10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4A556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約8万円・約50g。記録と音声メモ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4983480" y="1810512"/>
            <a:ext cx="548640" cy="457200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4983480" y="181051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2台</a:t>
            </a:r>
            <a:endParaRPr lang="en-US" sz="1100" dirty="0"/>
          </a:p>
        </p:txBody>
      </p:sp>
      <p:sp>
        <p:nvSpPr>
          <p:cNvPr id="16" name="Text 12"/>
          <p:cNvSpPr txBox="1"/>
          <p:nvPr/>
        </p:nvSpPr>
        <p:spPr>
          <a:xfrm>
            <a:off x="5605272" y="1810512"/>
            <a:ext cx="3172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F29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表示付きARグラス</a:t>
            </a:r>
            <a:endParaRPr lang="en-US" sz="10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4A556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約12万円・約70g。手元に図面と手順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4983480" y="2322576"/>
            <a:ext cx="548640" cy="457200"/>
          </a:xfrm>
          <a:prstGeom prst="rect">
            <a:avLst/>
          </a:prstGeom>
          <a:solidFill>
            <a:srgbClr val="7B8794"/>
          </a:solidFill>
          <a:ln/>
        </p:spPr>
      </p:sp>
      <p:sp>
        <p:nvSpPr>
          <p:cNvPr id="18" name="Text 14"/>
          <p:cNvSpPr txBox="1"/>
          <p:nvPr/>
        </p:nvSpPr>
        <p:spPr>
          <a:xfrm>
            <a:off x="4983480" y="2322576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選択</a:t>
            </a:r>
            <a:endParaRPr lang="en-US" sz="1100" dirty="0"/>
          </a:p>
        </p:txBody>
      </p:sp>
      <p:sp>
        <p:nvSpPr>
          <p:cNvPr id="19" name="Text 15"/>
          <p:cNvSpPr txBox="1"/>
          <p:nvPr/>
        </p:nvSpPr>
        <p:spPr>
          <a:xfrm>
            <a:off x="5605272" y="2322576"/>
            <a:ext cx="3172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F29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産業用ヘッドセット</a:t>
            </a:r>
            <a:endParaRPr lang="en-US" sz="10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4A556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約37万円〜。粉じん・高所の現場だけ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4983480" y="2788920"/>
            <a:ext cx="3794760" cy="777240"/>
          </a:xfrm>
          <a:prstGeom prst="rect">
            <a:avLst/>
          </a:prstGeom>
          <a:solidFill>
            <a:srgbClr val="EAF0F6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5093208" y="2788920"/>
            <a:ext cx="35753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2F6DB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手元AR：</a:t>
            </a:r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F29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壁に貼った約2mの組立図を、手元に実物大で。ミスしやすい所は音声とレーザーで止める。寸法の最終確認はスケール</a:t>
            </a:r>
            <a:endParaRPr lang="en-US" sz="950" dirty="0"/>
          </a:p>
        </p:txBody>
      </p:sp>
      <p:sp>
        <p:nvSpPr>
          <p:cNvPr id="22" name="Shape 18"/>
          <p:cNvSpPr/>
          <p:nvPr/>
        </p:nvSpPr>
        <p:spPr>
          <a:xfrm>
            <a:off x="365760" y="3703320"/>
            <a:ext cx="8412480" cy="749808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23" name="Text 19"/>
          <p:cNvSpPr txBox="1"/>
          <p:nvPr/>
        </p:nvSpPr>
        <p:spPr>
          <a:xfrm>
            <a:off x="493776" y="3703320"/>
            <a:ext cx="81564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950" b="1" dirty="0">
                <a:solidFill>
                  <a:srgbClr val="F5C40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グラスの持ち方：</a:t>
            </a:r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試験導入は当社がレンタル → 本契約はお客様名義のリース（手続きは当社が代行、10台で年約32万円）→ 3年目から端末込みの料金も選べる</a:t>
            </a:r>
            <a:endParaRPr lang="en-US" sz="950" dirty="0"/>
          </a:p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950" b="1" dirty="0">
                <a:solidFill>
                  <a:srgbClr val="F5C40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当社がつくるもの：</a:t>
            </a:r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アプリ・AI・データ基盤。AIグラス本体はつくらず、性能が上がったら乗り換える</a:t>
            </a:r>
            <a:endParaRPr lang="en-US" sz="950" dirty="0"/>
          </a:p>
        </p:txBody>
      </p:sp>
      <p:sp>
        <p:nvSpPr>
          <p:cNvPr id="24" name="Text 20"/>
          <p:cNvSpPr txBox="1"/>
          <p:nvPr/>
        </p:nvSpPr>
        <p:spPr>
          <a:xfrm>
            <a:off x="365760" y="4553712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7B8794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価格・重さは公表値と販売店の参考価格。国内の正規販売・技適・保護めがねの規格・電池の持ちは準備期に実機で確認する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773168"/>
            <a:ext cx="530352" cy="24688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1B365D"/>
                </a:solidFill>
                <a:latin typeface="BIZ UDPGothic"/>
                <a:ea typeface="BIZ UDPGothic"/>
                <a:cs typeface="BIZ UDPGothic"/>
              </a:defRPr>
            </a:lvl1pPr>
          </a:lstStyle>
          <a:p>
            <a:pPr algn="ctr"/>
            <a:fld id="{F7021451-1387-4CA6-816F-3879F97B5CBC}" type="slidenum">
              <a:rPr b="1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365760" y="274320"/>
            <a:ext cx="402336" cy="402336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365760" y="2743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1</a:t>
            </a:r>
            <a:endParaRPr lang="en-US" sz="1700" dirty="0"/>
          </a:p>
        </p:txBody>
      </p:sp>
      <p:sp>
        <p:nvSpPr>
          <p:cNvPr id="5" name="Text 2"/>
          <p:cNvSpPr txBox="1"/>
          <p:nvPr/>
        </p:nvSpPr>
        <p:spPr>
          <a:xfrm>
            <a:off x="6053328" y="4759452"/>
            <a:ext cx="11887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750" b="1" dirty="0">
                <a:solidFill>
                  <a:srgbClr val="1B365D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① 事業</a:t>
            </a:r>
            <a:endParaRPr lang="en-US" sz="750" dirty="0"/>
          </a:p>
        </p:txBody>
      </p:sp>
      <p:sp>
        <p:nvSpPr>
          <p:cNvPr id="6" name="title"/>
          <p:cNvSpPr txBox="1"/>
          <p:nvPr/>
        </p:nvSpPr>
        <p:spPr>
          <a:xfrm>
            <a:off x="859536" y="256032"/>
            <a:ext cx="79187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50" b="1" dirty="0">
                <a:solidFill>
                  <a:srgbClr val="1B365D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競合と差別化：日立と方向は同じ。対象を施工と中堅に絞る</a:t>
            </a:r>
            <a:endParaRPr lang="en-US" sz="1850" dirty="0"/>
          </a:p>
        </p:txBody>
      </p:sp>
      <p:sp>
        <p:nvSpPr>
          <p:cNvPr id="7" name="lead"/>
          <p:cNvSpPr txBox="1"/>
          <p:nvPr/>
        </p:nvSpPr>
        <p:spPr>
          <a:xfrm>
            <a:off x="365760" y="694944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A556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施工管理アプリは人が入力する前提。日立は自社の保守契約にAIを組み込む。当社は中堅の施工を月額で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365760" y="950976"/>
            <a:ext cx="8412480" cy="0"/>
          </a:xfrm>
          <a:prstGeom prst="line">
            <a:avLst/>
          </a:prstGeom>
          <a:noFill/>
          <a:ln w="15875">
            <a:solidFill>
              <a:srgbClr val="1B365D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65760" y="1024128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F29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ポジショニングマップ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2400300" y="1481328"/>
            <a:ext cx="1805940" cy="1257300"/>
          </a:xfrm>
          <a:prstGeom prst="rect">
            <a:avLst/>
          </a:prstGeom>
          <a:solidFill>
            <a:srgbClr val="EAF0F6"/>
          </a:solidFill>
          <a:ln/>
        </p:spPr>
      </p:sp>
      <p:sp>
        <p:nvSpPr>
          <p:cNvPr id="11" name="Shape 8"/>
          <p:cNvSpPr/>
          <p:nvPr/>
        </p:nvSpPr>
        <p:spPr>
          <a:xfrm>
            <a:off x="594360" y="2738628"/>
            <a:ext cx="3611880" cy="0"/>
          </a:xfrm>
          <a:prstGeom prst="line">
            <a:avLst/>
          </a:prstGeom>
          <a:noFill/>
          <a:ln w="9525">
            <a:solidFill>
              <a:srgbClr val="7B8794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400300" y="1481328"/>
            <a:ext cx="0" cy="2514600"/>
          </a:xfrm>
          <a:prstGeom prst="line">
            <a:avLst/>
          </a:prstGeom>
          <a:noFill/>
          <a:ln w="9525">
            <a:solidFill>
              <a:srgbClr val="7B8794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1485900" y="126187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4A556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判断を渡す・教える</a:t>
            </a:r>
            <a:endParaRPr lang="en-US" sz="850" dirty="0"/>
          </a:p>
        </p:txBody>
      </p:sp>
      <p:sp>
        <p:nvSpPr>
          <p:cNvPr id="14" name="Text 11"/>
          <p:cNvSpPr txBox="1"/>
          <p:nvPr/>
        </p:nvSpPr>
        <p:spPr>
          <a:xfrm>
            <a:off x="1485900" y="402336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4A556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記録して終わり</a:t>
            </a:r>
            <a:endParaRPr lang="en-US" sz="850" dirty="0"/>
          </a:p>
        </p:txBody>
      </p:sp>
      <p:sp>
        <p:nvSpPr>
          <p:cNvPr id="15" name="Text 12"/>
          <p:cNvSpPr txBox="1"/>
          <p:nvPr/>
        </p:nvSpPr>
        <p:spPr>
          <a:xfrm>
            <a:off x="594360" y="2766060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4A556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← 人が撮って入力</a:t>
            </a:r>
            <a:endParaRPr lang="en-US" sz="800" dirty="0"/>
          </a:p>
        </p:txBody>
      </p:sp>
      <p:sp>
        <p:nvSpPr>
          <p:cNvPr id="16" name="Text 13"/>
          <p:cNvSpPr txBox="1"/>
          <p:nvPr/>
        </p:nvSpPr>
        <p:spPr>
          <a:xfrm>
            <a:off x="2926080" y="2766060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4A556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自動で記録 →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963778" y="3076956"/>
            <a:ext cx="128016" cy="12801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B365D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1128370" y="304038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1F29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ANDPAD（施工管理）</a:t>
            </a:r>
            <a:endParaRPr lang="en-US" sz="800" dirty="0"/>
          </a:p>
        </p:txBody>
      </p:sp>
      <p:sp>
        <p:nvSpPr>
          <p:cNvPr id="19" name="Shape 16"/>
          <p:cNvSpPr/>
          <p:nvPr/>
        </p:nvSpPr>
        <p:spPr>
          <a:xfrm>
            <a:off x="1613916" y="2825496"/>
            <a:ext cx="128016" cy="12801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B365D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1778508" y="278892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1F29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SPIDERPLUS</a:t>
            </a:r>
            <a:endParaRPr lang="en-US" sz="800" dirty="0"/>
          </a:p>
        </p:txBody>
      </p:sp>
      <p:sp>
        <p:nvSpPr>
          <p:cNvPr id="21" name="Shape 18"/>
          <p:cNvSpPr/>
          <p:nvPr/>
        </p:nvSpPr>
        <p:spPr>
          <a:xfrm>
            <a:off x="819302" y="3579876"/>
            <a:ext cx="128016" cy="12801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B365D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983894" y="354330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1F29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蔵衛門（工事写真）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1036015" y="2221992"/>
            <a:ext cx="128016" cy="12801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B365D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1200607" y="2185416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1F29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tebiki（手順）</a:t>
            </a:r>
            <a:endParaRPr lang="en-US" sz="800" dirty="0"/>
          </a:p>
        </p:txBody>
      </p:sp>
      <p:sp>
        <p:nvSpPr>
          <p:cNvPr id="25" name="Shape 22"/>
          <p:cNvSpPr/>
          <p:nvPr/>
        </p:nvSpPr>
        <p:spPr>
          <a:xfrm>
            <a:off x="2119579" y="1769364"/>
            <a:ext cx="128016" cy="12801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B365D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528523" y="1732788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1F29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日立PS（受変電の点検）</a:t>
            </a:r>
            <a:endParaRPr lang="en-US" sz="800" dirty="0"/>
          </a:p>
        </p:txBody>
      </p:sp>
      <p:sp>
        <p:nvSpPr>
          <p:cNvPr id="27" name="Shape 24"/>
          <p:cNvSpPr/>
          <p:nvPr/>
        </p:nvSpPr>
        <p:spPr>
          <a:xfrm>
            <a:off x="3419856" y="3630168"/>
            <a:ext cx="128016" cy="12801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B365D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1828800" y="3593592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1F29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遠隔臨場カメラ</a:t>
            </a:r>
            <a:endParaRPr lang="en-US" sz="800" dirty="0"/>
          </a:p>
        </p:txBody>
      </p:sp>
      <p:sp>
        <p:nvSpPr>
          <p:cNvPr id="29" name="Shape 26"/>
          <p:cNvSpPr/>
          <p:nvPr/>
        </p:nvSpPr>
        <p:spPr>
          <a:xfrm>
            <a:off x="3058668" y="2473452"/>
            <a:ext cx="128016" cy="12801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B365D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1467612" y="2436876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1F29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RealWear</a:t>
            </a:r>
            <a:endParaRPr lang="en-US" sz="800" dirty="0"/>
          </a:p>
        </p:txBody>
      </p:sp>
      <p:sp>
        <p:nvSpPr>
          <p:cNvPr id="31" name="Shape 28"/>
          <p:cNvSpPr/>
          <p:nvPr/>
        </p:nvSpPr>
        <p:spPr>
          <a:xfrm>
            <a:off x="3492094" y="2171700"/>
            <a:ext cx="128016" cy="12801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B365D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1901038" y="2135124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1F29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日立 AI Safety</a:t>
            </a:r>
            <a:endParaRPr lang="en-US" sz="800" dirty="0"/>
          </a:p>
        </p:txBody>
      </p:sp>
      <p:sp>
        <p:nvSpPr>
          <p:cNvPr id="33" name="Shape 30"/>
          <p:cNvSpPr/>
          <p:nvPr/>
        </p:nvSpPr>
        <p:spPr>
          <a:xfrm>
            <a:off x="3744468" y="1783080"/>
            <a:ext cx="201168" cy="201168"/>
          </a:xfrm>
          <a:prstGeom prst="ellipse">
            <a:avLst/>
          </a:prstGeom>
          <a:solidFill>
            <a:srgbClr val="1B365D"/>
          </a:solidFill>
          <a:ln w="15875">
            <a:solidFill>
              <a:srgbClr val="1B365D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2153412" y="178308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F29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カンツギ</a:t>
            </a:r>
            <a:endParaRPr lang="en-US" sz="1000" dirty="0"/>
          </a:p>
        </p:txBody>
      </p:sp>
      <p:graphicFrame>
        <p:nvGraphicFramePr>
          <p:cNvPr id="7" name="v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26280" y="1024128"/>
          <a:ext cx="4251960" cy="914400"/>
        </p:xfrm>
        <a:graphic>
          <a:graphicData uri="http://schemas.openxmlformats.org/drawingml/2006/table">
            <a:tbl>
              <a:tblPr/>
              <a:tblGrid>
                <a:gridCol w="685800"/>
                <a:gridCol w="1143000"/>
                <a:gridCol w="1234440"/>
                <a:gridCol w="1188720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8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B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日立 AI Safety</a:t>
                      </a:r>
                      <a:endParaRPr lang="en-US" sz="8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B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日立PS 点検AI</a:t>
                      </a:r>
                      <a:endParaRPr lang="en-US" sz="8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B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カンツギ</a:t>
                      </a:r>
                      <a:endParaRPr lang="en-US" sz="8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B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65D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仕事</a:t>
                      </a:r>
                      <a:endParaRPr lang="en-US" sz="8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ビル設備の保守</a:t>
                      </a:r>
                      <a:endParaRPr lang="en-US" sz="8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受変電設備の点検</a:t>
                      </a:r>
                      <a:endParaRPr lang="en-US" sz="8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電気工事の施工</a:t>
                      </a:r>
                      <a:endParaRPr lang="en-US" sz="8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使う人</a:t>
                      </a:r>
                      <a:endParaRPr lang="en-US" sz="8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日立の自社技術者</a:t>
                      </a:r>
                      <a:endParaRPr lang="en-US" sz="8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日立PSの保守員</a:t>
                      </a:r>
                      <a:endParaRPr lang="en-US" sz="8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中堅の電気工事会社</a:t>
                      </a:r>
                      <a:endParaRPr lang="en-US" sz="8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AIの働き</a:t>
                      </a:r>
                      <a:endParaRPr lang="en-US" sz="8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映像で危険を通知</a:t>
                      </a:r>
                      <a:endParaRPr lang="en-US" sz="8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点検前後の写真でミスを照合</a:t>
                      </a:r>
                      <a:endParaRPr lang="en-US" sz="8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記録→書類→教材</a:t>
                      </a:r>
                      <a:endParaRPr lang="en-US" sz="8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稼ぎ方</a:t>
                      </a:r>
                      <a:endParaRPr lang="en-US" sz="8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保守契約・ビル向け</a:t>
                      </a:r>
                      <a:endParaRPr lang="en-US" sz="8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保守契約（AIは品質と原価）</a:t>
                      </a:r>
                      <a:endParaRPr lang="en-US" sz="8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月額の利用料</a:t>
                      </a:r>
                      <a:endParaRPr lang="en-US" sz="8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段階</a:t>
                      </a:r>
                      <a:endParaRPr lang="en-US" sz="8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現場で運用中</a:t>
                      </a:r>
                      <a:endParaRPr lang="en-US" sz="8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検証中</a:t>
                      </a:r>
                      <a:endParaRPr lang="en-US" sz="8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準備期</a:t>
                      </a:r>
                      <a:endParaRPr lang="en-US" sz="8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6" name="Shape 32"/>
          <p:cNvSpPr/>
          <p:nvPr/>
        </p:nvSpPr>
        <p:spPr>
          <a:xfrm>
            <a:off x="4526280" y="3108960"/>
            <a:ext cx="4251960" cy="1344168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37" name="Text 33"/>
          <p:cNvSpPr txBox="1"/>
          <p:nvPr/>
        </p:nvSpPr>
        <p:spPr>
          <a:xfrm>
            <a:off x="4654296" y="3108960"/>
            <a:ext cx="3995928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F5C40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差別化の方針</a:t>
            </a:r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endParaRPr lang="en-US" sz="900" dirty="0"/>
          </a:p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① 安全・保守の領域では競わない</a:t>
            </a:r>
            <a:endParaRPr lang="en-US" sz="900" dirty="0"/>
          </a:p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② 施工の書類（写真台帳・検査記録）を発注者の書式で出す</a:t>
            </a:r>
            <a:endParaRPr lang="en-US" sz="900" dirty="0"/>
          </a:p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③ 電気工事の工種ごとの型と教材を先に揃える</a:t>
            </a:r>
            <a:endParaRPr lang="en-US" sz="900" dirty="0"/>
          </a:p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F5C40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日立が同じ領域に来た場合：</a:t>
            </a:r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提携も選択肢に入れる。2〜3年で型とデータを先に揃える</a:t>
            </a:r>
            <a:endParaRPr lang="en-US" sz="900" dirty="0"/>
          </a:p>
        </p:txBody>
      </p:sp>
      <p:sp>
        <p:nvSpPr>
          <p:cNvPr id="38" name="Text 34"/>
          <p:cNvSpPr txBox="1"/>
          <p:nvPr/>
        </p:nvSpPr>
        <p:spPr>
          <a:xfrm>
            <a:off x="365760" y="4553712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7B8794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日立PS＝日立パワーソリューションズ。出典：日立ニュースリリース（2025年3月・10月・11月）、Physical AI 事例（2026年7月）。日立の価格・外販は未確認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773168"/>
            <a:ext cx="530352" cy="24688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1B365D"/>
                </a:solidFill>
                <a:latin typeface="BIZ UDPGothic"/>
                <a:ea typeface="BIZ UDPGothic"/>
                <a:cs typeface="BIZ UDPGothic"/>
              </a:defRPr>
            </a:lvl1pPr>
          </a:lstStyle>
          <a:p>
            <a:pPr algn="ctr"/>
            <a:fld id="{F7021451-1387-4CA6-816F-3879F97B5CBC}" type="slidenum">
              <a:rPr b="1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365760" y="274320"/>
            <a:ext cx="402336" cy="402336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365760" y="2743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2</a:t>
            </a:r>
            <a:endParaRPr lang="en-US" sz="1700" dirty="0"/>
          </a:p>
        </p:txBody>
      </p:sp>
      <p:sp>
        <p:nvSpPr>
          <p:cNvPr id="5" name="Text 2"/>
          <p:cNvSpPr txBox="1"/>
          <p:nvPr/>
        </p:nvSpPr>
        <p:spPr>
          <a:xfrm>
            <a:off x="6053328" y="4759452"/>
            <a:ext cx="11887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750" b="1" dirty="0">
                <a:solidFill>
                  <a:srgbClr val="1B365D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② スタッフ</a:t>
            </a:r>
            <a:endParaRPr lang="en-US" sz="750" dirty="0"/>
          </a:p>
        </p:txBody>
      </p:sp>
      <p:sp>
        <p:nvSpPr>
          <p:cNvPr id="6" name="title"/>
          <p:cNvSpPr txBox="1"/>
          <p:nvPr/>
        </p:nvSpPr>
        <p:spPr>
          <a:xfrm>
            <a:off x="859536" y="256032"/>
            <a:ext cx="79187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50" b="1" dirty="0">
                <a:solidFill>
                  <a:srgbClr val="1B365D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スタッフ：5年目23人。現場監修とコンサルを社内に置く</a:t>
            </a:r>
            <a:endParaRPr lang="en-US" sz="1850" dirty="0"/>
          </a:p>
        </p:txBody>
      </p:sp>
      <p:sp>
        <p:nvSpPr>
          <p:cNvPr id="7" name="lead"/>
          <p:cNvSpPr txBox="1"/>
          <p:nvPr/>
        </p:nvSpPr>
        <p:spPr>
          <a:xfrm>
            <a:off x="365760" y="694944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A556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役割ごとの人数・求める特性・私の役割。各社の帳票の設定は外注せず、ノウハウを社内に貯める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365760" y="950976"/>
            <a:ext cx="8412480" cy="0"/>
          </a:xfrm>
          <a:prstGeom prst="line">
            <a:avLst/>
          </a:prstGeom>
          <a:noFill/>
          <a:ln w="15875">
            <a:solidFill>
              <a:srgbClr val="1B365D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65760" y="1024128"/>
            <a:ext cx="2606040" cy="3429000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493776" y="1097280"/>
            <a:ext cx="23500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代表取締役 CEO</a:t>
            </a:r>
            <a:endParaRPr lang="en-US" sz="11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代表（創業者）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493776" y="1682496"/>
            <a:ext cx="2350008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電線メーカーで66kV／275kV 地中送電線の施工管理5年</a:t>
            </a:r>
            <a:endParaRPr lang="en-US" sz="950" dirty="0"/>
          </a:p>
          <a:p>
            <a:pPr algn="l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Python・FastAPI・Docker・RAGを独学し業務に実装</a:t>
            </a:r>
            <a:endParaRPr lang="en-US" sz="950" dirty="0"/>
          </a:p>
          <a:p>
            <a:pPr algn="l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ニュース要約→音声→毎朝配信を個人で運用中</a:t>
            </a:r>
            <a:endParaRPr lang="en-US" sz="950" dirty="0"/>
          </a:p>
          <a:p>
            <a:pPr algn="l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1級電気工事施工管理技士・G検定</a:t>
            </a:r>
            <a:endParaRPr lang="en-US" sz="950" dirty="0"/>
          </a:p>
          <a:p>
            <a:pPr algn="l"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950" b="1" dirty="0">
                <a:solidFill>
                  <a:srgbClr val="F5C40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私の役割：最初の営業・現場監修の統括・判断基準づくり</a:t>
            </a:r>
            <a:endParaRPr lang="en-US" sz="950" dirty="0"/>
          </a:p>
        </p:txBody>
      </p:sp>
      <p:graphicFrame>
        <p:nvGraphicFramePr>
          <p:cNvPr id="8" name="team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154680" y="1024128"/>
          <a:ext cx="5623560" cy="914400"/>
        </p:xfrm>
        <a:graphic>
          <a:graphicData uri="http://schemas.openxmlformats.org/drawingml/2006/table">
            <a:tbl>
              <a:tblPr/>
              <a:tblGrid>
                <a:gridCol w="1143000"/>
                <a:gridCol w="685800"/>
                <a:gridCol w="2148840"/>
                <a:gridCol w="1645920"/>
              </a:tblGrid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役割</a:t>
                      </a:r>
                      <a:endParaRPr lang="en-US" sz="8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B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人数 1→5年目</a:t>
                      </a:r>
                      <a:endParaRPr lang="en-US" sz="8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B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任せる仕事</a:t>
                      </a:r>
                      <a:endParaRPr lang="en-US" sz="8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B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求める特性</a:t>
                      </a:r>
                      <a:endParaRPr lang="en-US" sz="8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B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65D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CTO</a:t>
                      </a:r>
                      <a:endParaRPr lang="en-US" sz="8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1→1人</a:t>
                      </a:r>
                      <a:endParaRPr lang="en-US" sz="8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映像AI・データ基盤の設計と開発の責任者</a:t>
                      </a:r>
                      <a:endParaRPr lang="en-US" sz="8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映像AIとクラウドを設計した経験</a:t>
                      </a:r>
                      <a:endParaRPr lang="en-US" sz="8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エンジニア</a:t>
                      </a:r>
                      <a:endParaRPr lang="en-US" sz="8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1→5人</a:t>
                      </a:r>
                      <a:endParaRPr lang="en-US" sz="8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アプリ・AI処理・クラウド・グラス連携</a:t>
                      </a:r>
                      <a:endParaRPr lang="en-US" sz="8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現場に足を運ぶのをいとわない</a:t>
                      </a:r>
                      <a:endParaRPr lang="en-US" sz="8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現場監修</a:t>
                      </a:r>
                      <a:endParaRPr lang="en-US" sz="8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1→2人</a:t>
                      </a:r>
                      <a:endParaRPr lang="en-US" sz="8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映像の意味づけ（ラベル付け）・工種の型・品質の確認</a:t>
                      </a:r>
                      <a:endParaRPr lang="en-US" sz="8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電気工事の施工管理10年以上</a:t>
                      </a:r>
                      <a:endParaRPr lang="en-US" sz="8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導入コンサルタント</a:t>
                      </a:r>
                      <a:endParaRPr lang="en-US" sz="8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1→8人</a:t>
                      </a:r>
                      <a:endParaRPr lang="en-US" sz="8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導入支援・各社の帳票と連携の設定・定着支援</a:t>
                      </a:r>
                      <a:endParaRPr lang="en-US" sz="8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現場と事務所の両方の言葉で話せる</a:t>
                      </a:r>
                      <a:endParaRPr lang="en-US" sz="8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営業</a:t>
                      </a:r>
                      <a:endParaRPr lang="en-US" sz="8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0→3人</a:t>
                      </a:r>
                      <a:endParaRPr lang="en-US" sz="8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商談・試験導入の提案。年30商談／人</a:t>
                      </a:r>
                      <a:endParaRPr lang="en-US" sz="8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電設業界の人脈と技術の理解</a:t>
                      </a:r>
                      <a:endParaRPr lang="en-US" sz="8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管理</a:t>
                      </a:r>
                      <a:endParaRPr lang="en-US" sz="8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0→2人</a:t>
                      </a:r>
                      <a:endParaRPr lang="en-US" sz="8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採用・労務・経理・契約</a:t>
                      </a:r>
                      <a:endParaRPr lang="en-US" sz="8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少人数で幅広く回せる</a:t>
                      </a:r>
                      <a:endParaRPr lang="en-US" sz="8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戦略企画</a:t>
                      </a:r>
                      <a:endParaRPr lang="en-US" sz="8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0→1人</a:t>
                      </a:r>
                      <a:endParaRPr lang="en-US" sz="8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価格・提携・大手顧客の企画</a:t>
                      </a:r>
                      <a:endParaRPr lang="en-US" sz="8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数字で提携と価格を設計できる</a:t>
                      </a:r>
                      <a:endParaRPr lang="en-US" sz="8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社外顧問</a:t>
                      </a:r>
                      <a:endParaRPr lang="en-US" sz="8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2人</a:t>
                      </a:r>
                      <a:endParaRPr lang="en-US" sz="8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映像AI（大学）・電気工事業界のOB</a:t>
                      </a:r>
                      <a:endParaRPr lang="en-US" sz="8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月1〜2回の助言</a:t>
                      </a:r>
                      <a:endParaRPr lang="en-US" sz="8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Shape 9"/>
          <p:cNvSpPr/>
          <p:nvPr/>
        </p:nvSpPr>
        <p:spPr>
          <a:xfrm>
            <a:off x="3154680" y="3840480"/>
            <a:ext cx="5623560" cy="612648"/>
          </a:xfrm>
          <a:prstGeom prst="rect">
            <a:avLst/>
          </a:prstGeom>
          <a:solidFill>
            <a:srgbClr val="EAF0F6"/>
          </a:solidFill>
          <a:ln/>
        </p:spPr>
      </p:sp>
      <p:sp>
        <p:nvSpPr>
          <p:cNvPr id="14" name="Text 10"/>
          <p:cNvSpPr txBox="1"/>
          <p:nvPr/>
        </p:nvSpPr>
        <p:spPr>
          <a:xfrm>
            <a:off x="3264408" y="3840480"/>
            <a:ext cx="5404104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2F6DB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導入コンサルタントを社内に置く理由：</a:t>
            </a:r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F29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各社の帳票や連携の設定を外注すると、ノウハウが社外に残る。社内で設定し、型として製品に戻す</a:t>
            </a:r>
            <a:endParaRPr lang="en-US" sz="950" dirty="0"/>
          </a:p>
        </p:txBody>
      </p:sp>
      <p:sp>
        <p:nvSpPr>
          <p:cNvPr id="15" name="Text 11"/>
          <p:cNvSpPr txBox="1"/>
          <p:nvPr/>
        </p:nvSpPr>
        <p:spPr>
          <a:xfrm>
            <a:off x="365760" y="4553712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7B8794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人件費は役割別の年収×1.2（会社負担）＋採用費（年収30%×紹介会社経由50%）＋社外顧問 年180万円。パートナー：グラスのメーカー・リース会社・大学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773168"/>
            <a:ext cx="530352" cy="24688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1B365D"/>
                </a:solidFill>
                <a:latin typeface="BIZ UDPGothic"/>
                <a:ea typeface="BIZ UDPGothic"/>
                <a:cs typeface="BIZ UDPGothic"/>
              </a:defRPr>
            </a:lvl1pPr>
          </a:lstStyle>
          <a:p>
            <a:pPr algn="ctr"/>
            <a:fld id="{F7021451-1387-4CA6-816F-3879F97B5CBC}" type="slidenum">
              <a:rPr b="1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365760" y="274320"/>
            <a:ext cx="402336" cy="402336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365760" y="2743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3</a:t>
            </a:r>
            <a:endParaRPr lang="en-US" sz="1700" dirty="0"/>
          </a:p>
        </p:txBody>
      </p:sp>
      <p:sp>
        <p:nvSpPr>
          <p:cNvPr id="5" name="Text 2"/>
          <p:cNvSpPr txBox="1"/>
          <p:nvPr/>
        </p:nvSpPr>
        <p:spPr>
          <a:xfrm>
            <a:off x="6053328" y="4759452"/>
            <a:ext cx="11887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750" b="1" dirty="0">
                <a:solidFill>
                  <a:srgbClr val="1B365D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③ 経営理念</a:t>
            </a:r>
            <a:endParaRPr lang="en-US" sz="750" dirty="0"/>
          </a:p>
        </p:txBody>
      </p:sp>
      <p:sp>
        <p:nvSpPr>
          <p:cNvPr id="6" name="title"/>
          <p:cNvSpPr txBox="1"/>
          <p:nvPr/>
        </p:nvSpPr>
        <p:spPr>
          <a:xfrm>
            <a:off x="859536" y="256032"/>
            <a:ext cx="79187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50" b="1" dirty="0">
                <a:solidFill>
                  <a:srgbClr val="1B365D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経営理念：現場の勘を次の担い手へ</a:t>
            </a:r>
            <a:endParaRPr lang="en-US" sz="1850" dirty="0"/>
          </a:p>
        </p:txBody>
      </p:sp>
      <p:sp>
        <p:nvSpPr>
          <p:cNvPr id="7" name="lead"/>
          <p:cNvSpPr txBox="1"/>
          <p:nvPr/>
        </p:nvSpPr>
        <p:spPr>
          <a:xfrm>
            <a:off x="365760" y="694944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A556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ホームページで伝える内容：使命・大切にすること・それぞれへの約束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365760" y="950976"/>
            <a:ext cx="8412480" cy="0"/>
          </a:xfrm>
          <a:prstGeom prst="line">
            <a:avLst/>
          </a:prstGeom>
          <a:noFill/>
          <a:ln w="15875">
            <a:solidFill>
              <a:srgbClr val="1B365D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65760" y="1024128"/>
            <a:ext cx="3200400" cy="3429000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530352" y="1115568"/>
            <a:ext cx="2871216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F5C40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使命（ミッション）</a:t>
            </a:r>
            <a:endParaRPr lang="en-US" sz="1100" dirty="0"/>
          </a:p>
          <a:p>
            <a:pPr algn="l"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20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現場の勘を</a:t>
            </a:r>
            <a:endParaRPr lang="en-US" sz="1100" dirty="0"/>
          </a:p>
          <a:p>
            <a:pPr algn="l"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20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次の担い手へ</a:t>
            </a:r>
            <a:endParaRPr lang="en-US" sz="1100" dirty="0"/>
          </a:p>
          <a:p>
            <a:pPr algn="l"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熟練者の判断をデータで継ぎ、人が減っても日本の現場の品質を守る</a:t>
            </a:r>
            <a:endParaRPr lang="en-US" sz="1100" dirty="0"/>
          </a:p>
          <a:p>
            <a:pPr algn="l"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6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 </a:t>
            </a:r>
            <a:endParaRPr lang="en-US" sz="1100" dirty="0"/>
          </a:p>
          <a:p>
            <a:pPr algn="l"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F5C40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目指す姿（ビジョン）</a:t>
            </a:r>
            <a:endParaRPr lang="en-US" sz="1100" dirty="0"/>
          </a:p>
          <a:p>
            <a:pPr algn="l"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人が減っても、現場が迷わず回る。若手が「聞ける先輩がいない」と困らない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3794760" y="1024128"/>
            <a:ext cx="4983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F29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大切にする3つのこと（バリュー）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794760" y="1353312"/>
            <a:ext cx="347472" cy="384048"/>
          </a:xfrm>
          <a:prstGeom prst="rect">
            <a:avLst/>
          </a:prstGeom>
          <a:solidFill>
            <a:srgbClr val="2F6DB5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3794760" y="1353312"/>
            <a:ext cx="347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1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4224528" y="1316736"/>
            <a:ext cx="4553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F29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現場を主役に</a:t>
            </a:r>
            <a:endParaRPr lang="en-US" sz="10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4A556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作業の手を止めない。入力を増やさない。現場の言葉で話す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3794760" y="1828800"/>
            <a:ext cx="347472" cy="384048"/>
          </a:xfrm>
          <a:prstGeom prst="rect">
            <a:avLst/>
          </a:prstGeom>
          <a:solidFill>
            <a:srgbClr val="2F6DB5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3794760" y="1828800"/>
            <a:ext cx="347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4224528" y="1792224"/>
            <a:ext cx="4553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F29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勘に敬意を</a:t>
            </a:r>
            <a:endParaRPr lang="en-US" sz="10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4A556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記録は本人の同意のもとで。誰の技術かを残し、評価につなげる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3794760" y="2304288"/>
            <a:ext cx="347472" cy="384048"/>
          </a:xfrm>
          <a:prstGeom prst="rect">
            <a:avLst/>
          </a:prstGeom>
          <a:solidFill>
            <a:srgbClr val="2F6DB5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3794760" y="2304288"/>
            <a:ext cx="347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4224528" y="2267712"/>
            <a:ext cx="4553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F29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数字で約束する</a:t>
            </a:r>
            <a:endParaRPr lang="en-US" sz="10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4A556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効果は毎月測って見せる。効かなければ正直に言う</a:t>
            </a:r>
            <a:endParaRPr lang="en-US" sz="1050" dirty="0"/>
          </a:p>
        </p:txBody>
      </p:sp>
      <p:sp>
        <p:nvSpPr>
          <p:cNvPr id="21" name="Text 18"/>
          <p:cNvSpPr txBox="1"/>
          <p:nvPr/>
        </p:nvSpPr>
        <p:spPr>
          <a:xfrm>
            <a:off x="3794760" y="2807208"/>
            <a:ext cx="4983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F29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一人ひとりへの約束（ホームページの3つの入口）</a:t>
            </a:r>
            <a:endParaRPr lang="en-US" sz="1100" dirty="0"/>
          </a:p>
        </p:txBody>
      </p:sp>
      <p:graphicFrame>
        <p:nvGraphicFramePr>
          <p:cNvPr id="9" name="promis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794760" y="3081528"/>
          <a:ext cx="498348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520440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誰に</a:t>
                      </a:r>
                      <a:endParaRPr lang="en-US" sz="9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B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伝えること</a:t>
                      </a:r>
                      <a:endParaRPr lang="en-US" sz="9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B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65D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お客様（工事会社）</a:t>
                      </a:r>
                      <a:endParaRPr lang="en-US" sz="9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書類の時間を減らし、効果を毎月の数字で示す</a:t>
                      </a:r>
                      <a:endParaRPr lang="en-US" sz="9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現場で働く人</a:t>
                      </a:r>
                      <a:endParaRPr lang="en-US" sz="9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監視ではない。あなたの技術を残し、若手と評価につなげる</a:t>
                      </a:r>
                      <a:endParaRPr lang="en-US" sz="9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社会・次の世代</a:t>
                      </a:r>
                      <a:endParaRPr lang="en-US" sz="9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現場の勘を業界の財産にし、AIとロボットに教える</a:t>
                      </a:r>
                      <a:endParaRPr lang="en-US" sz="9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3" name="Text 19"/>
          <p:cNvSpPr txBox="1"/>
          <p:nvPr/>
        </p:nvSpPr>
        <p:spPr>
          <a:xfrm>
            <a:off x="365760" y="4553712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7B8794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トップページの一文：「ベテランの『ここが大事』を、メガネ型のカメラとAIで残し、報告書と若手の教材に変えます」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773168"/>
            <a:ext cx="530352" cy="24688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1B365D"/>
                </a:solidFill>
                <a:latin typeface="BIZ UDPGothic"/>
                <a:ea typeface="BIZ UDPGothic"/>
                <a:cs typeface="BIZ UDPGothic"/>
              </a:defRPr>
            </a:lvl1pPr>
          </a:lstStyle>
          <a:p>
            <a:pPr algn="ctr"/>
            <a:fld id="{F7021451-1387-4CA6-816F-3879F97B5CBC}" type="slidenum">
              <a:rPr b="1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365760" y="274320"/>
            <a:ext cx="402336" cy="402336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365760" y="2743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4</a:t>
            </a:r>
            <a:endParaRPr lang="en-US" sz="1700" dirty="0"/>
          </a:p>
        </p:txBody>
      </p:sp>
      <p:sp>
        <p:nvSpPr>
          <p:cNvPr id="5" name="Text 2"/>
          <p:cNvSpPr txBox="1"/>
          <p:nvPr/>
        </p:nvSpPr>
        <p:spPr>
          <a:xfrm>
            <a:off x="6053328" y="4759452"/>
            <a:ext cx="11887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750" b="1" dirty="0">
                <a:solidFill>
                  <a:srgbClr val="1B365D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④ 経営計画</a:t>
            </a:r>
            <a:endParaRPr lang="en-US" sz="750" dirty="0"/>
          </a:p>
        </p:txBody>
      </p:sp>
      <p:sp>
        <p:nvSpPr>
          <p:cNvPr id="6" name="title"/>
          <p:cNvSpPr txBox="1"/>
          <p:nvPr/>
        </p:nvSpPr>
        <p:spPr>
          <a:xfrm>
            <a:off x="859536" y="256032"/>
            <a:ext cx="79187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50" b="1" dirty="0">
                <a:solidFill>
                  <a:srgbClr val="1B365D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市場とターゲット：約141億円（推定）。まず関東の中堅</a:t>
            </a:r>
            <a:endParaRPr lang="en-US" sz="1850" dirty="0"/>
          </a:p>
        </p:txBody>
      </p:sp>
      <p:sp>
        <p:nvSpPr>
          <p:cNvPr id="7" name="lead"/>
          <p:cNvSpPr txBox="1"/>
          <p:nvPr/>
        </p:nvSpPr>
        <p:spPr>
          <a:xfrm>
            <a:off x="365760" y="694944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A556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全体市場（年7〜9%成長）→ ターゲット市場（顧客数×年額）→ 一次ターゲット180社 → 5年で81拠点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365760" y="950976"/>
            <a:ext cx="8412480" cy="0"/>
          </a:xfrm>
          <a:prstGeom prst="line">
            <a:avLst/>
          </a:prstGeom>
          <a:noFill/>
          <a:ln w="15875">
            <a:solidFill>
              <a:srgbClr val="1B365D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65760" y="1024128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F29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ターゲット市場の数え方（顧客数×年額、億円）</a:t>
            </a:r>
            <a:endParaRPr lang="en-US" sz="1100" dirty="0"/>
          </a:p>
        </p:txBody>
      </p:sp>
      <p:graphicFrame>
        <p:nvGraphicFramePr>
          <p:cNvPr id="10" name="seg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298448"/>
          <a:ext cx="420624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371600"/>
                <a:gridCol w="137160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業種＼規模</a:t>
                      </a:r>
                      <a:endParaRPr lang="en-US" sz="9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B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大（300人以上）</a:t>
                      </a:r>
                      <a:endParaRPr lang="en-US" sz="9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B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中（30〜299人）</a:t>
                      </a:r>
                      <a:endParaRPr lang="en-US" sz="9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B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65D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電気工事</a:t>
                      </a:r>
                      <a:endParaRPr lang="en-US" sz="9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300社×1,500万＝45</a:t>
                      </a:r>
                      <a:endParaRPr lang="en-US" sz="9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2,100社×300万＝63</a:t>
                      </a:r>
                      <a:endParaRPr lang="en-US" sz="9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C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電気通信工事</a:t>
                      </a:r>
                      <a:endParaRPr lang="en-US" sz="9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100社×1,500万＝15</a:t>
                      </a:r>
                      <a:endParaRPr lang="en-US" sz="9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600社×300万＝18</a:t>
                      </a:r>
                      <a:endParaRPr lang="en-US" sz="9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合計（中堅以上 約3,100社）</a:t>
                      </a:r>
                      <a:endParaRPr lang="en-US" sz="9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F6DB5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約141億円（推定）</a:t>
                      </a:r>
                      <a:endParaRPr lang="en-US" sz="9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7"/>
          <p:cNvSpPr/>
          <p:nvPr/>
        </p:nvSpPr>
        <p:spPr>
          <a:xfrm>
            <a:off x="365760" y="2596896"/>
            <a:ext cx="4206240" cy="1051560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493776" y="2596896"/>
            <a:ext cx="395020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F5C40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全体市場の伸び</a:t>
            </a:r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endParaRPr lang="en-US" sz="900" dirty="0"/>
          </a:p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国内建設テック（建築）1,845→3,043億円、年7.4%（2023→2030年度）</a:t>
            </a:r>
            <a:endParaRPr lang="en-US" sz="900" dirty="0"/>
          </a:p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自社が狙う市場：5年目81拠点×300万円＝約2.4億円（約1.7%）</a:t>
            </a:r>
            <a:endParaRPr lang="en-US" sz="900" dirty="0"/>
          </a:p>
        </p:txBody>
      </p:sp>
      <p:sp>
        <p:nvSpPr>
          <p:cNvPr id="13" name="Text 9"/>
          <p:cNvSpPr txBox="1"/>
          <p:nvPr/>
        </p:nvSpPr>
        <p:spPr>
          <a:xfrm>
            <a:off x="365760" y="370332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4A556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小規模は1拠点10台が要らないので、まず外す（少人数向けの軽いプランは成長期の候補）。大手は支店5拠点分</a:t>
            </a:r>
            <a:endParaRPr lang="en-US" sz="900" dirty="0"/>
          </a:p>
        </p:txBody>
      </p:sp>
      <p:sp>
        <p:nvSpPr>
          <p:cNvPr id="14" name="Text 10"/>
          <p:cNvSpPr txBox="1"/>
          <p:nvPr/>
        </p:nvSpPr>
        <p:spPr>
          <a:xfrm>
            <a:off x="4800600" y="1024128"/>
            <a:ext cx="3977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F29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一次ターゲットの4条件</a:t>
            </a:r>
            <a:endParaRPr lang="en-US" sz="1100" dirty="0"/>
          </a:p>
        </p:txBody>
      </p:sp>
      <p:graphicFrame>
        <p:nvGraphicFramePr>
          <p:cNvPr id="19" name="icp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00600" y="1298448"/>
          <a:ext cx="397764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2788920"/>
              </a:tblGrid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規模</a:t>
                      </a:r>
                      <a:endParaRPr lang="en-US" sz="9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B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施工管理者30人以上</a:t>
                      </a:r>
                      <a:endParaRPr lang="en-US" sz="9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B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65D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書類の重さ</a:t>
                      </a:r>
                      <a:endParaRPr lang="en-US" sz="9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電力会社・官公庁の工事が多い</a:t>
                      </a:r>
                      <a:endParaRPr lang="en-US" sz="9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手戻りの痛さ</a:t>
                      </a:r>
                      <a:endParaRPr lang="en-US" sz="9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ケーブル接続など高くつく工種</a:t>
                      </a:r>
                      <a:endParaRPr lang="en-US" sz="9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デジタルの素地</a:t>
                      </a:r>
                      <a:endParaRPr lang="en-US" sz="9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施工管理アプリ・DX担当がいる</a:t>
                      </a:r>
                      <a:endParaRPr lang="en-US" sz="9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" name="Text 11"/>
          <p:cNvSpPr txBox="1"/>
          <p:nvPr/>
        </p:nvSpPr>
        <p:spPr>
          <a:xfrm>
            <a:off x="4800600" y="2395728"/>
            <a:ext cx="3977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F29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5年間の積み上げ（仮説）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4800600" y="2670048"/>
            <a:ext cx="3977640" cy="256032"/>
          </a:xfrm>
          <a:prstGeom prst="rect">
            <a:avLst/>
          </a:prstGeom>
          <a:solidFill>
            <a:srgbClr val="7B8794"/>
          </a:solidFill>
          <a:ln/>
        </p:spPr>
      </p:sp>
      <p:sp>
        <p:nvSpPr>
          <p:cNvPr id="18" name="Text 13"/>
          <p:cNvSpPr txBox="1"/>
          <p:nvPr/>
        </p:nvSpPr>
        <p:spPr>
          <a:xfrm>
            <a:off x="4800600" y="2670048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関東の中堅 735社</a:t>
            </a:r>
            <a:endParaRPr lang="en-US" sz="900" dirty="0"/>
          </a:p>
        </p:txBody>
      </p:sp>
      <p:sp>
        <p:nvSpPr>
          <p:cNvPr id="19" name="Shape 14"/>
          <p:cNvSpPr/>
          <p:nvPr/>
        </p:nvSpPr>
        <p:spPr>
          <a:xfrm>
            <a:off x="5158588" y="2962656"/>
            <a:ext cx="3261665" cy="256032"/>
          </a:xfrm>
          <a:prstGeom prst="rect">
            <a:avLst/>
          </a:prstGeom>
          <a:solidFill>
            <a:srgbClr val="4A5563"/>
          </a:solidFill>
          <a:ln/>
        </p:spPr>
      </p:sp>
      <p:sp>
        <p:nvSpPr>
          <p:cNvPr id="20" name="Text 15"/>
          <p:cNvSpPr txBox="1"/>
          <p:nvPr/>
        </p:nvSpPr>
        <p:spPr>
          <a:xfrm>
            <a:off x="5158588" y="2962656"/>
            <a:ext cx="326166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4条件に合う 180社</a:t>
            </a:r>
            <a:endParaRPr lang="en-US" sz="900" dirty="0"/>
          </a:p>
        </p:txBody>
      </p:sp>
      <p:sp>
        <p:nvSpPr>
          <p:cNvPr id="21" name="Shape 16"/>
          <p:cNvSpPr/>
          <p:nvPr/>
        </p:nvSpPr>
        <p:spPr>
          <a:xfrm>
            <a:off x="5516575" y="3255264"/>
            <a:ext cx="2545690" cy="256032"/>
          </a:xfrm>
          <a:prstGeom prst="rect">
            <a:avLst/>
          </a:prstGeom>
          <a:solidFill>
            <a:srgbClr val="4A5563"/>
          </a:solidFill>
          <a:ln/>
        </p:spPr>
      </p:sp>
      <p:sp>
        <p:nvSpPr>
          <p:cNvPr id="22" name="Text 17"/>
          <p:cNvSpPr txBox="1"/>
          <p:nvPr/>
        </p:nvSpPr>
        <p:spPr>
          <a:xfrm>
            <a:off x="5516575" y="3255264"/>
            <a:ext cx="254569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会える（60%）108社</a:t>
            </a:r>
            <a:endParaRPr lang="en-US" sz="900" dirty="0"/>
          </a:p>
        </p:txBody>
      </p:sp>
      <p:sp>
        <p:nvSpPr>
          <p:cNvPr id="23" name="Shape 18"/>
          <p:cNvSpPr/>
          <p:nvPr/>
        </p:nvSpPr>
        <p:spPr>
          <a:xfrm>
            <a:off x="5874563" y="3547872"/>
            <a:ext cx="1829714" cy="256032"/>
          </a:xfrm>
          <a:prstGeom prst="rect">
            <a:avLst/>
          </a:prstGeom>
          <a:solidFill>
            <a:srgbClr val="2F6DB5"/>
          </a:solidFill>
          <a:ln/>
        </p:spPr>
      </p:sp>
      <p:sp>
        <p:nvSpPr>
          <p:cNvPr id="24" name="Text 19"/>
          <p:cNvSpPr txBox="1"/>
          <p:nvPr/>
        </p:nvSpPr>
        <p:spPr>
          <a:xfrm>
            <a:off x="5874563" y="3547872"/>
            <a:ext cx="18297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本契約（30%）32社</a:t>
            </a:r>
            <a:endParaRPr lang="en-US" sz="900" dirty="0"/>
          </a:p>
        </p:txBody>
      </p:sp>
      <p:sp>
        <p:nvSpPr>
          <p:cNvPr id="25" name="Text 20"/>
          <p:cNvSpPr txBox="1"/>
          <p:nvPr/>
        </p:nvSpPr>
        <p:spPr>
          <a:xfrm>
            <a:off x="4800600" y="3840480"/>
            <a:ext cx="3977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1F29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＋その他555社から29社 → 約85拠点（解約後81）</a:t>
            </a:r>
            <a:endParaRPr lang="en-US" sz="850" dirty="0"/>
          </a:p>
        </p:txBody>
      </p:sp>
      <p:sp>
        <p:nvSpPr>
          <p:cNvPr id="26" name="Shape 21"/>
          <p:cNvSpPr/>
          <p:nvPr/>
        </p:nvSpPr>
        <p:spPr>
          <a:xfrm>
            <a:off x="365760" y="4069080"/>
            <a:ext cx="8412480" cy="384048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27" name="Text 22"/>
          <p:cNvSpPr txBox="1"/>
          <p:nvPr/>
        </p:nvSpPr>
        <p:spPr>
          <a:xfrm>
            <a:off x="493776" y="4069080"/>
            <a:ext cx="8156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950" b="1" dirty="0">
                <a:solidFill>
                  <a:srgbClr val="F5C40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売り方：</a:t>
            </a:r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業界団体の勉強会・電設の展示会・グラスの販売店 → デモ → 3か月の有償試験導入（導入支援200万円）→ 本契約 → 協力会社へ</a:t>
            </a:r>
            <a:endParaRPr lang="en-US" sz="950" dirty="0"/>
          </a:p>
        </p:txBody>
      </p:sp>
      <p:sp>
        <p:nvSpPr>
          <p:cNvPr id="28" name="Text 23"/>
          <p:cNvSpPr txBox="1"/>
          <p:nvPr/>
        </p:nvSpPr>
        <p:spPr>
          <a:xfrm>
            <a:off x="365760" y="4553712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7B8794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電気工事業の許可業者65,497社（令和7年3月末）から規模別に推計（内訳は仮定）。矢野経済研究所 No.3789。率はすべて仮定で最初の3社で実測する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773168"/>
            <a:ext cx="530352" cy="24688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1B365D"/>
                </a:solidFill>
                <a:latin typeface="BIZ UDPGothic"/>
                <a:ea typeface="BIZ UDPGothic"/>
                <a:cs typeface="BIZ UDPGothic"/>
              </a:defRPr>
            </a:lvl1pPr>
          </a:lstStyle>
          <a:p>
            <a:pPr algn="ctr"/>
            <a:fld id="{F7021451-1387-4CA6-816F-3879F97B5CBC}" type="slidenum">
              <a:rPr b="1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365760" y="274320"/>
            <a:ext cx="402336" cy="402336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365760" y="2743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4</a:t>
            </a:r>
            <a:endParaRPr lang="en-US" sz="1700" dirty="0"/>
          </a:p>
        </p:txBody>
      </p:sp>
      <p:sp>
        <p:nvSpPr>
          <p:cNvPr id="5" name="Text 2"/>
          <p:cNvSpPr txBox="1"/>
          <p:nvPr/>
        </p:nvSpPr>
        <p:spPr>
          <a:xfrm>
            <a:off x="6053328" y="4759452"/>
            <a:ext cx="11887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750" b="1" dirty="0">
                <a:solidFill>
                  <a:srgbClr val="1B365D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④ 経営計画</a:t>
            </a:r>
            <a:endParaRPr lang="en-US" sz="750" dirty="0"/>
          </a:p>
        </p:txBody>
      </p:sp>
      <p:sp>
        <p:nvSpPr>
          <p:cNvPr id="6" name="title"/>
          <p:cNvSpPr txBox="1"/>
          <p:nvPr/>
        </p:nvSpPr>
        <p:spPr>
          <a:xfrm>
            <a:off x="859536" y="256032"/>
            <a:ext cx="79187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50" b="1" dirty="0">
                <a:solidFill>
                  <a:srgbClr val="1B365D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お客様の効果：1拠点10台で年約500万円。支払いの約1.5倍</a:t>
            </a:r>
            <a:endParaRPr lang="en-US" sz="1850" dirty="0"/>
          </a:p>
        </p:txBody>
      </p:sp>
      <p:sp>
        <p:nvSpPr>
          <p:cNvPr id="7" name="lead"/>
          <p:cNvSpPr txBox="1"/>
          <p:nvPr/>
        </p:nvSpPr>
        <p:spPr>
          <a:xfrm>
            <a:off x="365760" y="694944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A556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効果はAIグラスを掛けた班の分だけ数える。計画に入れるのは書類と写真整理の時間だけ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365760" y="950976"/>
            <a:ext cx="8412480" cy="0"/>
          </a:xfrm>
          <a:prstGeom prst="line">
            <a:avLst/>
          </a:prstGeom>
          <a:noFill/>
          <a:ln w="15875">
            <a:solidFill>
              <a:srgbClr val="1B365D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65760" y="1024128"/>
            <a:ext cx="4937760" cy="960120"/>
          </a:xfrm>
          <a:prstGeom prst="rect">
            <a:avLst/>
          </a:prstGeom>
          <a:solidFill>
            <a:srgbClr val="EAF0F6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493776" y="1024128"/>
            <a:ext cx="46817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2F6DB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式：</a:t>
            </a:r>
            <a:pPr algn="l"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1000" dirty="0">
                <a:solidFill>
                  <a:srgbClr val="1F29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10台 × 年240日 ×（職長15分×3,300円 ＋ 施工管理者20分×3,700円）</a:t>
            </a:r>
            <a:endParaRPr lang="en-US" sz="1000" dirty="0"/>
          </a:p>
          <a:p>
            <a:pPr algn="l"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1800" b="1" dirty="0">
                <a:solidFill>
                  <a:srgbClr val="2F6DB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＝ 年 約499万円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365760" y="202996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4A556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時給＝統計の年収×会社負担1.17÷残業を含む年1,938時間（毎月勤労統計 令和6年）。1台1日35分は仮説で、実証で測る</a:t>
            </a:r>
            <a:endParaRPr lang="en-US" sz="850" dirty="0"/>
          </a:p>
        </p:txBody>
      </p:sp>
      <p:sp>
        <p:nvSpPr>
          <p:cNvPr id="12" name="Text 9"/>
          <p:cNvSpPr txBox="1"/>
          <p:nvPr/>
        </p:nvSpPr>
        <p:spPr>
          <a:xfrm>
            <a:off x="365760" y="2441448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1F29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効果（書類の時間）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2103120" y="2496312"/>
            <a:ext cx="2331720" cy="219456"/>
          </a:xfrm>
          <a:prstGeom prst="rect">
            <a:avLst/>
          </a:prstGeom>
          <a:solidFill>
            <a:srgbClr val="2F6DB5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4480560" y="2441448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F29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499万円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365760" y="2843784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1F29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使うのが年200日なら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2103120" y="2898648"/>
            <a:ext cx="1943100" cy="219456"/>
          </a:xfrm>
          <a:prstGeom prst="rect">
            <a:avLst/>
          </a:prstGeom>
          <a:solidFill>
            <a:srgbClr val="7B8794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4091940" y="2843784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F29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416万円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365760" y="3246120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1F29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お客様の支払い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2103120" y="3300984"/>
            <a:ext cx="1549773" cy="219456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3698613" y="3246120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F29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332万円</a:t>
            </a:r>
            <a:endParaRPr lang="en-US" sz="1000" dirty="0"/>
          </a:p>
        </p:txBody>
      </p:sp>
      <p:sp>
        <p:nvSpPr>
          <p:cNvPr id="21" name="Text 18"/>
          <p:cNvSpPr txBox="1"/>
          <p:nvPr/>
        </p:nvSpPr>
        <p:spPr>
          <a:xfrm>
            <a:off x="365760" y="367588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4A556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支払い＝利用料300万円＋AIグラスのリース約32万円。手戻りの削減は会社ごとに違い、測る手間も見合わないので数えない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5577840" y="1024128"/>
            <a:ext cx="3200400" cy="1325880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5705856" y="1024128"/>
            <a:ext cx="294436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F5C40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お客様が元を取る条件</a:t>
            </a:r>
            <a:pPr algn="l" indent="0" marL="0">
              <a:lnSpc>
                <a:spcPct val="115000"/>
              </a:lnSpc>
              <a:spcAft>
                <a:spcPts val="300"/>
              </a:spcAft>
              <a:buNone/>
            </a:pPr>
            <a:endParaRPr lang="en-US" sz="1000" dirty="0"/>
          </a:p>
          <a:p>
            <a:pPr algn="l"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22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1台1日 23分</a:t>
            </a:r>
            <a:endParaRPr lang="en-US" sz="1000" dirty="0"/>
          </a:p>
          <a:p>
            <a:pPr algn="l"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想定は35分。実証の合格ラインにする</a:t>
            </a:r>
            <a:endParaRPr lang="en-US" sz="1000" dirty="0"/>
          </a:p>
        </p:txBody>
      </p:sp>
      <p:graphicFrame>
        <p:nvGraphicFramePr>
          <p:cNvPr id="11" name="roi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577840" y="2468880"/>
          <a:ext cx="320040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00584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1拠点10台</a:t>
                      </a:r>
                      <a:endParaRPr lang="en-US" sz="9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B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万円</a:t>
                      </a:r>
                      <a:endParaRPr lang="en-US" sz="9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B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65D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初年度の支払い（導入支援200を含む）</a:t>
                      </a:r>
                      <a:endParaRPr lang="en-US" sz="9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532</a:t>
                      </a:r>
                      <a:endParaRPr lang="en-US" sz="9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初年度の支払いは効果の</a:t>
                      </a:r>
                      <a:endParaRPr lang="en-US" sz="9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約13か月分</a:t>
                      </a:r>
                      <a:endParaRPr lang="en-US" sz="9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2年目以降の差（毎年）</a:t>
                      </a:r>
                      <a:endParaRPr lang="en-US" sz="9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＋167</a:t>
                      </a:r>
                      <a:endParaRPr lang="en-US" sz="9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年200日でも</a:t>
                      </a:r>
                      <a:endParaRPr lang="en-US" sz="9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約1.25倍</a:t>
                      </a:r>
                      <a:endParaRPr lang="en-US" sz="9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hape 21"/>
          <p:cNvSpPr/>
          <p:nvPr/>
        </p:nvSpPr>
        <p:spPr>
          <a:xfrm>
            <a:off x="365760" y="4069080"/>
            <a:ext cx="8412480" cy="384048"/>
          </a:xfrm>
          <a:prstGeom prst="rect">
            <a:avLst/>
          </a:prstGeom>
          <a:solidFill>
            <a:srgbClr val="FFFFFF"/>
          </a:solidFill>
          <a:ln w="19050">
            <a:solidFill>
              <a:srgbClr val="2F6DB5"/>
            </a:solidFill>
            <a:prstDash val="solid"/>
          </a:ln>
        </p:spPr>
      </p:sp>
      <p:sp>
        <p:nvSpPr>
          <p:cNvPr id="26" name="Text 22"/>
          <p:cNvSpPr txBox="1"/>
          <p:nvPr/>
        </p:nvSpPr>
        <p:spPr>
          <a:xfrm>
            <a:off x="493776" y="4069080"/>
            <a:ext cx="8156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2F6DB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新人の指導：</a:t>
            </a:r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F29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他の業務と切り分けられないので金額にはしない。独り立ちまでの月数・付き添い時間・やり直し件数で測る</a:t>
            </a:r>
            <a:endParaRPr lang="en-US" sz="950" dirty="0"/>
          </a:p>
        </p:txBody>
      </p:sp>
      <p:sp>
        <p:nvSpPr>
          <p:cNvPr id="27" name="Text 23"/>
          <p:cNvSpPr txBox="1"/>
          <p:nvPr/>
        </p:nvSpPr>
        <p:spPr>
          <a:xfrm>
            <a:off x="365760" y="4553712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7B8794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年収：賃金構造基本統計調査（電気工事従事者 約551万円、施工管理者は建築・土木技術者で代用 約620万円）。計算の詳細は計算詳細版 p.5〜8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773168"/>
            <a:ext cx="530352" cy="24688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1B365D"/>
                </a:solidFill>
                <a:latin typeface="BIZ UDPGothic"/>
                <a:ea typeface="BIZ UDPGothic"/>
                <a:cs typeface="BIZ UDPGothic"/>
              </a:defRPr>
            </a:lvl1pPr>
          </a:lstStyle>
          <a:p>
            <a:pPr algn="ctr"/>
            <a:fld id="{F7021451-1387-4CA6-816F-3879F97B5CBC}" type="slidenum">
              <a:rPr b="1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365760" y="274320"/>
            <a:ext cx="402336" cy="402336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365760" y="2743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4</a:t>
            </a:r>
            <a:endParaRPr lang="en-US" sz="1700" dirty="0"/>
          </a:p>
        </p:txBody>
      </p:sp>
      <p:sp>
        <p:nvSpPr>
          <p:cNvPr id="5" name="Text 2"/>
          <p:cNvSpPr txBox="1"/>
          <p:nvPr/>
        </p:nvSpPr>
        <p:spPr>
          <a:xfrm>
            <a:off x="6053328" y="4759452"/>
            <a:ext cx="11887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750" b="1" dirty="0">
                <a:solidFill>
                  <a:srgbClr val="1B365D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④ 経営計画</a:t>
            </a:r>
            <a:endParaRPr lang="en-US" sz="750" dirty="0"/>
          </a:p>
        </p:txBody>
      </p:sp>
      <p:sp>
        <p:nvSpPr>
          <p:cNvPr id="6" name="title"/>
          <p:cNvSpPr txBox="1"/>
          <p:nvPr/>
        </p:nvSpPr>
        <p:spPr>
          <a:xfrm>
            <a:off x="859536" y="256032"/>
            <a:ext cx="79187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50" b="1" dirty="0">
                <a:solidFill>
                  <a:srgbClr val="1B365D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当社の収益：1拠点の粗利は年216万円</a:t>
            </a:r>
            <a:endParaRPr lang="en-US" sz="1850" dirty="0"/>
          </a:p>
        </p:txBody>
      </p:sp>
      <p:sp>
        <p:nvSpPr>
          <p:cNvPr id="7" name="lead"/>
          <p:cNvSpPr txBox="1"/>
          <p:nvPr/>
        </p:nvSpPr>
        <p:spPr>
          <a:xfrm>
            <a:off x="365760" y="694944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A556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基盤＋端末の台数で課金。報告書の書式に整えるところまで利用料に含む。AIグラスはお客様のリース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365760" y="950976"/>
            <a:ext cx="8412480" cy="0"/>
          </a:xfrm>
          <a:prstGeom prst="line">
            <a:avLst/>
          </a:prstGeom>
          <a:noFill/>
          <a:ln w="15875">
            <a:solidFill>
              <a:srgbClr val="1B365D"/>
            </a:solidFill>
            <a:prstDash val="solid"/>
          </a:ln>
        </p:spPr>
      </p:sp>
      <p:graphicFrame>
        <p:nvGraphicFramePr>
          <p:cNvPr id="12" name="pric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24128"/>
          <a:ext cx="4206240" cy="914400"/>
        </p:xfrm>
        <a:graphic>
          <a:graphicData uri="http://schemas.openxmlformats.org/drawingml/2006/table">
            <a:tbl>
              <a:tblPr/>
              <a:tblGrid>
                <a:gridCol w="960120"/>
                <a:gridCol w="1051560"/>
                <a:gridCol w="2194560"/>
              </a:tblGrid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項目</a:t>
                      </a:r>
                      <a:endParaRPr lang="en-US" sz="8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B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値段</a:t>
                      </a:r>
                      <a:endParaRPr lang="en-US" sz="8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B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中身</a:t>
                      </a:r>
                      <a:endParaRPr lang="en-US" sz="8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B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65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基盤</a:t>
                      </a:r>
                      <a:endParaRPr lang="en-US" sz="8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月5万円／拠点</a:t>
                      </a:r>
                      <a:endParaRPr lang="en-US" sz="8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記録の保管庫・図面と手順・各社の報告書の型・管理画面・月次の効果レポート</a:t>
                      </a:r>
                      <a:endParaRPr lang="en-US" sz="8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端末ライセンス</a:t>
                      </a:r>
                      <a:endParaRPr lang="en-US" sz="8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月2万円／台</a:t>
                      </a:r>
                      <a:endParaRPr lang="en-US" sz="8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記録→写真の自動抽出→写真台帳・日報を各社の書式で</a:t>
                      </a:r>
                      <a:endParaRPr lang="en-US" sz="8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導入支援</a:t>
                      </a:r>
                      <a:endParaRPr lang="en-US" sz="8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200万円（初年度）</a:t>
                      </a:r>
                      <a:endParaRPr lang="en-US" sz="8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導入コンサルタントが約2か月・42人日、現場に入る</a:t>
                      </a:r>
                      <a:endParaRPr lang="en-US" sz="8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個社設定</a:t>
                      </a:r>
                      <a:endParaRPr lang="en-US" sz="8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個別（売上の5%以下）</a:t>
                      </a:r>
                      <a:endParaRPr lang="en-US" sz="8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大手の基幹システム連携など、標準で足りない所だけ</a:t>
                      </a:r>
                      <a:endParaRPr lang="en-US" sz="8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365760" y="2990088"/>
            <a:ext cx="4206240" cy="1417320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11" name="Text 7"/>
          <p:cNvSpPr txBox="1"/>
          <p:nvPr/>
        </p:nvSpPr>
        <p:spPr>
          <a:xfrm>
            <a:off x="493776" y="2990088"/>
            <a:ext cx="395020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950" b="1" dirty="0">
                <a:solidFill>
                  <a:srgbClr val="F5C40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1拠点（10台）の損得</a:t>
            </a:r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endParaRPr lang="en-US" sz="950" dirty="0"/>
          </a:p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利用料 300万円 − AI・保存 84万円 ＝ 粗利 216万円（72%）</a:t>
            </a:r>
            <a:endParaRPr lang="en-US" sz="950" dirty="0"/>
          </a:p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導入支援 200万円 − 原価 約141万円 ＝ 粗利 約59万円</a:t>
            </a:r>
            <a:endParaRPr lang="en-US" sz="950" dirty="0"/>
          </a:p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95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LTV 約1,571万円（7年）÷ CAC 約86万円 ＝ 約18倍</a:t>
            </a:r>
            <a:endParaRPr lang="en-US" sz="950" dirty="0"/>
          </a:p>
        </p:txBody>
      </p:sp>
      <p:sp>
        <p:nvSpPr>
          <p:cNvPr id="12" name="Text 8"/>
          <p:cNvSpPr txBox="1"/>
          <p:nvPr/>
        </p:nvSpPr>
        <p:spPr>
          <a:xfrm>
            <a:off x="4800600" y="1024128"/>
            <a:ext cx="3977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F29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AI・保存の費用（端末1台・月）</a:t>
            </a:r>
            <a:endParaRPr lang="en-US" sz="1100" dirty="0"/>
          </a:p>
        </p:txBody>
      </p:sp>
      <p:graphicFrame>
        <p:nvGraphicFramePr>
          <p:cNvPr id="23" name="cloud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00600" y="1298448"/>
          <a:ext cx="397764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1143000"/>
              </a:tblGrid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中身</a:t>
                      </a:r>
                      <a:endParaRPr lang="en-US" sz="9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B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円／月</a:t>
                      </a:r>
                      <a:endParaRPr lang="en-US" sz="9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B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65D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音声の文字起こし（1日4時間）</a:t>
                      </a:r>
                      <a:endParaRPr lang="en-US" sz="9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2,200</a:t>
                      </a:r>
                      <a:endParaRPr lang="en-US" sz="9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大事な場面の画像解析</a:t>
                      </a:r>
                      <a:endParaRPr lang="en-US" sz="9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1,000</a:t>
                      </a:r>
                      <a:endParaRPr lang="en-US" sz="9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日報・報告書の文章生成</a:t>
                      </a:r>
                      <a:endParaRPr lang="en-US" sz="9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200</a:t>
                      </a:r>
                      <a:endParaRPr lang="en-US" sz="9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動画の保存（3年）</a:t>
                      </a:r>
                      <a:endParaRPr lang="en-US" sz="9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700</a:t>
                      </a:r>
                      <a:endParaRPr lang="en-US" sz="9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転送・監視・端末管理</a:t>
                      </a:r>
                      <a:endParaRPr lang="en-US" sz="9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1,900</a:t>
                      </a:r>
                      <a:endParaRPr lang="en-US" sz="9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合計</a:t>
                      </a:r>
                      <a:endParaRPr lang="en-US" sz="9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6,000</a:t>
                      </a:r>
                      <a:endParaRPr lang="en-US" sz="9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6"/>
                    </a:solidFill>
                  </a:tcPr>
                </a:tc>
              </a:tr>
            </a:tbl>
          </a:graphicData>
        </a:graphic>
      </p:graphicFrame>
      <p:sp>
        <p:nvSpPr>
          <p:cNvPr id="14" name="Shape 9"/>
          <p:cNvSpPr/>
          <p:nvPr/>
        </p:nvSpPr>
        <p:spPr>
          <a:xfrm>
            <a:off x="4800600" y="3145536"/>
            <a:ext cx="3977640" cy="1261872"/>
          </a:xfrm>
          <a:prstGeom prst="rect">
            <a:avLst/>
          </a:prstGeom>
          <a:solidFill>
            <a:srgbClr val="FFFFFF"/>
          </a:solidFill>
          <a:ln w="19050">
            <a:solidFill>
              <a:srgbClr val="2F6DB5"/>
            </a:solidFill>
            <a:prstDash val="solid"/>
          </a:ln>
        </p:spPr>
      </p:sp>
      <p:sp>
        <p:nvSpPr>
          <p:cNvPr id="15" name="Text 10"/>
          <p:cNvSpPr txBox="1"/>
          <p:nvPr/>
        </p:nvSpPr>
        <p:spPr>
          <a:xfrm>
            <a:off x="4910328" y="3145536"/>
            <a:ext cx="3758184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2F6DB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注意点：粗利率を崩すのは台数ではなく使い方</a:t>
            </a:r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endParaRPr lang="en-US" sz="1000" dirty="0"/>
          </a:p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900" dirty="0">
                <a:solidFill>
                  <a:srgbClr val="1F29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全ての映像をクラウドで毎秒解析すると1台月約5万円かかり、価格を超える。録画は端末に残し、解析は選んだ場面だけにする。場面の選び方は、ルール → 汎用AI → 現場監修の印で学習した自社AIの3段階</a:t>
            </a:r>
            <a:endParaRPr lang="en-US" sz="1000" dirty="0"/>
          </a:p>
        </p:txBody>
      </p:sp>
      <p:sp>
        <p:nvSpPr>
          <p:cNvPr id="16" name="Text 11"/>
          <p:cNvSpPr txBox="1"/>
          <p:nvPr/>
        </p:nvSpPr>
        <p:spPr>
          <a:xfrm>
            <a:off x="365760" y="4553712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7B8794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単価はクラウド・AIの公表価格（$1＝150円）からの見積。CAC＝（営業3人の人件費＋広告500万円）÷新規33拠点。1〜2年目の創業者の営業時間は入れていない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773168"/>
            <a:ext cx="530352" cy="24688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1B365D"/>
                </a:solidFill>
                <a:latin typeface="BIZ UDPGothic"/>
                <a:ea typeface="BIZ UDPGothic"/>
                <a:cs typeface="BIZ UDPGothic"/>
              </a:defRPr>
            </a:lvl1pPr>
          </a:lstStyle>
          <a:p>
            <a:pPr algn="ctr"/>
            <a:fld id="{F7021451-1387-4CA6-816F-3879F97B5CBC}" type="slidenum">
              <a:rPr b="1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365760" y="274320"/>
            <a:ext cx="402336" cy="402336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365760" y="2743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4</a:t>
            </a:r>
            <a:endParaRPr lang="en-US" sz="1700" dirty="0"/>
          </a:p>
        </p:txBody>
      </p:sp>
      <p:sp>
        <p:nvSpPr>
          <p:cNvPr id="5" name="Text 2"/>
          <p:cNvSpPr txBox="1"/>
          <p:nvPr/>
        </p:nvSpPr>
        <p:spPr>
          <a:xfrm>
            <a:off x="6053328" y="4759452"/>
            <a:ext cx="11887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750" b="1" dirty="0">
                <a:solidFill>
                  <a:srgbClr val="1B365D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④ 経営計画</a:t>
            </a:r>
            <a:endParaRPr lang="en-US" sz="750" dirty="0"/>
          </a:p>
        </p:txBody>
      </p:sp>
      <p:sp>
        <p:nvSpPr>
          <p:cNvPr id="6" name="title"/>
          <p:cNvSpPr txBox="1"/>
          <p:nvPr/>
        </p:nvSpPr>
        <p:spPr>
          <a:xfrm>
            <a:off x="859536" y="256032"/>
            <a:ext cx="79187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50" b="1" dirty="0">
                <a:solidFill>
                  <a:srgbClr val="1B365D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年単位の計画と収支：5年間は赤字。5年目は分岐点の94%</a:t>
            </a:r>
            <a:endParaRPr lang="en-US" sz="1850" dirty="0"/>
          </a:p>
        </p:txBody>
      </p:sp>
      <p:sp>
        <p:nvSpPr>
          <p:cNvPr id="7" name="lead"/>
          <p:cNvSpPr txBox="1"/>
          <p:nvPr/>
        </p:nvSpPr>
        <p:spPr>
          <a:xfrm>
            <a:off x="365760" y="694944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A556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人を先に採用するため5年間は赤字。黒字化の条件はp.13、10年の見通しはp.14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365760" y="950976"/>
            <a:ext cx="8412480" cy="0"/>
          </a:xfrm>
          <a:prstGeom prst="line">
            <a:avLst/>
          </a:prstGeom>
          <a:noFill/>
          <a:ln w="15875">
            <a:solidFill>
              <a:srgbClr val="1B365D"/>
            </a:solidFill>
            <a:prstDash val="solid"/>
          </a:ln>
        </p:spPr>
      </p:sp>
      <p:graphicFrame>
        <p:nvGraphicFramePr>
          <p:cNvPr id="13" name="yearly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24128"/>
          <a:ext cx="8412480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1097280"/>
                <a:gridCol w="1179576"/>
                <a:gridCol w="1179576"/>
                <a:gridCol w="1179576"/>
                <a:gridCol w="1179576"/>
                <a:gridCol w="1179576"/>
              </a:tblGrid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8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B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準備期</a:t>
                      </a:r>
                      <a:endParaRPr lang="en-US" sz="8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B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1年目</a:t>
                      </a:r>
                      <a:endParaRPr lang="en-US" sz="8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B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2年目</a:t>
                      </a:r>
                      <a:endParaRPr lang="en-US" sz="8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B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3年目</a:t>
                      </a:r>
                      <a:endParaRPr lang="en-US" sz="8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B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4年目</a:t>
                      </a:r>
                      <a:endParaRPr lang="en-US" sz="8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B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5年目</a:t>
                      </a:r>
                      <a:endParaRPr lang="en-US" sz="8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B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65D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やること</a:t>
                      </a:r>
                      <a:endParaRPr lang="en-US" sz="8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試作品・1拠点で実証</a:t>
                      </a:r>
                      <a:endParaRPr lang="en-US" sz="8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試験導入3社。記録と報告を自動に</a:t>
                      </a:r>
                      <a:endParaRPr lang="en-US" sz="8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本契約へ。写真台帳を各社の形式で</a:t>
                      </a:r>
                      <a:endParaRPr lang="en-US" sz="8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図面との照合。大手1社を事例に</a:t>
                      </a:r>
                      <a:endParaRPr lang="en-US" sz="8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表示付きグラスで手元AR</a:t>
                      </a:r>
                      <a:endParaRPr lang="en-US" sz="8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教材化。電線工場へ試験</a:t>
                      </a:r>
                      <a:endParaRPr lang="en-US" sz="8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新規／期末の拠点</a:t>
                      </a:r>
                      <a:endParaRPr lang="en-US" sz="8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─</a:t>
                      </a:r>
                      <a:endParaRPr lang="en-US" sz="8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3／3</a:t>
                      </a:r>
                      <a:endParaRPr lang="en-US" sz="8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9／12</a:t>
                      </a:r>
                      <a:endParaRPr lang="en-US" sz="8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18／29</a:t>
                      </a:r>
                      <a:endParaRPr lang="en-US" sz="8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27／53</a:t>
                      </a:r>
                      <a:endParaRPr lang="en-US" sz="8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33／81</a:t>
                      </a:r>
                      <a:endParaRPr lang="en-US" sz="8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社員</a:t>
                      </a:r>
                      <a:endParaRPr lang="en-US" sz="8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1</a:t>
                      </a:r>
                      <a:endParaRPr lang="en-US" sz="8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5</a:t>
                      </a:r>
                      <a:endParaRPr lang="en-US" sz="8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8</a:t>
                      </a:r>
                      <a:endParaRPr lang="en-US" sz="8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12</a:t>
                      </a:r>
                      <a:endParaRPr lang="en-US" sz="8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18</a:t>
                      </a:r>
                      <a:endParaRPr lang="en-US" sz="8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23</a:t>
                      </a:r>
                      <a:endParaRPr lang="en-US" sz="8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売上（百万円）</a:t>
                      </a:r>
                      <a:endParaRPr lang="en-US" sz="8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─</a:t>
                      </a:r>
                      <a:endParaRPr lang="en-US" sz="8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12</a:t>
                      </a:r>
                      <a:endParaRPr lang="en-US" sz="8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48</a:t>
                      </a:r>
                      <a:endParaRPr lang="en-US" sz="8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107</a:t>
                      </a:r>
                      <a:endParaRPr lang="en-US" sz="8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178</a:t>
                      </a:r>
                      <a:endParaRPr lang="en-US" sz="8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269</a:t>
                      </a:r>
                      <a:endParaRPr lang="en-US" sz="8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粗利率</a:t>
                      </a:r>
                      <a:endParaRPr lang="en-US" sz="8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─</a:t>
                      </a:r>
                      <a:endParaRPr lang="en-US" sz="8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26%</a:t>
                      </a:r>
                      <a:endParaRPr lang="en-US" sz="8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50%</a:t>
                      </a:r>
                      <a:endParaRPr lang="en-US" sz="8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54%</a:t>
                      </a:r>
                      <a:endParaRPr lang="en-US" sz="8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58%</a:t>
                      </a:r>
                      <a:endParaRPr lang="en-US" sz="8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60%</a:t>
                      </a:r>
                      <a:endParaRPr lang="en-US" sz="8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販管費（百万円）</a:t>
                      </a:r>
                      <a:endParaRPr lang="en-US" sz="8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─</a:t>
                      </a:r>
                      <a:endParaRPr lang="en-US" sz="8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52</a:t>
                      </a:r>
                      <a:endParaRPr lang="en-US" sz="8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72</a:t>
                      </a:r>
                      <a:endParaRPr lang="en-US" sz="8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94</a:t>
                      </a:r>
                      <a:endParaRPr lang="en-US" sz="8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142</a:t>
                      </a:r>
                      <a:endParaRPr lang="en-US" sz="8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173</a:t>
                      </a:r>
                      <a:endParaRPr lang="en-US" sz="8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営業損益（百万円）</a:t>
                      </a:r>
                      <a:endParaRPr lang="en-US" sz="8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▲5</a:t>
                      </a:r>
                      <a:endParaRPr lang="en-US" sz="8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C62828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▲48</a:t>
                      </a:r>
                      <a:endParaRPr lang="en-US" sz="8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C62828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▲48</a:t>
                      </a:r>
                      <a:endParaRPr lang="en-US" sz="8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C62828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▲37</a:t>
                      </a:r>
                      <a:endParaRPr lang="en-US" sz="8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C62828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▲39</a:t>
                      </a:r>
                      <a:endParaRPr lang="en-US" sz="8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C62828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▲11</a:t>
                      </a:r>
                      <a:endParaRPr lang="en-US" sz="8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6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期末の現金（百万円）</a:t>
                      </a:r>
                      <a:endParaRPr lang="en-US" sz="8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─</a:t>
                      </a:r>
                      <a:endParaRPr lang="en-US" sz="8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152</a:t>
                      </a:r>
                      <a:endParaRPr lang="en-US" sz="8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104</a:t>
                      </a:r>
                      <a:endParaRPr lang="en-US" sz="8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117</a:t>
                      </a:r>
                      <a:endParaRPr lang="en-US" sz="8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78</a:t>
                      </a:r>
                      <a:endParaRPr lang="en-US" sz="8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67</a:t>
                      </a:r>
                      <a:endParaRPr lang="en-US" sz="8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進む条件</a:t>
                      </a:r>
                      <a:endParaRPr lang="en-US" sz="8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1台1日23分以上</a:t>
                      </a:r>
                      <a:endParaRPr lang="en-US" sz="8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2社以上が本契約</a:t>
                      </a:r>
                      <a:endParaRPr lang="en-US" sz="8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平均12台</a:t>
                      </a:r>
                      <a:endParaRPr lang="en-US" sz="8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継続率90%</a:t>
                      </a:r>
                      <a:endParaRPr lang="en-US" sz="8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─</a:t>
                      </a:r>
                      <a:endParaRPr lang="en-US" sz="8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─</a:t>
                      </a:r>
                      <a:endParaRPr lang="en-US" sz="8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365760" y="3794760"/>
            <a:ext cx="4114800" cy="667512"/>
          </a:xfrm>
          <a:prstGeom prst="rect">
            <a:avLst/>
          </a:prstGeom>
          <a:solidFill>
            <a:srgbClr val="EAF0F6"/>
          </a:solidFill>
          <a:ln/>
        </p:spPr>
      </p:sp>
      <p:sp>
        <p:nvSpPr>
          <p:cNvPr id="11" name="Text 7"/>
          <p:cNvSpPr txBox="1"/>
          <p:nvPr/>
        </p:nvSpPr>
        <p:spPr>
          <a:xfrm>
            <a:off x="475488" y="3794760"/>
            <a:ext cx="3895344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2F6DB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売上で見た損益分岐点：</a:t>
            </a:r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F29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5年目の分岐点 約288百万円に対し売上 約269百万円。足りないのは約6拠点分の粗利</a:t>
            </a:r>
            <a:endParaRPr lang="en-US" sz="950" dirty="0"/>
          </a:p>
        </p:txBody>
      </p:sp>
      <p:sp>
        <p:nvSpPr>
          <p:cNvPr id="12" name="Shape 8"/>
          <p:cNvSpPr/>
          <p:nvPr/>
        </p:nvSpPr>
        <p:spPr>
          <a:xfrm>
            <a:off x="4663440" y="3794760"/>
            <a:ext cx="4114800" cy="667512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4773168" y="3794760"/>
            <a:ext cx="3895344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F5C40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人で見た損益分岐点：</a:t>
            </a:r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社員1人の販管費 約753万円÷1拠点の粗利216万円＝約3.5。期末で1人約4拠点が目安、5年目は3.52</a:t>
            </a:r>
            <a:endParaRPr lang="en-US" sz="950" dirty="0"/>
          </a:p>
        </p:txBody>
      </p:sp>
      <p:sp>
        <p:nvSpPr>
          <p:cNvPr id="14" name="Text 10"/>
          <p:cNvSpPr txBox="1"/>
          <p:nvPr/>
        </p:nvSpPr>
        <p:spPr>
          <a:xfrm>
            <a:off x="365760" y="4553712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7B8794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売上＝既存の利用料＋新規の利用料（半年分）＋導入支援＋個社設定。解約は年10%。人件費は役割別の年収×1.2、AIの学習費（2年目〜）も入れた簡易計算（税・償却を除く）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773168"/>
            <a:ext cx="530352" cy="24688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1B365D"/>
                </a:solidFill>
                <a:latin typeface="BIZ UDPGothic"/>
                <a:ea typeface="BIZ UDPGothic"/>
                <a:cs typeface="BIZ UDPGothic"/>
              </a:defRPr>
            </a:lvl1pPr>
          </a:lstStyle>
          <a:p>
            <a:pPr algn="ctr"/>
            <a:fld id="{F7021451-1387-4CA6-816F-3879F97B5CBC}" type="slidenum">
              <a:rPr b="1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365760" y="274320"/>
            <a:ext cx="402336" cy="402336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365760" y="2743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4</a:t>
            </a:r>
            <a:endParaRPr lang="en-US" sz="1700" dirty="0"/>
          </a:p>
        </p:txBody>
      </p:sp>
      <p:sp>
        <p:nvSpPr>
          <p:cNvPr id="5" name="Text 2"/>
          <p:cNvSpPr txBox="1"/>
          <p:nvPr/>
        </p:nvSpPr>
        <p:spPr>
          <a:xfrm>
            <a:off x="6053328" y="4759452"/>
            <a:ext cx="11887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750" b="1" dirty="0">
                <a:solidFill>
                  <a:srgbClr val="1B365D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④ 経営計画</a:t>
            </a:r>
            <a:endParaRPr lang="en-US" sz="750" dirty="0"/>
          </a:p>
        </p:txBody>
      </p:sp>
      <p:sp>
        <p:nvSpPr>
          <p:cNvPr id="6" name="title"/>
          <p:cNvSpPr txBox="1"/>
          <p:nvPr/>
        </p:nvSpPr>
        <p:spPr>
          <a:xfrm>
            <a:off x="859536" y="256032"/>
            <a:ext cx="79187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50" b="1" dirty="0">
                <a:solidFill>
                  <a:srgbClr val="1B365D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資金と黒字化の条件：黒字化は1拠点の台数で決まる</a:t>
            </a:r>
            <a:endParaRPr lang="en-US" sz="1850" dirty="0"/>
          </a:p>
        </p:txBody>
      </p:sp>
      <p:sp>
        <p:nvSpPr>
          <p:cNvPr id="7" name="lead"/>
          <p:cNvSpPr txBox="1"/>
          <p:nvPr/>
        </p:nvSpPr>
        <p:spPr>
          <a:xfrm>
            <a:off x="365760" y="694944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A556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自己資金2.55億円を段階的に投入する。進む・直す・止まるの判断基準を先に決める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365760" y="950976"/>
            <a:ext cx="8412480" cy="0"/>
          </a:xfrm>
          <a:prstGeom prst="line">
            <a:avLst/>
          </a:prstGeom>
          <a:noFill/>
          <a:ln w="15875">
            <a:solidFill>
              <a:srgbClr val="1B365D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65760" y="1024128"/>
            <a:ext cx="4069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F29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資金の入れ方（すべて自己資金）</a:t>
            </a:r>
            <a:endParaRPr lang="en-US" sz="1100" dirty="0"/>
          </a:p>
        </p:txBody>
      </p:sp>
      <p:graphicFrame>
        <p:nvGraphicFramePr>
          <p:cNvPr id="14" name="fund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298448"/>
          <a:ext cx="406908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2057400"/>
                <a:gridCol w="1280160"/>
              </a:tblGrid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時期</a:t>
                      </a:r>
                      <a:endParaRPr lang="en-US" sz="9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B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入れる条件</a:t>
                      </a:r>
                      <a:endParaRPr lang="en-US" sz="9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B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金額</a:t>
                      </a:r>
                      <a:endParaRPr lang="en-US" sz="9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B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65D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準備期</a:t>
                      </a:r>
                      <a:endParaRPr lang="en-US" sz="9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─</a:t>
                      </a:r>
                      <a:endParaRPr lang="en-US" sz="9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500万円</a:t>
                      </a:r>
                      <a:endParaRPr lang="en-US" sz="9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1年目</a:t>
                      </a:r>
                      <a:endParaRPr lang="en-US" sz="9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実証で1台1日23分以上</a:t>
                      </a:r>
                      <a:endParaRPr lang="en-US" sz="9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2億円</a:t>
                      </a:r>
                      <a:endParaRPr lang="en-US" sz="9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3年目</a:t>
                      </a:r>
                      <a:endParaRPr lang="en-US" sz="9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継続率90%・平均12台</a:t>
                      </a:r>
                      <a:endParaRPr lang="en-US" sz="9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5,000万円</a:t>
                      </a:r>
                      <a:endParaRPr lang="en-US" sz="9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合計</a:t>
                      </a:r>
                      <a:endParaRPr lang="en-US" sz="9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2億5,500万円</a:t>
                      </a:r>
                      <a:endParaRPr lang="en-US" sz="9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6"/>
                    </a:solidFill>
                  </a:tcPr>
                </a:tc>
              </a:tr>
            </a:tbl>
          </a:graphicData>
        </a:graphic>
      </p:graphicFrame>
      <p:sp>
        <p:nvSpPr>
          <p:cNvPr id="11" name="Text 7"/>
          <p:cNvSpPr txBox="1"/>
          <p:nvPr/>
        </p:nvSpPr>
        <p:spPr>
          <a:xfrm>
            <a:off x="365760" y="2688336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4A556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内訳：5年間の赤字の累計ピーク約1.83億円＋最低残高（固定費3か月分）＋遅れへの備え。現金の谷は約67百万円</a:t>
            </a:r>
            <a:endParaRPr lang="en-US" sz="850" dirty="0"/>
          </a:p>
        </p:txBody>
      </p:sp>
      <p:sp>
        <p:nvSpPr>
          <p:cNvPr id="12" name="Text 8"/>
          <p:cNvSpPr txBox="1"/>
          <p:nvPr/>
        </p:nvSpPr>
        <p:spPr>
          <a:xfrm>
            <a:off x="365760" y="3145536"/>
            <a:ext cx="4069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F29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新規が計画に届かなかったら（採用も連動）</a:t>
            </a:r>
            <a:endParaRPr lang="en-US" sz="1100" dirty="0"/>
          </a:p>
        </p:txBody>
      </p:sp>
      <p:graphicFrame>
        <p:nvGraphicFramePr>
          <p:cNvPr id="27" name="short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3419856"/>
          <a:ext cx="4069080" cy="914400"/>
        </p:xfrm>
        <a:graphic>
          <a:graphicData uri="http://schemas.openxmlformats.org/drawingml/2006/table">
            <a:tbl>
              <a:tblPr/>
              <a:tblGrid>
                <a:gridCol w="1325880"/>
                <a:gridCol w="1280160"/>
                <a:gridCol w="1463040"/>
              </a:tblGrid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新規の達成度</a:t>
                      </a:r>
                      <a:endParaRPr lang="en-US" sz="9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B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10台のまま</a:t>
                      </a:r>
                      <a:endParaRPr lang="en-US" sz="9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B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15台に増やせたら</a:t>
                      </a:r>
                      <a:endParaRPr lang="en-US" sz="9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B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65D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計画どおり</a:t>
                      </a:r>
                      <a:endParaRPr lang="en-US" sz="9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C62828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5年でしない</a:t>
                      </a:r>
                      <a:endParaRPr lang="en-US" sz="9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5年目</a:t>
                      </a:r>
                      <a:endParaRPr lang="en-US" sz="9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計画の8割</a:t>
                      </a:r>
                      <a:endParaRPr lang="en-US" sz="9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C62828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5年でしない</a:t>
                      </a:r>
                      <a:endParaRPr lang="en-US" sz="9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5年目</a:t>
                      </a:r>
                      <a:endParaRPr lang="en-US" sz="9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計画の6割</a:t>
                      </a:r>
                      <a:endParaRPr lang="en-US" sz="9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C62828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5年でしない</a:t>
                      </a:r>
                      <a:endParaRPr lang="en-US" sz="9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5年目</a:t>
                      </a:r>
                      <a:endParaRPr lang="en-US" sz="9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Text 9"/>
          <p:cNvSpPr txBox="1"/>
          <p:nvPr/>
        </p:nvSpPr>
        <p:spPr>
          <a:xfrm>
            <a:off x="4663440" y="1024128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F29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進む・直す・止まるの判断基準</a:t>
            </a:r>
            <a:endParaRPr lang="en-US" sz="1100" dirty="0"/>
          </a:p>
        </p:txBody>
      </p:sp>
      <p:graphicFrame>
        <p:nvGraphicFramePr>
          <p:cNvPr id="40" name="gate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1298448"/>
          <a:ext cx="4114800" cy="914400"/>
        </p:xfrm>
        <a:graphic>
          <a:graphicData uri="http://schemas.openxmlformats.org/drawingml/2006/table">
            <a:tbl>
              <a:tblPr/>
              <a:tblGrid>
                <a:gridCol w="960120"/>
                <a:gridCol w="1371600"/>
                <a:gridCol w="1783080"/>
              </a:tblGrid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時期</a:t>
                      </a:r>
                      <a:endParaRPr lang="en-US" sz="8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B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進む</a:t>
                      </a:r>
                      <a:endParaRPr lang="en-US" sz="8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B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直す・止まる</a:t>
                      </a:r>
                      <a:endParaRPr lang="en-US" sz="8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B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65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実証（準備期）</a:t>
                      </a:r>
                      <a:endParaRPr lang="en-US" sz="8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2E7D32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1台1日23分以上</a:t>
                      </a:r>
                      <a:endParaRPr lang="en-US" sz="8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C62828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15〜23分：写真台帳に絞る／15分未満：撤退</a:t>
                      </a:r>
                      <a:endParaRPr lang="en-US" sz="8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1年目末</a:t>
                      </a:r>
                      <a:endParaRPr lang="en-US" sz="8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2E7D32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試験導入3社のうち2社以上が本契約</a:t>
                      </a:r>
                      <a:endParaRPr lang="en-US" sz="8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C62828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1社：値段と顧客を見直す／0社：撤退か方向転換</a:t>
                      </a:r>
                      <a:endParaRPr lang="en-US" sz="8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2年目末</a:t>
                      </a:r>
                      <a:endParaRPr lang="en-US" sz="8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2E7D32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5拠点以上・平均12台</a:t>
                      </a:r>
                      <a:endParaRPr lang="en-US" sz="8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C62828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未達：採用を止める</a:t>
                      </a:r>
                      <a:endParaRPr lang="en-US" sz="8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3年目</a:t>
                      </a:r>
                      <a:endParaRPr lang="en-US" sz="8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2E7D32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継続率90%以上</a:t>
                      </a:r>
                      <a:endParaRPr lang="en-US" sz="8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C62828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未達：追加資金と採用を絞る</a:t>
                      </a:r>
                      <a:endParaRPr lang="en-US" sz="8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" name="Shape 10"/>
          <p:cNvSpPr/>
          <p:nvPr/>
        </p:nvSpPr>
        <p:spPr>
          <a:xfrm>
            <a:off x="4663440" y="3200400"/>
            <a:ext cx="4114800" cy="1252728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17" name="Text 11"/>
          <p:cNvSpPr txBox="1"/>
          <p:nvPr/>
        </p:nvSpPr>
        <p:spPr>
          <a:xfrm>
            <a:off x="4791456" y="3200400"/>
            <a:ext cx="3858768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F5C40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黒字化の条件は、拠点数より1拠点の台数</a:t>
            </a:r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endParaRPr lang="en-US" sz="900" dirty="0"/>
          </a:p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10台のままでは計画どおりでも5年で黒字にならない（5年目▲11百万円）。効果が出た班から15台に増やせれば5年目に黒字（43百万円）、新規が計画の6割でも黒字</a:t>
            </a:r>
            <a:endParaRPr lang="en-US" sz="900" dirty="0"/>
          </a:p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そのため、2年目末に「平均12台」を判断基準に置く</a:t>
            </a:r>
            <a:endParaRPr lang="en-US" sz="900" dirty="0"/>
          </a:p>
        </p:txBody>
      </p:sp>
      <p:sp>
        <p:nvSpPr>
          <p:cNvPr id="18" name="Text 12"/>
          <p:cNvSpPr txBox="1"/>
          <p:nvPr/>
        </p:nvSpPr>
        <p:spPr>
          <a:xfrm>
            <a:off x="365760" y="4553712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7B8794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固定費3か月分＝4年目の販管費÷4。新規拠点・個社設定を同じ割合で減らし、社員数＝4＋（計画−4）×達成度で採用も遅らせた簡易計算。15台はAIグラス12台＋表示付き3台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773168"/>
            <a:ext cx="530352" cy="24688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1B365D"/>
                </a:solidFill>
                <a:latin typeface="BIZ UDPGothic"/>
                <a:ea typeface="BIZ UDPGothic"/>
                <a:cs typeface="BIZ UDPGothic"/>
              </a:defRPr>
            </a:lvl1pPr>
          </a:lstStyle>
          <a:p>
            <a:pPr algn="ctr"/>
            <a:fld id="{F7021451-1387-4CA6-816F-3879F97B5CBC}" type="slidenum">
              <a:rPr b="1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365760" y="274320"/>
            <a:ext cx="402336" cy="402336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365760" y="2743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4</a:t>
            </a:r>
            <a:endParaRPr lang="en-US" sz="1700" dirty="0"/>
          </a:p>
        </p:txBody>
      </p:sp>
      <p:sp>
        <p:nvSpPr>
          <p:cNvPr id="5" name="Text 2"/>
          <p:cNvSpPr txBox="1"/>
          <p:nvPr/>
        </p:nvSpPr>
        <p:spPr>
          <a:xfrm>
            <a:off x="6053328" y="4759452"/>
            <a:ext cx="11887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750" b="1" dirty="0">
                <a:solidFill>
                  <a:srgbClr val="1B365D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④ 経営計画</a:t>
            </a:r>
            <a:endParaRPr lang="en-US" sz="750" dirty="0"/>
          </a:p>
        </p:txBody>
      </p:sp>
      <p:sp>
        <p:nvSpPr>
          <p:cNvPr id="6" name="title"/>
          <p:cNvSpPr txBox="1"/>
          <p:nvPr/>
        </p:nvSpPr>
        <p:spPr>
          <a:xfrm>
            <a:off x="859536" y="256032"/>
            <a:ext cx="79187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50" b="1" dirty="0">
                <a:solidFill>
                  <a:srgbClr val="1B365D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10年の見通し：10台でも6年目に黒字、8年目に累積を回収</a:t>
            </a:r>
            <a:endParaRPr lang="en-US" sz="1850" dirty="0"/>
          </a:p>
        </p:txBody>
      </p:sp>
      <p:sp>
        <p:nvSpPr>
          <p:cNvPr id="7" name="lead"/>
          <p:cNvSpPr txBox="1"/>
          <p:nvPr/>
        </p:nvSpPr>
        <p:spPr>
          <a:xfrm>
            <a:off x="365760" y="694944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A556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5年目までの計画は変えずに、6〜10年目を同じ式で延長。条件は6年目から採用のペースを落とすこと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365760" y="950976"/>
            <a:ext cx="8412480" cy="0"/>
          </a:xfrm>
          <a:prstGeom prst="line">
            <a:avLst/>
          </a:prstGeom>
          <a:noFill/>
          <a:ln w="15875">
            <a:solidFill>
              <a:srgbClr val="1B365D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65760" y="1024128"/>
            <a:ext cx="4846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1F29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━ 売上</a:t>
            </a:r>
            <a:pPr algn="l"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2F6DB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　■ 営業損益</a:t>
            </a:r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4A556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　┅ 累積の営業損益（百万円）</a:t>
            </a:r>
            <a:endParaRPr lang="en-US" sz="850" dirty="0"/>
          </a:p>
        </p:txBody>
      </p:sp>
      <p:graphicFrame>
        <p:nvGraphicFramePr>
          <p:cNvPr id="10" name="Chart 0" descr=""/>
          <p:cNvGraphicFramePr/>
          <p:nvPr/>
        </p:nvGraphicFramePr>
        <p:xfrm>
          <a:off x="365760" y="1261872"/>
          <a:ext cx="4846320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5" name="kpi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3630168"/>
          <a:ext cx="484632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868680"/>
                <a:gridCol w="868680"/>
                <a:gridCol w="868680"/>
                <a:gridCol w="868680"/>
              </a:tblGrid>
              <a:tr h="2194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8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B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5年目</a:t>
                      </a:r>
                      <a:endParaRPr lang="en-US" sz="8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B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6年目</a:t>
                      </a:r>
                      <a:endParaRPr lang="en-US" sz="8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B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8年目</a:t>
                      </a:r>
                      <a:endParaRPr lang="en-US" sz="8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B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10年目</a:t>
                      </a:r>
                      <a:endParaRPr lang="en-US" sz="8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B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65D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拠点</a:t>
                      </a:r>
                      <a:endParaRPr lang="en-US" sz="8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81</a:t>
                      </a:r>
                      <a:endParaRPr lang="en-US" sz="8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109</a:t>
                      </a:r>
                      <a:endParaRPr lang="en-US" sz="8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162</a:t>
                      </a:r>
                      <a:endParaRPr lang="en-US" sz="8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207</a:t>
                      </a:r>
                      <a:endParaRPr lang="en-US" sz="8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社員</a:t>
                      </a:r>
                      <a:endParaRPr lang="en-US" sz="8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23</a:t>
                      </a:r>
                      <a:endParaRPr lang="en-US" sz="8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24</a:t>
                      </a:r>
                      <a:endParaRPr lang="en-US" sz="8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29</a:t>
                      </a:r>
                      <a:endParaRPr lang="en-US" sz="8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32</a:t>
                      </a:r>
                      <a:endParaRPr lang="en-US" sz="8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売上（百万円）</a:t>
                      </a:r>
                      <a:endParaRPr lang="en-US" sz="8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269</a:t>
                      </a:r>
                      <a:endParaRPr lang="en-US" sz="8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355</a:t>
                      </a:r>
                      <a:endParaRPr lang="en-US" sz="8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518</a:t>
                      </a:r>
                      <a:endParaRPr lang="en-US" sz="8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655</a:t>
                      </a:r>
                      <a:endParaRPr lang="en-US" sz="8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 7"/>
          <p:cNvSpPr txBox="1"/>
          <p:nvPr/>
        </p:nvSpPr>
        <p:spPr>
          <a:xfrm>
            <a:off x="5440680" y="1024128"/>
            <a:ext cx="3337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F29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前提が崩れても10年で黒字になるか</a:t>
            </a:r>
            <a:endParaRPr lang="en-US" sz="1100" dirty="0"/>
          </a:p>
        </p:txBody>
      </p:sp>
      <p:graphicFrame>
        <p:nvGraphicFramePr>
          <p:cNvPr id="29" name="stress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40680" y="1298448"/>
          <a:ext cx="3337560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640080"/>
                <a:gridCol w="777240"/>
                <a:gridCol w="685800"/>
              </a:tblGrid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10年で</a:t>
                      </a:r>
                      <a:endParaRPr lang="en-US" sz="8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B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黒字</a:t>
                      </a:r>
                      <a:endParaRPr lang="en-US" sz="8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B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赤字を回収</a:t>
                      </a:r>
                      <a:endParaRPr lang="en-US" sz="8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B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最低現金</a:t>
                      </a:r>
                      <a:endParaRPr lang="en-US" sz="8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B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65D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計画どおり（10台）</a:t>
                      </a:r>
                      <a:endParaRPr lang="en-US" sz="8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6年目</a:t>
                      </a:r>
                      <a:endParaRPr lang="en-US" sz="8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B365D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8年目</a:t>
                      </a:r>
                      <a:endParaRPr lang="en-US" sz="8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B365D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67</a:t>
                      </a:r>
                      <a:endParaRPr lang="en-US" sz="8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6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1拠点15台</a:t>
                      </a:r>
                      <a:endParaRPr lang="en-US" sz="8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5年目</a:t>
                      </a:r>
                      <a:endParaRPr lang="en-US" sz="8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B365D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6年目</a:t>
                      </a:r>
                      <a:endParaRPr lang="en-US" sz="8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B365D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110</a:t>
                      </a:r>
                      <a:endParaRPr lang="en-US" sz="8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解約 年20%</a:t>
                      </a:r>
                      <a:endParaRPr lang="en-US" sz="8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6年目</a:t>
                      </a:r>
                      <a:endParaRPr lang="en-US" sz="8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B365D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10年目</a:t>
                      </a:r>
                      <a:endParaRPr lang="en-US" sz="8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B365D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33</a:t>
                      </a:r>
                      <a:endParaRPr lang="en-US" sz="8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値下げ −20%</a:t>
                      </a:r>
                      <a:endParaRPr lang="en-US" sz="8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7年目</a:t>
                      </a:r>
                      <a:endParaRPr lang="en-US" sz="8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C62828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─</a:t>
                      </a:r>
                      <a:endParaRPr lang="en-US" sz="8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C62828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-21</a:t>
                      </a:r>
                      <a:endParaRPr lang="en-US" sz="8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AI・保存費が2倍</a:t>
                      </a:r>
                      <a:endParaRPr lang="en-US" sz="8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8年目</a:t>
                      </a:r>
                      <a:endParaRPr lang="en-US" sz="8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C62828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─</a:t>
                      </a:r>
                      <a:endParaRPr lang="en-US" sz="8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C62828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-54</a:t>
                      </a:r>
                      <a:endParaRPr lang="en-US" sz="8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Shape 8"/>
          <p:cNvSpPr/>
          <p:nvPr/>
        </p:nvSpPr>
        <p:spPr>
          <a:xfrm>
            <a:off x="5440680" y="2962656"/>
            <a:ext cx="3337560" cy="1517904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15" name="Text 9"/>
          <p:cNvSpPr txBox="1"/>
          <p:nvPr/>
        </p:nvSpPr>
        <p:spPr>
          <a:xfrm>
            <a:off x="5568696" y="2962656"/>
            <a:ext cx="3081528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F5C40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ポイント</a:t>
            </a:r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endParaRPr lang="en-US" sz="900" dirty="0"/>
          </a:p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利用料は毎年積み上がるため、6年目以降は利益が伸びる。10年目の営業利益は約190百万円（15台なら約347百万円）</a:t>
            </a:r>
            <a:endParaRPr lang="en-US" sz="900" dirty="0"/>
          </a:p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900" dirty="0">
                <a:solidFill>
                  <a:srgbClr val="F5C40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値下げやAI費用2倍の場合は、現金が一時的にマイナスになり、自己資金の追加が必要</a:t>
            </a:r>
            <a:endParaRPr lang="en-US" sz="900" dirty="0"/>
          </a:p>
        </p:txBody>
      </p:sp>
      <p:sp>
        <p:nvSpPr>
          <p:cNvPr id="16" name="Text 10"/>
          <p:cNvSpPr txBox="1"/>
          <p:nvPr/>
        </p:nvSpPr>
        <p:spPr>
          <a:xfrm>
            <a:off x="365760" y="4553712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7B8794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6〜10年目の前提：新規 年36→40拠点（関東の中堅で頭打ち）、社員24→32人、解約は年10%。電線工場・海外は入れていない。10年目でターゲット市場の約4.4%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773168"/>
            <a:ext cx="530352" cy="24688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1B365D"/>
                </a:solidFill>
                <a:latin typeface="BIZ UDPGothic"/>
                <a:ea typeface="BIZ UDPGothic"/>
                <a:cs typeface="BIZ UDPGothic"/>
              </a:defRPr>
            </a:lvl1pPr>
          </a:lstStyle>
          <a:p>
            <a:pPr algn="ctr"/>
            <a:fld id="{F7021451-1387-4CA6-816F-3879F97B5CBC}" type="slidenum">
              <a:rPr b="1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365760" y="274320"/>
            <a:ext cx="402336" cy="402336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365760" y="2743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5</a:t>
            </a:r>
            <a:endParaRPr lang="en-US" sz="1700" dirty="0"/>
          </a:p>
        </p:txBody>
      </p:sp>
      <p:sp>
        <p:nvSpPr>
          <p:cNvPr id="5" name="Text 2"/>
          <p:cNvSpPr txBox="1"/>
          <p:nvPr/>
        </p:nvSpPr>
        <p:spPr>
          <a:xfrm>
            <a:off x="6053328" y="4759452"/>
            <a:ext cx="11887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750" b="1" dirty="0">
                <a:solidFill>
                  <a:srgbClr val="1B365D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⑤ 課題</a:t>
            </a:r>
            <a:endParaRPr lang="en-US" sz="750" dirty="0"/>
          </a:p>
        </p:txBody>
      </p:sp>
      <p:sp>
        <p:nvSpPr>
          <p:cNvPr id="6" name="title"/>
          <p:cNvSpPr txBox="1"/>
          <p:nvPr/>
        </p:nvSpPr>
        <p:spPr>
          <a:xfrm>
            <a:off x="859536" y="256032"/>
            <a:ext cx="79187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50" b="1" dirty="0">
                <a:solidFill>
                  <a:srgbClr val="1B365D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段階ごとの課題と、計画の弱いところ</a:t>
            </a:r>
            <a:endParaRPr lang="en-US" sz="1850" dirty="0"/>
          </a:p>
        </p:txBody>
      </p:sp>
      <p:sp>
        <p:nvSpPr>
          <p:cNvPr id="7" name="lead"/>
          <p:cNvSpPr txBox="1"/>
          <p:nvPr/>
        </p:nvSpPr>
        <p:spPr>
          <a:xfrm>
            <a:off x="365760" y="694944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A556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各段階の一番の課題と打ち手。計画を見直して見つけた弱点は、確かめ方とセットで示す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365760" y="950976"/>
            <a:ext cx="8412480" cy="0"/>
          </a:xfrm>
          <a:prstGeom prst="line">
            <a:avLst/>
          </a:prstGeom>
          <a:noFill/>
          <a:ln w="15875">
            <a:solidFill>
              <a:srgbClr val="1B365D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65760" y="1024128"/>
            <a:ext cx="2034540" cy="502920"/>
          </a:xfrm>
          <a:prstGeom prst="rect">
            <a:avLst/>
          </a:prstGeom>
          <a:solidFill>
            <a:srgbClr val="2F6DB5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438912" y="1024128"/>
            <a:ext cx="18882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準備期</a:t>
            </a:r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　0〜6か月</a:t>
            </a:r>
            <a:endParaRPr lang="en-US" sz="11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課題：効果が出るか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65760" y="1572768"/>
            <a:ext cx="2034540" cy="914400"/>
          </a:xfrm>
          <a:prstGeom prst="rect">
            <a:avLst/>
          </a:prstGeom>
          <a:solidFill>
            <a:srgbClr val="EAF0F6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438912" y="1600200"/>
            <a:ext cx="1888236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1F29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グラスの電池・録画の制約で記録が途切れる → 要所だけ記録、写真台帳から自動に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2491740" y="1024128"/>
            <a:ext cx="2034540" cy="502920"/>
          </a:xfrm>
          <a:prstGeom prst="rect">
            <a:avLst/>
          </a:prstGeom>
          <a:solidFill>
            <a:srgbClr val="4A5563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2564892" y="1024128"/>
            <a:ext cx="18882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導入期</a:t>
            </a:r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　1〜2年目</a:t>
            </a:r>
            <a:endParaRPr lang="en-US" sz="11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課題：売れるか・続くか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2491740" y="1572768"/>
            <a:ext cx="2034540" cy="914400"/>
          </a:xfrm>
          <a:prstGeom prst="rect">
            <a:avLst/>
          </a:prstGeom>
          <a:solidFill>
            <a:srgbClr val="EAF0F6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2564892" y="1600200"/>
            <a:ext cx="1888236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1F29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300万円を払うか未検証。監視と感じて使わない → 有償試験導入、記録の範囲と労使合意を先に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4617720" y="1024128"/>
            <a:ext cx="2034540" cy="502920"/>
          </a:xfrm>
          <a:prstGeom prst="rect">
            <a:avLst/>
          </a:prstGeom>
          <a:solidFill>
            <a:srgbClr val="4A5563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4690872" y="1024128"/>
            <a:ext cx="18882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成長期</a:t>
            </a:r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　3〜5年目</a:t>
            </a:r>
            <a:endParaRPr lang="en-US" sz="11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課題：台数と人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617720" y="1572768"/>
            <a:ext cx="2034540" cy="914400"/>
          </a:xfrm>
          <a:prstGeom prst="rect">
            <a:avLst/>
          </a:prstGeom>
          <a:solidFill>
            <a:srgbClr val="EAF0F6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4690872" y="1600200"/>
            <a:ext cx="1888236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1F29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10台では黒字にならない。採用が追いつかない → 台数を増やす提案、採用を拠点数に連動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6743700" y="1024128"/>
            <a:ext cx="2034540" cy="502920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6816852" y="1024128"/>
            <a:ext cx="18882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成熟期</a:t>
            </a:r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　6年目〜</a:t>
            </a:r>
            <a:endParaRPr lang="en-US" sz="11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課題：大手との競争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6743700" y="1572768"/>
            <a:ext cx="2034540" cy="914400"/>
          </a:xfrm>
          <a:prstGeom prst="rect">
            <a:avLst/>
          </a:prstGeom>
          <a:solidFill>
            <a:srgbClr val="EAF0F6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6816852" y="1600200"/>
            <a:ext cx="1888236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1F29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日立などのAI化。データの持ち主 → 工種の型と監修で差、データ契約を最初から、提携</a:t>
            </a:r>
            <a:endParaRPr lang="en-US" sz="850" dirty="0"/>
          </a:p>
        </p:txBody>
      </p:sp>
      <p:graphicFrame>
        <p:nvGraphicFramePr>
          <p:cNvPr id="16" name="weak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2606040"/>
          <a:ext cx="841248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931920"/>
                <a:gridCol w="3017520"/>
              </a:tblGrid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弱いところ</a:t>
                      </a:r>
                      <a:endParaRPr lang="en-US" sz="8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B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何が問題か</a:t>
                      </a:r>
                      <a:endParaRPr lang="en-US" sz="8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B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どう確かめる・直す</a:t>
                      </a:r>
                      <a:endParaRPr lang="en-US" sz="8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B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65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普段使いのグラス</a:t>
                      </a:r>
                      <a:endParaRPr lang="en-US" sz="8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動画1回3分程度まで（報道）・720p・連続撮影で電池が持たない・保護めがねの規格</a:t>
                      </a:r>
                      <a:endParaRPr lang="en-US" sz="8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要所の短い記録に絞る。準備期に実機を1日使う</a:t>
                      </a:r>
                      <a:endParaRPr lang="en-US" sz="8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値段</a:t>
                      </a:r>
                      <a:endParaRPr lang="en-US" sz="8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年300万円は未検証。得は約1.5倍で余裕が小さい</a:t>
                      </a:r>
                      <a:endParaRPr lang="en-US" sz="8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試験導入3社に価格を聞く</a:t>
                      </a:r>
                      <a:endParaRPr lang="en-US" sz="8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黒字化</a:t>
                      </a:r>
                      <a:endParaRPr lang="en-US" sz="8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10台のままでは5年で黒字にならない</a:t>
                      </a:r>
                      <a:endParaRPr lang="en-US" sz="8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2年目末に平均12台を線にする</a:t>
                      </a:r>
                      <a:endParaRPr lang="en-US" sz="8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人とCAC</a:t>
                      </a:r>
                      <a:endParaRPr lang="en-US" sz="8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CTO・コンサル8人を採れるか。CACに創業者の営業時間がない</a:t>
                      </a:r>
                      <a:endParaRPr lang="en-US" sz="8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採用を拠点数に連動。実績で更新</a:t>
                      </a:r>
                      <a:endParaRPr lang="en-US" sz="8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最大のリスクは自分</a:t>
                      </a:r>
                      <a:endParaRPr lang="en-US" sz="8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創業者がボトルネックになる・前職との関係</a:t>
                      </a:r>
                      <a:endParaRPr lang="en-US" sz="8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役割を絞り判断基準を先に。前職の顧客と機密は使わない</a:t>
                      </a:r>
                      <a:endParaRPr lang="en-US" sz="8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6" name="Text 22"/>
          <p:cNvSpPr txBox="1"/>
          <p:nvPr/>
        </p:nvSpPr>
        <p:spPr>
          <a:xfrm>
            <a:off x="365760" y="4553712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7B8794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ほかに：データがメーカーのアプリを経由する（規約と設定を確認）、解約率10%に日本の根拠がない（更新時の継続率で差し替える）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773168"/>
            <a:ext cx="530352" cy="24688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1B365D"/>
                </a:solidFill>
                <a:latin typeface="BIZ UDPGothic"/>
                <a:ea typeface="BIZ UDPGothic"/>
                <a:cs typeface="BIZ UDPGothic"/>
              </a:defRPr>
            </a:lvl1pPr>
          </a:lstStyle>
          <a:p>
            <a:pPr algn="ctr"/>
            <a:fld id="{F7021451-1387-4CA6-816F-3879F97B5CBC}" type="slidenum">
              <a:rPr b="1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365760" y="274320"/>
            <a:ext cx="402336" cy="402336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365760" y="2743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5</a:t>
            </a:r>
            <a:endParaRPr lang="en-US" sz="1700" dirty="0"/>
          </a:p>
        </p:txBody>
      </p:sp>
      <p:sp>
        <p:nvSpPr>
          <p:cNvPr id="5" name="Text 2"/>
          <p:cNvSpPr txBox="1"/>
          <p:nvPr/>
        </p:nvSpPr>
        <p:spPr>
          <a:xfrm>
            <a:off x="6053328" y="4759452"/>
            <a:ext cx="11887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750" b="1" dirty="0">
                <a:solidFill>
                  <a:srgbClr val="1B365D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⑤ 課題</a:t>
            </a:r>
            <a:endParaRPr lang="en-US" sz="750" dirty="0"/>
          </a:p>
        </p:txBody>
      </p:sp>
      <p:sp>
        <p:nvSpPr>
          <p:cNvPr id="6" name="title"/>
          <p:cNvSpPr txBox="1"/>
          <p:nvPr/>
        </p:nvSpPr>
        <p:spPr>
          <a:xfrm>
            <a:off x="859536" y="256032"/>
            <a:ext cx="79187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50" b="1" dirty="0">
                <a:solidFill>
                  <a:srgbClr val="1B365D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準備期の6か月：最初に確かめるのは効果が出るか</a:t>
            </a:r>
            <a:endParaRPr lang="en-US" sz="1850" dirty="0"/>
          </a:p>
        </p:txBody>
      </p:sp>
      <p:sp>
        <p:nvSpPr>
          <p:cNvPr id="7" name="lead"/>
          <p:cNvSpPr txBox="1"/>
          <p:nvPr/>
        </p:nvSpPr>
        <p:spPr>
          <a:xfrm>
            <a:off x="365760" y="694944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A556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費用は約500万円（自己資金）。合格ラインを越えたら次へ進み、越えなければ撤退する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365760" y="950976"/>
            <a:ext cx="8412480" cy="0"/>
          </a:xfrm>
          <a:prstGeom prst="line">
            <a:avLst/>
          </a:prstGeom>
          <a:noFill/>
          <a:ln w="15875">
            <a:solidFill>
              <a:srgbClr val="1B365D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65760" y="1024128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B365D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準備期の費用（約500万円・自己資金）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365760" y="1298448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1F29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試作品の開発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1828800" y="1344168"/>
            <a:ext cx="1828800" cy="146304"/>
          </a:xfrm>
          <a:prstGeom prst="rect">
            <a:avLst/>
          </a:prstGeom>
          <a:solidFill>
            <a:srgbClr val="2F6DB5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3703320" y="129844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1F29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250</a:t>
            </a:r>
            <a:endParaRPr lang="en-US" sz="900" dirty="0"/>
          </a:p>
        </p:txBody>
      </p:sp>
      <p:sp>
        <p:nvSpPr>
          <p:cNvPr id="13" name="Text 10"/>
          <p:cNvSpPr txBox="1"/>
          <p:nvPr/>
        </p:nvSpPr>
        <p:spPr>
          <a:xfrm>
            <a:off x="365760" y="1545336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1F29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1拠点での実証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1828800" y="1591056"/>
            <a:ext cx="731520" cy="146304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2606040" y="154533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1F29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100</a:t>
            </a:r>
            <a:endParaRPr lang="en-US" sz="900" dirty="0"/>
          </a:p>
        </p:txBody>
      </p:sp>
      <p:sp>
        <p:nvSpPr>
          <p:cNvPr id="16" name="Text 13"/>
          <p:cNvSpPr txBox="1"/>
          <p:nvPr/>
        </p:nvSpPr>
        <p:spPr>
          <a:xfrm>
            <a:off x="365760" y="1792224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1F29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グラス・機材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1828800" y="1837944"/>
            <a:ext cx="585216" cy="146304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2459736" y="1792224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1F29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80</a:t>
            </a:r>
            <a:endParaRPr lang="en-US" sz="900" dirty="0"/>
          </a:p>
        </p:txBody>
      </p:sp>
      <p:sp>
        <p:nvSpPr>
          <p:cNvPr id="19" name="Text 16"/>
          <p:cNvSpPr txBox="1"/>
          <p:nvPr/>
        </p:nvSpPr>
        <p:spPr>
          <a:xfrm>
            <a:off x="365760" y="2039112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1F29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設立・契約・知財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1828800" y="2084832"/>
            <a:ext cx="292608" cy="146304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2167128" y="203911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1F29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40</a:t>
            </a:r>
            <a:endParaRPr lang="en-US" sz="900" dirty="0"/>
          </a:p>
        </p:txBody>
      </p:sp>
      <p:sp>
        <p:nvSpPr>
          <p:cNvPr id="22" name="Text 19"/>
          <p:cNvSpPr txBox="1"/>
          <p:nvPr/>
        </p:nvSpPr>
        <p:spPr>
          <a:xfrm>
            <a:off x="365760" y="2286000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1F29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予備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1828800" y="2331720"/>
            <a:ext cx="219456" cy="146304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2093976" y="22860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1F29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30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365760" y="2633472"/>
            <a:ext cx="566928" cy="274320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365760" y="2633472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3か月</a:t>
            </a:r>
            <a:endParaRPr lang="en-US" sz="900" dirty="0"/>
          </a:p>
        </p:txBody>
      </p:sp>
      <p:sp>
        <p:nvSpPr>
          <p:cNvPr id="27" name="Text 24"/>
          <p:cNvSpPr txBox="1"/>
          <p:nvPr/>
        </p:nvSpPr>
        <p:spPr>
          <a:xfrm>
            <a:off x="1005840" y="2596896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1F29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試作品：記録 → 写真の自動抽出 → 報告書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365760" y="2999232"/>
            <a:ext cx="566928" cy="274320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365760" y="2999232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6か月</a:t>
            </a:r>
            <a:endParaRPr lang="en-US" sz="900" dirty="0"/>
          </a:p>
        </p:txBody>
      </p:sp>
      <p:sp>
        <p:nvSpPr>
          <p:cNvPr id="30" name="Text 27"/>
          <p:cNvSpPr txBox="1"/>
          <p:nvPr/>
        </p:nvSpPr>
        <p:spPr>
          <a:xfrm>
            <a:off x="1005840" y="2962656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1F29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1拠点で実証：1台1日23分減ったか、AIグラスで1日記録できるか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365760" y="3364992"/>
            <a:ext cx="566928" cy="274320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32" name="Text 29"/>
          <p:cNvSpPr txBox="1"/>
          <p:nvPr/>
        </p:nvSpPr>
        <p:spPr>
          <a:xfrm>
            <a:off x="365760" y="3364992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6か月</a:t>
            </a:r>
            <a:endParaRPr lang="en-US" sz="900" dirty="0"/>
          </a:p>
        </p:txBody>
      </p:sp>
      <p:sp>
        <p:nvSpPr>
          <p:cNvPr id="33" name="Text 30"/>
          <p:cNvSpPr txBox="1"/>
          <p:nvPr/>
        </p:nvSpPr>
        <p:spPr>
          <a:xfrm>
            <a:off x="1005840" y="3328416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1F29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有償試験導入3拠点の契約。合格したら2億円を入れて採用を始める</a:t>
            </a:r>
            <a:endParaRPr lang="en-US" sz="900" dirty="0"/>
          </a:p>
        </p:txBody>
      </p:sp>
      <p:sp>
        <p:nvSpPr>
          <p:cNvPr id="34" name="Text 31"/>
          <p:cNvSpPr txBox="1"/>
          <p:nvPr/>
        </p:nvSpPr>
        <p:spPr>
          <a:xfrm>
            <a:off x="4526280" y="1024128"/>
            <a:ext cx="4251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B365D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進むか止まるかの線（実証）</a:t>
            </a:r>
            <a:endParaRPr lang="en-US" sz="1100" dirty="0"/>
          </a:p>
        </p:txBody>
      </p:sp>
      <p:graphicFrame>
        <p:nvGraphicFramePr>
          <p:cNvPr id="17" name="gate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26280" y="1298448"/>
          <a:ext cx="4251960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3017520"/>
              </a:tblGrid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1台1日の削減</a:t>
                      </a:r>
                      <a:endParaRPr lang="en-US" sz="9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B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判断</a:t>
                      </a:r>
                      <a:endParaRPr lang="en-US" sz="9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B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65D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2E7D32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23分以上</a:t>
                      </a:r>
                      <a:endParaRPr lang="en-US" sz="9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2E7D32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進む：2億円を入れて採用を始める</a:t>
                      </a:r>
                      <a:endParaRPr lang="en-US" sz="9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15〜23分</a:t>
                      </a:r>
                      <a:endParaRPr lang="en-US" sz="9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C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直す：機能を写真台帳に絞って測り直す</a:t>
                      </a:r>
                      <a:endParaRPr lang="en-US" sz="9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C2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C62828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15分未満</a:t>
                      </a:r>
                      <a:endParaRPr lang="en-US" sz="9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C62828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止まる：撤退する</a:t>
                      </a:r>
                      <a:endParaRPr lang="en-US" sz="9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6" name="Text 32"/>
          <p:cNvSpPr txBox="1"/>
          <p:nvPr/>
        </p:nvSpPr>
        <p:spPr>
          <a:xfrm>
            <a:off x="4526280" y="2670048"/>
            <a:ext cx="4251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B365D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事業への向き合い方</a:t>
            </a:r>
            <a:endParaRPr lang="en-US" sz="1100" dirty="0"/>
          </a:p>
        </p:txBody>
      </p:sp>
      <p:sp>
        <p:nvSpPr>
          <p:cNvPr id="37" name="Shape 33"/>
          <p:cNvSpPr/>
          <p:nvPr/>
        </p:nvSpPr>
        <p:spPr>
          <a:xfrm>
            <a:off x="4526280" y="2999232"/>
            <a:ext cx="274320" cy="274320"/>
          </a:xfrm>
          <a:prstGeom prst="rect">
            <a:avLst/>
          </a:prstGeom>
          <a:solidFill>
            <a:srgbClr val="2F6DB5"/>
          </a:solidFill>
          <a:ln/>
        </p:spPr>
      </p:sp>
      <p:sp>
        <p:nvSpPr>
          <p:cNvPr id="38" name="Text 34"/>
          <p:cNvSpPr txBox="1"/>
          <p:nvPr/>
        </p:nvSpPr>
        <p:spPr>
          <a:xfrm>
            <a:off x="4526280" y="29992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1</a:t>
            </a:r>
            <a:endParaRPr lang="en-US" sz="1000" dirty="0"/>
          </a:p>
        </p:txBody>
      </p:sp>
      <p:sp>
        <p:nvSpPr>
          <p:cNvPr id="39" name="Text 35"/>
          <p:cNvSpPr txBox="1"/>
          <p:nvPr/>
        </p:nvSpPr>
        <p:spPr>
          <a:xfrm>
            <a:off x="4873752" y="2944368"/>
            <a:ext cx="3904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1F29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教材の一部は業界に無償で公開する</a:t>
            </a:r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4A556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　業界団体や学校で使えるようにする</a:t>
            </a:r>
            <a:endParaRPr lang="en-US" sz="950" dirty="0"/>
          </a:p>
        </p:txBody>
      </p:sp>
      <p:sp>
        <p:nvSpPr>
          <p:cNvPr id="40" name="Shape 36"/>
          <p:cNvSpPr/>
          <p:nvPr/>
        </p:nvSpPr>
        <p:spPr>
          <a:xfrm>
            <a:off x="4526280" y="3383280"/>
            <a:ext cx="274320" cy="274320"/>
          </a:xfrm>
          <a:prstGeom prst="rect">
            <a:avLst/>
          </a:prstGeom>
          <a:solidFill>
            <a:srgbClr val="4A5563"/>
          </a:solidFill>
          <a:ln/>
        </p:spPr>
      </p:sp>
      <p:sp>
        <p:nvSpPr>
          <p:cNvPr id="41" name="Text 37"/>
          <p:cNvSpPr txBox="1"/>
          <p:nvPr/>
        </p:nvSpPr>
        <p:spPr>
          <a:xfrm>
            <a:off x="4526280" y="33832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2</a:t>
            </a:r>
            <a:endParaRPr lang="en-US" sz="1000" dirty="0"/>
          </a:p>
        </p:txBody>
      </p:sp>
      <p:sp>
        <p:nvSpPr>
          <p:cNvPr id="42" name="Text 38"/>
          <p:cNvSpPr txBox="1"/>
          <p:nvPr/>
        </p:nvSpPr>
        <p:spPr>
          <a:xfrm>
            <a:off x="4873752" y="3328416"/>
            <a:ext cx="3904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1F29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撤退ラインは守る</a:t>
            </a:r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4A556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　資金には限りがある。続けられる形を探し続ける</a:t>
            </a:r>
            <a:endParaRPr lang="en-US" sz="950" dirty="0"/>
          </a:p>
        </p:txBody>
      </p:sp>
      <p:sp>
        <p:nvSpPr>
          <p:cNvPr id="43" name="Shape 39"/>
          <p:cNvSpPr/>
          <p:nvPr/>
        </p:nvSpPr>
        <p:spPr>
          <a:xfrm>
            <a:off x="365760" y="3840480"/>
            <a:ext cx="8412480" cy="621792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44" name="Text 40"/>
          <p:cNvSpPr txBox="1"/>
          <p:nvPr/>
        </p:nvSpPr>
        <p:spPr>
          <a:xfrm>
            <a:off x="530352" y="3840480"/>
            <a:ext cx="808329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現場の勘を、人に依存しない形で次の担い手へ残したい。</a:t>
            </a:r>
            <a:endParaRPr lang="en-US" sz="1100" dirty="0"/>
          </a:p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最初の目標は、6か月で1拠点を立ち上げることです。</a:t>
            </a:r>
            <a:endParaRPr lang="en-US" sz="1100" dirty="0"/>
          </a:p>
        </p:txBody>
      </p:sp>
      <p:sp>
        <p:nvSpPr>
          <p:cNvPr id="45" name="Text 41"/>
          <p:cNvSpPr txBox="1"/>
          <p:nvPr/>
        </p:nvSpPr>
        <p:spPr>
          <a:xfrm>
            <a:off x="5669280" y="4114800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5C40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ご清聴ありがとうございました</a:t>
            </a:r>
            <a:endParaRPr lang="en-US" sz="1100" dirty="0"/>
          </a:p>
        </p:txBody>
      </p:sp>
      <p:sp>
        <p:nvSpPr>
          <p:cNvPr id="46" name="Text 42"/>
          <p:cNvSpPr txBox="1"/>
          <p:nvPr/>
        </p:nvSpPr>
        <p:spPr>
          <a:xfrm>
            <a:off x="365760" y="4553712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7B8794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想いと10年で現場に戻る時間は p.2。撤退ラインの全体（1年目末・2年目末・3年目）は p.13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773168"/>
            <a:ext cx="530352" cy="24688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1B365D"/>
                </a:solidFill>
                <a:latin typeface="BIZ UDPGothic"/>
                <a:ea typeface="BIZ UDPGothic"/>
                <a:cs typeface="BIZ UDPGothic"/>
              </a:defRPr>
            </a:lvl1pPr>
          </a:lstStyle>
          <a:p>
            <a:pPr algn="ctr"/>
            <a:fld id="{F7021451-1387-4CA6-816F-3879F97B5CBC}" type="slidenum">
              <a:rPr b="1" lang="en-US"/>
              <a:t>16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BIZ UDP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BIZ UDP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株式会社カンツギ 事業計画書（16枚版）</dc:title>
  <dc:subject>PptxGenJS Presentation</dc:subject>
  <dc:creator>PptxGenJS</dc:creator>
  <cp:lastModifiedBy>PptxGenJS</cp:lastModifiedBy>
  <cp:revision>1</cp:revision>
  <dcterms:created xsi:type="dcterms:W3CDTF">2026-10-20T03:13:21Z</dcterms:created>
  <dcterms:modified xsi:type="dcterms:W3CDTF">2026-10-20T03:13:21Z</dcterms:modified>
</cp:coreProperties>
</file>