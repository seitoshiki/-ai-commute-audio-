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【使い方】
要約：数字を聞かれたら、このページ番号で答える
この資料は発表用ではなく、質問への備えです。すべての数字は一つの計算モデルから出しているので、どこを聞かれても辻褄が合います。聞かれたら、まず数字、次に式、最後に前提の順で答えます。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【根拠1】
要約：営業利益は5つの数字の掛け算と足し算に分解できる
5年目の営業利益6,900万円を分解した木です。上から、売上総利益から販管費を引く。売上総利益は、利用料の85%とサービスの40%。利用料は、前の年までの55拠点に300万円と、新しい33拠点の半年分。販管費は、社員20人に800万円から、導入支援に回った人件費を原価に振り替え、家賃などを足す。どの枝を聞かれても、この木のどこかを指せば答え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【根拠2】
要約：前提は11個。確度の低いものは実証で確かめる
計画の前提を一覧にしました。確度Aは公的統計や契約で決まるもの、Bは社内の見積もり、Cはまだ検証していない仮説です。Cの代表は、1人あたり月6時間の削減です。だから500万円の使い道の中心が、この数字を実測する実証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【根拠3】
要約：価格は、お客様が得する額の約1割
年300万円の根拠は、お客様の得の約1割です。施工管理者と電工が100人の会社で月240万円、年2,880万円分の時間が浮くので、その約10%をいただきます。人数ではなく拠点とライン数で課金するのは、人数課金だと現場がアカウントを絞り、記録が貯まらなくなる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【根拠4】
要約：小さな会社でも1年以内に元が取れる
お客様の回収期間の感度表です。人数と削減時間が半分でも、100人・月3時間、または50人・月6時間で、約4か月で回収できます。1年で回収するための最低条件は、人数かける削減時間が月105人時。30人の会社なら1人月3.5時間です。これを下回る小さな会社は、最初は狙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【根拠5】
要約：売上は4つの部品の足し算
売上の計算表です。前の年までのお客様の利用料、新しいお客様の半年分の利用料、導入支援、受託開発の4つを足します。新しいお客様は年の途中で始まるので、初年度は半年分にしています。1年目の3拠点は有償の試験導入で、利用料はいただかない前提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【根拠6】
要約：導入支援の人件費は原価に振り替える
原価と販管費です。利用料の原価はサーバーとAIの費用で15%。導入支援と受託の原価は担当者の人件費で60%。その分を販管費の人件費から引いて、二重に数えないようにしています。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【根拠7】
要約：損益分岐点は売上で見ても、人で見ても4年目
損益分岐点は二通りで見ています。一つは販管費を粗利率で割る売上ベース。もう一つは社員1人あたりの拠点数で、713万円を255万円で割って2.8拠点。どちらで見ても4年目に超えます。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【根拠8】
要約：LTVは控えめに7年。3年で解約されても13倍
LTVは年255万円の粗利を7年分と、導入支援の粗利80万円で約1,865万円。計画上の解約率は年5%台なので平均は約18年続く計算ですが、控えめに7年にしています。仮に3年で全部解約されても、LTVは845万円で、CACの約13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【根拠9】
要約：崩れても死なない。条件は採用を拠点数に連動させること
計画が崩れた場合のストレステストです。単価が2割下がっても、解約が倍になっても、4年目の黒字は変わりません。獲得が3割遅れたり、1年遅れたりすると黒字化は5年目にずれますが、採用を拠点数に合わせて遅らせれば、現金は最低ラインを割りません。一番危ないのは、獲得が遅れているのに計画どおり採用することで、この場合は現金が尽きます。だから、社員1人2.8拠点を採用のルール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【根拠10】
要約：必要資金1.5億円は積み上げで出した
必要資金1.5億円は、累積赤字のピーク6,500万円、運転資金2,900万円、1年遅れた場合の備え5,600万円の積み上げです。現金残高は最も薄い3年目でも約6,000万円残ります。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【根拠11】
要約：ターゲット市場は業種×規模で数えて約141億円
市場規模の計算です。業種と規模の2つの軸で分けて、顧客数かける年額を足しました。電気工事と電気通信工事の中堅以上、約3,100社で約141億円です。大手は支店5拠点分で数えています。土台の65,497社は国の統計ですが、規模別の内訳は仮定なので、聞かれたら推計だと正直に言います。電線や素材の工場は、成長期以降の隣接市場として外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【根拠12】
要約：最初の顧客は4つの物差しで選び、5年の獲得数は顧客側から積んだ
なぜ中堅の電気工事会社からなのか。大きさ、困りごと、会いやすさ、波及効果の4つで採点し、17点で最も高くなりました。5年の獲得数は、関東の735社に、会える率45%、成約率25%をかけて83社、大手1社の5拠点を足して約88拠点。導入能力から出した計画の85拠点は、これより控え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【根拠13】
要約：グラスは作らず選ぶ。手元ARの効果は3つの数字で実測する
端末と実証の設計です。グラス本体は開発しません。落下・防じん防水・電池・ヘルメット・手袋での操作という現場の条件で市販の端末を選び、乗り換えられる設計にします。手元ARの効果は、よく使うジョイント1種類で、手戻りの件数、1ジョイントの作業時間、新人が独り立ちするまでの期間の3つで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【根拠14】
要約：厳しい質問には、数字→式→前提の順で答える
厳しい質問への回答集です。それぞれ、一言の答えと、根拠のページを書いています。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【出典】
要約：公的統計と原典を明記する。未確認のものは未確認と言う
出典一覧です。確認が必要なものには印を付けています。発表前に原典を確認してください。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743200" cy="5878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数字には、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すべて式と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前提がある。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36576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令和の虎　事業計画書　別冊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822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理論武装版</a:t>
            </a: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数字の根拠と、崩れたときの備え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3657600" y="1965960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根拠1〜2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965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数字の木と、11個の前提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0" y="2350008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0" y="2350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根拠3〜4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350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価格と、お客様の回収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0" y="2734056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57600" y="2734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根拠5〜8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2734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売上・費用・損益分岐点・LTV/CAC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0" y="3118104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57600" y="31181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根拠9〜10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846320" y="3118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ストレステストと資金計画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0" y="3502152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57600" y="35021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根拠11〜14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846320" y="3502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市場・最初の顧客・端末・厳しい質問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3657600" y="4023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すべての表は同じ計算モデル（tora_model.js）から出力。発表資料・やさしい版と数字が一致する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 ─ 5年目の営業利益6,900万円を分解する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どの数字を聞かれても、この木のどこかを指せば答えられる（単位：百万円）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2377440"/>
            <a:ext cx="1600200" cy="5669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38912" y="23957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267919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 − 販管費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240280" y="132588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13432" y="1344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売上総利益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313432" y="162763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利用料×85%＋サービス×40%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240280" y="342900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13432" y="34472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144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313432" y="37307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人件費−振替＋その他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251960" y="102412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25112" y="10424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325112" y="13258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 214.5 × 85%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51960" y="1682496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325112" y="17007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325112" y="198424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導入支援66＋受託9.5 × 40%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251960" y="3017520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325112" y="30358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160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325112" y="33192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社員20人 × 800万円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251960" y="367588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325112" y="369417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原価への振替・その他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−45 / +29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325112" y="3977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サービス×60% ／ 家賃・広告など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629400" y="1005840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02552" y="102412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前の年までの利用料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702552" y="130759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期首55拠点 × 300万円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629400" y="1609344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02552" y="162763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702552" y="191109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 × 300万円 × 半年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629400" y="2267712"/>
            <a:ext cx="214884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02552" y="22860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702552" y="256946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 × 200万円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103120" y="1609344"/>
            <a:ext cx="0" cy="21031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965960" y="266090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10312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0312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0" y="1307592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7764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0" y="3300984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97764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114800" y="330098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0" y="395935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92240" y="1289304"/>
            <a:ext cx="0" cy="603504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5508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92240" y="1892808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5508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92240" y="1965960"/>
            <a:ext cx="0" cy="585216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92240" y="2551176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629400" y="3017520"/>
            <a:ext cx="2148840" cy="12252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739128" y="3063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動かせるのは3つだけ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拠点数（新規−解約）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単価（300万円）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社員数（採用のペース）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受託開発（9.5百万円）はサービスの粗利に含む。端数は四捨五入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前提一覧 ─ 11個の前提と、その確度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A＝公的統計・制度で決まる　B＝社内の見積もり　C＝未検証の仮説（実証で確かめる）</a:t>
            </a:r>
            <a:endParaRPr lang="en-US" sz="1200" dirty="0"/>
          </a:p>
        </p:txBody>
      </p:sp>
      <p:graphicFrame>
        <p:nvGraphicFramePr>
          <p:cNvPr id="4" name="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480060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年300万円／拠点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お客様の得（年2,880万円）の約10%（根拠3）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200万円（初年度）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担当者1人が約2か月現場に入る。原価120万円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利用料の原価率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クラウド・AI推論・保守。実証で実測する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サービスの原価率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担当者の人件費（1人年800万円の2か月分＋交通費）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3→9→18→27→33拠点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導入担当1人＝年6拠点が上限。顧客側からも約88拠点（根拠12）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0→0→0→2→3拠点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年5%前後。導入後は記録が貯まり、乗り換えにくい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年800万円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年収約600万円×1.3（社会保険など）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4→7→11→15→20人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社員1人2.8拠点を超える前提で採用する（根拠7）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その他経費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1,200→2,900万円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家賃・広告・交通・端末・専門家・雑費（発表資料⑥）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お客様の削減時間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月6時間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書類作業の削減。建設業の書類電子化の実績（月6.5時間）を準用 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1時間の人件費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780万円÷年1,950時間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月6.5時間の出典は発表前に原典を確認する。Cの2つ（削減時間・解約）を、500万円の実証で実測する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 ─ お客様が得する額の約1割をいただく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価値基準の値付け。原価からではなく、お客様の得から決める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11480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お客様の得（100名の拠点・年）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356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 × 月6時間 × 4,000円 × 12か月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年2,880万円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年300万円 ÷ 年2,880万円 ＝ 約10%。残りの約9割がお客様の得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7432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価格の部品（拠点・ライン・機能に比例）</a:t>
            </a:r>
            <a:endParaRPr lang="en-US" sz="1050" dirty="0"/>
          </a:p>
        </p:txBody>
      </p:sp>
      <p:graphicFrame>
        <p:nvGraphicFramePr>
          <p:cNvPr id="5" name="price-par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ライン登録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5ライン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追加機能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なぜこの課金の形か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09160" y="13441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09160" y="13898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人数ではなく拠点で課金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16276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人数課金だと、現場はアカウントを絞る。記録が減り、当社の強み（貯まるデータ）が育たない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09160" y="20299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09160" y="20756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ラインと機能で上がる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23134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使うほど広がる形。2年目以降の単価上昇（アップセル）の余地になる。計画には入れていない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09160" y="27157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09160" y="27614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導入支援は別料金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709160" y="29992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現場に入る作業は人件費がかかる。利用料に混ぜると粗利率が見えなくなる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09160" y="340156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09160" y="34472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年額前払い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709160" y="368503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黒字倒産を防ぐ。入金が先、費用が後になる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値引きされた場合の影響はストレステスト（根拠9）：単価−20%でも4年目に黒字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お客様の回収 ─ 前提が半分でも、約4か月で元が取れる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回収月数＝初年度の支払い500万円 ÷（人数 × 削減時間 × 4,000円）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回収までの月数（初年度）</a:t>
            </a:r>
            <a:endParaRPr lang="en-US" sz="1050" dirty="0"/>
          </a:p>
        </p:txBody>
      </p:sp>
      <p:graphicFrame>
        <p:nvGraphicFramePr>
          <p:cNvPr id="6" name="roi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対象の人数 ＼ 1人の削減時間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月3時間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月6時間（計画）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月10時間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6.9か月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8.3か月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100人（計画）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0.6か月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33101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色付き＝計画の前提。灰色＝12か月を超える（最初は狙わない）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577840" y="1051560"/>
            <a:ext cx="320040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715000" y="10972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1年で回収する最低条件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 × 削減時間 ≧ 月105人時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 ÷ 12か月 ÷ 4,000円 ≒ 104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577840" y="2606040"/>
            <a:ext cx="320040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71500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2年目以降は年300万円だけ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100人・月6時間なら、年2,880万円の得に対し年300万円。約9.6倍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3703320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3703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ターゲットの条件に変換：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施工管理者・電工が30人以上、かつ書類・報告の作業が1人月3.5時間以上ある拠点。関東の中堅電気工事会社（施工管理者30人以上）はこれを満たす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時間の価値で計算しており、現金の支出が減るわけではない。お客様には「残業の削減」または「浮いた時間で育成」として説明する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根拠5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売上の計算 ─ 4つの部品の足し算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売上＝前の年までの利用料＋新しいお客様の利用料（半年分）＋導入支援＋受託開発（単位：万円）</a:t>
            </a:r>
            <a:endParaRPr lang="en-US" sz="1200" dirty="0"/>
          </a:p>
        </p:txBody>
      </p:sp>
      <p:graphicFrame>
        <p:nvGraphicFramePr>
          <p:cNvPr id="7" name="sales-cal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051560"/>
                <a:gridCol w="1051560"/>
                <a:gridCol w="1051560"/>
                <a:gridCol w="105156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期首の拠点数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解約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期末の拠点数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前の年までの利用料（期首×300）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新しいお客様の利用料（新規×300×0.5）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導入支援（新規×200）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受託開発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うち前の年までの利用料の比率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14800"/>
            <a:ext cx="8412480" cy="38404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41148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5年目の月次：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 約1,788万円（月25万円×平均約72拠点）＋導入支援 約550万円＋受託 約79万円 ＝ 約2,417万円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1年目の3拠点は有償の試験導入（導入支援200万円のみ、利用料なし）。新規は年の途中で始まるため初年度の利用料は半年分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根拠6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費用の計算 ─ 導入支援の人件費は原価に振り替える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同じ人件費を原価と販管費で二重に数えない（単位：万円）</a:t>
            </a:r>
            <a:endParaRPr lang="en-US" sz="1200" dirty="0"/>
          </a:p>
        </p:txBody>
      </p:sp>
      <p:graphicFrame>
        <p:nvGraphicFramePr>
          <p:cNvPr id="8" name="cost-cal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051560"/>
                <a:gridCol w="1051560"/>
                <a:gridCol w="1051560"/>
                <a:gridCol w="1051560"/>
                <a:gridCol w="10515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利用料の原価（利用料×15%）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1,958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サービスの原価（支援・受託×60%）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売上総利益（粗利）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7,235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13,473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21,253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人件費（社員数×800）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3,200（4人）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5,600（7人）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8,800（11人）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12,000（15人）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16,000（20人）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原価へ振替（サービスの原価）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2,820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その他経費（家賃・広告・交通など）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1,530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7,880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14,370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▲2,668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6,883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累積営業損益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▲5,868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▲6,513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▲3,740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3,143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発表資料の表は百万円単位で四捨五入（例：5年目 粗利21,253万円→213、販管費14,370万円→144、営業利益6,883万円→69）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根拠7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損益分岐点 ─ 売上で見ても、人で見ても4年目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二つの見方が同じ答えになることが、計画の筋の良さの証拠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売上で見る：損益分岐点売上＝販管費÷粗利率</a:t>
            </a:r>
            <a:endParaRPr lang="en-US" sz="1050" dirty="0"/>
          </a:p>
        </p:txBody>
      </p:sp>
      <p:graphicFrame>
        <p:nvGraphicFramePr>
          <p:cNvPr id="9" name="bep-s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分岐点売上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実際の売上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安全余裕率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人で見る：社員1人あたりの拠点数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09160" y="1325880"/>
            <a:ext cx="4069080" cy="868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846320" y="134416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社員1人の販管費 713万円（4年目：1億700万円÷15人）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 1拠点の粗利 255万円（300万円×85%）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2.8拠点／人</a:t>
            </a:r>
            <a:endParaRPr lang="en-US" sz="950" dirty="0"/>
          </a:p>
        </p:txBody>
      </p:sp>
      <p:graphicFrame>
        <p:nvGraphicFramePr>
          <p:cNvPr id="17" name="bep-peo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28600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拠点÷社員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365760" y="3154680"/>
            <a:ext cx="8412480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02920" y="31546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なぜ販管費を「固定費」とみなすか：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販管費の8割は人件費と家賃で、売上が増えても1年の中では動かない。変動費（サーバー代・導入担当の人件費）は原価に入れてある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聞かれたらこう答える：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「3年目は社員11人で30拠点、1人2.73で2.8に届かず赤字。4年目は15人で55拠点、3.67で黒字です」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経営のルール：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採用は「1人2.8拠点を超える見込み」が立ってから。これが根拠9の資金の守りになる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713万円は4年目の値（1年目920万円、5年目719万円）。年によって多少動くため、目安として2.8を使う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根拠8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LTV・CAC ─ 控えめに7年。3年で解約されても13倍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LTV＝年の粗利×継続年数＋導入支援の粗利　CAC＝営業・広告費÷新規拠点数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LTV（1拠点が残す粗利）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 × 7年 ＋ 80万円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約1,865万円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255万円＝300万円×85%　80万円＝200万円×40%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CAC（1拠点を獲得する費用）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（1,600万円＋500万円）÷ 33拠点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約64万円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5年目：営業2人の人件費＋広告・展示会 ÷ 新規拠点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継続年数を変えたら</a:t>
            </a:r>
            <a:endParaRPr lang="en-US" sz="1050" dirty="0"/>
          </a:p>
        </p:txBody>
      </p:sp>
      <p:graphicFrame>
        <p:nvGraphicFramePr>
          <p:cNvPr id="10" name="ltv-yea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280160"/>
                <a:gridCol w="12801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継続年数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845万円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1,355万円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7年（計画）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1,865万円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2,630万円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091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獲得が難しくなったら</a:t>
            </a:r>
            <a:endParaRPr lang="en-US" sz="1050" dirty="0"/>
          </a:p>
        </p:txBody>
      </p:sp>
      <p:graphicFrame>
        <p:nvGraphicFramePr>
          <p:cNvPr id="19" name="cac-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2344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LTV÷CAC（7年）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回収期間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64万円（計画）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127万円（2倍）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255万円（4倍）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365760" y="3931920"/>
            <a:ext cx="84124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02920" y="39319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7年は控えめ：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計画の解約は5年目に55拠点中3（年約5.5%）。1÷5.5%＝平均約18年続く計算。7年は年約14%の解約に相当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SaaSでよく使われる目安は「LTV÷CACが3倍以上、回収12か月以内」。当社は29倍・3か月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1〜2年目は創業者が営業するため、CACに創業者の人件費は入れていない（聞かれたら正直に言う）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根拠9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ストレステスト ─ 崩れても死なない条件は「採用の連動」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同じ計算モデルで1つずつ前提を崩した結果。最低現金のライン＝固定費3か月分（約2,000万円）</a:t>
            </a:r>
            <a:endParaRPr lang="en-US" sz="1200" dirty="0"/>
          </a:p>
        </p:txBody>
      </p:sp>
      <p:graphicFrame>
        <p:nvGraphicFramePr>
          <p:cNvPr id="11" name="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914400"/>
                <a:gridCol w="13716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シナリオ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想定する事態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 営業利益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最低の現金残高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基本計画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 −20%（年240万円）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価格交渉で値引きされた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解約が計画の2倍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定着しなかった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ライセンス粗利率 85%→75%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AIの推論費用が想定より高い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 +100万円／人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採用市場が厳しい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 −20% かつ 解約2倍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 −30%（採用も連動）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営業が想定より遅い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1年遅れ（採用も1年遅らせる）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実証が長引いた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 −30%（採用は計画どおり）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やってはいけない例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38404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値引き・解約・コスト高では黒字化の年は変わらない。獲得の遅れは黒字化を1年ずらすが、採用を拠点数に連動させれば現金は残る。危ないのは「遅れているのに計画どおり採用する」ことだけ → 採用は「1人2.8拠点」をルールにする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調達は全シナリオで同額（1年目に1億2,500万円）。資本性ローン2,000万円の予備枠は使わない前提。簡易計算（税・償却・運転資本は含めない）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根拠10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資金計画 ─ 必要資金1.5億円は積み上げで出した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「集められるだけ集める」ではなく「必要額を積んだら1.5億円」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必要資金の積み上げ</a:t>
            </a:r>
            <a:endParaRPr lang="en-US" sz="1050" dirty="0"/>
          </a:p>
        </p:txBody>
      </p:sp>
      <p:graphicFrame>
        <p:nvGraphicFramePr>
          <p:cNvPr id="12" name="ne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0584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累積赤字のピーク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1〜3年目の赤字の合計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運転資金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3年目の年間費用の3か月分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1年遅れの備え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赤字をもう1年吸収する額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1億5,000万円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28346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調達の順番</a:t>
            </a:r>
            <a:endParaRPr lang="en-US" sz="1050" dirty="0"/>
          </a:p>
        </p:txBody>
      </p:sp>
      <p:graphicFrame>
        <p:nvGraphicFramePr>
          <p:cNvPr id="23" name="rai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4069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手段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出資（今回）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日本政策金融公庫（創業融資）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CVC・VC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1億1,500万円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公庫 資本性ローン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期末の現金残高（簡易計算・百万円）</a:t>
            </a:r>
            <a:endParaRPr lang="en-US" sz="1050" dirty="0"/>
          </a:p>
        </p:txBody>
      </p:sp>
      <p:graphicFrame>
        <p:nvGraphicFramePr>
          <p:cNvPr id="34" name="cas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営業損益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期末現金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709160" y="2560320"/>
            <a:ext cx="4069080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4846320" y="26060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黒字倒産を防ぐ4つのルール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利用料は年額前払い。導入支援は着手金50%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現金が固定費3か月分を割る前に追加調達を始める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資金繰り表で12か月先までの入出金を管理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採用は社員1人2.8拠点の見込みが立ってから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公庫「新規開業・スタートアップ支援資金」の融資限度額7,200万円（うち運転資金4,800万円）。融資額・金利は審査で決まる（要確認）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市場規模の計算 ─ 業種×規模で数えて約141億円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全体市場は第三者の調査、ターゲット市場は「顧客数×年額×年1回」を足し上げる</a:t>
            </a:r>
            <a:endParaRPr lang="en-US" sz="1200" dirty="0"/>
          </a:p>
        </p:txBody>
      </p:sp>
      <p:graphicFrame>
        <p:nvGraphicFramePr>
          <p:cNvPr id="13" name="seg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15087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業種＼規模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大（300人以上）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中（30〜299人）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小（30人未満）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300社×1,500万＝45億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2,100社×300万＝63億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100社×1,500万＝15億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600社×300万＝18億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電線・ケーブル工場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market-assu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4572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65,497社（令和7年3月末）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規模別の内訳（大300・中2,100）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資本金5,000万円以上 約2,400社を分けた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電気通信工事の中堅以上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約700社（完成工事高の比率から）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大手の年額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支店5拠点 × 300万円 ＝ 1,500万円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小規模を外す理由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1年で元が取れる条件（月105人時）を満たしにくい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6126480" y="1051560"/>
            <a:ext cx="265176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6236208" y="109728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ターゲット市場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約141億円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中堅以上 約3,100社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6126480" y="2514600"/>
            <a:ext cx="2651760" cy="1325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236208" y="2560320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全体市場（第三者の調査）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建設テック（建築分野）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1,845億→3,043億円、年7.4%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スマートファクトリー（国内）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42億→92億米ドル、年9.03%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2920" y="4069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「土台の65,497社は国の統計、規模別の内訳は推計です。業界団体の名簿と経済センサスで数え直します」。以前の約100億円は、各社を1拠点として数えた控えめな値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計算は tora_market.js。差し替える統計：国交省「建設業許可業者数調査」業種別・資本金階層別、経済センサス（設備工事業の従業者規模別）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最初の顧客 ─ 4つの物差しで選び、顧客側から積む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セグメント評価（大きさ・困りごと・会いやすさ・波及）と、5年間のファネル</a:t>
            </a:r>
            <a:endParaRPr lang="en-US" sz="1200" dirty="0"/>
          </a:p>
        </p:txBody>
      </p:sp>
      <p:graphicFrame>
        <p:nvGraphicFramePr>
          <p:cNvPr id="14" name="seg-ev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"/>
                <a:gridCol w="685800"/>
                <a:gridCol w="777240"/>
                <a:gridCol w="502920"/>
                <a:gridCol w="548640"/>
                <a:gridCol w="3840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大きさ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困りごと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会いやすさ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波及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理由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63億円。残業規制と書類の多さ。施工管理の経歴が信用に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電気工事・大手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審査が長い。採用されると協力会社へ波及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電線工場・中堅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市場が約4.5億円と小さい。成長期以降の隣接市場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電気通信工事・中堅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人脈が薄い。成長期に広げる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2560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5年間のファネル（顧客側から）</a:t>
            </a:r>
            <a:endParaRPr lang="en-US" sz="1050" dirty="0"/>
          </a:p>
        </p:txBody>
      </p:sp>
      <p:graphicFrame>
        <p:nvGraphicFramePr>
          <p:cNvPr id="27" name="funn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05840"/>
                <a:gridCol w="914400"/>
                <a:gridCol w="914400"/>
                <a:gridCol w="100584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顧客数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会える率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成約率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1社の拠点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5年で獲得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電気工事会社・中（30〜299人）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2,100社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 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電気工事会社・大（300人以上）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 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約88拠点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365760" y="3822192"/>
            <a:ext cx="84124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02920" y="38221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2つの方向で同じ答え：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顧客側の積み上げ 約88拠点 ≒ 導入能力（導入担当1人＝年6拠点）から出した計画 85拠点。計画は控えめな方を採る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会える率・成約率は仮定。準備期の有償試験3社で、商談数と成約率を実測して更新する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評価は社内の仮採点。関東の比率35%は仮定（許可業者の都道府県別の数で確認する）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端末と実証 ─ グラスは作らず選び、効果は実測する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端末の条件と候補（公表値）、手元ARの実証の設計</a:t>
            </a:r>
            <a:endParaRPr lang="en-US" sz="1200" dirty="0"/>
          </a:p>
        </p:txBody>
      </p:sp>
      <p:graphicFrame>
        <p:nvGraphicFramePr>
          <p:cNvPr id="15" name="device-sp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2697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現場の条件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候補の公表値（RealWear Navigator 520）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落下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2mの落下試験（販売店の公表値）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防じん・防水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1シフト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約6〜8時間、動作中に交換できる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ヘルメット用クリップ（別売）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手袋のまま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温度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屋外の夏冬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−20〜50℃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ARグラス：Metaの表示付きグラスは2025年発売。両眼ARグラスの一般発売は2027年と報道（公式発表ではない）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5440680" y="1051560"/>
            <a:ext cx="3337560" cy="2423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577840" y="10972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手元ARの実証（3か月）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対象：よく使うジョイント1種類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1か月目：紙の図面で基準を測る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2〜3か月目：ARで同じ作業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測る数字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手戻り・施工ミスの件数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1ジョイントの作業時間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新人が独り立ちするまでの期間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02920" y="3657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「グラスは作りません。作るのはアプリ・AI・データ基盤と、端末を壊さない保護カバーとヘルメット取付具です。端末が進化したら乗り換えます」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初期コスト：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組立図の3D化が必要。1種類に絞って始め、型を作ってから広げる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端末の仕様は販売店の公表値。RealWear公式の仕様書で確認する。保護めがねとしての規格適合は要確認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根拠14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厳しい質問 ─ 数字 → 式 → 前提の順で答える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一言で答え、根拠のページを示す</a:t>
            </a:r>
            <a:endParaRPr lang="en-US" sz="1200" dirty="0"/>
          </a:p>
        </p:txBody>
      </p:sp>
      <p:graphicFrame>
        <p:nvGraphicFramePr>
          <p:cNvPr id="16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9496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一言の答え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本当に年300万円払う？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月240万円分の時間が浮き、約2か月で元が取れます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根拠3・4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月6時間は本当？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建設業の実績を準用した仮説です。500万円の実証で実測します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なぜ電気工事から？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市場が最も大きく、残業規制で困りごとが強く、私の経歴が信用になるからです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ANDPADがあるのでは？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あれは人が入力する器。当社は自動で記録し判断を渡す。競わず連携します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発表資料③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なぜ4年目まで赤字？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人を先に雇うからです。1人2.8拠点を超える4年目に黒字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根拠7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獲得が遅れたら？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採用も遅らせます。3割遅れても現金は2,000万円を割りません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根拠9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値引きされたら？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2割引きでも4年目に黒字。5年目の営業利益は3,200万円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根拠9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 7年は甘くない？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計画の解約率なら平均18年。3年でもCACの13倍です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根拠8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1.5億円は多すぎない？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赤字のピーク・運転資金・1年遅れの備えを積んだ額です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市場が小さくない？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5年目でターゲット市場の約1.8%。工場と海外は含めていません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根拠11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グラスは開発できるのか？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作りません。市販の端末を現場仕様にし、乗り換えられる設計にします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ARの位置ずれは？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数mm〜cmずれます。最終確認はスケール。間違いに気づく道具です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根拠13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あなたが倒れたら？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役割を絞り判断基準を先に決め、1か月不在でも回る形にします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発表資料リスク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詳しい想定問答は「令和の虎_想定問答.md」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出典一覧 ─ 原典と、確認が必要なもの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★＝発表前に原典を確認する</a:t>
            </a:r>
            <a:endParaRPr lang="en-US" sz="1200" dirty="0"/>
          </a:p>
        </p:txBody>
      </p:sp>
      <p:graphicFrame>
        <p:nvGraphicFramePr>
          <p:cNvPr id="17" name="sour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出典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建設業の就業者・年齢構成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国土交通省（総務省「労働力調査」2024年平均から算出）477万人、55歳以上36.7%、29歳以下11.7%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残業の上限規制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労働基準法の時間外労働の上限規制（建設業は2024年4月1日から適用、原則 月45時間・年360時間）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建設テック市場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矢野経済研究所 プレスリリースNo.3789（2025年4月）建築分野ソフトウェア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スマートファクトリー市場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IMARC Group「Japan Smart Factory Market」（2025→2034年、年9.03%）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電気工事業の許可業者数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 建設業許可業者数（令和7年3月末）65,497社（二次資料で確認、原表で要確認）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規模別の内訳・関東の比率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推計に用いた仮定。国交省「建設業許可業者数調査」資本金階層別・都道府県別で確認する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書類作業の削減 月6.5時間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建設業の書類電子化の実績として準用。原典を特定して差し替える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施工管理アプリ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スパイダープラス 有価証券報告書（契約1,524社・2022年12月末）、各社公表資料（ANDPAD、蔵衛門）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創業融資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日本政策金融公庫「新規開業・スタートアップ支援資金」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国の方針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内閣府「人工知能基本計画」（令和8年7月14日 閣議決定）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RealWear Navigator 520 販売店の公表値（IP66・2m落下・電池交換）、Meta Ray-Ban Display（2025年発売）、ARグラス2027年発売の報道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製造業の技能継承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2026年版 ものづくり白書、労働政策研究・研修機構 調査シリーズNo.265・No.267（補足資料）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LTV÷CACの目安（3倍以上・回収12か月以内）はSaaS業界で一般に使われる経験則であり、特定の統計ではない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三現ワークス 事業計画書 理論武装版</dc:title>
  <dc:subject>PptxGenJS Presentation</dc:subject>
  <dc:creator>PptxGenJS</dc:creator>
  <cp:lastModifiedBy>PptxGenJS</cp:lastModifiedBy>
  <cp:revision>1</cp:revision>
  <dcterms:created xsi:type="dcterms:W3CDTF">2026-10-11T01:21:13Z</dcterms:created>
  <dcterms:modified xsi:type="dcterms:W3CDTF">2026-10-11T01:21:13Z</dcterms:modified>
</cp:coreProperties>
</file>