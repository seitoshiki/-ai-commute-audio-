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【表紙】
要約：本編の数字を一つずつ問い直した見直し案
この補足資料は、本編の数字を一つずつ問い直したものです。実態に合わない前提、根拠の弱い前提、まだ確かめていない前提を分けて、見直した数字を出しました。本編の数字は見直し前のままです。この案で確定したら、本編に反映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【結論】
要約：書類の削減だけでは、お客様の得は費用の約1.4倍
結論から申し上げます。本編では、お客様の得を年約4,200万円、値段の14倍としていました。端末を着けた人の分だけを数え直すと、確かな部分は書類の削減で年約479万円です。お客様が払うのは当社への300万円と端末のリース約53万円なので、約1.4倍にとどまります。手戻りの削減が実証で確かめられれば約2.4倍です。当社の側も、AIの費用と役割別の人件費を積み上げると、黒字化は5年目にずれます。分かれ目は、1台1日あたり何分減る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【見直し1】
要約：1時間の人件費は、統計の年収÷残業を含む総労働時間
1時間あたりの人件費を出し直しました。本編の4,000円は、年収600万円に1.3を掛けた780万円を、1,950時間で割ったものです。1,950時間は1日8時間で約244日、つまり残業を含まない所定の時間です。見直しでは、厚生労働省の賃金構造基本統計調査の年収に、会社が負担する社会保険料の約16%を足し、建設業の残業を含む年間の総実労働時間、約2,000時間で割りました。電工は約3,200円、施工管理者は約3,600円です。残業が減った分は25%の割増で評価できますが、計画では使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【見直し2】
要約：得をするのは端末を着けた班だけ。1台1日35分で年480万円
本編では100人全員が月6時間減るとしていました。実際に得をするのは、端末を着けた班だけです。1拠点10台、年240日使うとして、職長の日報と撮影が1日15分、施工管理者の写真整理と写真台帳が20分減ると、年約479万円です。月6.5時間という数字は原典を確認できていないので使いません。代わりに、実証で導入前の2週間と導入後の4週間を比べて、1台1日の削減分を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【見直し3】
要約：手戻りと新人指導は、実証で測るまで計画に入れない
手戻りの削減を本編では年1,200万円としていました。これはAIの出力がそのまま現場で使える場合の数字で、実際には当社の現場監修と、工種ごとの準備がいります。対象をARが効く工種の3割に絞ると年360万円で、これは上振れとして計画には入れません。新人の指導時間は、他の仕事と混ざっていて測れないので金額にしません。代わりに独り立ちまでの月数などを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【見直し4】
要約：お客様が元を取るには、1台1日26分減ればよい
お客様が1年に払うのは、当社への300万円と端末のリース約53万円です。これを10台×240日で割ると、1台1日約1,470円。今の人件費で割り戻すと、1台1日約26分減れば元が取れます。想定の35分はこれを上回りますが、余裕は大きくありません。値段を月18万円に下げるとお客様は約1.8倍になりますが、当社は5年目でも黒字になりません。値下げではなく、1台あたりの削減時間を上げることと、手戻りを実測することで価値を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【見直し5】
要約：値段は「基盤＋端末の台数」。1拠点10台で年300万円
値段の内訳を作り直しました。本編の基盤100万円、現場登録20万円×5、追加機能50万円×2は、中身と台数との関係が曖昧でした。見直し案は、会社のデータ基盤が月5万円、端末1台ごとのライセンスが月2万円。10台なら月25万円、年300万円で本編と同じです。端末本体はお客様がリース会社と直接契約し、当社の売上には入れません。教材化や手元ARはオプションとし、計画には入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【見直し6】
要約：全員には着けない。1班に1台、職長が着ける
1現場に何台いるか。電工が5人いる現場が5つあれば25台になりますが、全員には着けません。班の作業が映るのは職長の視点なので、1班に1台を職長が着けます。5現場に2班ずつで10台。増やすのは、ミスが多い工種や新人がいる班です。記録だけならヘルメットカメラで十分で、手元に図面を出す班だけ産業用のヘッドマウント端末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【見直し7】
要約：45万円の中身を積み上げた。粗利率は85%ではなく72%
本編では利用料の15%、45万円をサーバーとAIの費用としていましたが、積み上げの根拠がありませんでした。1台あたり月に、音声の文字起こし約2,200円、画像の解析約1,000円、報告書の生成約200円、動画の保存約700円、転送や端末管理など約1,900円で、合計約6,000円です。これに会社ごとのデータ基盤を月1万円足すと、10台で年84万円、粗利率は約72%です。データ基盤は会社ごとの保管庫、AI費用は端末ごとの処理代という違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【見直し8】
要約：台数では粗利率は崩れない。崩れるのは使い方
端末の台数が増えても、1台の値段が1台の原価を賄っているので、粗利率は約70%で変わりません。崩れるのは使い方です。動画を全部クラウドに送って毎秒解析すると、1台月5万円かかり、値段を超えます。だから、端末で大事な場面だけ切り出す、1台の録画に月80時間の上限と超過料金を設ける、提案の段階で営業と技術が一緒に撮影計画を決める、毎月台ごとの処理量と粗利を見る、の4つを仕組み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【見直し9】
要約：導入支援200万円は、42人日の作業に交通費を足して決めた
導入支援の中身です。現状の調査、端末の設定、図面や手順の登録、研修、現場での立ち会い、効果測定で合計42人日、約2か月です。カスタマーサクセスの日額約3万円で126万円、交通費15万円を足して原価141万円。200万円との差、約59万円が粗利です。200万円は原価の約1.4倍として置いた値で、他社の相場はまだ確かめ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【見直し10】
要約：既存・新規・解約を分けて見る。解約は年10%
拠点数を、期首、解約、新規、期末に分けました。解約率は本編では0から3拠点としていましたが、根拠がありませんでした。海外の目安では、B2BのSaaSの年間解約は大企業で5から10%、中小で30から50%です。記録が貯まるほど乗り換えにくい点を見て、年10%と置きました。実績で更新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【見直し11】
要約：売上の柱は既存のお客様の利用料。受託は5%以下に抑える
売上を4つに分けました。5年目は、既存のお客様の利用料が半分を超えます。受託開発は、お客様の施工管理アプリや基幹システムとの連携、大手向けの帳票の調整、教材の個別制作です。件数かける単価で置いていますが、エンジニアを取られるので、売上の5%以下を目安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【見直し12】
要約：オフィスは賃料と共益費。広告は展示会・業界団体・事例動画
家賃はオフィスの賃料と共益費です。広告は、5年目の500万円を、展示会、業界団体の勉強会と業界紙、事例動画とホームページ、検索広告、営業資料に分けました。YouTubeは単独の広告ではなく、事例動画を置いて展示会や勉強会から見に来てもらう場所です。5年目に必要な商談は約100件なので、1商談あたり約5万円、1拠点あたり約15万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【見直し13】
要約：役割ごとの人数と年収。社外の顧問と採用費も入れる
チームを役割ごとに決めました。代表、CTO、エンジニア、現場監修、カスタマーサクセス、営業、管理、戦略企画です。年収は役割ごとに置き、会社負担として1.2倍しました。紹介会社を使う採用費と、社外の技術顧問と業界の顧問も入れています。人件費は本編より1割ほど多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【見直し14】
要約：見直し後は5年目に黒字。台数を増やせば4年目
見直した前提で収支を計算し直すと、黒字化は5年目、営業利益は約773万円です。累積の赤字は最も深い4年目で約1.35億円なので、調達は1.6億円を目安にします。1拠点の台数を15台に増やせると4年目に黒字になります。値下げすると5年目でも黒字にな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【見直し15】
要約：規模だけでなく条件で絞る。営業1人は月3件の商談
ターゲットを規模だけでなく条件で絞りました。施工管理者30人以上、電力会社や官公庁の工事が多く写真台帳の提出が多い、ケーブル接続など手戻りが高くつく工種がある、施工管理アプリなどデジタル化の素地がある、の4つです。条件に合う会社には会いやすく、成約しやすいと見ています。5年目に必要な商談は約100件、営業3人で1人月約3件です。社員1人2.8件は、社員全員で見た累計の拠点数で、新規の件数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【一覧】
要約：前提と懸念を一枚に。確度の低いものから実証で測る
前提と懸念点の一覧です。確度は、統計、公表価格、見積、仮説の4つに分けています。仮説のものは実証で測ります。特に大事なのは、1台1日の削減時間、AIと保存の実際の費用、値段への反応、手戻りの削減の4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【出典】
要約：公的統計と公表価格。未確認のものは未確認と書く
出典の一覧です。最新の年の値を原典で確かめていないものには印を付けています。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743200" cy="5878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その数字は、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現場で本当に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出るか。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36576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カンツギ　事業計画書　補足資料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822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前提と懸念の整理</a:t>
            </a: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見直し案（2026年10月16日）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3657600" y="1920240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0" y="1920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見直し1〜4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1920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お客様の得：人件費・削減時間・手戻り・元が取れる条件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0" y="2304288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0" y="23042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見直し5〜9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3042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値段と原価：内訳・端末の台数・AI費用・粗利率・導入支援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0" y="2688336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57600" y="26883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見直し10〜14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6883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売上と費用：解約・受託・広告・チーム・収支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0" y="3072384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57600" y="3072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見直し15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30723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ターゲットと営業の現実性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57600" y="3456432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57600" y="34564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一覧・出典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892040" y="34564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前提と懸念、実証で測ること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365760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本編・やさしい版・理論武装版の数字は見直し前（v1）のまま。この案を確定したら本編へ反映する。計算は tora_v2.js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 ─ 書類の削減だけでは、お客様の得は費用の約1.4倍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本編（v1）と見直し案（v2）の違い。太字が見直した数字</a:t>
            </a:r>
            <a:endParaRPr lang="en-US" sz="1200" dirty="0"/>
          </a:p>
        </p:txBody>
      </p:sp>
      <p:graphicFrame>
        <p:nvGraphicFramePr>
          <p:cNvPr id="3" name="di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2423160"/>
                <a:gridCol w="27889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本編（v1）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見直し案（v2）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理由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1時間の人件費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電工 約3,200円／施工管理 約3,600円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統計の年収÷残業を含む総労働時間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お客様の得（年）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4,224万円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479万円＋上振れ360万円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端末を着けた班だけ。手戻りは実測まで入れない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お客様の費用（年）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353万円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端末は別会社のリース（約53万円）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得÷費用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1.4倍（上振れ込み2.4倍）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決裁の目安3倍に届かない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利用料の粗利率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1台あたりのAI・保存費を積み上げ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導入支援の粗利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67万円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42人日＋交通費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0→3拠点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海外のB2B SaaSの目安から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社員・人件費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21人・一律800万円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21人・役割別＋採用費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顧問・採用費を追加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黒字化／5年目の営業利益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4年目／6,082万円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5年目／773万円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累積赤字のピーク 約1.35億円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749040"/>
            <a:ext cx="841248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3749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分かれ目：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1台1日あたり何分減るか。お客様が元を取るのは約26分、想定は35分。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値下げでは当社が黒字にならない。削減時間を上げる機能と、手戻りの実測で価値を示す（実証の合格ライン）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1時間の人件費 ─ 統計の年収÷残業を含む総労働時間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本編の4,000円＝780万円÷1,950時間。1,950時間は残業を含まない所定の時間だった</a:t>
            </a:r>
            <a:endParaRPr lang="en-US" sz="1200" dirty="0"/>
          </a:p>
        </p:txBody>
      </p:sp>
      <p:graphicFrame>
        <p:nvGraphicFramePr>
          <p:cNvPr id="4" name="wa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年収（残業代・賞与込み）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551万円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賃金構造基本統計調査（電気工事従事者 令和5年／建築・土木技術者で代用）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 会社負担の社会保険料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×1.16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×1.16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健保5.0%＋厚年9.15%＋雇用1.15%＋労災など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÷ 年間の総実労働時間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 2,056時間（2016年度）・1,986時間（日建連）。残業を含む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＝ 1時間あたり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約3,200円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約3,600円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残業が減る分は×1.25で評価できるが、計画では使わない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28346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本編の1,950時間とは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1日8時間 × 約244日 ＝ 1,952時間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所定の労働時間だけで、残業を含まない。年収600万円×1.3の1.3には、社会保険料のほか福利厚生・退職金などが混ざっていた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09160" y="2834640"/>
            <a:ext cx="40690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46320" y="28346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なぜ残業を含めるか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年収には残業代が含まれるので、割る時間も残業を含めないと単価が高く出る。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書類の時間が減って残業が減るなら、その時間は割増25%の分だけ価値が高い（上振れ）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最新年（令和6年）の電気工事従事者の年収と、建設業の年間総実労働時間は、原表（e-Stat）で確認する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削減時間 ─ 得をするのは端末を着けた班だけ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本編は「100人全員が月6時間」。見直し案は「1拠点10台×1台1日35分」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406908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02412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見直し案の式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10台 × 年240日 ×（職長15分×3,200円 ＋ 施工管理20分×3,600円）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 約479万円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浮く時間は年1,400時間（本編は7,200時間）</a:t>
            </a:r>
            <a:endParaRPr lang="en-US" sz="950" dirty="0"/>
          </a:p>
        </p:txBody>
      </p:sp>
      <p:graphicFrame>
        <p:nvGraphicFramePr>
          <p:cNvPr id="5" name="minu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05456"/>
          <a:ext cx="40690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00584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中身（1台1日・仮説）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誰の時間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日報・撮影・黒板の書き込み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写真の整理・写真台帳・報告書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1台1日の削減分が変わったら</a:t>
            </a:r>
            <a:endParaRPr lang="en-US" sz="1050" dirty="0"/>
          </a:p>
        </p:txBody>
      </p:sp>
      <p:graphicFrame>
        <p:nvGraphicFramePr>
          <p:cNvPr id="9" name="se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25880"/>
                <a:gridCol w="86868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1台1日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お客様の得（書類）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÷費用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手戻り込み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344万円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479万円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823万円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709160" y="2505456"/>
            <a:ext cx="4069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846320" y="250545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月6.5時間は使わない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建設業の書類電子化の実績として借りた数字だが、原典を確認できていない。ARグラスでの削減は実証で測る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実証での測り方：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導入前2週間と導入後4週間で、日報・写真整理・写真台帳にかかった時間を、職長と施工管理者が毎日記録（作業ログとアプリの操作記録で裏付け）。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合格ラインは1台1日26分以上（次の次のページ）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年240日は端末を使う日数の見積。1拠点10台は「1班に1台・職長が着ける」前提（見直し6）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手戻りと新人指導 ─ 実証で測るまで計画に入れない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本編は手戻り1,200万円・指導144万円。どちらも実態が伴うか確かめていない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手戻り：対象工種に絞って上振れに回す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298448"/>
            <a:ext cx="406908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298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完成工事高30億円 × 手戻り2% × 対象工種30% × 削減20%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年360万円（上振れ・計画に入れない）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322576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かかる手間（当社）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・AIの出力はそのまま報告書にならない。現場監修が確認する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・工種ごとに組立図の3D化とミス事例の登録がいる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導入支援と現場監修の人件費として、当社の費用に入れた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新人指導：金額にせず、3つの数で測る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298448"/>
            <a:ext cx="4069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298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指導は他の仕事と混ざっていて、何を指導時間とするか決められない。年144万円は計画から外す</a:t>
            </a:r>
            <a:endParaRPr lang="en-US" sz="950" dirty="0"/>
          </a:p>
        </p:txBody>
      </p:sp>
      <p:graphicFrame>
        <p:nvGraphicFramePr>
          <p:cNvPr id="6" name="coa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322576"/>
          <a:ext cx="4069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06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測る数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測り方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独り立ちまでの月数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職長が「一人で任せられる」と判定した日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先輩が付き添った時間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日報に付き添いの時間を記録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新人のやり直し件数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検査での指摘・やり直しの記録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計画に入れるのは書類の削減だけ：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年479万円。手戻り360万円と新人指導は、実証で数字が出てから加える。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「4,200万円・14倍」は、確かめた数字ではないので発表で使わない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手戻り率2%は海外研究の範囲（工事費の0.4〜6%）から控えめに置いた。対象工種30%・削減20%は仮説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お客様が元を取る条件 ─ 1台1日26分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お客様が払うのは「当社への利用料」と「端末のリース」。初年度は導入支援も</a:t>
            </a:r>
            <a:endParaRPr lang="en-US" sz="1200" dirty="0"/>
          </a:p>
        </p:txBody>
      </p:sp>
      <p:graphicFrame>
        <p:nvGraphicFramePr>
          <p:cNvPr id="7" name="custco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0690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お客様が払うもの（1拠点・年）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当社：基盤 月5万円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当社：端末ライセンス 月2万円×10台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リース会社：ヘルメットカメラ8台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リース会社：産業用HMD 2台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2年目以降の合計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初年度は＋導入支援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035808"/>
            <a:ext cx="406908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303580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353万円 ÷（10台×240日）＝ 1台1日 約1,470円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今の単価で約26分減れば元が取れる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値段を下げたら？ 台数を増やしたら？</a:t>
            </a:r>
            <a:endParaRPr lang="en-US" sz="1050" dirty="0"/>
          </a:p>
        </p:txBody>
      </p:sp>
      <p:graphicFrame>
        <p:nvGraphicFramePr>
          <p:cNvPr id="13" name="o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お客様の倍率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当社の黒字化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月25万円・10台（見直し案）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月18万円に値下げ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15台に増やす（同じ単価）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709160" y="25328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台数を増やしても、お客様の倍率は1台あたりの得で決まるので変わらない。当社は1拠点の売上が増えて黒字化が早まる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値下げでは当社が持たない。①1台あたりの削減時間を上げる（写真台帳・日報の自動化を最優先）②手戻りを実測する ③効果が出た班から台数を増やす。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実証の合格ライン：1台1日26分以上の削減、または手戻りの減少を記録で示せること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リース料は端末価格×3年リースの料率約3%／月の見積。端末価格は見直し6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見直し5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値段の内訳 ─ 「会社の基盤」＋「端末の台数」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本編の「基盤100万＋現場登録20万×5＋追加機能50万×2」を置き換える。10台なら年300万円で同じ</a:t>
            </a:r>
            <a:endParaRPr lang="en-US" sz="1200" dirty="0"/>
          </a:p>
        </p:txBody>
      </p:sp>
      <p:graphicFrame>
        <p:nvGraphicFramePr>
          <p:cNvPr id="8" name="pri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463040"/>
                <a:gridCol w="4343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当社の原価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基盤（1拠点）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月5万円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会社ごとのデータ保管庫・管理画面・図面と手順の登録・権限・月次の効果レポート・問い合わせ窓口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端末ライセンス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月2万円／台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 → 写真の自動抽出 → 日報・写真台帳の作成。録画は月80時間まで、超過は従量（単価は実証で決める）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月0.6万円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端末本体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当社の売上外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お客様がリース会社と契約。当社は機種の選定・設定・保護カバーと取付具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導入支援（初年度）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約2か月・42人日（見直し9）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141万円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オプション：教材化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月5万円／拠点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熟練者の作業を手順の動画と注意点にまとめる（年4本まで）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現場監修の時間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オプション：手元AR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初期50万円／工種＋月1万円／台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組立図の3D化とミス事例の登録。HMDでミスしやすい所を警告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3D化の作業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定着の支援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利用料に含む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月1回の効果レポートと改善の打合せ、四半期ごとの現場巡回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カスタマーサクセス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886200"/>
            <a:ext cx="84124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" y="3886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考え方：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会社に1つかかる費用は基盤で、端末1台ごとにかかるAIの処理代はライセンスで回収する。台数が増えるほど売上も原価も増え、粗利率は崩れない。オプションは計画の売上に入れない（上振れ）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値段はすべて見積。実証3社で「月25万円なら払うか」「端末1台いくらなら増やすか」を聞いて決める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見直し6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端末の台数 ─ 全員には着けない。1班に1台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5人の現場が5つで25台、とはしない。班の作業が映る職長の視点を記録する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1拠点（100人）の例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3891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Shape 8"/>
          <p:cNvSpPr/>
          <p:nvPr/>
        </p:nvSpPr>
        <p:spPr>
          <a:xfrm>
            <a:off x="104241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241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6" name="Shape 13"/>
          <p:cNvSpPr/>
          <p:nvPr/>
        </p:nvSpPr>
        <p:spPr>
          <a:xfrm>
            <a:off x="118872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8872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現場2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26187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19" name="Shape 16"/>
          <p:cNvSpPr/>
          <p:nvPr/>
        </p:nvSpPr>
        <p:spPr>
          <a:xfrm>
            <a:off x="146304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0" name="Shape 17"/>
          <p:cNvSpPr/>
          <p:nvPr/>
        </p:nvSpPr>
        <p:spPr>
          <a:xfrm>
            <a:off x="166420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1" name="Shape 18"/>
          <p:cNvSpPr/>
          <p:nvPr/>
        </p:nvSpPr>
        <p:spPr>
          <a:xfrm>
            <a:off x="186537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2" name="Shape 19"/>
          <p:cNvSpPr/>
          <p:nvPr/>
        </p:nvSpPr>
        <p:spPr>
          <a:xfrm>
            <a:off x="126187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23" name="Shape 20"/>
          <p:cNvSpPr/>
          <p:nvPr/>
        </p:nvSpPr>
        <p:spPr>
          <a:xfrm>
            <a:off x="146304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4" name="Shape 21"/>
          <p:cNvSpPr/>
          <p:nvPr/>
        </p:nvSpPr>
        <p:spPr>
          <a:xfrm>
            <a:off x="166420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5" name="Shape 22"/>
          <p:cNvSpPr/>
          <p:nvPr/>
        </p:nvSpPr>
        <p:spPr>
          <a:xfrm>
            <a:off x="186537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6" name="Shape 23"/>
          <p:cNvSpPr/>
          <p:nvPr/>
        </p:nvSpPr>
        <p:spPr>
          <a:xfrm>
            <a:off x="201168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01168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現場3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08483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29" name="Shape 26"/>
          <p:cNvSpPr/>
          <p:nvPr/>
        </p:nvSpPr>
        <p:spPr>
          <a:xfrm>
            <a:off x="228600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0" name="Shape 27"/>
          <p:cNvSpPr/>
          <p:nvPr/>
        </p:nvSpPr>
        <p:spPr>
          <a:xfrm>
            <a:off x="248716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1" name="Shape 28"/>
          <p:cNvSpPr/>
          <p:nvPr/>
        </p:nvSpPr>
        <p:spPr>
          <a:xfrm>
            <a:off x="268833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2" name="Shape 29"/>
          <p:cNvSpPr/>
          <p:nvPr/>
        </p:nvSpPr>
        <p:spPr>
          <a:xfrm>
            <a:off x="208483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33" name="Shape 30"/>
          <p:cNvSpPr/>
          <p:nvPr/>
        </p:nvSpPr>
        <p:spPr>
          <a:xfrm>
            <a:off x="228600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4" name="Shape 31"/>
          <p:cNvSpPr/>
          <p:nvPr/>
        </p:nvSpPr>
        <p:spPr>
          <a:xfrm>
            <a:off x="248716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5" name="Shape 32"/>
          <p:cNvSpPr/>
          <p:nvPr/>
        </p:nvSpPr>
        <p:spPr>
          <a:xfrm>
            <a:off x="268833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6" name="Shape 33"/>
          <p:cNvSpPr/>
          <p:nvPr/>
        </p:nvSpPr>
        <p:spPr>
          <a:xfrm>
            <a:off x="283464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83464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現場4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90779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39" name="Shape 36"/>
          <p:cNvSpPr/>
          <p:nvPr/>
        </p:nvSpPr>
        <p:spPr>
          <a:xfrm>
            <a:off x="310896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0" name="Shape 37"/>
          <p:cNvSpPr/>
          <p:nvPr/>
        </p:nvSpPr>
        <p:spPr>
          <a:xfrm>
            <a:off x="331012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1" name="Shape 38"/>
          <p:cNvSpPr/>
          <p:nvPr/>
        </p:nvSpPr>
        <p:spPr>
          <a:xfrm>
            <a:off x="351129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2" name="Shape 39"/>
          <p:cNvSpPr/>
          <p:nvPr/>
        </p:nvSpPr>
        <p:spPr>
          <a:xfrm>
            <a:off x="290779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43" name="Shape 40"/>
          <p:cNvSpPr/>
          <p:nvPr/>
        </p:nvSpPr>
        <p:spPr>
          <a:xfrm>
            <a:off x="310896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4" name="Shape 41"/>
          <p:cNvSpPr/>
          <p:nvPr/>
        </p:nvSpPr>
        <p:spPr>
          <a:xfrm>
            <a:off x="331012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5" name="Shape 42"/>
          <p:cNvSpPr/>
          <p:nvPr/>
        </p:nvSpPr>
        <p:spPr>
          <a:xfrm>
            <a:off x="351129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6" name="Shape 43"/>
          <p:cNvSpPr/>
          <p:nvPr/>
        </p:nvSpPr>
        <p:spPr>
          <a:xfrm>
            <a:off x="365760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65760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現場5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373075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49" name="Shape 46"/>
          <p:cNvSpPr/>
          <p:nvPr/>
        </p:nvSpPr>
        <p:spPr>
          <a:xfrm>
            <a:off x="393192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0" name="Shape 47"/>
          <p:cNvSpPr/>
          <p:nvPr/>
        </p:nvSpPr>
        <p:spPr>
          <a:xfrm>
            <a:off x="413308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1" name="Shape 48"/>
          <p:cNvSpPr/>
          <p:nvPr/>
        </p:nvSpPr>
        <p:spPr>
          <a:xfrm>
            <a:off x="433425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2" name="Shape 49"/>
          <p:cNvSpPr/>
          <p:nvPr/>
        </p:nvSpPr>
        <p:spPr>
          <a:xfrm>
            <a:off x="373075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53" name="Shape 50"/>
          <p:cNvSpPr/>
          <p:nvPr/>
        </p:nvSpPr>
        <p:spPr>
          <a:xfrm>
            <a:off x="393192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4" name="Shape 51"/>
          <p:cNvSpPr/>
          <p:nvPr/>
        </p:nvSpPr>
        <p:spPr>
          <a:xfrm>
            <a:off x="413308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5" name="Shape 52"/>
          <p:cNvSpPr/>
          <p:nvPr/>
        </p:nvSpPr>
        <p:spPr>
          <a:xfrm>
            <a:off x="433425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65760" y="25511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職長（端末を着ける）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● 電工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365760" y="28072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5現場 × 2班 ＝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10台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（電工全員なら35台）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365760" y="32004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台数を増やすのは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・ミスが多い工種（ケーブル接続・端末処理）の班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・新人がいる班（教材の素材が貯まる）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端末の種類と値段</a:t>
            </a:r>
            <a:endParaRPr lang="en-US" sz="1050" dirty="0"/>
          </a:p>
        </p:txBody>
      </p:sp>
      <p:graphicFrame>
        <p:nvGraphicFramePr>
          <p:cNvPr id="9" name="devi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630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種類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値段（目安）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ヘルメットカメラ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記録だけ。日報・写真台帳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約5〜10万円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産業用HMD（RealWear Navigator 520など）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手元に図面・声で操作・ミス警告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約40万円（$2,700）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一般向けARグラス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2027年以降。軽さが決め手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Shape 57"/>
          <p:cNvSpPr/>
          <p:nvPr/>
        </p:nvSpPr>
        <p:spPr>
          <a:xfrm>
            <a:off x="4709160" y="2990088"/>
            <a:ext cx="4069080" cy="9875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4846320" y="2990088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標準の構成：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カメラ8台＋HMD2台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お客様のリース代 年約53万円（3年リース・料率約3%／月）。端末は当社の売上に入れず、在庫も持たない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365760" y="4005072"/>
            <a:ext cx="84124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502920" y="40050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導入の費用は台数に比例して増える：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だから最初は10台。効果が出た班から増やす（お客様の倍率は台数で変わらない）</a:t>
            </a:r>
            <a:endParaRPr lang="en-US" sz="950" dirty="0"/>
          </a:p>
        </p:txBody>
      </p:sp>
      <p:sp>
        <p:nvSpPr>
          <p:cNvPr id="65" name="Text 61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HMDの値段はメーカー発表の米国価格。国内価格・カメラの価格・リース料率は販売店とリース会社の見積で確認する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見直し7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45万円の中身 ─ 積み上げると粗利率は72%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本編の「利用料の15%＝45万円」には積み上げの根拠がなかった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端末1台あたりのAI・保存費（月）</a:t>
            </a:r>
            <a:endParaRPr lang="en-US" sz="1050" dirty="0"/>
          </a:p>
        </p:txBody>
      </p:sp>
      <p:graphicFrame>
        <p:nvGraphicFramePr>
          <p:cNvPr id="10" name="clou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円／月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音声の文字起こし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1日4時間×20日＝4,800分×$0.003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大事な場面の画像解析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3,000枚×約1,000トークン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日報・報告書の文章生成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20日分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動画の保存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切り出した月10GBを3年保存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転送・監視・端末管理・余裕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6,000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1拠点（10台）で見ると（年）</a:t>
            </a:r>
            <a:endParaRPr lang="en-US" sz="1050" dirty="0"/>
          </a:p>
        </p:txBody>
      </p:sp>
      <p:graphicFrame>
        <p:nvGraphicFramePr>
          <p:cNvPr id="19" name="siteco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売上（基盤60＋端末240）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データ基盤（会社ごとの保管庫）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AI・保存（1台7.2万円×10台）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216（72%）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709160" y="2807208"/>
            <a:ext cx="4069080" cy="1051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4846320" y="280720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データ基盤とAI費用の違い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データ基盤：会社ごとに1つ。図面・手順・権限・記録の保管庫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AI費用：端末ごとに増える。録画の文字起こし・解析・保存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65760" y="3886200"/>
            <a:ext cx="8412480" cy="5669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02920" y="3886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粗利率は妥当か：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一般のSaaSは70〜80%、AIを多く使うサービスはそれより低いと言われる。72%はその範囲。実証で1台あたりの実費を測って更新する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単価はクラウド・AIの公表価格（$1＝150円）からの見積。モデル・為替・値下げで変わる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見直し8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粗利率のトレードオフ ─ 崩れるのは台数より使い方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動画を全部送って毎秒解析すると、1台の原価が値段を超える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1拠点の粗利率（利用料）</a:t>
            </a:r>
            <a:endParaRPr lang="en-US" sz="1050" dirty="0"/>
          </a:p>
        </p:txBody>
      </p:sp>
      <p:graphicFrame>
        <p:nvGraphicFramePr>
          <p:cNvPr id="11" name="tradeo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大事な場面だけ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（1台 月0.6万円）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全編を毎秒解析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（1台 月5万円）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-129%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27157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1台の値段（月2万円）が1台の原価（月0.6万円）を賄うので、台数を増やしても粗利率はほぼ一定。全編を送ると台数が増えるほど赤字が膨らむ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粗利率を守る4つの仕組み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09160" y="1316736"/>
            <a:ext cx="384048" cy="457200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709160" y="131673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184648" y="131673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端末で切り出す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作業の区切り・声の合図・危険な動作の前後だけを送る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09160" y="1865376"/>
            <a:ext cx="38404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709160" y="18653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184648" y="186537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録画の上限と超過料金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 月80時間まで。超えたら従量。上限は実証で決める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09160" y="2414016"/>
            <a:ext cx="38404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709160" y="24140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184648" y="241401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撮影計画を営業と技術で決める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提案の段階で「何を・誰が・何時間撮るか」を決めて見積に入れる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2962656"/>
            <a:ext cx="38404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70916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184648" y="296265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毎月、台ごとの粗利を見る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処理量が多い台は、使い方の見直しか料金の相談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65760" y="3657600"/>
            <a:ext cx="8412480" cy="7955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02920" y="3657600"/>
            <a:ext cx="8138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営業との連携が要になる：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台数を増やす提案は売上を増やすが、使い方を決めずに増やすと原価も増える。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営業の目標は「拠点数」だけでなく「台ごとの粗利」も見る。事業が大きくなるほど、この最適化が経営の仕事になる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全編解析の1台月5万円は、動画1日4時間・毎秒1枚の画像解析と保存を公表単価で見積もった値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見直し9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導入支援200万円の中身 ─ 42人日＋交通費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200万円は作業を積み上げた原価の約1.4倍として置いた（他社の相場は未確認）</a:t>
            </a:r>
            <a:endParaRPr lang="en-US" sz="1200" dirty="0"/>
          </a:p>
        </p:txBody>
      </p:sp>
      <p:graphicFrame>
        <p:nvGraphicFramePr>
          <p:cNvPr id="12" name="tas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8463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現状調査・業務の流れの整理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端末の設定・アカウント・端末管理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図面・手順・報告書の型の登録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職長・施工管理者への研修（2回）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現場での立ち会い・初期の手直し（週2日×8週）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導入前後の効果測定レポート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合計（約2か月）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setupco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24128"/>
          <a:ext cx="3291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 42人日×約3.0万円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交通費（16回訪問）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59（30%）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0" y="2761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日額＝カスタマーサクセスの年収600万円×1.2÷240日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365760" y="3337560"/>
            <a:ext cx="8412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02920" y="333756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懸念と対策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・手元AR（3D化）を含めると人日が増える → 手元ARは工種ごとのオプション（初期50万円）に分けた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・1人で年6拠点（2か月で1拠点）が上限 → 新規が増えるほどカスタマーサクセスの採用が先に要る（見直し13）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・お客様の負担が重い → 着手金50%・試験導入の結果で本契約に切り替える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本編の67万円（200万円×1/3）は人件費だけで、交通費と作業の積み上げがなかった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見直し10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拠点の積み上げ ─ 既存・新規・解約を分けて見る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解約は年10%（期首の拠点に対して）。本編の「0→3拠点」には根拠がなかった</a:t>
            </a:r>
            <a:endParaRPr lang="en-US" sz="1200" dirty="0"/>
          </a:p>
        </p:txBody>
      </p:sp>
      <p:graphicFrame>
        <p:nvGraphicFramePr>
          <p:cNvPr id="13" name="stoc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拠点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期首（既存のお客様）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解約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既存から入る利用料（万円）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新規から入る利用料（半年分）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解約で減った利用料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337560"/>
            <a:ext cx="4069080" cy="11155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3337560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年10%の根拠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海外の目安：B2B SaaSの年間の解約は大企業5〜10%、中小30〜50%。記録が貯まるほど乗り換えにくいので、中堅として低めに置いた（日本の調査は見つからず）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709160" y="3337560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46320" y="3337560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解約を減らす手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月次の効果レポートで「何分減ったか」を毎月見せる。年額前払いで、更新の3か月前に効果の振り返りをする。解約の理由は必ず聞いて記録する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1年目の3拠点は有償の試験導入（利用料なし）。解約は期首に起きると置いた控えめな計算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売上の内訳 ─ 柱は既存の利用料。受託は5%以下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売上＝既存の利用料＋新規の利用料（半年分）＋導入支援＋受託開発（万円）</a:t>
            </a:r>
            <a:endParaRPr lang="en-US" sz="1200" dirty="0"/>
          </a:p>
        </p:txBody>
      </p:sp>
      <p:graphicFrame>
        <p:nvGraphicFramePr>
          <p:cNvPr id="14" name="s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既存の利用料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新規の利用料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受託開発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既存の利用料の割合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3035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受託開発の中身（件数×単価の仮置き）</a:t>
            </a:r>
            <a:endParaRPr lang="en-US" sz="1050" dirty="0"/>
          </a:p>
        </p:txBody>
      </p:sp>
      <p:graphicFrame>
        <p:nvGraphicFramePr>
          <p:cNvPr id="27" name="contrac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10128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1417320"/>
                <a:gridCol w="1691640"/>
                <a:gridCol w="118872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試験導入先の施工管理アプリ連携 2件×300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連携・帳票の調整 3件×250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大手の基幹連携600＋2件×250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2件×275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大手の追加450＋2件×250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受託の粗利は1/3（エンジニアの人件費を原価に振り替え）。受託が増えるとプロダクトの開発が遅れるので、売上の5%以下を目安にする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オフィスと広告 ─ 何にいくら使い、何件の商談を生むか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家賃＝オフィスの賃料＋共益費。広告は展示会・業界団体・事例動画が中心</a:t>
            </a:r>
            <a:endParaRPr lang="en-US" sz="1200" dirty="0"/>
          </a:p>
        </p:txBody>
      </p:sp>
      <p:graphicFrame>
        <p:nvGraphicFramePr>
          <p:cNvPr id="15" name="oth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06908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594360"/>
                <a:gridCol w="59436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その他の経費（万円）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オフィス（賃料＋共益費）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広告・展示会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営業・定着支援の交通費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検証用の端末・ソフト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専門家（税理士・弁護士・弁理士・社労士）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社外顧問（技術・業界）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雑費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3291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オフィス：川崎市。1年目15坪→5年目40坪、坪1.25〜1.3万円（相場は要確認）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5年目の広告500万円の内訳と商談数</a:t>
            </a:r>
            <a:endParaRPr lang="en-US" sz="1050" dirty="0"/>
          </a:p>
        </p:txBody>
      </p:sp>
      <p:graphicFrame>
        <p:nvGraphicFramePr>
          <p:cNvPr id="29" name="a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"/>
                <a:gridCol w="6858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媒体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展示会（電設の展示会など）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業界団体の勉強会・業界紙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事例動画・ホームページ（YouTubeに置く）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検索・SNS広告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営業資料・デモ機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紹介（既存のお客様・協力会社・メーカー）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365760" y="3749040"/>
            <a:ext cx="8412480" cy="7040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02920" y="3749040"/>
            <a:ext cx="8138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費用対効果：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5年目は新規33拠点≒約25社。成約率25%なら商談約100件。500万円÷100件＝1商談5万円、1拠点約15万円。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媒体ごとの商談数は仮説。最初の1年で媒体ごとに「名刺→商談→成約」を記録し、効かない媒体はやめる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YouTubeは単独の広告ではなく、事例動画の置き場所。現場の人が「自分の工事で使えるか」を見て、展示会や勉強会から来てもらう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チームと採用計画 ─ 役割ごとに人数と年収を決める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本編は「社員数×一律800万円」。見直し案は役割別の年収×1.2（会社負担）＋採用費＋社外顧問</a:t>
            </a:r>
            <a:endParaRPr lang="en-US" sz="1200" dirty="0"/>
          </a:p>
        </p:txBody>
      </p:sp>
      <p:graphicFrame>
        <p:nvGraphicFramePr>
          <p:cNvPr id="16" name="tea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457200"/>
                <a:gridCol w="457200"/>
                <a:gridCol w="457200"/>
                <a:gridCol w="457200"/>
                <a:gridCol w="457200"/>
                <a:gridCol w="333756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年収（万円）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主な仕事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代表（創業者）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480〜720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資金調達・最初の営業・現場監修の統括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CTO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映像AI・データ基盤の設計と開発の責任者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エンジニア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アプリ・AI処理・クラウド・端末連携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現場監修（施工管理経験者）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映像の意味づけ・工種の型・品質の確認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カスタマーサクセス（導入・定着）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導入支援（1人年6拠点）と定着の支援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営業（技術営業）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商談・試験導入の提案。年30商談／人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管理（人事・経理・総務）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採用・労務・経理・契約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戦略企画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価格・提携・大手顧客の企画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社員数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人件費（会社負担込み）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3,516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6,120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9,324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14,124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17,244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年収×1.2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年収の30%×紹介会社経由50%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822192"/>
            <a:ext cx="841248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38221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技術顧問（大学・映像AI）月10万円、業界顧問（電気工事業のOB）月5万円 ＝ 年180万円。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人件費は本編より5年目で約444万円多い。カスタマーサクセスは「新規÷6」で先に採用する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年収はすべて見積（採用市場の相場は要確認）。代表の年収は1年目480万円から段階的に上げる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収支 ─ 見直し後は5年目に黒字。台数を増やせば4年目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見直した前提をすべて入れて計算し直した（万円）。調達は十分にある前提</a:t>
            </a:r>
            <a:endParaRPr lang="en-US" sz="1200" dirty="0"/>
          </a:p>
        </p:txBody>
      </p:sp>
      <p:graphicFrame>
        <p:nvGraphicFramePr>
          <p:cNvPr id="17" name="p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143000"/>
                <a:gridCol w="1143000"/>
                <a:gridCol w="1143000"/>
                <a:gridCol w="1143000"/>
                <a:gridCol w="11430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10,700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17,800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26,900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2,401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5,749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10,308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16,196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人件費（原価に振り替えた分を除く）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2,738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4,486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6,323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10,355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12,453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その他の経費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1,170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1,470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1,780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2,580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▲4,034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▲3,863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▲2,737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▲2,837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773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累積の営業損益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▲4,034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▲7,896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▲10,633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▲13,470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▲12,697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本編（v1）の営業利益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▲2,668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▲645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1,973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6,082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wha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56432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920240"/>
                <a:gridCol w="201168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5年目の営業利益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累積赤字のピーク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見直し案のまま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773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13,470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1拠点15台に増やす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6,191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8,350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解約が年5%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1,637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13,038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月18万円に値下げ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▲4,645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23,743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累積赤字のピーク約1.35億円に運転資金を足し、調達は1.6億円を目安にする（本編は1.25億円）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見直し15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ターゲットと営業 ─ 規模ではなく条件で絞る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中堅2,100社を規模だけで追うと会えない。4つの条件で一次ターゲットを決める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一次ターゲットの4条件（ペルソナ）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3167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65760" y="13167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316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施工管理者30人以上、拠点（支店）が1〜3つ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7739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5760" y="1773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書類の重さ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17739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電力会社・官公庁の工事が多く、写真台帳と報告書の提出が多い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22311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5760" y="22311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手戻りの痛さ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ケーブル接続・端末処理など、やり直しが高くつく工種がある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26883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760" y="26883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デジタルの素地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26883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施工管理アプリを使っている、またはDX担当がいる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3172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決裁は社長・工事部長、使うのは職長と施工管理者、推進はDX担当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5年間の積み上げ（仮説）</a:t>
            </a:r>
            <a:endParaRPr lang="en-US" sz="1050" dirty="0"/>
          </a:p>
        </p:txBody>
      </p:sp>
      <p:graphicFrame>
        <p:nvGraphicFramePr>
          <p:cNvPr id="18" name="funn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640080"/>
                <a:gridCol w="59436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会える率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成約率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関東の中堅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条件に合う（約25%）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それ以外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合計×1社1.3拠点＋大手5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4709160" y="2807208"/>
            <a:ext cx="4069080" cy="685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846320" y="28072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営業1人の量：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5年目の商談約100件÷3人＝1人月約3件。商談は4〜6か月かかるので、常に10〜15件を同時に追う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「1人2.8件を4年間」ではない：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2.8（見直し後は3）は、続いている拠点の累計÷全社員。新規は全社で年3→33拠点。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未知数なのは会える率・成約率・商談期間。最初の3社で実測し、届かなければ見直し後の撤退ライン（本編⑥）で判断する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条件に合う割合・会える率・成約率・1社あたりの拠点数はすべて仮説。業界団体の名簿と経済センサスで数え直す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　前提と懸念 ─ 確度の低いものから実証で測る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統計＝公的統計・制度　公表＝メーカー・クラウドの公表価格　見積＝社内見積　仮説＝実証で測る</a:t>
            </a:r>
            <a:endParaRPr lang="en-US" sz="1200" dirty="0"/>
          </a:p>
        </p:txBody>
      </p:sp>
      <p:graphicFrame>
        <p:nvGraphicFramePr>
          <p:cNvPr id="19" name="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548640"/>
                <a:gridCol w="2194560"/>
                <a:gridCol w="25603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懸念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どう確かめるか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1時間の人件費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3,200円／3,600円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最新年の原表を未確認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e-Statで令和6年値に差し替え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1台1日の削減時間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得の大半を占める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実証で導入前後を記録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端末の台数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1拠点10台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職長だけで足りるか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実証で班ごとに使い方を見る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基盤月5万＋月2万／台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払ってもらえるか未検証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実証3社に価格を聞く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AI・保存の原価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1台月6,000円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使い方で大きく変わる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実証で台ごとの実費を測る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端末とリース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カメラ8万・HMD40万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国内価格・料率が未確認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販売店・リース会社の見積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42人日・200万円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3D化で人日が増える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1社目の実績で更新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手戻りの削減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対象30%×20%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AIの精度と監修の手間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手戻り件数を実証で記録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年10%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日本の調査がない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更新時の継続率を記録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会える率・成約率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45〜60%・15〜30%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4年続けられるか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最初の商談で記録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年収・採用費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役割別×1.2＋紹介料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採用市場の相場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紹介会社の見積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1.6億円を目安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十分にある前提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仮説の4つ（削減時間・手戻り・値段への反応・会える率と成約率）が、500万円の実証で測る対象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 ─ 公的統計と公表価格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★＝最新年の値・原表を確認していない</a:t>
            </a:r>
            <a:endParaRPr lang="en-US" sz="1200" dirty="0"/>
          </a:p>
        </p:txBody>
      </p:sp>
      <p:graphicFrame>
        <p:nvGraphicFramePr>
          <p:cNvPr id="20" name="sour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3093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出典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電気工事従事者の年収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厚生労働省「令和5年賃金構造基本統計調査」（月36.74万円×12＋賞与110.06万円＝約551万円、10人以上の事業所）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建築・土木技術者の年収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同調査 建築技術者 約642万円（令和6年）・土木技術者 約604万円（令和5年）。施工管理者の区分はないため代用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年間総実労働時間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厚生労働省「毎月勤労統計調査」を国交省が整理：建設業2,056時間（2016年度）、日建連資料で1,986時間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会社負担の社会保険料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健康保険5.0%・厚生年金9.15%・雇用保険1.15%（令和6年度の料率表）＋労災・介護など。目安15〜17%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時間外の割増・上限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労働基準法（割増25%以上、建設業は2024年4月から原則 月45時間・年360時間）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産業用HMDの価格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RealWear Navigator 520 発表時の米国価格 $2,700（国内価格は販売店に問い合わせ）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リース料率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リース会社の公表例（2020年4月時点：4年2.57%・5年2.15%）から3年を約3%と置いた 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クラウド・AIの単価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音声文字起こし $0.003／分、オブジェクト保存 約$0.025／GB・月など各社の公表価格（2025年時点）★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解約率の目安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B2B SaaSの年間解約：大企業5〜10%・中小30〜50%（海外の業界記事。一次調査ではない）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ASCE（米国）・豪州・中国・トルコの研究で工事費の0.4〜6%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数字はすべて tora_v2.js から出力。前提を変えると、この資料の表がすべて同じ式で計算し直される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カンツギ 事業計画書 補足資料（前提と懸念の整理）</dc:title>
  <dc:subject>PptxGenJS Presentation</dc:subject>
  <dc:creator>PptxGenJS</dc:creator>
  <cp:lastModifiedBy>PptxGenJS</cp:lastModifiedBy>
  <cp:revision>1</cp:revision>
  <dcterms:created xsi:type="dcterms:W3CDTF">2026-10-16T02:21:31Z</dcterms:created>
  <dcterms:modified xsi:type="dcterms:W3CDTF">2026-10-16T02:21:31Z</dcterms:modified>
</cp:coreProperties>
</file>