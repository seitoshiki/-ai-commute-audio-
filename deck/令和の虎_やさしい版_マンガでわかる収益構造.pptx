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1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前の年までのお客様の利用料</c:v>
                </c:pt>
              </c:strCache>
            </c:strRef>
          </c:tx>
          <c:spPr>
            <a:solidFill>
              <a:srgbClr val="1A1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9</c:v>
                </c:pt>
                <c:pt idx="2">
                  <c:v>36</c:v>
                </c:pt>
                <c:pt idx="3">
                  <c:v>90</c:v>
                </c:pt>
                <c:pt idx="4">
                  <c:v>165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新しいお客様の利用料</c:v>
                </c:pt>
              </c:strCache>
            </c:strRef>
          </c:tx>
          <c:spPr>
            <a:solidFill>
              <a:srgbClr val="4D4D4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0</c:v>
                </c:pt>
                <c:pt idx="1">
                  <c:v>13.5</c:v>
                </c:pt>
                <c:pt idx="2">
                  <c:v>27</c:v>
                </c:pt>
                <c:pt idx="3">
                  <c:v>40.5</c:v>
                </c:pt>
                <c:pt idx="4">
                  <c:v>49.5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導入支援</c:v>
                </c:pt>
              </c:strCache>
            </c:strRef>
          </c:tx>
          <c:spPr>
            <a:solidFill>
              <a:srgbClr val="8C8C8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6</c:v>
                </c:pt>
                <c:pt idx="1">
                  <c:v>18</c:v>
                </c:pt>
                <c:pt idx="2">
                  <c:v>36</c:v>
                </c:pt>
                <c:pt idx="3">
                  <c:v>54</c:v>
                </c:pt>
                <c:pt idx="4">
                  <c:v>66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受託開発</c:v>
                </c:pt>
              </c:strCache>
            </c:strRef>
          </c:tx>
          <c:spPr>
            <a:solidFill>
              <a:srgbClr val="BFBFB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1年目</c:v>
                  </c:pt>
                  <c:pt idx="1">
                    <c:v>2年目</c:v>
                  </c:pt>
                  <c:pt idx="2">
                    <c:v>3年目</c:v>
                  </c:pt>
                  <c:pt idx="3">
                    <c:v>4年目</c:v>
                  </c:pt>
                  <c:pt idx="4">
                    <c:v>5年目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6</c:v>
                </c:pt>
                <c:pt idx="1">
                  <c:v>7.5</c:v>
                </c:pt>
                <c:pt idx="2">
                  <c:v>11</c:v>
                </c:pt>
                <c:pt idx="3">
                  <c:v>5.5</c:v>
                </c:pt>
                <c:pt idx="4">
                  <c:v>9.5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0"/>
        </c:scaling>
        <c:delete val="0"/>
        <c:axPos val="l"/>
        <c:majorGridlines>
          <c:spPr>
            <a:ln w="6350" cap="flat">
              <a:solidFill>
                <a:srgbClr val="BFBFB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4D4D4D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5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8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【表紙・20秒】
要約：数字は3つだけ。300万円、255万円、2.8拠点
三現ワークスです。今日はお金の仕組みを、3つの数字だけでお話しします。お客様が1拠点で年300万円払う。そのうち255万円が当社に残る。社員1人で2.8拠点を見られれば黒字。この3つです。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【登場人物・30秒】
要約：お金を払うのは電気工事会社。窓口は工事部長
登場人物は4人です。来年定年の熟練の電工、田中さん。入社2年目の施工管理、佐藤くん。報告書と育成で手一杯の山本工事部長。そして私です。ここで大事なのは、お金を払うのは現場の人ではなく会社、つまり工事部長や社長だという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【第1話・40秒】
要約：熟練者の勘は書かれていない。辞めたら止まる
ある日の工事現場。ケーブルの接続で、田中さんは、端末の寸法はテープの巻き始めから測れと言う。佐藤くんには理由が分からない。手順書にも書いていない。工事部長は、来年田中さんが辞めたらどうなるのかと青ざめる。しかも2024年から残業に上限がかかり、工事写真と報告書で教える時間もない。建設業で働く人の3人に1人以上が55歳以上です。これが、全国の工事会社で起きてい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【第2話・40秒】
要約：メガネを掛けて、いつも通り働くだけ
そこで、スマートグラスを掛けてもらいます。田中さんは、いつも通り作業するだけ。動画と会話をAIが整理して、三つの形で渡します。若手には、図面とのズレをその場で表示。管理者には、報告書を自動で作成。そして後から、教材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【第3話・40秒】
要約：壁の図面が手元に出る。ミスしやすい所では止めてくれる
今の現場では、2メートル近いケーブルのジョイントの組立図を、わら半紙で壁に貼っています。佐藤くんは壁を見に行って、戻ったら寸法を忘れてしまう。ARグラスなら、実物大の完成形がケーブルの横に出ます。過去にミスがあった所では、赤を切るか青を切るかのように、声とレーザーで止めてくれます。火花や異物から目も守ります。ただし、寸法の最終確認はスケールで。測る道具ではなく、間違いに気づく道具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【第4話・40秒】
要約：会う → 試す → 決める → 広がる
最初のお客様は、関東の中堅の電気工事会社です。業界の勉強会で、2024年からの残業の上限と書類の削減について話します。展示会では、デモを自分の現場に当てはめて試してもらいます。次に、3か月の有償の試験導入で、報告書の時間が本当に減るかを数字で確かめます。本契約になったら、協力会社にも同じ形で使ってもらいます。関東の中堅735社のうち、半分近くに会い、4社に1社と契約できれば、5年で約83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【お金の話1・40秒】
要約：1拠点 年300万円。初年度だけ導入支援200万円
では、誰が何にいくら払うのか。払うのは電気工事会社です。1拠点、つまり1つの支店や営業所で、年300万円。月にすると25万円です。中身は、アプリとデータ置き場の基本料が100万円、記録する工区や現場の数で100万円、教材づくりなどの追加機能で100万円。初年度だけ、私たちが2か月現場に入る導入支援に200万円いただきます。スマホの契約と同じで、初期設定は最初だけ、月額は毎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【お金の話2・40秒】
要約：月25万円払って、月240万円浮く。約2か月で元が取れる
なぜ工事部長は払うのか。施工管理者と電工が100人の会社で、1人あたり日報や写真整理が月6時間減ると、時給4,000円換算で月240万円分の時間が浮きます。初年度の支払いは500万円なので、約2か月で元が取れます。月6時間とは、1日あたり約18分。朝の日報と夕方の写真整理がなくなるイメージ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【お金の話3・40秒】
要約：利用料300万円のうち255万円が残る。だから利用料を積み上げる
次に、当社の財布に何が残るか。300万円の利用料のうち、サーバーやAIの費用は15%の45万円。255万円が残ります。導入支援の200万円は、人が動くので120万円が人件費に消え、残るのは80万円。だから当社は、人が動く仕事ではなく、利用料を積み上げる会社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【お金の話4・40秒】
要約：社員1人で2.8拠点を見れば黒字。4年目に超える
なぜ最初は赤字なのか。社員1人にかかる費用は、給料や家賃を合わせて年713万円。1拠点から残るのは255万円。713を255で割ると2.8。つまり、社員1人で2.8拠点を見られれば黒字です。1年目から3年目は、人を先に雇うので2.8に届かず赤字。4年目に3.67となって黒字になります。合言葉は2.8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【お金の話5・40秒】
要約：去年のお客様が今年も払う。売上は雪だるま式
利用料は毎年いただくので、去年までのお客様の分が今年の売上に乗ります。5年目の売上2億9,000万円のうち、57%は前の年までのお客様からの利用料です。新しいお客様が増えるたびに、雪だるまのように大きくなります。営業利益は4年目に黒字、5年目に6,900万円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【お金の話6・30秒】
要約：64万円かけて連れてきたお客様が、1,865万円残してくれる
最後に、お客様1拠点を連れてくる費用は約64万円。営業2人の人件費と広告費を、新しいお客様の数で割った数字です。一方、1拠点が7年間で残してくれる粗利は約1,865万円。約29倍です。64万円は3か月で回収できます。7年は控えめに見た数字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【500万円・30秒】
要約：500万円で、6か月以内に1拠点を動かす
今回お願いする500万円は、試作品と1拠点の実証に使います。私の給料はゼロです。3か月で試作品、6か月で実証。その結果を持って、公庫の融資とベンチャーキャピタルの出資を受けます。条件は10%でのご提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【全体図・30秒】
要約：上の矢印は記録とサービス、下の矢印はお金
1枚にまとめるとこうなります。上の流れが記録とサービス。お客様の現場から記録が来て、照合・報告書・教材にして返す。下の流れがお金。お客様から年300万円が入り、45万円がサーバー代、255万円が残って社員の費用をまかなう。社員1人で2.8拠点を超えたら黒字。そして記録が貯まるほど、真似されにくく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【ツッコミ対策・40秒】
要約：3つのツッコミには、この一言で返す
よく聞かれる3つの質問への答えです。本当に300万円も払うのか。月240万円分の時間が浮くので、2か月で元が取れます。なぜ4年目まで赤字なのか。人を先に雇うからで、社員1人2.8拠点を超えたら黒字になります。真似されないか。現場の記録は使うほど貯まり、後から来た会社には移せ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【まとめ・30秒】
要約：300万・255万・2.8。この3つで話せる
まとめです。お客様が年300万円払う。255万円が残る。社員1人2.8拠点で黒字。この3つの数字で、すべて説明できます。詳しい計算の根拠は、別冊の理論武装版にまとめています。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31520" y="4837176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現場の勘を、次の担い手へ。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R_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52360" y="4754880"/>
            <a:ext cx="1325880" cy="284117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image" Target="../media/image-11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320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令和の虎　事業計画書　やさしい版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21792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マンガでわかる</a:t>
            </a:r>
            <a:endParaRPr lang="en-US" sz="2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三現ワークスの</a:t>
            </a:r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もうけの仕組み</a:t>
            </a:r>
            <a:endParaRPr lang="en-US" sz="2800" dirty="0"/>
          </a:p>
        </p:txBody>
      </p:sp>
      <p:sp>
        <p:nvSpPr>
          <p:cNvPr id="5" name="ask"/>
          <p:cNvSpPr/>
          <p:nvPr/>
        </p:nvSpPr>
        <p:spPr>
          <a:xfrm>
            <a:off x="6172200" y="411480"/>
            <a:ext cx="2606040" cy="114300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6355080" y="4754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希望金額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355080" y="7315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800" dirty="0"/>
          </a:p>
        </p:txBody>
      </p:sp>
      <p:sp>
        <p:nvSpPr>
          <p:cNvPr id="8" name="num-0"/>
          <p:cNvSpPr/>
          <p:nvPr/>
        </p:nvSpPr>
        <p:spPr>
          <a:xfrm>
            <a:off x="36576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0292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0292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87452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1拠点・1年あたり</a:t>
            </a:r>
            <a:endParaRPr lang="en-US" sz="800" dirty="0"/>
          </a:p>
        </p:txBody>
      </p:sp>
      <p:sp>
        <p:nvSpPr>
          <p:cNvPr id="12" name="num-1"/>
          <p:cNvSpPr/>
          <p:nvPr/>
        </p:nvSpPr>
        <p:spPr>
          <a:xfrm>
            <a:off x="3200400" y="1828800"/>
            <a:ext cx="2697480" cy="9144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33756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70916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サーバー代を</a:t>
            </a:r>
            <a:endParaRPr lang="en-US" sz="8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引いた粗利</a:t>
            </a:r>
            <a:endParaRPr lang="en-US" sz="800" dirty="0"/>
          </a:p>
        </p:txBody>
      </p:sp>
      <p:sp>
        <p:nvSpPr>
          <p:cNvPr id="16" name="num-2"/>
          <p:cNvSpPr/>
          <p:nvPr/>
        </p:nvSpPr>
        <p:spPr>
          <a:xfrm>
            <a:off x="6035040" y="1828800"/>
            <a:ext cx="2697480" cy="9144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901952"/>
            <a:ext cx="2468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  </a:t>
            </a:r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黒字のライン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157984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7543800" y="219456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</a:t>
            </a:r>
            <a:endParaRPr lang="en-US" sz="800" dirty="0"/>
          </a:p>
        </p:txBody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971800"/>
            <a:ext cx="1143000" cy="137160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365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</a:t>
            </a:r>
            <a:endParaRPr lang="en-US" sz="9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71800"/>
            <a:ext cx="1143000" cy="1371600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508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2971800"/>
            <a:ext cx="1143000" cy="137160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2651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</a:t>
            </a:r>
            <a:endParaRPr lang="en-US" sz="900" dirty="0"/>
          </a:p>
        </p:txBody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6200" y="297180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3794760" y="4370832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900" dirty="0"/>
          </a:p>
        </p:txBody>
      </p:sp>
      <p:sp>
        <p:nvSpPr>
          <p:cNvPr id="28" name="cover-bubble"/>
          <p:cNvSpPr/>
          <p:nvPr/>
        </p:nvSpPr>
        <p:spPr>
          <a:xfrm>
            <a:off x="5120640" y="3154680"/>
            <a:ext cx="310896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2"/>
          <p:cNvSpPr txBox="1"/>
          <p:nvPr/>
        </p:nvSpPr>
        <p:spPr>
          <a:xfrm>
            <a:off x="5193792" y="3191256"/>
            <a:ext cx="296265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数字は3つだけ。</a:t>
            </a:r>
            <a:endParaRPr lang="en-US" sz="13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これで全部、説明できます！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登場人物 ─ お金を払うのは「会社」。窓口は工事部長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この4人で、困りごと → 解決 → お金の流れを追いかける</a:t>
            </a:r>
            <a:endParaRPr lang="en-US" sz="1200" dirty="0"/>
          </a:p>
        </p:txBody>
      </p:sp>
      <p:sp>
        <p:nvSpPr>
          <p:cNvPr id="5" name="cast-0"/>
          <p:cNvSpPr/>
          <p:nvPr/>
        </p:nvSpPr>
        <p:spPr>
          <a:xfrm>
            <a:off x="365760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1234440"/>
            <a:ext cx="1143000" cy="13716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45720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田中さん（62歳）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熟練の電工。来年、定年</a:t>
            </a:r>
            <a:endParaRPr lang="en-US" sz="900" dirty="0"/>
          </a:p>
        </p:txBody>
      </p:sp>
      <p:sp>
        <p:nvSpPr>
          <p:cNvPr id="9" name="Shape 5"/>
          <p:cNvSpPr/>
          <p:nvPr/>
        </p:nvSpPr>
        <p:spPr>
          <a:xfrm flipV="1">
            <a:off x="50292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7607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勘で分かる。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でも説明はできん</a:t>
            </a:r>
            <a:endParaRPr lang="en-US" sz="1000" dirty="0"/>
          </a:p>
        </p:txBody>
      </p:sp>
      <p:sp>
        <p:nvSpPr>
          <p:cNvPr id="11" name="cast-1"/>
          <p:cNvSpPr/>
          <p:nvPr/>
        </p:nvSpPr>
        <p:spPr>
          <a:xfrm>
            <a:off x="2499055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33395" y="1234440"/>
            <a:ext cx="1143000" cy="13716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590495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佐藤くん（24歳）</a:t>
            </a:r>
            <a:endParaRPr lang="en-US" sz="1200" dirty="0"/>
          </a:p>
        </p:txBody>
      </p:sp>
      <p:sp>
        <p:nvSpPr>
          <p:cNvPr id="14" name="Text 9"/>
          <p:cNvSpPr txBox="1"/>
          <p:nvPr/>
        </p:nvSpPr>
        <p:spPr>
          <a:xfrm>
            <a:off x="2590495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入社2年目の施工管理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 flipV="1">
            <a:off x="2636215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2709367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田中さんが辞めたら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どうしよう…</a:t>
            </a:r>
            <a:endParaRPr lang="en-US" sz="1000" dirty="0"/>
          </a:p>
        </p:txBody>
      </p:sp>
      <p:sp>
        <p:nvSpPr>
          <p:cNvPr id="17" name="cast-2"/>
          <p:cNvSpPr/>
          <p:nvPr/>
        </p:nvSpPr>
        <p:spPr>
          <a:xfrm>
            <a:off x="4632350" y="1051560"/>
            <a:ext cx="2011680" cy="3154680"/>
          </a:xfrm>
          <a:prstGeom prst="rect">
            <a:avLst/>
          </a:prstGeom>
          <a:solidFill>
            <a:srgbClr val="FFFFFF"/>
          </a:solidFill>
          <a:ln w="31750">
            <a:solidFill>
              <a:srgbClr val="B8692E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19" name="Text 14"/>
          <p:cNvSpPr txBox="1"/>
          <p:nvPr/>
        </p:nvSpPr>
        <p:spPr>
          <a:xfrm>
            <a:off x="5683910" y="1051560"/>
            <a:ext cx="960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お金を払う人</a:t>
            </a:r>
            <a:endParaRPr lang="en-US" sz="850" dirty="0"/>
          </a:p>
        </p:txBody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6690" y="1234440"/>
            <a:ext cx="1143000" cy="137160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4723790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山本工事部長（50歳）</a:t>
            </a:r>
            <a:endParaRPr lang="en-US" sz="1200" dirty="0"/>
          </a:p>
        </p:txBody>
      </p:sp>
      <p:sp>
        <p:nvSpPr>
          <p:cNvPr id="22" name="Text 16"/>
          <p:cNvSpPr txBox="1"/>
          <p:nvPr/>
        </p:nvSpPr>
        <p:spPr>
          <a:xfrm>
            <a:off x="4723790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管理者。お金を払う人</a:t>
            </a:r>
            <a:endParaRPr lang="en-US" sz="900" dirty="0"/>
          </a:p>
        </p:txBody>
      </p:sp>
      <p:sp>
        <p:nvSpPr>
          <p:cNvPr id="23" name="Shape 17"/>
          <p:cNvSpPr/>
          <p:nvPr/>
        </p:nvSpPr>
        <p:spPr>
          <a:xfrm flipV="1">
            <a:off x="4769510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4842662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報告書と育成で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手一杯だ</a:t>
            </a:r>
            <a:endParaRPr lang="en-US" sz="1000" dirty="0"/>
          </a:p>
        </p:txBody>
      </p:sp>
      <p:sp>
        <p:nvSpPr>
          <p:cNvPr id="25" name="cast-3"/>
          <p:cNvSpPr/>
          <p:nvPr/>
        </p:nvSpPr>
        <p:spPr>
          <a:xfrm>
            <a:off x="6765646" y="1051560"/>
            <a:ext cx="2011680" cy="31546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99986" y="1234440"/>
            <a:ext cx="1143000" cy="137160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6857086" y="26517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社長（わたし）</a:t>
            </a:r>
            <a:endParaRPr lang="en-US" sz="1200" dirty="0"/>
          </a:p>
        </p:txBody>
      </p:sp>
      <p:sp>
        <p:nvSpPr>
          <p:cNvPr id="28" name="Text 21"/>
          <p:cNvSpPr txBox="1"/>
          <p:nvPr/>
        </p:nvSpPr>
        <p:spPr>
          <a:xfrm>
            <a:off x="6857086" y="292608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三現ワークス。元・施工管理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 flipV="1">
            <a:off x="6902806" y="3337560"/>
            <a:ext cx="173736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3"/>
          <p:cNvSpPr txBox="1"/>
          <p:nvPr/>
        </p:nvSpPr>
        <p:spPr>
          <a:xfrm>
            <a:off x="6975958" y="3374136"/>
            <a:ext cx="15910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1000" dirty="0"/>
          </a:p>
        </p:txBody>
      </p:sp>
      <p:sp>
        <p:nvSpPr>
          <p:cNvPr id="31" name="Shape 24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2" name="Text 25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ポイント：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使うのは現場、払うのは会社。だから「会社にとって得か」で値段を決める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第1話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このままだと、現場が止まる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熟練者の勘は手順書に書かれていない。辞めたら消える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起　ある日の工事現場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487168"/>
            <a:ext cx="1219200" cy="146304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75488" y="1435608"/>
            <a:ext cx="1792224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1472184"/>
            <a:ext cx="16459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端末の寸法は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テープの巻き始め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から測るんじゃ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承　若手は分からない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0495" y="2715768"/>
            <a:ext cx="1028700" cy="12344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289864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35608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7218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えっ、なんで</a:t>
            </a:r>
            <a:endParaRPr lang="en-US" sz="10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分かるんですか！？</a:t>
            </a:r>
            <a:endParaRPr lang="en-US" sz="1050" dirty="0"/>
          </a:p>
        </p:txBody>
      </p:sp>
      <p:sp>
        <p:nvSpPr>
          <p:cNvPr id="18" name="Shape 12"/>
          <p:cNvSpPr/>
          <p:nvPr/>
        </p:nvSpPr>
        <p:spPr>
          <a:xfrm flipH="1">
            <a:off x="3596335" y="2322576"/>
            <a:ext cx="777240" cy="4114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3669487" y="2359152"/>
            <a:ext cx="630936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勘じゃ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4632350" y="1024128"/>
            <a:ext cx="155905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2" name="Text 16"/>
          <p:cNvSpPr txBox="1"/>
          <p:nvPr/>
        </p:nvSpPr>
        <p:spPr>
          <a:xfrm>
            <a:off x="4696358" y="1024128"/>
            <a:ext cx="146761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転　工事部長、青ざめる</a:t>
            </a:r>
            <a:endParaRPr lang="en-US" sz="900" dirty="0"/>
          </a:p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24328"/>
            <a:ext cx="1181100" cy="1417320"/>
          </a:xfrm>
          <a:prstGeom prst="rect">
            <a:avLst/>
          </a:prstGeom>
        </p:spPr>
      </p:pic>
      <p:sp>
        <p:nvSpPr>
          <p:cNvPr id="24" name="Shape 17"/>
          <p:cNvSpPr/>
          <p:nvPr/>
        </p:nvSpPr>
        <p:spPr>
          <a:xfrm>
            <a:off x="4723790" y="1435608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4796942" y="1472184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田中さんは来年定年…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手順書に書いてない！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 rot="-480000">
            <a:off x="5683910" y="225856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ガーン</a:t>
            </a:r>
            <a:endParaRPr lang="en-US" sz="2000" dirty="0"/>
          </a:p>
        </p:txBody>
      </p:sp>
      <p:sp>
        <p:nvSpPr>
          <p:cNvPr id="27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8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9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　しかも時間がない</a:t>
            </a:r>
            <a:endParaRPr lang="en-US" sz="900" dirty="0"/>
          </a:p>
        </p:txBody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02806" y="2715768"/>
            <a:ext cx="1104900" cy="1325880"/>
          </a:xfrm>
          <a:prstGeom prst="rect">
            <a:avLst/>
          </a:prstGeom>
        </p:spPr>
      </p:pic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0086" y="2944368"/>
            <a:ext cx="548640" cy="54864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5806" y="3538728"/>
            <a:ext cx="457200" cy="45720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工事写真と報告書で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毎晩残業。教える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時間もない…</a:t>
            </a:r>
            <a:endParaRPr lang="en-US" sz="1000" dirty="0"/>
          </a:p>
        </p:txBody>
      </p:sp>
      <p:sp>
        <p:nvSpPr>
          <p:cNvPr id="35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現実も同じ：</a:t>
            </a:r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建設業で働く人の36.7%が55歳以上、29歳以下は11.7%（国交省、2024年）。2024年4月から残業にも上限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第2話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メガネを掛けて、いつも通り働くだけ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動画と会話をAIが整理して、3つの形で渡す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掛けるだけ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12848"/>
            <a:ext cx="1097280" cy="1097280"/>
          </a:xfrm>
          <a:prstGeom prst="rect">
            <a:avLst/>
          </a:prstGeom>
        </p:spPr>
      </p:pic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3035808"/>
            <a:ext cx="876300" cy="1051560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457200" y="1408176"/>
            <a:ext cx="1828800" cy="713232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530352" y="1444752"/>
            <a:ext cx="16824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いつも通り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やるだけでええんか？</a:t>
            </a:r>
            <a:endParaRPr lang="en-US" sz="1000" dirty="0"/>
          </a:p>
        </p:txBody>
      </p:sp>
      <p:sp>
        <p:nvSpPr>
          <p:cNvPr id="12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3" name="Shape 8"/>
          <p:cNvSpPr/>
          <p:nvPr/>
        </p:nvSpPr>
        <p:spPr>
          <a:xfrm>
            <a:off x="2499055" y="1024128"/>
            <a:ext cx="1065276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4" name="Text 9"/>
          <p:cNvSpPr txBox="1"/>
          <p:nvPr/>
        </p:nvSpPr>
        <p:spPr>
          <a:xfrm>
            <a:off x="2563063" y="1024128"/>
            <a:ext cx="97383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AIが整理</a:t>
            </a:r>
            <a:endParaRPr lang="en-US" sz="900" dirty="0"/>
          </a:p>
        </p:txBody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935" y="1572768"/>
            <a:ext cx="731520" cy="73152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459175" y="1938528"/>
            <a:ext cx="32004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495" y="1572768"/>
            <a:ext cx="685800" cy="68580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254477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動画と会話</a:t>
            </a:r>
            <a:endParaRPr lang="en-US" sz="900" dirty="0"/>
          </a:p>
        </p:txBody>
      </p:sp>
      <p:sp>
        <p:nvSpPr>
          <p:cNvPr id="19" name="Text 12"/>
          <p:cNvSpPr txBox="1"/>
          <p:nvPr/>
        </p:nvSpPr>
        <p:spPr>
          <a:xfrm>
            <a:off x="3504895" y="2322576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 rot="-480000">
            <a:off x="2727655" y="262432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ピコン！</a:t>
            </a:r>
            <a:endParaRPr lang="en-US" sz="2000" dirty="0"/>
          </a:p>
        </p:txBody>
      </p:sp>
      <p:sp>
        <p:nvSpPr>
          <p:cNvPr id="21" name="Text 14"/>
          <p:cNvSpPr txBox="1"/>
          <p:nvPr/>
        </p:nvSpPr>
        <p:spPr>
          <a:xfrm>
            <a:off x="2636215" y="3172968"/>
            <a:ext cx="17373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「どの場面で」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「何を見て」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「どう判断したか」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を自動で切り出す</a:t>
            </a:r>
            <a:endParaRPr lang="en-US" sz="1000" dirty="0"/>
          </a:p>
        </p:txBody>
      </p:sp>
      <p:sp>
        <p:nvSpPr>
          <p:cNvPr id="22" name="Shape 15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3" name="Shape 16"/>
          <p:cNvSpPr/>
          <p:nvPr/>
        </p:nvSpPr>
        <p:spPr>
          <a:xfrm>
            <a:off x="463235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4" name="Text 17"/>
          <p:cNvSpPr txBox="1"/>
          <p:nvPr/>
        </p:nvSpPr>
        <p:spPr>
          <a:xfrm>
            <a:off x="469635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若手へ：照合</a:t>
            </a:r>
            <a:endParaRPr lang="en-US" sz="900" dirty="0"/>
          </a:p>
        </p:txBody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3830" y="2715768"/>
            <a:ext cx="1143000" cy="1371600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4723790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7" name="Text 19"/>
          <p:cNvSpPr txBox="1"/>
          <p:nvPr/>
        </p:nvSpPr>
        <p:spPr>
          <a:xfrm>
            <a:off x="4796942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図面と8mmズレてる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って、その場で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教えてくれた！</a:t>
            </a:r>
            <a:endParaRPr lang="en-US" sz="1000" dirty="0"/>
          </a:p>
        </p:txBody>
      </p:sp>
      <p:sp>
        <p:nvSpPr>
          <p:cNvPr id="28" name="Shape 20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9" name="Shape 21"/>
          <p:cNvSpPr/>
          <p:nvPr/>
        </p:nvSpPr>
        <p:spPr>
          <a:xfrm>
            <a:off x="6765646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2"/>
          <p:cNvSpPr txBox="1"/>
          <p:nvPr/>
        </p:nvSpPr>
        <p:spPr>
          <a:xfrm>
            <a:off x="6829654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管理者へ：報告書</a:t>
            </a:r>
            <a:endParaRPr lang="en-US" sz="900" dirty="0"/>
          </a:p>
        </p:txBody>
      </p:sp>
      <p:pic>
        <p:nvPicPr>
          <p:cNvPr id="3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57086" y="2715768"/>
            <a:ext cx="1104900" cy="1325880"/>
          </a:xfrm>
          <a:prstGeom prst="rect">
            <a:avLst/>
          </a:prstGeom>
        </p:spPr>
      </p:pic>
      <p:pic>
        <p:nvPicPr>
          <p:cNvPr id="3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27518" y="2807208"/>
            <a:ext cx="548640" cy="548640"/>
          </a:xfrm>
          <a:prstGeom prst="rect">
            <a:avLst/>
          </a:prstGeom>
        </p:spPr>
      </p:pic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0086" y="3447288"/>
            <a:ext cx="594360" cy="594360"/>
          </a:xfrm>
          <a:prstGeom prst="rect">
            <a:avLst/>
          </a:prstGeom>
        </p:spPr>
      </p:pic>
      <p:sp>
        <p:nvSpPr>
          <p:cNvPr id="34" name="Shape 23"/>
          <p:cNvSpPr/>
          <p:nvPr/>
        </p:nvSpPr>
        <p:spPr>
          <a:xfrm>
            <a:off x="6857086" y="1408176"/>
            <a:ext cx="1828800" cy="9601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5" name="Text 24"/>
          <p:cNvSpPr txBox="1"/>
          <p:nvPr/>
        </p:nvSpPr>
        <p:spPr>
          <a:xfrm>
            <a:off x="6930238" y="1444752"/>
            <a:ext cx="1682496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報告書が勝手に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できてる！教材にも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なるのか</a:t>
            </a:r>
            <a:endParaRPr lang="en-US" sz="1000" dirty="0"/>
          </a:p>
        </p:txBody>
      </p:sp>
      <p:sp>
        <p:nvSpPr>
          <p:cNvPr id="36" name="Shape 25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7" name="Text 26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渡す先は3つ：</a:t>
            </a:r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若手へ（図面と照合）　管理者へ（報告書を自動作成）　あとから（教材・研修資料）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第3話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壁の図面が、手元に出る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約2mのケーブルジョイント。わら半紙の組立図を見に行く往復をなくす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いつもの現場</a:t>
            </a:r>
            <a:endParaRPr lang="en-US" sz="900" dirty="0"/>
          </a:p>
        </p:txBody>
      </p:sp>
      <p:sp>
        <p:nvSpPr>
          <p:cNvPr id="8" name="Shape 5"/>
          <p:cNvSpPr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solidFill>
            <a:srgbClr val="F3EBDD"/>
          </a:solidFill>
          <a:ln w="9525">
            <a:solidFill>
              <a:srgbClr val="8C8C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1508760" y="2441448"/>
            <a:ext cx="731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組立図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（壁）</a:t>
            </a:r>
            <a:endParaRPr lang="en-US" sz="85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852928"/>
            <a:ext cx="1066800" cy="128016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壁の図面を見に行って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戻ったら寸法を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忘れた…</a:t>
            </a:r>
            <a:endParaRPr lang="en-US" sz="950" dirty="0"/>
          </a:p>
        </p:txBody>
      </p:sp>
      <p:sp>
        <p:nvSpPr>
          <p:cNvPr id="13" name="Shape 9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5" name="Text 11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ARで手元に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2636215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7" name="Shape 13"/>
          <p:cNvSpPr/>
          <p:nvPr/>
        </p:nvSpPr>
        <p:spPr>
          <a:xfrm>
            <a:off x="3157423" y="3721608"/>
            <a:ext cx="694944" cy="182880"/>
          </a:xfrm>
          <a:prstGeom prst="rect">
            <a:avLst/>
          </a:prstGeom>
          <a:solidFill>
            <a:srgbClr val="BFBFBF"/>
          </a:solidFill>
          <a:ln/>
        </p:spPr>
      </p:sp>
      <p:sp>
        <p:nvSpPr>
          <p:cNvPr id="18" name="Shape 14"/>
          <p:cNvSpPr/>
          <p:nvPr/>
        </p:nvSpPr>
        <p:spPr>
          <a:xfrm>
            <a:off x="3852367" y="3721608"/>
            <a:ext cx="521208" cy="182880"/>
          </a:xfrm>
          <a:prstGeom prst="rect">
            <a:avLst/>
          </a:prstGeom>
          <a:solidFill>
            <a:srgbClr val="4D4D4D"/>
          </a:solidFill>
          <a:ln/>
        </p:spPr>
      </p:sp>
      <p:sp>
        <p:nvSpPr>
          <p:cNvPr id="19" name="Shape 15"/>
          <p:cNvSpPr/>
          <p:nvPr/>
        </p:nvSpPr>
        <p:spPr>
          <a:xfrm>
            <a:off x="3157423" y="3584448"/>
            <a:ext cx="694944" cy="457200"/>
          </a:xfrm>
          <a:prstGeom prst="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B8692E"/>
            </a:solidFill>
            <a:prstDash val="dash"/>
          </a:ln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695" y="2441448"/>
            <a:ext cx="876300" cy="1051560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590495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63647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実物大の完成形が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ケーブルの横に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出た！</a:t>
            </a:r>
            <a:endParaRPr lang="en-US" sz="950" dirty="0"/>
          </a:p>
        </p:txBody>
      </p:sp>
      <p:sp>
        <p:nvSpPr>
          <p:cNvPr id="23" name="Shape 18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5" name="Text 20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赤を切るか、青か</a:t>
            </a:r>
            <a:endParaRPr lang="en-US" sz="900" dirty="0"/>
          </a:p>
        </p:txBody>
      </p:sp>
      <p:sp>
        <p:nvSpPr>
          <p:cNvPr id="26" name="Shape 21"/>
          <p:cNvSpPr/>
          <p:nvPr/>
        </p:nvSpPr>
        <p:spPr>
          <a:xfrm>
            <a:off x="4906670" y="3127248"/>
            <a:ext cx="1463040" cy="0"/>
          </a:xfrm>
          <a:prstGeom prst="line">
            <a:avLst/>
          </a:prstGeom>
          <a:noFill/>
          <a:ln w="63500">
            <a:solidFill>
              <a:srgbClr val="C0392B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906670" y="3447288"/>
            <a:ext cx="1463040" cy="0"/>
          </a:xfrm>
          <a:prstGeom prst="line">
            <a:avLst/>
          </a:prstGeom>
          <a:noFill/>
          <a:ln w="63500">
            <a:solidFill>
              <a:srgbClr val="2E5C9A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5409590" y="3630168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✂</a:t>
            </a:r>
            <a:endParaRPr lang="en-US" sz="2200" dirty="0"/>
          </a:p>
        </p:txBody>
      </p:sp>
      <p:sp>
        <p:nvSpPr>
          <p:cNvPr id="29" name="Shape 24"/>
          <p:cNvSpPr/>
          <p:nvPr/>
        </p:nvSpPr>
        <p:spPr>
          <a:xfrm flipH="1">
            <a:off x="4723790" y="1408176"/>
            <a:ext cx="1828800" cy="822960"/>
          </a:xfrm>
          <a:prstGeom prst="wedgeEllipse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0" name="Text 25"/>
          <p:cNvSpPr txBox="1"/>
          <p:nvPr/>
        </p:nvSpPr>
        <p:spPr>
          <a:xfrm>
            <a:off x="4796942" y="1444752"/>
            <a:ext cx="1682496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ここは過去にミスあり。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赤を切れ</a:t>
            </a:r>
            <a:endParaRPr lang="en-US" sz="1000" dirty="0"/>
          </a:p>
        </p:txBody>
      </p:sp>
      <p:sp>
        <p:nvSpPr>
          <p:cNvPr id="31" name="Text 26"/>
          <p:cNvSpPr txBox="1"/>
          <p:nvPr/>
        </p:nvSpPr>
        <p:spPr>
          <a:xfrm rot="-480000">
            <a:off x="486095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ピピッ</a:t>
            </a:r>
            <a:endParaRPr lang="en-US" sz="1800" dirty="0"/>
          </a:p>
        </p:txBody>
      </p:sp>
      <p:sp>
        <p:nvSpPr>
          <p:cNvPr id="32" name="Shape 27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33" name="Shape 28"/>
          <p:cNvSpPr/>
          <p:nvPr/>
        </p:nvSpPr>
        <p:spPr>
          <a:xfrm>
            <a:off x="6765646" y="1024128"/>
            <a:ext cx="941832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4" name="Text 29"/>
          <p:cNvSpPr txBox="1"/>
          <p:nvPr/>
        </p:nvSpPr>
        <p:spPr>
          <a:xfrm>
            <a:off x="6829654" y="1024128"/>
            <a:ext cx="850392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目も守る</a:t>
            </a:r>
            <a:endParaRPr lang="en-US" sz="900" dirty="0"/>
          </a:p>
        </p:txBody>
      </p:sp>
      <p:pic>
        <p:nvPicPr>
          <p:cNvPr id="3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77126" y="2715768"/>
            <a:ext cx="1143000" cy="1371600"/>
          </a:xfrm>
          <a:prstGeom prst="rect">
            <a:avLst/>
          </a:prstGeom>
        </p:spPr>
      </p:pic>
      <p:sp>
        <p:nvSpPr>
          <p:cNvPr id="36" name="Text 30"/>
          <p:cNvSpPr txBox="1"/>
          <p:nvPr/>
        </p:nvSpPr>
        <p:spPr>
          <a:xfrm rot="-480000">
            <a:off x="7771486" y="230428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バチッ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857086" y="1408176"/>
            <a:ext cx="1828800" cy="7772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8" name="Text 32"/>
          <p:cNvSpPr txBox="1"/>
          <p:nvPr/>
        </p:nvSpPr>
        <p:spPr>
          <a:xfrm>
            <a:off x="6930238" y="1444752"/>
            <a:ext cx="1682496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火花が飛んでも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目は守られとる</a:t>
            </a:r>
            <a:endParaRPr lang="en-US" sz="1000" dirty="0"/>
          </a:p>
        </p:txBody>
      </p:sp>
      <p:sp>
        <p:nvSpPr>
          <p:cNvPr id="39" name="Shape 3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40" name="Text 3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約束：</a:t>
            </a:r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寸法の最終確認はスケールで。ARは「測る道具」ではなく「理解して、間違いに気づく道具」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第4話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最初のお客様に、どう会う？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関東の中堅電気工事会社（施工管理者30人以上）から。会う → 試す → 決める → 広がる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365760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429768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勉強会で話す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624328"/>
            <a:ext cx="1181100" cy="141732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45720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3035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2024年からの残業上限、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書類の時間を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減らしませんか？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499055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499055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3" name="Text 9"/>
          <p:cNvSpPr txBox="1"/>
          <p:nvPr/>
        </p:nvSpPr>
        <p:spPr>
          <a:xfrm>
            <a:off x="2563063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展示会で試す</a:t>
            </a:r>
            <a:endParaRPr lang="en-US" sz="900" dirty="0"/>
          </a:p>
        </p:txBody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1975" y="2350008"/>
            <a:ext cx="1005840" cy="1005840"/>
          </a:xfrm>
          <a:prstGeom prst="rect">
            <a:avLst/>
          </a:prstGeom>
        </p:spPr>
      </p:pic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1975" y="3035808"/>
            <a:ext cx="876300" cy="1051560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2590495" y="1408176"/>
            <a:ext cx="182880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2663647" y="1444752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自分の現場で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試してみたい！</a:t>
            </a:r>
            <a:endParaRPr lang="en-US" sz="1000" dirty="0"/>
          </a:p>
        </p:txBody>
      </p:sp>
      <p:sp>
        <p:nvSpPr>
          <p:cNvPr id="18" name="Shape 12"/>
          <p:cNvSpPr/>
          <p:nvPr/>
        </p:nvSpPr>
        <p:spPr>
          <a:xfrm>
            <a:off x="4632350" y="1024128"/>
            <a:ext cx="2011680" cy="3200400"/>
          </a:xfrm>
          <a:prstGeom prst="rect">
            <a:avLst/>
          </a:prstGeom>
          <a:solidFill>
            <a:srgbClr val="FFFFFF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19" name="Shape 13"/>
          <p:cNvSpPr/>
          <p:nvPr/>
        </p:nvSpPr>
        <p:spPr>
          <a:xfrm>
            <a:off x="4632350" y="1024128"/>
            <a:ext cx="1435608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0" name="Text 14"/>
          <p:cNvSpPr txBox="1"/>
          <p:nvPr/>
        </p:nvSpPr>
        <p:spPr>
          <a:xfrm>
            <a:off x="4696358" y="1024128"/>
            <a:ext cx="1344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3か月の試験導入</a:t>
            </a:r>
            <a:endParaRPr lang="en-US" sz="900" dirty="0"/>
          </a:p>
        </p:txBody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3830" y="2670048"/>
            <a:ext cx="1143000" cy="1371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4723790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6"/>
          <p:cNvSpPr txBox="1"/>
          <p:nvPr/>
        </p:nvSpPr>
        <p:spPr>
          <a:xfrm>
            <a:off x="4796942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本当に減るか、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数字で見たい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 rot="-480000">
            <a:off x="5729630" y="2350008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実測！</a:t>
            </a:r>
            <a:endParaRPr lang="en-US" sz="1800" dirty="0"/>
          </a:p>
        </p:txBody>
      </p:sp>
      <p:sp>
        <p:nvSpPr>
          <p:cNvPr id="25" name="Shape 18"/>
          <p:cNvSpPr/>
          <p:nvPr/>
        </p:nvSpPr>
        <p:spPr>
          <a:xfrm>
            <a:off x="6765646" y="1024128"/>
            <a:ext cx="2011680" cy="3200400"/>
          </a:xfrm>
          <a:prstGeom prst="rect">
            <a:avLst/>
          </a:prstGeom>
          <a:solidFill>
            <a:srgbClr val="F2F2F2"/>
          </a:solidFill>
          <a:ln w="28575">
            <a:solidFill>
              <a:srgbClr val="1A1A1A"/>
            </a:solidFill>
            <a:prstDash val="solid"/>
          </a:ln>
        </p:spPr>
      </p:sp>
      <p:sp>
        <p:nvSpPr>
          <p:cNvPr id="26" name="Shape 19"/>
          <p:cNvSpPr/>
          <p:nvPr/>
        </p:nvSpPr>
        <p:spPr>
          <a:xfrm>
            <a:off x="6765646" y="1024128"/>
            <a:ext cx="1188720" cy="24688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829654" y="1024128"/>
            <a:ext cx="10972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本契約と紹介</a:t>
            </a:r>
            <a:endParaRPr lang="en-US" sz="900" dirty="0"/>
          </a:p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7086" y="2807208"/>
            <a:ext cx="990600" cy="1188720"/>
          </a:xfrm>
          <a:prstGeom prst="rect">
            <a:avLst/>
          </a:prstGeom>
        </p:spPr>
      </p:pic>
      <p:pic>
        <p:nvPicPr>
          <p:cNvPr id="2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17206" y="2944368"/>
            <a:ext cx="876300" cy="1051560"/>
          </a:xfrm>
          <a:prstGeom prst="rect">
            <a:avLst/>
          </a:prstGeom>
        </p:spPr>
      </p:pic>
      <p:sp>
        <p:nvSpPr>
          <p:cNvPr id="30" name="Shape 21"/>
          <p:cNvSpPr/>
          <p:nvPr/>
        </p:nvSpPr>
        <p:spPr>
          <a:xfrm>
            <a:off x="6857086" y="1408176"/>
            <a:ext cx="1828800" cy="9144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31" name="Text 22"/>
          <p:cNvSpPr txBox="1"/>
          <p:nvPr/>
        </p:nvSpPr>
        <p:spPr>
          <a:xfrm>
            <a:off x="6930238" y="1444752"/>
            <a:ext cx="1682496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協力会社にも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同じ形で使って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もらおう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365760" y="4315968"/>
            <a:ext cx="8412480" cy="347472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24"/>
          <p:cNvSpPr txBox="1"/>
          <p:nvPr/>
        </p:nvSpPr>
        <p:spPr>
          <a:xfrm>
            <a:off x="502920" y="4315968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5年の見込み：</a:t>
            </a:r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関東の中堅735社 → 会う45% → 契約25% ＝ 約83社。大手1社を目玉の事例にして協力会社へ広げる（率は仮定）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お金の話1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誰が、何に、いくら払う？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払うのは電気工事会社（1拠点＝支店・営業所）。毎年300万円、初年度だけ導入支援200万円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1005840" cy="1005840"/>
          </a:xfrm>
          <a:prstGeom prst="rect">
            <a:avLst/>
          </a:prstGeom>
        </p:spPr>
      </p:pic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560320"/>
            <a:ext cx="876300" cy="1051560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37160" y="3657600"/>
            <a:ext cx="1783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000" dirty="0"/>
          </a:p>
        </p:txBody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0" y="2011680"/>
            <a:ext cx="1181100" cy="1417320"/>
          </a:xfrm>
          <a:prstGeom prst="rect">
            <a:avLst/>
          </a:prstGeom>
        </p:spPr>
      </p:pic>
      <p:sp>
        <p:nvSpPr>
          <p:cNvPr id="9" name="Text 3"/>
          <p:cNvSpPr txBox="1"/>
          <p:nvPr/>
        </p:nvSpPr>
        <p:spPr>
          <a:xfrm>
            <a:off x="3429000" y="3474720"/>
            <a:ext cx="1645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000" dirty="0"/>
          </a:p>
        </p:txBody>
      </p:sp>
      <p:sp>
        <p:nvSpPr>
          <p:cNvPr id="10" name="Shape 4"/>
          <p:cNvSpPr/>
          <p:nvPr/>
        </p:nvSpPr>
        <p:spPr>
          <a:xfrm>
            <a:off x="1783080" y="2011680"/>
            <a:ext cx="173736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31720" y="1325880"/>
            <a:ext cx="548640" cy="548640"/>
          </a:xfrm>
          <a:prstGeom prst="rect">
            <a:avLst/>
          </a:prstGeom>
        </p:spPr>
      </p:pic>
      <p:sp>
        <p:nvSpPr>
          <p:cNvPr id="12" name="Text 5"/>
          <p:cNvSpPr txBox="1"/>
          <p:nvPr/>
        </p:nvSpPr>
        <p:spPr>
          <a:xfrm>
            <a:off x="1737360" y="2121408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14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（月25万円）</a:t>
            </a:r>
            <a:endParaRPr lang="en-US" sz="1400" dirty="0"/>
          </a:p>
        </p:txBody>
      </p:sp>
      <p:sp>
        <p:nvSpPr>
          <p:cNvPr id="13" name="Shape 6"/>
          <p:cNvSpPr/>
          <p:nvPr/>
        </p:nvSpPr>
        <p:spPr>
          <a:xfrm>
            <a:off x="1783080" y="3017520"/>
            <a:ext cx="1737360" cy="0"/>
          </a:xfrm>
          <a:prstGeom prst="line">
            <a:avLst/>
          </a:prstGeom>
          <a:noFill/>
          <a:ln w="25400">
            <a:solidFill>
              <a:srgbClr val="8C8C8C"/>
            </a:solidFill>
            <a:prstDash val="dash"/>
            <a:tailEnd type="triangle"/>
          </a:ln>
        </p:spPr>
      </p:sp>
      <p:sp>
        <p:nvSpPr>
          <p:cNvPr id="14" name="Text 7"/>
          <p:cNvSpPr txBox="1"/>
          <p:nvPr/>
        </p:nvSpPr>
        <p:spPr>
          <a:xfrm>
            <a:off x="1737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 ＋200万円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（導入支援）</a:t>
            </a:r>
            <a:endParaRPr lang="en-US" sz="950" dirty="0"/>
          </a:p>
        </p:txBody>
      </p:sp>
      <p:sp>
        <p:nvSpPr>
          <p:cNvPr id="15" name="receipt"/>
          <p:cNvSpPr/>
          <p:nvPr/>
        </p:nvSpPr>
        <p:spPr>
          <a:xfrm>
            <a:off x="5074920" y="1051560"/>
            <a:ext cx="3703320" cy="274320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16" name="Text 9"/>
          <p:cNvSpPr txBox="1"/>
          <p:nvPr/>
        </p:nvSpPr>
        <p:spPr>
          <a:xfrm>
            <a:off x="5257800" y="1143000"/>
            <a:ext cx="3337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御請求書（1拠点・1年分）</a:t>
            </a:r>
            <a:endParaRPr lang="en-US" sz="1200" dirty="0"/>
          </a:p>
        </p:txBody>
      </p:sp>
      <p:sp>
        <p:nvSpPr>
          <p:cNvPr id="17" name="Shape 10"/>
          <p:cNvSpPr/>
          <p:nvPr/>
        </p:nvSpPr>
        <p:spPr>
          <a:xfrm>
            <a:off x="5257800" y="1481328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Text 11"/>
          <p:cNvSpPr txBox="1"/>
          <p:nvPr/>
        </p:nvSpPr>
        <p:spPr>
          <a:xfrm>
            <a:off x="5257800" y="15544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基本料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アプリとデータ置き場</a:t>
            </a:r>
            <a:endParaRPr lang="en-US" sz="1050" dirty="0"/>
          </a:p>
        </p:txBody>
      </p:sp>
      <p:sp>
        <p:nvSpPr>
          <p:cNvPr id="19" name="Text 12"/>
          <p:cNvSpPr txBox="1"/>
          <p:nvPr/>
        </p:nvSpPr>
        <p:spPr>
          <a:xfrm>
            <a:off x="7635240" y="1554480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0" name="Text 13"/>
          <p:cNvSpPr txBox="1"/>
          <p:nvPr/>
        </p:nvSpPr>
        <p:spPr>
          <a:xfrm>
            <a:off x="5257800" y="193852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現場登録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記録する工区・現場 20万円×5</a:t>
            </a:r>
            <a:endParaRPr lang="en-US" sz="1050" dirty="0"/>
          </a:p>
        </p:txBody>
      </p:sp>
      <p:sp>
        <p:nvSpPr>
          <p:cNvPr id="21" name="Text 14"/>
          <p:cNvSpPr txBox="1"/>
          <p:nvPr/>
        </p:nvSpPr>
        <p:spPr>
          <a:xfrm>
            <a:off x="7635240" y="1938528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2" name="Text 15"/>
          <p:cNvSpPr txBox="1"/>
          <p:nvPr/>
        </p:nvSpPr>
        <p:spPr>
          <a:xfrm>
            <a:off x="5257800" y="23225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追加機能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教材づくり等 50万円×2つ</a:t>
            </a:r>
            <a:endParaRPr lang="en-US" sz="1050" dirty="0"/>
          </a:p>
        </p:txBody>
      </p:sp>
      <p:sp>
        <p:nvSpPr>
          <p:cNvPr id="23" name="Text 16"/>
          <p:cNvSpPr txBox="1"/>
          <p:nvPr/>
        </p:nvSpPr>
        <p:spPr>
          <a:xfrm>
            <a:off x="7635240" y="2322576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100万円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5257800" y="2743200"/>
            <a:ext cx="33375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18"/>
          <p:cNvSpPr txBox="1"/>
          <p:nvPr/>
        </p:nvSpPr>
        <p:spPr>
          <a:xfrm>
            <a:off x="5257800" y="2798064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合計（毎年）</a:t>
            </a:r>
            <a:endParaRPr lang="en-US" sz="1200" dirty="0"/>
          </a:p>
        </p:txBody>
      </p:sp>
      <p:sp>
        <p:nvSpPr>
          <p:cNvPr id="26" name="Text 19"/>
          <p:cNvSpPr txBox="1"/>
          <p:nvPr/>
        </p:nvSpPr>
        <p:spPr>
          <a:xfrm>
            <a:off x="7086600" y="2798064"/>
            <a:ext cx="1508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800" dirty="0"/>
          </a:p>
        </p:txBody>
      </p:sp>
      <p:sp>
        <p:nvSpPr>
          <p:cNvPr id="27" name="Shape 20"/>
          <p:cNvSpPr/>
          <p:nvPr/>
        </p:nvSpPr>
        <p:spPr>
          <a:xfrm>
            <a:off x="5257800" y="3246120"/>
            <a:ext cx="3337560" cy="0"/>
          </a:xfrm>
          <a:prstGeom prst="line">
            <a:avLst/>
          </a:prstGeom>
          <a:noFill/>
          <a:ln w="12700">
            <a:solidFill>
              <a:srgbClr val="8C8C8C"/>
            </a:solidFill>
            <a:prstDash val="dash"/>
          </a:ln>
        </p:spPr>
      </p:sp>
      <p:sp>
        <p:nvSpPr>
          <p:cNvPr id="28" name="Text 21"/>
          <p:cNvSpPr txBox="1"/>
          <p:nvPr/>
        </p:nvSpPr>
        <p:spPr>
          <a:xfrm>
            <a:off x="5257800" y="3310128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初年度だけ　導入支援 200万円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当社の担当者が約2か月、現場に入って設定する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365760" y="4069080"/>
            <a:ext cx="8412480" cy="566928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0" name="Text 23"/>
          <p:cNvSpPr txBox="1"/>
          <p:nvPr/>
        </p:nvSpPr>
        <p:spPr>
          <a:xfrm>
            <a:off x="502920" y="4069080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たとえるなら、スマホの契約と同じ。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初期設定（導入支援）は最初だけ。月額料金（利用料）は毎月入ってくる → 去年のお客様が、今年も払ってくれる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お金の話2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工事部長は、なぜ払うの？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月25万円払うと、月240万円分の時間が浮く。約2か月で元が取れる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365760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施工管理者・電工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1746504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9" name="Shape 6"/>
          <p:cNvSpPr/>
          <p:nvPr/>
        </p:nvSpPr>
        <p:spPr>
          <a:xfrm>
            <a:off x="2121408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2121408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2121408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1人の書類作業が減る</a:t>
            </a:r>
            <a:endParaRPr lang="en-US" sz="850" dirty="0"/>
          </a:p>
        </p:txBody>
      </p:sp>
      <p:sp>
        <p:nvSpPr>
          <p:cNvPr id="12" name="Text 9"/>
          <p:cNvSpPr txBox="1"/>
          <p:nvPr/>
        </p:nvSpPr>
        <p:spPr>
          <a:xfrm>
            <a:off x="3502152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×</a:t>
            </a:r>
            <a:endParaRPr lang="en-US" sz="2200" dirty="0"/>
          </a:p>
        </p:txBody>
      </p:sp>
      <p:sp>
        <p:nvSpPr>
          <p:cNvPr id="13" name="Shape 10"/>
          <p:cNvSpPr/>
          <p:nvPr/>
        </p:nvSpPr>
        <p:spPr>
          <a:xfrm>
            <a:off x="3877056" y="1097280"/>
            <a:ext cx="1325880" cy="8229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877056" y="1170432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4,000円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3877056" y="1609344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1時間の人件費</a:t>
            </a:r>
            <a:endParaRPr lang="en-US" sz="850" dirty="0"/>
          </a:p>
        </p:txBody>
      </p:sp>
      <p:sp>
        <p:nvSpPr>
          <p:cNvPr id="16" name="Text 13"/>
          <p:cNvSpPr txBox="1"/>
          <p:nvPr/>
        </p:nvSpPr>
        <p:spPr>
          <a:xfrm>
            <a:off x="5257800" y="1234440"/>
            <a:ext cx="320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5632704" y="1097280"/>
            <a:ext cx="1737360" cy="82296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632704" y="117043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5632704" y="1609344"/>
            <a:ext cx="1737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浮く時間の価値</a:t>
            </a:r>
            <a:endParaRPr lang="en-US" sz="8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219456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1か月あたり</a:t>
            </a:r>
            <a:endParaRPr lang="en-US" sz="1000" dirty="0"/>
          </a:p>
        </p:txBody>
      </p:sp>
      <p:sp>
        <p:nvSpPr>
          <p:cNvPr id="21" name="Text 18"/>
          <p:cNvSpPr txBox="1"/>
          <p:nvPr/>
        </p:nvSpPr>
        <p:spPr>
          <a:xfrm>
            <a:off x="365760" y="251460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払うお金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1554480" y="2514600"/>
            <a:ext cx="371475" cy="384048"/>
          </a:xfrm>
          <a:prstGeom prst="rect">
            <a:avLst/>
          </a:prstGeom>
          <a:solidFill>
            <a:srgbClr val="8C8C8C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1999107" y="251460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月25万円（初年度は導入支援込みで月42万円）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0175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浮くお金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1554480" y="3017520"/>
            <a:ext cx="3566160" cy="384048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1645920" y="3017520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</a:t>
            </a:r>
            <a:endParaRPr lang="en-US" sz="12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0" y="2240280"/>
            <a:ext cx="1104900" cy="1325880"/>
          </a:xfrm>
          <a:prstGeom prst="rect">
            <a:avLst/>
          </a:prstGeom>
        </p:spPr>
      </p:pic>
      <p:sp>
        <p:nvSpPr>
          <p:cNvPr id="28" name="Shape 24"/>
          <p:cNvSpPr/>
          <p:nvPr/>
        </p:nvSpPr>
        <p:spPr>
          <a:xfrm flipH="1">
            <a:off x="5623560" y="2057400"/>
            <a:ext cx="1691640" cy="68580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5696712" y="2093976"/>
            <a:ext cx="154533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2か月で戻るなら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安い！</a:t>
            </a:r>
            <a:endParaRPr lang="en-US" sz="1100" dirty="0"/>
          </a:p>
        </p:txBody>
      </p:sp>
      <p:sp>
        <p:nvSpPr>
          <p:cNvPr id="30" name="Shape 26"/>
          <p:cNvSpPr/>
          <p:nvPr/>
        </p:nvSpPr>
        <p:spPr>
          <a:xfrm>
            <a:off x="365760" y="3657600"/>
            <a:ext cx="8412480" cy="987552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31" name="Text 27"/>
          <p:cNvSpPr txBox="1"/>
          <p:nvPr/>
        </p:nvSpPr>
        <p:spPr>
          <a:xfrm>
            <a:off x="502920" y="3657600"/>
            <a:ext cx="81381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元が取れるまで：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初年度の支払い 500万円 ÷ 月240万円 ＝ 約2.1か月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月6時間って？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6時間÷20日＝1日あたり約18分。朝の日報と夕方の写真整理がなくなるイメージ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1時間4,000円って？</a:t>
            </a:r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　年収600万円×1.3（社会保険など）÷年1,950時間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お金の話3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うちの財布に、何が残る？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利用料は85%が残る。導入支援は40%しか残らない。だから利用料を積み上げる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3840480"/>
            <a:ext cx="493776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105156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利用料（毎年）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457200" y="1691640"/>
            <a:ext cx="868680" cy="214884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27432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463040" y="1691640"/>
            <a:ext cx="868680" cy="322326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1280160" y="139903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−45万円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2468880" y="2013966"/>
            <a:ext cx="868680" cy="1826514"/>
          </a:xfrm>
          <a:prstGeom prst="rect">
            <a:avLst/>
          </a:prstGeom>
          <a:solidFill>
            <a:srgbClr val="B8692E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2286000" y="1721358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27432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128016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2286000" y="388620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残る（粗利）</a:t>
            </a:r>
            <a:endParaRPr lang="en-US" sz="900" dirty="0"/>
          </a:p>
        </p:txBody>
      </p:sp>
      <p:sp>
        <p:nvSpPr>
          <p:cNvPr id="16" name="Text 13"/>
          <p:cNvSpPr txBox="1"/>
          <p:nvPr/>
        </p:nvSpPr>
        <p:spPr>
          <a:xfrm>
            <a:off x="3474720" y="105156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導入支援（初年度だけ）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3566160" y="2407920"/>
            <a:ext cx="640080" cy="1432560"/>
          </a:xfrm>
          <a:prstGeom prst="rect">
            <a:avLst/>
          </a:prstGeom>
          <a:solidFill>
            <a:srgbClr val="1A1A1A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3383280" y="211531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200万円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4343400" y="3267456"/>
            <a:ext cx="640080" cy="573024"/>
          </a:xfrm>
          <a:prstGeom prst="rect">
            <a:avLst/>
          </a:prstGeom>
          <a:solidFill>
            <a:srgbClr val="8C8C8C"/>
          </a:solidFill>
          <a:ln w="952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4160520" y="297484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80万円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338328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受け取る</a:t>
            </a:r>
            <a:endParaRPr lang="en-US" sz="900" dirty="0"/>
          </a:p>
        </p:txBody>
      </p:sp>
      <p:sp>
        <p:nvSpPr>
          <p:cNvPr id="22" name="Text 19"/>
          <p:cNvSpPr txBox="1"/>
          <p:nvPr/>
        </p:nvSpPr>
        <p:spPr>
          <a:xfrm>
            <a:off x="4160520" y="3886200"/>
            <a:ext cx="1005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残る</a:t>
            </a:r>
            <a:endParaRPr lang="en-US" sz="900" dirty="0"/>
          </a:p>
        </p:txBody>
      </p:sp>
      <p:sp>
        <p:nvSpPr>
          <p:cNvPr id="23" name="Text 20"/>
          <p:cNvSpPr txBox="1"/>
          <p:nvPr/>
        </p:nvSpPr>
        <p:spPr>
          <a:xfrm>
            <a:off x="4297680" y="240792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120万円は</a:t>
            </a:r>
            <a:endParaRPr lang="en-US" sz="8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担当者の人件費</a:t>
            </a:r>
            <a:endParaRPr lang="en-US" sz="850" dirty="0"/>
          </a:p>
        </p:txBody>
      </p:sp>
      <p:sp>
        <p:nvSpPr>
          <p:cNvPr id="24" name="Shape 21"/>
          <p:cNvSpPr/>
          <p:nvPr/>
        </p:nvSpPr>
        <p:spPr>
          <a:xfrm flipH="1">
            <a:off x="5623560" y="1051560"/>
            <a:ext cx="228600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5696712" y="1088136"/>
            <a:ext cx="213969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人が動く仕事は残りが少ない。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だから利用料を積み上げる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会社にします！</a:t>
            </a:r>
            <a:endParaRPr lang="en-US" sz="1000" dirty="0"/>
          </a:p>
        </p:txBody>
      </p:sp>
      <p:pic>
        <p:nvPicPr>
          <p:cNvPr id="2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952500" cy="114300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5623560" y="2697480"/>
            <a:ext cx="3154680" cy="114300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760720" y="2743200"/>
            <a:ext cx="28803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粗利（あらり）とは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売上から、そのサービスを作るのに直接かかったお金を引いた残り。ここから社員の給料や家賃を払う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1拠点あたりの金額。サーバー・AI代は売上の15%、導入支援の人件費は売上の60%と置いた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お金の話4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なぜ最初は赤字？ 合言葉は「2.8」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社員1人で2.8拠点を見られれば黒字。4年目に超える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93192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5720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社員1人にかかる費用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年713万円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2194560" y="132588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2200" dirty="0"/>
          </a:p>
        </p:txBody>
      </p:sp>
      <p:sp>
        <p:nvSpPr>
          <p:cNvPr id="8" name="Text 5"/>
          <p:cNvSpPr txBox="1"/>
          <p:nvPr/>
        </p:nvSpPr>
        <p:spPr>
          <a:xfrm>
            <a:off x="2423160" y="118872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1拠点から残る粗利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1901952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＝ </a:t>
            </a:r>
            <a:pPr algn="ctr"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18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697480"/>
            <a:ext cx="990600" cy="1188720"/>
          </a:xfrm>
          <a:prstGeom prst="rect">
            <a:avLst/>
          </a:prstGeom>
        </p:spPr>
      </p:pic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3017520"/>
            <a:ext cx="594360" cy="594360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017520"/>
            <a:ext cx="594360" cy="594360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71800" y="3017520"/>
            <a:ext cx="594360" cy="594360"/>
          </a:xfrm>
          <a:prstGeom prst="rect">
            <a:avLst/>
          </a:prstGeom>
        </p:spPr>
      </p:pic>
      <p:sp>
        <p:nvSpPr>
          <p:cNvPr id="14" name="Shape 7"/>
          <p:cNvSpPr/>
          <p:nvPr/>
        </p:nvSpPr>
        <p:spPr>
          <a:xfrm>
            <a:off x="3447288" y="2926080"/>
            <a:ext cx="146304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8"/>
          <p:cNvSpPr txBox="1"/>
          <p:nvPr/>
        </p:nvSpPr>
        <p:spPr>
          <a:xfrm>
            <a:off x="1554480" y="3703320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1人で、2.8拠点（支店・営業所）を見る</a:t>
            </a:r>
            <a:endParaRPr lang="en-US" sz="1000" dirty="0"/>
          </a:p>
        </p:txBody>
      </p:sp>
      <p:sp>
        <p:nvSpPr>
          <p:cNvPr id="16" name="Text 9"/>
          <p:cNvSpPr txBox="1"/>
          <p:nvPr/>
        </p:nvSpPr>
        <p:spPr>
          <a:xfrm>
            <a:off x="4617720" y="1097280"/>
            <a:ext cx="4160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社員1人あたりの拠点数</a:t>
            </a:r>
            <a:endParaRPr lang="en-US" sz="1050" dirty="0"/>
          </a:p>
        </p:txBody>
      </p:sp>
      <p:sp>
        <p:nvSpPr>
          <p:cNvPr id="17" name="Shape 10"/>
          <p:cNvSpPr/>
          <p:nvPr/>
        </p:nvSpPr>
        <p:spPr>
          <a:xfrm>
            <a:off x="4617720" y="3794760"/>
            <a:ext cx="4160520" cy="0"/>
          </a:xfrm>
          <a:prstGeom prst="line">
            <a:avLst/>
          </a:prstGeom>
          <a:noFill/>
          <a:ln w="19050">
            <a:solidFill>
              <a:srgbClr val="1A1A1A"/>
            </a:solidFill>
            <a:prstDash val="solid"/>
          </a:ln>
        </p:spPr>
      </p:sp>
      <p:sp>
        <p:nvSpPr>
          <p:cNvPr id="18" name="Shape 11"/>
          <p:cNvSpPr/>
          <p:nvPr/>
        </p:nvSpPr>
        <p:spPr>
          <a:xfrm>
            <a:off x="4800600" y="3444240"/>
            <a:ext cx="502920" cy="3505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9" name="Text 12"/>
          <p:cNvSpPr txBox="1"/>
          <p:nvPr/>
        </p:nvSpPr>
        <p:spPr>
          <a:xfrm>
            <a:off x="4663440" y="320649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0.75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4663440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900" dirty="0"/>
          </a:p>
        </p:txBody>
      </p:sp>
      <p:sp>
        <p:nvSpPr>
          <p:cNvPr id="21" name="Text 14"/>
          <p:cNvSpPr txBox="1"/>
          <p:nvPr/>
        </p:nvSpPr>
        <p:spPr>
          <a:xfrm>
            <a:off x="4617720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3拠点÷4人</a:t>
            </a:r>
            <a:endParaRPr lang="en-US" sz="750" dirty="0"/>
          </a:p>
        </p:txBody>
      </p:sp>
      <p:sp>
        <p:nvSpPr>
          <p:cNvPr id="22" name="Shape 15"/>
          <p:cNvSpPr/>
          <p:nvPr/>
        </p:nvSpPr>
        <p:spPr>
          <a:xfrm>
            <a:off x="5586984" y="2993571"/>
            <a:ext cx="502920" cy="801189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3" name="Text 16"/>
          <p:cNvSpPr txBox="1"/>
          <p:nvPr/>
        </p:nvSpPr>
        <p:spPr>
          <a:xfrm>
            <a:off x="5449824" y="2755827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1.71</a:t>
            </a:r>
            <a:endParaRPr lang="en-US" sz="1000" dirty="0"/>
          </a:p>
        </p:txBody>
      </p:sp>
      <p:sp>
        <p:nvSpPr>
          <p:cNvPr id="24" name="Text 17"/>
          <p:cNvSpPr txBox="1"/>
          <p:nvPr/>
        </p:nvSpPr>
        <p:spPr>
          <a:xfrm>
            <a:off x="5449824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900" dirty="0"/>
          </a:p>
        </p:txBody>
      </p:sp>
      <p:sp>
        <p:nvSpPr>
          <p:cNvPr id="25" name="Text 18"/>
          <p:cNvSpPr txBox="1"/>
          <p:nvPr/>
        </p:nvSpPr>
        <p:spPr>
          <a:xfrm>
            <a:off x="5404104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12拠点÷7人</a:t>
            </a:r>
            <a:endParaRPr lang="en-US" sz="750" dirty="0"/>
          </a:p>
        </p:txBody>
      </p:sp>
      <p:sp>
        <p:nvSpPr>
          <p:cNvPr id="26" name="Shape 19"/>
          <p:cNvSpPr/>
          <p:nvPr/>
        </p:nvSpPr>
        <p:spPr>
          <a:xfrm>
            <a:off x="6373368" y="2520142"/>
            <a:ext cx="502920" cy="1274618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27" name="Text 20"/>
          <p:cNvSpPr txBox="1"/>
          <p:nvPr/>
        </p:nvSpPr>
        <p:spPr>
          <a:xfrm>
            <a:off x="6236208" y="2282398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2.73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6236208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900" dirty="0"/>
          </a:p>
        </p:txBody>
      </p:sp>
      <p:sp>
        <p:nvSpPr>
          <p:cNvPr id="29" name="Text 22"/>
          <p:cNvSpPr txBox="1"/>
          <p:nvPr/>
        </p:nvSpPr>
        <p:spPr>
          <a:xfrm>
            <a:off x="6190488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30拠点÷11人</a:t>
            </a:r>
            <a:endParaRPr lang="en-US" sz="750" dirty="0"/>
          </a:p>
        </p:txBody>
      </p:sp>
      <p:sp>
        <p:nvSpPr>
          <p:cNvPr id="30" name="Shape 23"/>
          <p:cNvSpPr/>
          <p:nvPr/>
        </p:nvSpPr>
        <p:spPr>
          <a:xfrm>
            <a:off x="7159752" y="2081107"/>
            <a:ext cx="502920" cy="1713653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1" name="Text 24"/>
          <p:cNvSpPr txBox="1"/>
          <p:nvPr/>
        </p:nvSpPr>
        <p:spPr>
          <a:xfrm>
            <a:off x="7022592" y="1843363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3.67</a:t>
            </a:r>
            <a:endParaRPr lang="en-US" sz="1000" dirty="0"/>
          </a:p>
        </p:txBody>
      </p:sp>
      <p:sp>
        <p:nvSpPr>
          <p:cNvPr id="32" name="Text 25"/>
          <p:cNvSpPr txBox="1"/>
          <p:nvPr/>
        </p:nvSpPr>
        <p:spPr>
          <a:xfrm>
            <a:off x="7022592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900" dirty="0"/>
          </a:p>
        </p:txBody>
      </p:sp>
      <p:sp>
        <p:nvSpPr>
          <p:cNvPr id="33" name="Text 26"/>
          <p:cNvSpPr txBox="1"/>
          <p:nvPr/>
        </p:nvSpPr>
        <p:spPr>
          <a:xfrm>
            <a:off x="6976872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55拠点÷15人</a:t>
            </a:r>
            <a:endParaRPr lang="en-US" sz="750" dirty="0"/>
          </a:p>
        </p:txBody>
      </p:sp>
      <p:sp>
        <p:nvSpPr>
          <p:cNvPr id="34" name="Shape 27"/>
          <p:cNvSpPr/>
          <p:nvPr/>
        </p:nvSpPr>
        <p:spPr>
          <a:xfrm>
            <a:off x="7946136" y="1808480"/>
            <a:ext cx="502920" cy="19862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35" name="Text 28"/>
          <p:cNvSpPr txBox="1"/>
          <p:nvPr/>
        </p:nvSpPr>
        <p:spPr>
          <a:xfrm>
            <a:off x="7808976" y="1570736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4.25</a:t>
            </a:r>
            <a:endParaRPr lang="en-US" sz="1000" dirty="0"/>
          </a:p>
        </p:txBody>
      </p:sp>
      <p:sp>
        <p:nvSpPr>
          <p:cNvPr id="36" name="Text 29"/>
          <p:cNvSpPr txBox="1"/>
          <p:nvPr/>
        </p:nvSpPr>
        <p:spPr>
          <a:xfrm>
            <a:off x="7808976" y="3831336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900" dirty="0"/>
          </a:p>
        </p:txBody>
      </p:sp>
      <p:sp>
        <p:nvSpPr>
          <p:cNvPr id="37" name="Text 30"/>
          <p:cNvSpPr txBox="1"/>
          <p:nvPr/>
        </p:nvSpPr>
        <p:spPr>
          <a:xfrm>
            <a:off x="7763256" y="4023360"/>
            <a:ext cx="8686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7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85拠点÷20人</a:t>
            </a:r>
            <a:endParaRPr lang="en-US" sz="750" dirty="0"/>
          </a:p>
        </p:txBody>
      </p:sp>
      <p:sp>
        <p:nvSpPr>
          <p:cNvPr id="38" name="Shape 31"/>
          <p:cNvSpPr/>
          <p:nvPr/>
        </p:nvSpPr>
        <p:spPr>
          <a:xfrm>
            <a:off x="4617720" y="2486152"/>
            <a:ext cx="4160520" cy="0"/>
          </a:xfrm>
          <a:prstGeom prst="line">
            <a:avLst/>
          </a:prstGeom>
          <a:noFill/>
          <a:ln w="22225">
            <a:solidFill>
              <a:srgbClr val="B8692E"/>
            </a:solidFill>
            <a:prstDash val="dash"/>
          </a:ln>
        </p:spPr>
      </p:sp>
      <p:sp>
        <p:nvSpPr>
          <p:cNvPr id="39" name="Text 32"/>
          <p:cNvSpPr txBox="1"/>
          <p:nvPr/>
        </p:nvSpPr>
        <p:spPr>
          <a:xfrm>
            <a:off x="4663440" y="2239264"/>
            <a:ext cx="1188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黒字ライン 2.8</a:t>
            </a:r>
            <a:endParaRPr lang="en-US" sz="950" dirty="0"/>
          </a:p>
        </p:txBody>
      </p:sp>
      <p:sp>
        <p:nvSpPr>
          <p:cNvPr id="40" name="Shape 33"/>
          <p:cNvSpPr/>
          <p:nvPr/>
        </p:nvSpPr>
        <p:spPr>
          <a:xfrm>
            <a:off x="4663440" y="1389888"/>
            <a:ext cx="2103120" cy="73152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41" name="Text 34"/>
          <p:cNvSpPr txBox="1"/>
          <p:nvPr/>
        </p:nvSpPr>
        <p:spPr>
          <a:xfrm>
            <a:off x="4736592" y="1426464"/>
            <a:ext cx="1956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1〜3年目は人を先に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雇うから赤字。</a:t>
            </a:r>
            <a:endParaRPr lang="en-US" sz="9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4年目に線を越えて黒字！</a:t>
            </a:r>
            <a:endParaRPr lang="en-US" sz="950" dirty="0"/>
          </a:p>
        </p:txBody>
      </p:sp>
      <p:sp>
        <p:nvSpPr>
          <p:cNvPr id="42" name="Text 3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社員1人の費用＝4年目の販管費1億700万円÷15人（給料のほか家賃・広告・交通費などを含む）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お金の話5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去年のお客様が今年も払う。売上は雪だるま式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5年目の売上2億9,000万円のうち57%は、前の年までのお客様の利用料</a:t>
            </a:r>
            <a:endParaRPr lang="en-US" sz="1200" dirty="0"/>
          </a:p>
        </p:txBody>
      </p:sp>
      <p:graphicFrame>
        <p:nvGraphicFramePr>
          <p:cNvPr id="5" name="snowball" descr=""/>
          <p:cNvGraphicFramePr/>
          <p:nvPr/>
        </p:nvGraphicFramePr>
        <p:xfrm>
          <a:off x="365760" y="1051560"/>
          <a:ext cx="512064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2"/>
          <p:cNvSpPr txBox="1"/>
          <p:nvPr/>
        </p:nvSpPr>
        <p:spPr>
          <a:xfrm>
            <a:off x="5715000" y="1051560"/>
            <a:ext cx="3063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売上（百万円）</a:t>
            </a:r>
            <a:endParaRPr lang="en-US" sz="1050" dirty="0"/>
          </a:p>
        </p:txBody>
      </p:sp>
      <p:graphicFrame>
        <p:nvGraphicFramePr>
          <p:cNvPr id="12" name="sales-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15000" y="1325880"/>
          <a:ext cx="3063240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005840"/>
                <a:gridCol w="1005840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売上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営業利益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1A1A1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▲32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▲27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110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4D4D4D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▲6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28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5年目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1A1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290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B8692E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69</a:t>
                      </a:r>
                      <a:endParaRPr lang="en-US" sz="10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54864" marR="54864" marT="18288" marB="18288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0" y="3063240"/>
            <a:ext cx="990600" cy="1188720"/>
          </a:xfrm>
          <a:prstGeom prst="rect">
            <a:avLst/>
          </a:prstGeom>
        </p:spPr>
      </p:pic>
      <p:sp>
        <p:nvSpPr>
          <p:cNvPr id="9" name="Shape 3"/>
          <p:cNvSpPr/>
          <p:nvPr/>
        </p:nvSpPr>
        <p:spPr>
          <a:xfrm flipH="1">
            <a:off x="5715000" y="3108960"/>
            <a:ext cx="1783080" cy="86868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0" name="Text 4"/>
          <p:cNvSpPr txBox="1"/>
          <p:nvPr/>
        </p:nvSpPr>
        <p:spPr>
          <a:xfrm>
            <a:off x="5788152" y="3145536"/>
            <a:ext cx="1636776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新しいお客様が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増えるたびに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大きくなる！</a:t>
            </a:r>
            <a:endParaRPr lang="en-US" sz="1000" dirty="0"/>
          </a:p>
        </p:txBody>
      </p:sp>
      <p:sp>
        <p:nvSpPr>
          <p:cNvPr id="11" name="Text 5"/>
          <p:cNvSpPr txBox="1"/>
          <p:nvPr/>
        </p:nvSpPr>
        <p:spPr>
          <a:xfrm>
            <a:off x="365760" y="434340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新しいお客様は年の途中で始めるので、初年度の利用料は半年分で計算。1年目の3拠点は試験導入（利用料なし）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お金の話6 </a:t>
            </a:r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64万円のエサで、1,865万円の魚を釣る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1拠点を連れてくる費用（CAC）と、1拠点が残してくれる粗利（LTV）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3291840" cy="260604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2801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554480" y="132588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連れてくる費用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CAC（キャック）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1554480" y="18288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約64万円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502920" y="25146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（営業2人の人件費1,600万円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＋広告・展示会500万円）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 新しいお客様33拠点（5年目）</a:t>
            </a:r>
            <a:endParaRPr lang="en-US" sz="1000" dirty="0"/>
          </a:p>
        </p:txBody>
      </p:sp>
      <p:sp>
        <p:nvSpPr>
          <p:cNvPr id="10" name="Text 6"/>
          <p:cNvSpPr txBox="1"/>
          <p:nvPr/>
        </p:nvSpPr>
        <p:spPr>
          <a:xfrm>
            <a:off x="3703320" y="1874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約29倍</a:t>
            </a:r>
            <a:endParaRPr lang="en-US" sz="2400" dirty="0"/>
          </a:p>
        </p:txBody>
      </p:sp>
      <p:sp>
        <p:nvSpPr>
          <p:cNvPr id="11" name="Shape 7"/>
          <p:cNvSpPr/>
          <p:nvPr/>
        </p:nvSpPr>
        <p:spPr>
          <a:xfrm>
            <a:off x="3749040" y="2468880"/>
            <a:ext cx="1280160" cy="0"/>
          </a:xfrm>
          <a:prstGeom prst="line">
            <a:avLst/>
          </a:prstGeom>
          <a:noFill/>
          <a:ln w="38100">
            <a:solidFill>
              <a:srgbClr val="B8692E"/>
            </a:solidFill>
            <a:prstDash val="solid"/>
            <a:tailEnd type="triangle"/>
          </a:ln>
        </p:spPr>
      </p:sp>
      <p:sp>
        <p:nvSpPr>
          <p:cNvPr id="12" name="Shape 8"/>
          <p:cNvSpPr/>
          <p:nvPr/>
        </p:nvSpPr>
        <p:spPr>
          <a:xfrm>
            <a:off x="5120640" y="1097280"/>
            <a:ext cx="3657600" cy="2606040"/>
          </a:xfrm>
          <a:prstGeom prst="rect">
            <a:avLst/>
          </a:prstGeom>
          <a:solidFill>
            <a:srgbClr val="1A1A1A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28016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355080" y="1325880"/>
            <a:ext cx="2331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残してくれる粗利</a:t>
            </a:r>
            <a:endParaRPr lang="en-US" sz="12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LTV（エルティーブイ）</a:t>
            </a:r>
            <a:endParaRPr lang="en-US" sz="1200" dirty="0"/>
          </a:p>
        </p:txBody>
      </p:sp>
      <p:sp>
        <p:nvSpPr>
          <p:cNvPr id="15" name="Text 10"/>
          <p:cNvSpPr txBox="1"/>
          <p:nvPr/>
        </p:nvSpPr>
        <p:spPr>
          <a:xfrm>
            <a:off x="6355080" y="18288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約1,865万円</a:t>
            </a:r>
            <a:endParaRPr lang="en-US" sz="2400" dirty="0"/>
          </a:p>
        </p:txBody>
      </p:sp>
      <p:sp>
        <p:nvSpPr>
          <p:cNvPr id="16" name="Text 11"/>
          <p:cNvSpPr txBox="1"/>
          <p:nvPr/>
        </p:nvSpPr>
        <p:spPr>
          <a:xfrm>
            <a:off x="5257800" y="2514600"/>
            <a:ext cx="3383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年255万円 × 7年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＋ 導入支援の粗利80万円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7年は控えめ。計画の解約率なら平均18年続く</a:t>
            </a:r>
            <a:endParaRPr lang="en-US" sz="1050" dirty="0"/>
          </a:p>
        </p:txBody>
      </p:sp>
      <p:sp>
        <p:nvSpPr>
          <p:cNvPr id="17" name="Shape 12"/>
          <p:cNvSpPr/>
          <p:nvPr/>
        </p:nvSpPr>
        <p:spPr>
          <a:xfrm>
            <a:off x="365760" y="3886200"/>
            <a:ext cx="8412480" cy="731520"/>
          </a:xfrm>
          <a:prstGeom prst="rect">
            <a:avLst/>
          </a:prstGeom>
          <a:solidFill>
            <a:srgbClr val="F2F2F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913632"/>
            <a:ext cx="571500" cy="6858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43000" y="3886200"/>
            <a:ext cx="7498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64万円は約3か月で回収（64万円 ÷ 月21万円の粗利）。</a:t>
            </a:r>
            <a:endParaRPr lang="en-US" sz="105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目安は「LTVがCACの3倍以上」。当社は約29倍なので、お客様を増やすほど会社が強くなる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500万円で、6か月以内に最初の1拠点を動かす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創業者の給料はゼロ。すべて試作品と実証に使う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97280"/>
            <a:ext cx="1965960" cy="137160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75488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今日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475488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500万円の出資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75488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試作品・端末・実証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50008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2496312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2606040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3か月</a:t>
            </a:r>
            <a:endParaRPr lang="en-US" sz="1100" dirty="0"/>
          </a:p>
        </p:txBody>
      </p:sp>
      <p:sp>
        <p:nvSpPr>
          <p:cNvPr id="12" name="Text 9"/>
          <p:cNvSpPr txBox="1"/>
          <p:nvPr/>
        </p:nvSpPr>
        <p:spPr>
          <a:xfrm>
            <a:off x="2606040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試作品ができる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記録→写真抽出→報告書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4480560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4626864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736592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6か月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1拠点で実証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4736592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報告書の時間がどれだけ減ったか実測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611112" y="1783080"/>
            <a:ext cx="137160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757416" y="1097280"/>
            <a:ext cx="1965960" cy="1371600"/>
          </a:xfrm>
          <a:prstGeom prst="rect">
            <a:avLst/>
          </a:prstGeom>
          <a:solidFill>
            <a:srgbClr val="F2F2F2"/>
          </a:solidFill>
          <a:ln w="9525">
            <a:solidFill>
              <a:srgbClr val="BFBFB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6867144" y="11887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その後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6867144" y="1508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公庫1,000万円＋VC1.15億円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867144" y="1993392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実証の結果を持って調達</a:t>
            </a:r>
            <a:endParaRPr lang="en-US" sz="9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2697480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使い道（万円）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365760" y="2990088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試作品の開発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2011680" y="3026664"/>
            <a:ext cx="2194560" cy="18288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4251960" y="2990088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250</a:t>
            </a:r>
            <a:endParaRPr lang="en-US" sz="1000" dirty="0"/>
          </a:p>
        </p:txBody>
      </p:sp>
      <p:sp>
        <p:nvSpPr>
          <p:cNvPr id="28" name="Text 25"/>
          <p:cNvSpPr txBox="1"/>
          <p:nvPr/>
        </p:nvSpPr>
        <p:spPr>
          <a:xfrm>
            <a:off x="365760" y="3291840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実証（1拠点・3か月）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2011680" y="3328416"/>
            <a:ext cx="877824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2935224" y="329184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</a:t>
            </a:r>
            <a:endParaRPr lang="en-US" sz="1000" dirty="0"/>
          </a:p>
        </p:txBody>
      </p:sp>
      <p:sp>
        <p:nvSpPr>
          <p:cNvPr id="31" name="Text 28"/>
          <p:cNvSpPr txBox="1"/>
          <p:nvPr/>
        </p:nvSpPr>
        <p:spPr>
          <a:xfrm>
            <a:off x="365760" y="3593592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端末・機材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2011680" y="3630168"/>
            <a:ext cx="702259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2759659" y="3593592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80</a:t>
            </a:r>
            <a:endParaRPr lang="en-US" sz="1000" dirty="0"/>
          </a:p>
        </p:txBody>
      </p:sp>
      <p:sp>
        <p:nvSpPr>
          <p:cNvPr id="34" name="Text 31"/>
          <p:cNvSpPr txBox="1"/>
          <p:nvPr/>
        </p:nvSpPr>
        <p:spPr>
          <a:xfrm>
            <a:off x="365760" y="3895344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設立・契約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2011680" y="3931920"/>
            <a:ext cx="351130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6" name="Text 33"/>
          <p:cNvSpPr txBox="1"/>
          <p:nvPr/>
        </p:nvSpPr>
        <p:spPr>
          <a:xfrm>
            <a:off x="2408530" y="3895344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40</a:t>
            </a:r>
            <a:endParaRPr lang="en-US" sz="1000" dirty="0"/>
          </a:p>
        </p:txBody>
      </p:sp>
      <p:sp>
        <p:nvSpPr>
          <p:cNvPr id="37" name="Text 34"/>
          <p:cNvSpPr txBox="1"/>
          <p:nvPr/>
        </p:nvSpPr>
        <p:spPr>
          <a:xfrm>
            <a:off x="365760" y="4197096"/>
            <a:ext cx="1600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予備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2011680" y="4233672"/>
            <a:ext cx="263347" cy="1828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39" name="Text 36"/>
          <p:cNvSpPr txBox="1"/>
          <p:nvPr/>
        </p:nvSpPr>
        <p:spPr>
          <a:xfrm>
            <a:off x="2320747" y="4197096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</a:t>
            </a:r>
            <a:endParaRPr lang="en-US" sz="1000" dirty="0"/>
          </a:p>
        </p:txBody>
      </p:sp>
      <p:sp>
        <p:nvSpPr>
          <p:cNvPr id="40" name="Shape 37"/>
          <p:cNvSpPr/>
          <p:nvPr/>
        </p:nvSpPr>
        <p:spPr>
          <a:xfrm>
            <a:off x="4572000" y="2697480"/>
            <a:ext cx="4206240" cy="1783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pic>
        <p:nvPicPr>
          <p:cNvPr id="4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09160" y="2926080"/>
            <a:ext cx="1066800" cy="128016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5852160" y="278892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虎へのお返し（提案）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500万円で株式の10%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（出資前の会社の値段 4,500万円）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出口：上場、または事業会社への売却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お願い：実証先の電気工事会社のご紹介も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1枚で言うと ─ 上は記録とサービス、下はお金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記録が貯まるほど真似されにくく、お客様が増えるほど黒字が厚くなる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371600"/>
            <a:ext cx="1920240" cy="2926080"/>
          </a:xfrm>
          <a:prstGeom prst="rec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50876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365760" y="265176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電気工事会社（お客様）</a:t>
            </a:r>
            <a:endParaRPr lang="en-US" sz="1100" dirty="0"/>
          </a:p>
        </p:txBody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0"/>
            <a:ext cx="723900" cy="868680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80160" y="3017520"/>
            <a:ext cx="723900" cy="868680"/>
          </a:xfrm>
          <a:prstGeom prst="rect">
            <a:avLst/>
          </a:prstGeom>
        </p:spPr>
      </p:pic>
      <p:sp>
        <p:nvSpPr>
          <p:cNvPr id="10" name="Text 4"/>
          <p:cNvSpPr txBox="1"/>
          <p:nvPr/>
        </p:nvSpPr>
        <p:spPr>
          <a:xfrm>
            <a:off x="365760" y="393192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熟練者・若手・工事部長</a:t>
            </a:r>
            <a:endParaRPr lang="en-US" sz="850" dirty="0"/>
          </a:p>
        </p:txBody>
      </p:sp>
      <p:sp>
        <p:nvSpPr>
          <p:cNvPr id="11" name="Shape 5"/>
          <p:cNvSpPr/>
          <p:nvPr/>
        </p:nvSpPr>
        <p:spPr>
          <a:xfrm>
            <a:off x="3429000" y="1371600"/>
            <a:ext cx="2240280" cy="292608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2" name="Text 6"/>
          <p:cNvSpPr txBox="1"/>
          <p:nvPr/>
        </p:nvSpPr>
        <p:spPr>
          <a:xfrm>
            <a:off x="3429000" y="146304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三現ワークス</a:t>
            </a:r>
            <a:endParaRPr lang="en-US" sz="1200" dirty="0"/>
          </a:p>
        </p:txBody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1828800"/>
            <a:ext cx="640080" cy="64008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3520440" y="2514600"/>
            <a:ext cx="2057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AIが整理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記録が貯まるほど</a:t>
            </a:r>
            <a:endParaRPr lang="en-US" sz="10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真似されにくくなる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3520440" y="3383280"/>
            <a:ext cx="2057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1拠点の粗利 255万円</a:t>
            </a:r>
            <a:endParaRPr lang="en-US" sz="9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（300万円 − サーバー代45万円）</a:t>
            </a:r>
            <a:endParaRPr lang="en-US" sz="950" dirty="0"/>
          </a:p>
        </p:txBody>
      </p:sp>
      <p:sp>
        <p:nvSpPr>
          <p:cNvPr id="16" name="Shape 9"/>
          <p:cNvSpPr/>
          <p:nvPr/>
        </p:nvSpPr>
        <p:spPr>
          <a:xfrm>
            <a:off x="2377440" y="173736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7" name="Text 10"/>
          <p:cNvSpPr txBox="1"/>
          <p:nvPr/>
        </p:nvSpPr>
        <p:spPr>
          <a:xfrm>
            <a:off x="2286000" y="1435608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動画と会話</a:t>
            </a:r>
            <a:endParaRPr lang="en-US" sz="900" dirty="0"/>
          </a:p>
        </p:txBody>
      </p:sp>
      <p:sp>
        <p:nvSpPr>
          <p:cNvPr id="18" name="Shape 11"/>
          <p:cNvSpPr/>
          <p:nvPr/>
        </p:nvSpPr>
        <p:spPr>
          <a:xfrm flipH="1">
            <a:off x="2377440" y="2514600"/>
            <a:ext cx="960120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9" name="Text 12"/>
          <p:cNvSpPr txBox="1"/>
          <p:nvPr/>
        </p:nvSpPr>
        <p:spPr>
          <a:xfrm>
            <a:off x="2286000" y="2011680"/>
            <a:ext cx="1143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照合・報告書</a:t>
            </a:r>
            <a:endParaRPr lang="en-US" sz="9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9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・教材</a:t>
            </a:r>
            <a:endParaRPr lang="en-US" sz="900" dirty="0"/>
          </a:p>
        </p:txBody>
      </p:sp>
      <p:sp>
        <p:nvSpPr>
          <p:cNvPr id="20" name="Shape 13"/>
          <p:cNvSpPr/>
          <p:nvPr/>
        </p:nvSpPr>
        <p:spPr>
          <a:xfrm>
            <a:off x="2377440" y="3749040"/>
            <a:ext cx="960120" cy="0"/>
          </a:xfrm>
          <a:prstGeom prst="line">
            <a:avLst/>
          </a:prstGeom>
          <a:noFill/>
          <a:ln w="50800">
            <a:solidFill>
              <a:srgbClr val="B8692E"/>
            </a:solidFill>
            <a:prstDash val="solid"/>
            <a:tailEnd type="triangle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3154680"/>
            <a:ext cx="457200" cy="457200"/>
          </a:xfrm>
          <a:prstGeom prst="rect">
            <a:avLst/>
          </a:prstGeom>
        </p:spPr>
      </p:pic>
      <p:sp>
        <p:nvSpPr>
          <p:cNvPr id="22" name="Text 14"/>
          <p:cNvSpPr txBox="1"/>
          <p:nvPr/>
        </p:nvSpPr>
        <p:spPr>
          <a:xfrm>
            <a:off x="2286000" y="3840480"/>
            <a:ext cx="1143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年300万円</a:t>
            </a:r>
            <a:endParaRPr lang="en-US" sz="1000" dirty="0"/>
          </a:p>
        </p:txBody>
      </p:sp>
      <p:sp>
        <p:nvSpPr>
          <p:cNvPr id="23" name="Shape 15"/>
          <p:cNvSpPr/>
          <p:nvPr/>
        </p:nvSpPr>
        <p:spPr>
          <a:xfrm>
            <a:off x="5705856" y="201168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4" name="Shape 16"/>
          <p:cNvSpPr/>
          <p:nvPr/>
        </p:nvSpPr>
        <p:spPr>
          <a:xfrm>
            <a:off x="5705856" y="3566160"/>
            <a:ext cx="347472" cy="0"/>
          </a:xfrm>
          <a:prstGeom prst="line">
            <a:avLst/>
          </a:prstGeom>
          <a:noFill/>
          <a:ln w="3175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25" name="Shape 17"/>
          <p:cNvSpPr/>
          <p:nvPr/>
        </p:nvSpPr>
        <p:spPr>
          <a:xfrm>
            <a:off x="6080760" y="1371600"/>
            <a:ext cx="2697480" cy="128016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26" name="Text 18"/>
          <p:cNvSpPr txBox="1"/>
          <p:nvPr/>
        </p:nvSpPr>
        <p:spPr>
          <a:xfrm>
            <a:off x="6190488" y="1417320"/>
            <a:ext cx="247802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出ていくお金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サーバー・AI代：売上の15%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3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社員1人：年713万円（給料・家賃など）</a:t>
            </a:r>
            <a:endParaRPr lang="en-US" sz="1000" dirty="0"/>
          </a:p>
        </p:txBody>
      </p:sp>
      <p:sp>
        <p:nvSpPr>
          <p:cNvPr id="27" name="Shape 19"/>
          <p:cNvSpPr/>
          <p:nvPr/>
        </p:nvSpPr>
        <p:spPr>
          <a:xfrm>
            <a:off x="6080760" y="2880360"/>
            <a:ext cx="2697480" cy="1417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8692E"/>
            </a:solidFill>
            <a:prstDash val="solid"/>
          </a:ln>
        </p:spPr>
      </p:sp>
      <p:sp>
        <p:nvSpPr>
          <p:cNvPr id="28" name="Text 20"/>
          <p:cNvSpPr txBox="1"/>
          <p:nvPr/>
        </p:nvSpPr>
        <p:spPr>
          <a:xfrm>
            <a:off x="6190488" y="2926080"/>
            <a:ext cx="247802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黒字の条件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 × 2.8拠点 以上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4年目に3.67となり黒字</a:t>
            </a:r>
            <a:endParaRPr lang="en-US" sz="1000" dirty="0"/>
          </a:p>
          <a:p>
            <a:pPr algn="l" indent="0" marL="0">
              <a:lnSpc>
                <a:spcPct val="115000"/>
              </a:lnSpc>
              <a:spcAft>
                <a:spcPts val="200"/>
              </a:spcAft>
              <a:buNone/>
            </a:pPr>
            <a:r>
              <a:rPr lang="en-US" sz="10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 営業利益 6,900万円</a:t>
            </a:r>
            <a:endParaRPr lang="en-US" sz="1000" dirty="0"/>
          </a:p>
        </p:txBody>
      </p:sp>
      <p:sp>
        <p:nvSpPr>
          <p:cNvPr id="29" name="Text 21"/>
          <p:cNvSpPr txBox="1"/>
          <p:nvPr/>
        </p:nvSpPr>
        <p:spPr>
          <a:xfrm>
            <a:off x="365760" y="4434840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b="1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将来：貯まった作業の記録で、ロボットに作業を教える（フィジカルAI）</a:t>
            </a:r>
            <a:endParaRPr lang="en-US" sz="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虎のツッコミ3つ ─ この一言で返す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答えは必ず数字から言う。理由は後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051560"/>
            <a:ext cx="800100" cy="96012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143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07592" y="1179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本当に年300万円も払うの？</a:t>
            </a:r>
            <a:endParaRPr lang="en-US" sz="1050" dirty="0"/>
          </a:p>
        </p:txBody>
      </p:sp>
      <p:sp>
        <p:nvSpPr>
          <p:cNvPr id="8" name="Shape 4"/>
          <p:cNvSpPr/>
          <p:nvPr/>
        </p:nvSpPr>
        <p:spPr>
          <a:xfrm flipH="1">
            <a:off x="3703320" y="1143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3776472" y="1179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月240万円分の時間が浮くので、約2か月で元が取れます</a:t>
            </a:r>
            <a:endParaRPr lang="en-US" sz="105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051560"/>
            <a:ext cx="800100" cy="96012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3749040" y="1856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根拠：100人×月6時間×4,000円</a:t>
            </a:r>
            <a:endParaRPr lang="en-US" sz="850" dirty="0"/>
          </a:p>
        </p:txBody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2194560"/>
            <a:ext cx="800100" cy="96012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286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07592" y="2322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なんで4年目まで赤字なの？</a:t>
            </a:r>
            <a:endParaRPr lang="en-US" sz="1050" dirty="0"/>
          </a:p>
        </p:txBody>
      </p:sp>
      <p:sp>
        <p:nvSpPr>
          <p:cNvPr id="15" name="Shape 9"/>
          <p:cNvSpPr/>
          <p:nvPr/>
        </p:nvSpPr>
        <p:spPr>
          <a:xfrm flipH="1">
            <a:off x="3703320" y="2286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3776472" y="2322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人を先に雇うからです。社員1人2.8拠点を超えたら黒字です</a:t>
            </a:r>
            <a:endParaRPr lang="en-US" sz="1050" dirty="0"/>
          </a:p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4560"/>
            <a:ext cx="800100" cy="960120"/>
          </a:xfrm>
          <a:prstGeom prst="rect">
            <a:avLst/>
          </a:prstGeom>
        </p:spPr>
      </p:pic>
      <p:sp>
        <p:nvSpPr>
          <p:cNvPr id="18" name="Text 11"/>
          <p:cNvSpPr txBox="1"/>
          <p:nvPr/>
        </p:nvSpPr>
        <p:spPr>
          <a:xfrm>
            <a:off x="3749040" y="2999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根拠：713万円÷255万円＝2.8</a:t>
            </a:r>
            <a:endParaRPr lang="en-US" sz="850" dirty="0"/>
          </a:p>
        </p:txBody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3337560"/>
            <a:ext cx="800100" cy="960120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234440" y="3429000"/>
            <a:ext cx="2377440" cy="548640"/>
          </a:xfrm>
          <a:prstGeom prst="wedgeRoundRectCallout">
            <a:avLst/>
          </a:prstGeom>
          <a:solidFill>
            <a:srgbClr val="FFFFFF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307592" y="3465576"/>
            <a:ext cx="22311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真似されたら終わりでは？</a:t>
            </a:r>
            <a:endParaRPr lang="en-US" sz="1050" dirty="0"/>
          </a:p>
        </p:txBody>
      </p:sp>
      <p:sp>
        <p:nvSpPr>
          <p:cNvPr id="22" name="Shape 14"/>
          <p:cNvSpPr/>
          <p:nvPr/>
        </p:nvSpPr>
        <p:spPr>
          <a:xfrm flipH="1">
            <a:off x="3703320" y="3429000"/>
            <a:ext cx="4069080" cy="685800"/>
          </a:xfrm>
          <a:prstGeom prst="wedgeRoundRectCallout">
            <a:avLst/>
          </a:prstGeom>
          <a:solidFill>
            <a:srgbClr val="F2F2F2"/>
          </a:solidFill>
          <a:ln w="19050">
            <a:solidFill>
              <a:srgbClr val="1A1A1A"/>
            </a:solidFill>
            <a:prstDash val="solid"/>
          </a:ln>
        </p:spPr>
      </p:sp>
      <p:sp>
        <p:nvSpPr>
          <p:cNvPr id="23" name="Text 15"/>
          <p:cNvSpPr txBox="1"/>
          <p:nvPr/>
        </p:nvSpPr>
        <p:spPr>
          <a:xfrm>
            <a:off x="3776472" y="3465576"/>
            <a:ext cx="3922776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現場の記録は使うほど貯まり、後から来た会社には移せません</a:t>
            </a:r>
            <a:endParaRPr lang="en-US" sz="105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63840" y="3337560"/>
            <a:ext cx="800100" cy="960120"/>
          </a:xfrm>
          <a:prstGeom prst="rect">
            <a:avLst/>
          </a:prstGeom>
        </p:spPr>
      </p:pic>
      <p:sp>
        <p:nvSpPr>
          <p:cNvPr id="25" name="Text 16"/>
          <p:cNvSpPr txBox="1"/>
          <p:nvPr/>
        </p:nvSpPr>
        <p:spPr>
          <a:xfrm>
            <a:off x="3749040" y="4142232"/>
            <a:ext cx="3749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根拠：貯まる・意味づけ・業界の型</a:t>
            </a:r>
            <a:endParaRPr lang="en-US" sz="850" dirty="0"/>
          </a:p>
        </p:txBody>
      </p:sp>
      <p:sp>
        <p:nvSpPr>
          <p:cNvPr id="26" name="Text 17"/>
          <p:cNvSpPr txBox="1"/>
          <p:nvPr/>
        </p:nvSpPr>
        <p:spPr>
          <a:xfrm>
            <a:off x="365760" y="4480560"/>
            <a:ext cx="8412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800" dirty="0">
                <a:solidFill>
                  <a:srgbClr val="8C8C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左：虎（投資家）　右：社長（わたし）。細かい計算は「理論武装版」に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/>
          <p:cNvSpPr txBox="1"/>
          <p:nvPr/>
        </p:nvSpPr>
        <p:spPr>
          <a:xfrm>
            <a:off x="365760" y="256032"/>
            <a:ext cx="7955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まとめ ─ この3つの数字だけ覚えれば、話せる</a:t>
            </a:r>
            <a:endParaRPr lang="en-US" sz="2000" dirty="0"/>
          </a:p>
        </p:txBody>
      </p:sp>
      <p:sp>
        <p:nvSpPr>
          <p:cNvPr id="4" name="lead"/>
          <p:cNvSpPr txBox="1"/>
          <p:nvPr/>
        </p:nvSpPr>
        <p:spPr>
          <a:xfrm>
            <a:off x="365760" y="658368"/>
            <a:ext cx="7955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D4D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300万・255万・2.8。順番に言えば、お金の仕組みが全部つながる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36576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50292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</a:t>
            </a:r>
            <a:endParaRPr lang="en-US" sz="3000" dirty="0"/>
          </a:p>
        </p:txBody>
      </p:sp>
      <p:sp>
        <p:nvSpPr>
          <p:cNvPr id="7" name="Text 4"/>
          <p:cNvSpPr txBox="1"/>
          <p:nvPr/>
        </p:nvSpPr>
        <p:spPr>
          <a:xfrm>
            <a:off x="50292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お客様が1拠点で毎年払う</a:t>
            </a:r>
            <a:endParaRPr lang="en-US" sz="11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2か月で元が取れるから払う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08152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3200400" y="1051560"/>
            <a:ext cx="2697480" cy="1417320"/>
          </a:xfrm>
          <a:prstGeom prst="rect">
            <a:avLst/>
          </a:prstGeom>
          <a:solidFill>
            <a:srgbClr val="F2F2F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255万円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そのうち当社に残る粗利</a:t>
            </a:r>
            <a:endParaRPr 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サーバー代15%を引いた残り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5916168" y="1764792"/>
            <a:ext cx="100584" cy="0"/>
          </a:xfrm>
          <a:prstGeom prst="line">
            <a:avLst/>
          </a:prstGeom>
          <a:noFill/>
          <a:ln w="25400">
            <a:solidFill>
              <a:srgbClr val="1A1A1A"/>
            </a:solidFill>
            <a:prstDash val="solid"/>
            <a:tailEnd type="triangle"/>
          </a:ln>
        </p:spPr>
      </p:sp>
      <p:sp>
        <p:nvSpPr>
          <p:cNvPr id="15" name="Shape 12"/>
          <p:cNvSpPr/>
          <p:nvPr/>
        </p:nvSpPr>
        <p:spPr>
          <a:xfrm>
            <a:off x="6035040" y="1051560"/>
            <a:ext cx="2697480" cy="1417320"/>
          </a:xfrm>
          <a:prstGeom prst="rect">
            <a:avLst/>
          </a:prstGeom>
          <a:solidFill>
            <a:srgbClr val="1A1A1A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172200" y="11430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3000" b="1" dirty="0">
                <a:solidFill>
                  <a:srgbClr val="E3A774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2.8拠点</a:t>
            </a:r>
            <a:endParaRPr lang="en-US" sz="30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176479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社員1人で見れば黒字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05740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4年目に超え、5年目は4.25</a:t>
            </a:r>
            <a:endParaRPr lang="en-US" sz="950" dirty="0"/>
          </a:p>
        </p:txBody>
      </p:sp>
      <p:sp>
        <p:nvSpPr>
          <p:cNvPr id="19" name="script30"/>
          <p:cNvSpPr/>
          <p:nvPr/>
        </p:nvSpPr>
        <p:spPr>
          <a:xfrm>
            <a:off x="365760" y="2651760"/>
            <a:ext cx="8412480" cy="1783080"/>
          </a:xfrm>
          <a:prstGeom prst="rect">
            <a:avLst/>
          </a:prstGeom>
          <a:solidFill>
            <a:srgbClr val="FFFFFF"/>
          </a:solidFill>
          <a:ln w="15875">
            <a:solidFill>
              <a:srgbClr val="1A1A1A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02920" y="27157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5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30秒で言うと（そのまま読める台本）</a:t>
            </a:r>
            <a:endParaRPr lang="en-US" sz="1050" dirty="0"/>
          </a:p>
        </p:txBody>
      </p:sp>
      <p:sp>
        <p:nvSpPr>
          <p:cNvPr id="21" name="Text 18"/>
          <p:cNvSpPr txBox="1"/>
          <p:nvPr/>
        </p:nvSpPr>
        <p:spPr>
          <a:xfrm>
            <a:off x="502920" y="2999232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会社が1拠点あたり年300万円を払います。月240万円分の書類の時間が浮くので、2か月で元が取れます。当社にはサーバー代を引いた255万円が残り、社員1人で2.8拠点を見れば黒字です。人を先に雇うので3年目までは赤字ですが、去年のお客様が今年も払う積み上げ型なので、4年目に黒字、5年目に営業利益6,900万円になります。</a:t>
            </a:r>
            <a:endParaRPr lang="en-US" sz="1100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3017520"/>
            <a:ext cx="1028700" cy="12344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365760" y="4837176"/>
            <a:ext cx="32004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850">
                <a:solidFill>
                  <a:srgbClr val="8C8C8C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マンガでわかる 三現ワークスのもうけの仕組み</dc:title>
  <dc:subject>PptxGenJS Presentation</dc:subject>
  <dc:creator>PptxGenJS</dc:creator>
  <cp:lastModifiedBy>PptxGenJS</cp:lastModifiedBy>
  <cp:revision>1</cp:revision>
  <dcterms:created xsi:type="dcterms:W3CDTF">2026-10-11T01:21:12Z</dcterms:created>
  <dcterms:modified xsi:type="dcterms:W3CDTF">2026-10-11T01:21:12Z</dcterms:modified>
</cp:coreProperties>
</file>