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前の年までのお客様の利用料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9</c:v>
                </c:pt>
                <c:pt idx="2">
                  <c:v>36</c:v>
                </c:pt>
                <c:pt idx="3">
                  <c:v>90</c:v>
                </c:pt>
                <c:pt idx="4">
                  <c:v>165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新しいお客様の利用料</c:v>
                </c:pt>
              </c:strCache>
            </c:strRef>
          </c:tx>
          <c:spPr>
            <a:solidFill>
              <a:srgbClr val="4D4D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13.5</c:v>
                </c:pt>
                <c:pt idx="2">
                  <c:v>27</c:v>
                </c:pt>
                <c:pt idx="3">
                  <c:v>40.5</c:v>
                </c:pt>
                <c:pt idx="4">
                  <c:v>49.5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導入支援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</c:v>
                </c:pt>
                <c:pt idx="1">
                  <c:v>18</c:v>
                </c:pt>
                <c:pt idx="2">
                  <c:v>36</c:v>
                </c:pt>
                <c:pt idx="3">
                  <c:v>54</c:v>
                </c:pt>
                <c:pt idx="4">
                  <c:v>66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受託開発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6</c:v>
                </c:pt>
                <c:pt idx="1">
                  <c:v>7.5</c:v>
                </c:pt>
                <c:pt idx="2">
                  <c:v>11</c:v>
                </c:pt>
                <c:pt idx="3">
                  <c:v>5.5</c:v>
                </c:pt>
                <c:pt idx="4">
                  <c:v>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0"/>
        <c:axPos val="l"/>
        <c:majorGridlines>
          <c:spPr>
            <a:ln w="6350" cap="flat">
              <a:solidFill>
                <a:srgbClr val="BFBFB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4D4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【表紙・20秒】
要約：数字は3つだけ。300万円、255万円、2.8拠点
三現ワークスです。今日はお金の仕組みを、3つの数字だけでお話しします。お客様が1拠点で年300万円払う。そのうち255万円が当社に残る。社員1人で2.8拠点を見られれば黒字。この3つです。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【登場人物・30秒】
要約：お金を払うのは電気工事会社。窓口は工事部長
登場人物は4人です。来年定年の熟練の電工、田中さん。入社2年目の施工管理、佐藤くん。報告書と育成で手一杯の山本工事部長。そして私です。ここで大事なのは、お金を払うのは現場の人ではなく会社、つまり工事部長や社長だという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【第1話・40秒】
要約：熟練者の勘は書かれていない。辞めたら止まる
ある日の工事現場。ケーブルの接続で、田中さんは、端末の寸法はテープの巻き始めから測れと言う。佐藤くんには理由が分からない。手順書にも書いていない。工事部長は、来年田中さんが辞めたらどうなるのかと青ざめる。しかも2024年から残業に上限がかかり、工事写真と報告書で教える時間もない。建設業で働く人の3人に1人以上が55歳以上です。これが、全国の工事会社で起きてい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【第2話・40秒】
要約：メガネを掛けて、いつも通り働くだけ
そこで、スマートグラスを掛けてもらいます。田中さんは、いつも通り作業するだけ。動画と会話をAIが整理して、三つの形で渡します。若手には、図面とのズレをその場で表示。管理者には、報告書を自動で作成。そして後から、教材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【第3話・40秒】
要約：会う → 試す → 決める → 広がる
最初のお客様は、関東の中堅の電気工事会社です。業界の勉強会で、2024年からの残業の上限と書類の削減について話します。展示会では、デモを自分の現場に当てはめて試してもらいます。次に、3か月の有償の試験導入で、報告書の時間が本当に減るかを数字で確かめます。本契約になったら、協力会社にも同じ形で使ってもらいます。関東の中堅735社のうち、半分近くに会い、4社に1社と契約できれば、5年で約83社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【お金の話1・40秒】
要約：1拠点 年300万円。初年度だけ導入支援200万円
では、誰が何にいくら払うのか。払うのは電気工事会社です。1拠点、つまり1つの支店や営業所で、年300万円。月にすると25万円です。中身は、アプリとデータ置き場の基本料が100万円、記録する工区や現場の数で100万円、教材づくりなどの追加機能で100万円。初年度だけ、私たちが2か月現場に入る導入支援に200万円いただきます。スマホの契約と同じで、初期設定は最初だけ、月額は毎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【お金の話2・40秒】
要約：月25万円払って、月240万円浮く。約2か月で元が取れる
なぜ工事部長は払うのか。施工管理者と電工が100人の会社で、1人あたり日報や写真整理が月6時間減ると、時給4,000円換算で月240万円分の時間が浮きます。初年度の支払いは500万円なので、約2か月で元が取れます。月6時間とは、1日あたり約18分。朝の日報と夕方の写真整理がなくなるイメージ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【お金の話3・40秒】
要約：利用料300万円のうち255万円が残る。だから利用料を積み上げる
次に、当社の財布に何が残るか。300万円の利用料のうち、サーバーやAIの費用は15%の45万円。255万円が残ります。導入支援の200万円は、人が動くので120万円が人件費に消え、残るのは80万円。だから当社は、人が動く仕事ではなく、利用料を積み上げる会社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【お金の話4・40秒】
要約：社員1人で2.8拠点を見れば黒字。4年目に超える
なぜ最初は赤字なのか。社員1人にかかる費用は、給料や家賃を合わせて年713万円。1拠点から残るのは255万円。713を255で割ると2.8。つまり、社員1人で2.8拠点を見られれば黒字です。1年目から3年目は、人を先に雇うので2.8に届かず赤字。4年目に3.67となって黒字になります。合言葉は2.8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【お金の話5・40秒】
要約：去年のお客様が今年も払う。売上は雪だるま式
利用料は毎年いただくので、去年までのお客様の分が今年の売上に乗ります。5年目の売上2億9,000万円のうち、57%は前の年までのお客様からの利用料です。新しいお客様が増えるたびに、雪だるまのように大きくなります。営業利益は4年目に黒字、5年目に6,900万円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【お金の話6・30秒】
要約：64万円かけて連れてきたお客様が、1,865万円残してくれる
最後に、お客様1拠点を連れてくる費用は約64万円。営業2人の人件費と広告費を、新しいお客様の数で割った数字です。一方、1拠点が7年間で残してくれる粗利は約1,865万円。約29倍です。64万円は3か月で回収できます。7年は控えめに見た数字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【500万円・30秒】
要約：500万円で、6か月以内に1拠点を動かす
今回お願いする500万円は、試作品と1拠点の実証に使います。私の給料はゼロです。3か月で試作品、6か月で実証。その結果を持って、公庫の融資とベンチャーキャピタルの出資を受けます。条件は10%でのご提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【全体図・30秒】
要約：上の矢印は記録とサービス、下の矢印はお金
1枚にまとめるとこうなります。上の流れが記録とサービス。お客様の現場から記録が来て、照合・報告書・教材にして返す。下の流れがお金。お客様から年300万円が入り、45万円がサーバー代、255万円が残って社員の費用をまかなう。社員1人で2.8拠点を超えたら黒字。そして記録が貯まるほど、真似されにくく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【ツッコミ対策・40秒】
要約：3つのツッコミには、この一言で返す
よく聞かれる3つの質問への答えです。本当に300万円も払うのか。月240万円分の時間が浮くので、2か月で元が取れます。なぜ4年目まで赤字なのか。人を先に雇うからで、社員1人2.8拠点を超えたら黒字になります。真似されないか。現場の記録は使うほど貯まり、後から来た会社には移せ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【まとめ・30秒】
要約：300万・255万・2.8。この3つで話せる
まとめです。お客様が年300万円払う。255万円が残る。社員1人2.8拠点で黒字。この3つの数字で、すべて説明できます。詳しい計算の根拠は、別冊の理論武装版にまとめています。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837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現場の勘を、次の担い手へ。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4754880"/>
            <a:ext cx="1325880" cy="28411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65760" y="320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令和の虎　事業計画書　やさしい版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621792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マンガでわかる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三現ワークスの</a:t>
            </a:r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もうけの仕組み</a:t>
            </a:r>
            <a:endParaRPr lang="en-US" sz="2800" dirty="0"/>
          </a:p>
        </p:txBody>
      </p:sp>
      <p:sp>
        <p:nvSpPr>
          <p:cNvPr id="5" name="ask"/>
          <p:cNvSpPr/>
          <p:nvPr/>
        </p:nvSpPr>
        <p:spPr>
          <a:xfrm>
            <a:off x="6172200" y="411480"/>
            <a:ext cx="260604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69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55080" y="475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希望金額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731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</a:t>
            </a:r>
            <a:endParaRPr lang="en-US" sz="3800" dirty="0"/>
          </a:p>
        </p:txBody>
      </p:sp>
      <p:sp>
        <p:nvSpPr>
          <p:cNvPr id="8" name="num-0"/>
          <p:cNvSpPr/>
          <p:nvPr/>
        </p:nvSpPr>
        <p:spPr>
          <a:xfrm>
            <a:off x="365760" y="1828800"/>
            <a:ext cx="269748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お客様が払う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21579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300万円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1拠点・1年あたり</a:t>
            </a:r>
            <a:endParaRPr lang="en-US" sz="800" dirty="0"/>
          </a:p>
        </p:txBody>
      </p:sp>
      <p:sp>
        <p:nvSpPr>
          <p:cNvPr id="12" name="num-1"/>
          <p:cNvSpPr/>
          <p:nvPr/>
        </p:nvSpPr>
        <p:spPr>
          <a:xfrm>
            <a:off x="3200400" y="1828800"/>
            <a:ext cx="269748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33756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当社に残る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337560" y="21579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255万円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サーバー代を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引いた粗利</a:t>
            </a:r>
            <a:endParaRPr lang="en-US" sz="800" dirty="0"/>
          </a:p>
        </p:txBody>
      </p:sp>
      <p:sp>
        <p:nvSpPr>
          <p:cNvPr id="16" name="num-2"/>
          <p:cNvSpPr/>
          <p:nvPr/>
        </p:nvSpPr>
        <p:spPr>
          <a:xfrm>
            <a:off x="6035040" y="1828800"/>
            <a:ext cx="2697480" cy="9144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7220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黒字のライン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21579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2.8拠点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社員1人あたり</a:t>
            </a:r>
            <a:endParaRPr lang="en-US" sz="8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71800"/>
            <a:ext cx="1143000" cy="1371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365760" y="43708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971800"/>
            <a:ext cx="1143000" cy="1371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508760" y="43708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971800"/>
            <a:ext cx="1143000" cy="1371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651760" y="43708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工事部長</a:t>
            </a:r>
            <a:endParaRPr lang="en-US" sz="9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971800"/>
            <a:ext cx="1143000" cy="1371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794760" y="43708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社長（わたし）</a:t>
            </a:r>
            <a:endParaRPr lang="en-US" sz="900" dirty="0"/>
          </a:p>
        </p:txBody>
      </p:sp>
      <p:sp>
        <p:nvSpPr>
          <p:cNvPr id="28" name="cover-bubble"/>
          <p:cNvSpPr/>
          <p:nvPr/>
        </p:nvSpPr>
        <p:spPr>
          <a:xfrm>
            <a:off x="5120640" y="3154680"/>
            <a:ext cx="3108960" cy="8686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193792" y="3191256"/>
            <a:ext cx="29626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数字は3つだけ。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これで全部、説明できます！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登場人物 ─ お金を払うのは「会社」。窓口は工事部長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この4人で、困りごと → 解決 → お金の流れを追いかける</a:t>
            </a:r>
            <a:endParaRPr lang="en-US" sz="1200" dirty="0"/>
          </a:p>
        </p:txBody>
      </p:sp>
      <p:sp>
        <p:nvSpPr>
          <p:cNvPr id="5" name="cast-0"/>
          <p:cNvSpPr/>
          <p:nvPr/>
        </p:nvSpPr>
        <p:spPr>
          <a:xfrm>
            <a:off x="365760" y="1051560"/>
            <a:ext cx="2011680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234440"/>
            <a:ext cx="1143000" cy="1371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田中さん（62歳）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熟練の電工。来年、定年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 flipV="1">
            <a:off x="502920" y="3337560"/>
            <a:ext cx="173736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76072" y="337413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勘で分かる。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でも説明はできん</a:t>
            </a:r>
            <a:endParaRPr lang="en-US" sz="1000" dirty="0"/>
          </a:p>
        </p:txBody>
      </p:sp>
      <p:sp>
        <p:nvSpPr>
          <p:cNvPr id="11" name="cast-1"/>
          <p:cNvSpPr/>
          <p:nvPr/>
        </p:nvSpPr>
        <p:spPr>
          <a:xfrm>
            <a:off x="2499055" y="1051560"/>
            <a:ext cx="2011680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395" y="1234440"/>
            <a:ext cx="1143000" cy="1371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590495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佐藤くん（24歳）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2590495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入社2年目の施工管理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 flipV="1">
            <a:off x="2636215" y="3337560"/>
            <a:ext cx="173736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2709367" y="337413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田中さんが辞めたら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どうしよう…</a:t>
            </a:r>
            <a:endParaRPr lang="en-US" sz="1000" dirty="0"/>
          </a:p>
        </p:txBody>
      </p:sp>
      <p:sp>
        <p:nvSpPr>
          <p:cNvPr id="17" name="cast-2"/>
          <p:cNvSpPr/>
          <p:nvPr/>
        </p:nvSpPr>
        <p:spPr>
          <a:xfrm>
            <a:off x="4632350" y="1051560"/>
            <a:ext cx="2011680" cy="3154680"/>
          </a:xfrm>
          <a:prstGeom prst="rect">
            <a:avLst/>
          </a:prstGeom>
          <a:solidFill>
            <a:srgbClr val="FFFFFF"/>
          </a:solidFill>
          <a:ln w="31750">
            <a:solidFill>
              <a:srgbClr val="B8692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683910" y="1051560"/>
            <a:ext cx="960120" cy="237744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683910" y="105156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お金を払う人</a:t>
            </a:r>
            <a:endParaRPr lang="en-US" sz="8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690" y="1234440"/>
            <a:ext cx="1143000" cy="1371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72379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山本工事部長（50歳）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723790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管理者。お金を払う人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 flipV="1">
            <a:off x="4769510" y="3337560"/>
            <a:ext cx="173736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842662" y="337413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報告書と育成で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手一杯だ</a:t>
            </a:r>
            <a:endParaRPr lang="en-US" sz="1000" dirty="0"/>
          </a:p>
        </p:txBody>
      </p:sp>
      <p:sp>
        <p:nvSpPr>
          <p:cNvPr id="25" name="cast-3"/>
          <p:cNvSpPr/>
          <p:nvPr/>
        </p:nvSpPr>
        <p:spPr>
          <a:xfrm>
            <a:off x="6765646" y="1051560"/>
            <a:ext cx="2011680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986" y="1234440"/>
            <a:ext cx="1143000" cy="1371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857086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社長（わたし）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857086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三現ワークス。元・施工管理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 flipV="1">
            <a:off x="6902806" y="3337560"/>
            <a:ext cx="173736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975958" y="337413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現場の勘を、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次の担い手へ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使うのは現場、払うのは会社。だから「会社にとって得か」で値段を決める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第1話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このままだと、現場が止まる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熟練者の勘は手順書に書かれていない。辞めたら消える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24128"/>
            <a:ext cx="1435608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29768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　ある日の工事現場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87168"/>
            <a:ext cx="1219200" cy="1463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5488" y="1435608"/>
            <a:ext cx="1792224" cy="7772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1472184"/>
            <a:ext cx="1645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端末の寸法は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テープの巻き始め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から測るんじゃ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499055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499055" y="1024128"/>
            <a:ext cx="1435608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563063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　若手は分からない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495" y="2715768"/>
            <a:ext cx="1028700" cy="123444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615" y="2898648"/>
            <a:ext cx="876300" cy="10515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590495" y="1435608"/>
            <a:ext cx="1828800" cy="7315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2663647" y="147218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えっ、なんで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分かるんですか！？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 flipH="1">
            <a:off x="3596335" y="2322576"/>
            <a:ext cx="777240" cy="4114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3669487" y="2359152"/>
            <a:ext cx="630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勘じゃ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63235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632350" y="1024128"/>
            <a:ext cx="1559052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696358" y="1024128"/>
            <a:ext cx="14676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　工事部長、青ざめる</a:t>
            </a:r>
            <a:endParaRPr lang="en-US" sz="9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830" y="2624328"/>
            <a:ext cx="1181100" cy="141732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723790" y="1435608"/>
            <a:ext cx="1828800" cy="7772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796942" y="1472184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田中さんは来年定年…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手順書に書いてない！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 rot="-480000">
            <a:off x="5683910" y="2258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ガーン</a:t>
            </a:r>
            <a:endParaRPr lang="en-US" sz="2000" dirty="0"/>
          </a:p>
        </p:txBody>
      </p:sp>
      <p:sp>
        <p:nvSpPr>
          <p:cNvPr id="27" name="Shape 20"/>
          <p:cNvSpPr/>
          <p:nvPr/>
        </p:nvSpPr>
        <p:spPr>
          <a:xfrm>
            <a:off x="6765646" y="1024128"/>
            <a:ext cx="2011680" cy="3200400"/>
          </a:xfrm>
          <a:prstGeom prst="rect">
            <a:avLst/>
          </a:prstGeom>
          <a:solidFill>
            <a:srgbClr val="F2F2F2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765646" y="1024128"/>
            <a:ext cx="1435608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6829654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　しかも時間がない</a:t>
            </a:r>
            <a:endParaRPr lang="en-US" sz="9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2806" y="2715768"/>
            <a:ext cx="1104900" cy="1325880"/>
          </a:xfrm>
          <a:prstGeom prst="rect">
            <a:avLst/>
          </a:prstGeom>
        </p:spPr>
      </p:pic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0086" y="2944368"/>
            <a:ext cx="548640" cy="548640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806" y="3538728"/>
            <a:ext cx="457200" cy="45720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6857086" y="1408176"/>
            <a:ext cx="1828800" cy="9601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6930238" y="1444752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工事写真と報告書で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毎晩残業。教える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時間もない…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26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現実も同じ：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建設業で働く人の36.7%が55歳以上、29歳以下は11.7%（国交省、2024年）。2024年4月から残業にも上限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第2話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メガネを掛けて、いつも通り働くだけ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動画と会話をAIが整理して、3つの形で渡す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24128"/>
            <a:ext cx="1065276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29768" y="1024128"/>
            <a:ext cx="9738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掛けるだけ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2848"/>
            <a:ext cx="1097280" cy="109728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35808"/>
            <a:ext cx="876300" cy="10515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57200" y="1408176"/>
            <a:ext cx="182880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30352" y="144475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いつも通り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やるだけでええんか？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2499055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499055" y="1024128"/>
            <a:ext cx="1065276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2563063" y="1024128"/>
            <a:ext cx="9738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AIが整理</a:t>
            </a:r>
            <a:endParaRPr lang="en-US" sz="9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935" y="1572768"/>
            <a:ext cx="731520" cy="7315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459175" y="1938528"/>
            <a:ext cx="3200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495" y="1572768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544775" y="23225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動画と会話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3504895" y="23225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AIが整理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 rot="-480000">
            <a:off x="2727655" y="2624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ピコン！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2636215" y="317296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「どの場面で」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「何を見て」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「どう判断したか」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を自動で切り出す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63235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632350" y="1024128"/>
            <a:ext cx="1188720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4696358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若手へ：照合</a:t>
            </a:r>
            <a:endParaRPr lang="en-US" sz="9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830" y="2715768"/>
            <a:ext cx="1143000" cy="13716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4723790" y="1408176"/>
            <a:ext cx="1828800" cy="9601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4796942" y="1444752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図面と8mmズレてる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って、その場で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教えてくれた！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765646" y="1024128"/>
            <a:ext cx="2011680" cy="3200400"/>
          </a:xfrm>
          <a:prstGeom prst="rect">
            <a:avLst/>
          </a:prstGeom>
          <a:solidFill>
            <a:srgbClr val="F2F2F2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765646" y="1024128"/>
            <a:ext cx="1435608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6829654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管理者へ：報告書</a:t>
            </a:r>
            <a:endParaRPr lang="en-US" sz="9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086" y="2715768"/>
            <a:ext cx="1104900" cy="1325880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7518" y="2807208"/>
            <a:ext cx="548640" cy="548640"/>
          </a:xfrm>
          <a:prstGeom prst="rect">
            <a:avLst/>
          </a:prstGeom>
        </p:spPr>
      </p:pic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0086" y="3447288"/>
            <a:ext cx="594360" cy="594360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6857086" y="1408176"/>
            <a:ext cx="1828800" cy="9601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6930238" y="1444752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報告書が勝手に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できてる！教材にも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なるのか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7" name="Text 26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渡す先は3つ：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若手へ（図面と照合）　管理者へ（報告書を自動作成）　あとから（教材・研修資料）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第3話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最初のお客様に、どう会う？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関東の中堅電気工事会社（施工管理者30人以上）から。会う → 試す → 決める → 広がる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24128"/>
            <a:ext cx="1188720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29768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勉強会で話す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24328"/>
            <a:ext cx="1181100" cy="1417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408176"/>
            <a:ext cx="1828800" cy="9144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30352" y="1444752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2024年からの残業上限、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書類の時間を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減らしませんか？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499055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499055" y="1024128"/>
            <a:ext cx="1188720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563063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展示会で試す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975" y="2350008"/>
            <a:ext cx="1005840" cy="100584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975" y="3035808"/>
            <a:ext cx="876300" cy="10515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590495" y="1408176"/>
            <a:ext cx="1828800" cy="7315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2663647" y="1444752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自分の現場で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試してみたい！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63235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632350" y="1024128"/>
            <a:ext cx="1435608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4696358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3か月の試験導入</a:t>
            </a:r>
            <a:endParaRPr lang="en-US" sz="9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830" y="2670048"/>
            <a:ext cx="1143000" cy="13716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723790" y="1408176"/>
            <a:ext cx="1828800" cy="9144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796942" y="1444752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報告書の時間が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本当に減るか、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数字で見たい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 rot="-480000">
            <a:off x="5729630" y="23500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実測！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6765646" y="1024128"/>
            <a:ext cx="2011680" cy="3200400"/>
          </a:xfrm>
          <a:prstGeom prst="rect">
            <a:avLst/>
          </a:prstGeom>
          <a:solidFill>
            <a:srgbClr val="F2F2F2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765646" y="1024128"/>
            <a:ext cx="1188720" cy="2468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6829654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本契約と紹介</a:t>
            </a:r>
            <a:endParaRPr lang="en-US" sz="9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086" y="2807208"/>
            <a:ext cx="990600" cy="1188720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7206" y="2944368"/>
            <a:ext cx="876300" cy="105156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857086" y="1408176"/>
            <a:ext cx="1828800" cy="9144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6930238" y="1444752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協力会社にも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同じ形で使って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もらおう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24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5年の見込み：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関東の中堅735社 → 会う45% → 契約25% ＝ 約83社。大手1社を目玉の事例にして協力会社へ広げる（率は仮定）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お金の話1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誰が、何に、いくら払う？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払うのは電気工事会社（1拠点＝支店・営業所）。毎年300万円、初年度だけ導入支援200万円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005840" cy="10058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60320"/>
            <a:ext cx="876300" cy="10515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37160" y="36576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電気工事会社（お客様）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011680"/>
            <a:ext cx="1181100" cy="141732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3429000" y="3474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三現ワークス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1783080" y="2011680"/>
            <a:ext cx="1737360" cy="0"/>
          </a:xfrm>
          <a:prstGeom prst="line">
            <a:avLst/>
          </a:prstGeom>
          <a:noFill/>
          <a:ln w="50800">
            <a:solidFill>
              <a:srgbClr val="B8692E"/>
            </a:solidFill>
            <a:prstDash val="solid"/>
            <a:tailEnd type="triangle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325880"/>
            <a:ext cx="548640" cy="5486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737360" y="2121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年300万円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（月25万円）</a:t>
            </a:r>
            <a:endParaRPr lang="en-US" sz="1400" dirty="0"/>
          </a:p>
        </p:txBody>
      </p:sp>
      <p:sp>
        <p:nvSpPr>
          <p:cNvPr id="13" name="Shape 6"/>
          <p:cNvSpPr/>
          <p:nvPr/>
        </p:nvSpPr>
        <p:spPr>
          <a:xfrm>
            <a:off x="1783080" y="3017520"/>
            <a:ext cx="1737360" cy="0"/>
          </a:xfrm>
          <a:prstGeom prst="line">
            <a:avLst/>
          </a:prstGeom>
          <a:noFill/>
          <a:ln w="25400">
            <a:solidFill>
              <a:srgbClr val="8C8C8C"/>
            </a:solidFill>
            <a:prstDash val="dash"/>
            <a:tailEnd type="triangle"/>
          </a:ln>
        </p:spPr>
      </p:sp>
      <p:sp>
        <p:nvSpPr>
          <p:cNvPr id="14" name="Text 7"/>
          <p:cNvSpPr txBox="1"/>
          <p:nvPr/>
        </p:nvSpPr>
        <p:spPr>
          <a:xfrm>
            <a:off x="1737360" y="3090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初年度だけ ＋200万円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（導入支援）</a:t>
            </a:r>
            <a:endParaRPr lang="en-US" sz="950" dirty="0"/>
          </a:p>
        </p:txBody>
      </p:sp>
      <p:sp>
        <p:nvSpPr>
          <p:cNvPr id="15" name="receipt"/>
          <p:cNvSpPr/>
          <p:nvPr/>
        </p:nvSpPr>
        <p:spPr>
          <a:xfrm>
            <a:off x="5074920" y="1051560"/>
            <a:ext cx="370332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525780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御請求書（1拠点・1年分）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5257800" y="1481328"/>
            <a:ext cx="333756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52578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基本料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アプリとデータ置き場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7635240" y="15544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100万円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525780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現場登録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記録する工区・現場 20万円×5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7635240" y="19385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100万円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5257800" y="23225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追加機能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教材づくり等 50万円×2つ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7635240" y="2322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100万円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257800" y="2743200"/>
            <a:ext cx="333756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257800" y="2798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合計（毎年）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086600" y="279806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300万円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5257800" y="3246120"/>
            <a:ext cx="33375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dash"/>
          </a:ln>
        </p:spPr>
      </p:sp>
      <p:sp>
        <p:nvSpPr>
          <p:cNvPr id="28" name="Text 21"/>
          <p:cNvSpPr txBox="1"/>
          <p:nvPr/>
        </p:nvSpPr>
        <p:spPr>
          <a:xfrm>
            <a:off x="5257800" y="331012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初年度だけ　導入支援 200万円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当社の担当者が約2か月、現場に入って設定する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65760" y="4069080"/>
            <a:ext cx="841248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502920" y="4069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たとえるなら、スマホの契約と同じ。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初期設定（導入支援）は最初だけ。月額料金（利用料）は毎月入ってくる → 去年のお客様が、今年も払ってくれる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お金の話2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工事部長は、なぜ払うの？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月25万円払うと、月240万円分の時間が浮く。約2か月で元が取れる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1325880" cy="822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65760" y="11704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100人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16093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施工管理者・電工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746504" y="1234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121408" y="1097280"/>
            <a:ext cx="1325880" cy="822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121408" y="11704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月6時間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121408" y="16093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1人の書類作業が減る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3502152" y="1234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877056" y="1097280"/>
            <a:ext cx="1325880" cy="822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877056" y="117043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4,000円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877056" y="16093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1時間の人件費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257800" y="12344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632704" y="1097280"/>
            <a:ext cx="173736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632704" y="1170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月240万円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632704" y="1609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浮く時間の価値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21945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1か月あたり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2514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払うお金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554480" y="2514600"/>
            <a:ext cx="371475" cy="384048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999107" y="2514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月25万円（初年度は導入支援込みで月42万円）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365760" y="3017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浮くお金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554480" y="3017520"/>
            <a:ext cx="3566160" cy="384048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645920" y="30175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月240万円</a:t>
            </a:r>
            <a:endParaRPr lang="en-US" sz="12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240280"/>
            <a:ext cx="1104900" cy="132588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 flipH="1">
            <a:off x="5623560" y="2057400"/>
            <a:ext cx="1691640" cy="6858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696712" y="2093976"/>
            <a:ext cx="15453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2か月で戻るなら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安い！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65760" y="3657600"/>
            <a:ext cx="8412480" cy="9875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502920" y="3657600"/>
            <a:ext cx="8138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元が取れるまで：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初年度の支払い 500万円 ÷ 月240万円 ＝ 約2.1か月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月6時間って？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6時間÷20日＝1日あたり約18分。朝の日報と夕方の写真整理がなくなるイメージ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1時間4,000円って？</a:t>
            </a:r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年収600万円×1.3（社会保険など）÷年1,950時間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お金の話3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うちの財布に、何が残る？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利用料は85%が残る。導入支援は40%しか残らない。だから利用料を積み上げる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3840480"/>
            <a:ext cx="493776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1051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利用料（毎年）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868680" cy="214884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" y="1399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300万円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463040" y="1691640"/>
            <a:ext cx="868680" cy="322326"/>
          </a:xfrm>
          <a:prstGeom prst="rect">
            <a:avLst/>
          </a:prstGeom>
          <a:solidFill>
            <a:srgbClr val="8C8C8C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80160" y="1399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−45万円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68880" y="2013966"/>
            <a:ext cx="868680" cy="1826514"/>
          </a:xfrm>
          <a:prstGeom prst="rect">
            <a:avLst/>
          </a:prstGeom>
          <a:solidFill>
            <a:srgbClr val="B8692E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86000" y="172135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255万円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受け取る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サーバー・AI代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28600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残る（粗利）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1051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導入支援（初年度だけ）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566160" y="2407920"/>
            <a:ext cx="640080" cy="143256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83280" y="211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200万円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43400" y="3267456"/>
            <a:ext cx="640080" cy="573024"/>
          </a:xfrm>
          <a:prstGeom prst="rect">
            <a:avLst/>
          </a:prstGeom>
          <a:solidFill>
            <a:srgbClr val="8C8C8C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160520" y="2974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80万円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383280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受け取る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160520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残る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297680" y="2407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120万円は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担当者の人件費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 flipH="1">
            <a:off x="5623560" y="1051560"/>
            <a:ext cx="2286000" cy="8686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96712" y="1088136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人が動く仕事は残りが少ない。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だから利用料を積み上げる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会社にします！</a:t>
            </a:r>
            <a:endParaRPr lang="en-US" sz="10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952500" cy="11430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623560" y="2697480"/>
            <a:ext cx="3154680" cy="1143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5760720" y="274320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粗利（あらり）とは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売上から、そのサービスを作るのに直接かかったお金を引いた残り。ここから社員の給料や家賃を払う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365760" y="4343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1拠点あたりの金額。サーバー・AI代は売上の15%、導入支援の人件費は売上の60%と置いた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お金の話4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なぜ最初は赤字？ 合言葉は「2.8」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社員1人で2.8拠点を見られれば黒字。4年目に超える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3931920" cy="1417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社員1人にかかる費用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年713万円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325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÷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1拠点から残る粗利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年255万円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19019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</a:t>
            </a:r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2.8拠点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97480"/>
            <a:ext cx="990600" cy="118872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017520"/>
            <a:ext cx="594360" cy="59436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017520"/>
            <a:ext cx="594360" cy="59436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3017520"/>
            <a:ext cx="594360" cy="59436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3447288" y="2926080"/>
            <a:ext cx="146304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8"/>
          <p:cNvSpPr txBox="1"/>
          <p:nvPr/>
        </p:nvSpPr>
        <p:spPr>
          <a:xfrm>
            <a:off x="1554480" y="37033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1人で、2.8拠点（支店・営業所）を見る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4617720" y="109728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社員1人あたりの拠点数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617720" y="3794760"/>
            <a:ext cx="416052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4800600" y="3444240"/>
            <a:ext cx="502920" cy="350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4663440" y="32064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0.75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4663440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1年目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4617720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3拠点÷4人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5586984" y="2993571"/>
            <a:ext cx="502920" cy="80118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5449824" y="2755827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1.71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5449824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2年目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5404104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12拠点÷7人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6373368" y="2520142"/>
            <a:ext cx="502920" cy="127461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6236208" y="228239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2.73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6236208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3年目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6190488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30拠点÷11人</a:t>
            </a:r>
            <a:endParaRPr lang="en-US" sz="750" dirty="0"/>
          </a:p>
        </p:txBody>
      </p:sp>
      <p:sp>
        <p:nvSpPr>
          <p:cNvPr id="30" name="Shape 23"/>
          <p:cNvSpPr/>
          <p:nvPr/>
        </p:nvSpPr>
        <p:spPr>
          <a:xfrm>
            <a:off x="7159752" y="2081107"/>
            <a:ext cx="502920" cy="1713653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7022592" y="1843363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3.67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7022592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4年目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6976872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55拠点÷15人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7946136" y="1808480"/>
            <a:ext cx="502920" cy="1986280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7808976" y="157073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4.25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7808976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7763256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85拠点÷20人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4617720" y="2486152"/>
            <a:ext cx="4160520" cy="0"/>
          </a:xfrm>
          <a:prstGeom prst="line">
            <a:avLst/>
          </a:prstGeom>
          <a:noFill/>
          <a:ln w="22225">
            <a:solidFill>
              <a:srgbClr val="B8692E"/>
            </a:solidFill>
            <a:prstDash val="dash"/>
          </a:ln>
        </p:spPr>
      </p:sp>
      <p:sp>
        <p:nvSpPr>
          <p:cNvPr id="39" name="Text 32"/>
          <p:cNvSpPr txBox="1"/>
          <p:nvPr/>
        </p:nvSpPr>
        <p:spPr>
          <a:xfrm>
            <a:off x="4663440" y="22392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黒字ライン 2.8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4663440" y="1389888"/>
            <a:ext cx="2103120" cy="7315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4736592" y="1426464"/>
            <a:ext cx="195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1〜3年目は人を先に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雇うから赤字。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4年目に線を越えて黒字！</a:t>
            </a:r>
            <a:endParaRPr lang="en-US" sz="950" dirty="0"/>
          </a:p>
        </p:txBody>
      </p:sp>
      <p:sp>
        <p:nvSpPr>
          <p:cNvPr id="42" name="Text 35"/>
          <p:cNvSpPr txBox="1"/>
          <p:nvPr/>
        </p:nvSpPr>
        <p:spPr>
          <a:xfrm>
            <a:off x="365760" y="4343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社員1人の費用＝4年目の販管費1億700万円÷15人（給料のほか家賃・広告・交通費などを含む）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お金の話5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去年のお客様が今年も払う。売上は雪だるま式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5年目の売上2億9,000万円のうち57%は、前の年までのお客様の利用料</a:t>
            </a:r>
            <a:endParaRPr lang="en-US" sz="1200" dirty="0"/>
          </a:p>
        </p:txBody>
      </p:sp>
      <p:graphicFrame>
        <p:nvGraphicFramePr>
          <p:cNvPr id="5" name="snowball" descr=""/>
          <p:cNvGraphicFramePr/>
          <p:nvPr/>
        </p:nvGraphicFramePr>
        <p:xfrm>
          <a:off x="365760" y="10515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715000" y="10515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売上（百万円）</a:t>
            </a:r>
            <a:endParaRPr lang="en-US" sz="1050" dirty="0"/>
          </a:p>
        </p:txBody>
      </p:sp>
      <p:graphicFrame>
        <p:nvGraphicFramePr>
          <p:cNvPr id="11" name="sales-o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325880"/>
          <a:ext cx="3063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0584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営業利益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1年目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▲32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2年目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▲27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3年目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4年目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5年目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290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8692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063240"/>
            <a:ext cx="990600" cy="118872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 flipH="1">
            <a:off x="5715000" y="3108960"/>
            <a:ext cx="1783080" cy="8686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5788152" y="3145536"/>
            <a:ext cx="16367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新しいお客様が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増えるたびに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大きくなる！</a:t>
            </a:r>
            <a:endParaRPr lang="en-US" sz="1000" dirty="0"/>
          </a:p>
        </p:txBody>
      </p:sp>
      <p:sp>
        <p:nvSpPr>
          <p:cNvPr id="11" name="Text 5"/>
          <p:cNvSpPr txBox="1"/>
          <p:nvPr/>
        </p:nvSpPr>
        <p:spPr>
          <a:xfrm>
            <a:off x="365760" y="4343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新しいお客様は年の途中で始めるので、初年度の利用料は半年分で計算。1年目の3拠点は試験導入（利用料なし）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お金の話6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64万円のエサで、1,865万円の魚を釣る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1拠点を連れてくる費用（CAC）と、1拠点が残してくれる粗利（LTV）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3291840" cy="2606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1005840" cy="1005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連れてくる費用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CAC（キャック）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約64万円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（営業2人の人件費1,600万円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＋広告・展示会500万円）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÷ 新しいお客様33拠点（5年目）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70332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約29倍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3749040" y="2468880"/>
            <a:ext cx="1280160" cy="0"/>
          </a:xfrm>
          <a:prstGeom prst="line">
            <a:avLst/>
          </a:prstGeom>
          <a:noFill/>
          <a:ln w="38100">
            <a:solidFill>
              <a:srgbClr val="B8692E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120640" y="1097280"/>
            <a:ext cx="3657600" cy="260604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0160"/>
            <a:ext cx="1005840" cy="10058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55080" y="1325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残してくれる粗利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LTV（エルティーブイ）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3550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約1,865万円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5257800" y="25146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年255万円 × 7年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 導入支援の粗利80万円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7年は控えめ。計画の解約率なら平均18年続く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5760" y="3886200"/>
            <a:ext cx="8412480" cy="73152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13632"/>
            <a:ext cx="571500" cy="6858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3886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64万円は約3か月で回収（64万円 ÷ 月21万円の粗利）。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目安は「LTVがCACの3倍以上」。当社は約29倍なので、お客様を増やすほど会社が強くなる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500万円で、6か月以内に最初の1拠点を動かす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創業者の給料はゼロ。すべて試作品と実証に使う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196596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75488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75488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500万円の出資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5488" y="1993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試作品・端末・実証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350008" y="1783080"/>
            <a:ext cx="1371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96312" y="1097280"/>
            <a:ext cx="196596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0604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3か月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60604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試作品ができる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1993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記録→写真抽出→報告書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480560" y="1783080"/>
            <a:ext cx="1371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626864" y="1097280"/>
            <a:ext cx="196596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36592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6か月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736592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1拠点で実証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36592" y="1993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報告書の時間がどれだけ減ったか実測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11112" y="1783080"/>
            <a:ext cx="1371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757416" y="1097280"/>
            <a:ext cx="196596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67144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その後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867144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公庫1,000万円＋VC1.15億円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67144" y="1993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実証の結果を持って調達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365760" y="26974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使い道（万円）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365760" y="29900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試作品の開発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011680" y="3026664"/>
            <a:ext cx="2194560" cy="182880"/>
          </a:xfrm>
          <a:prstGeom prst="rect">
            <a:avLst/>
          </a:prstGeom>
          <a:solidFill>
            <a:srgbClr val="B8692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251960" y="2990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250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365760" y="32918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実証（1拠点・3か月）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011680" y="3328416"/>
            <a:ext cx="877824" cy="182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2935224" y="3291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365760" y="35935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端末・機材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011680" y="3630168"/>
            <a:ext cx="702259" cy="182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759659" y="35935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365760" y="38953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設立・契約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011680" y="3931920"/>
            <a:ext cx="351130" cy="182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408530" y="3895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365760" y="41970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予備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011680" y="4233672"/>
            <a:ext cx="263347" cy="182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2320747" y="41970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0" y="269748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B8692E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926080"/>
            <a:ext cx="1066800" cy="1280160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5852160" y="278892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虎へのお返し（提案）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500万円で株式の10%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（出資前の会社の値段 4,500万円）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出口：上場、または事業会社への売却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お願い：実証先の電気工事会社のご紹介も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1枚で言うと ─ 上は記録とサービス、下はお金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記録が貯まるほど真似されにくく、お客様が増えるほど黒字が厚くなる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371600"/>
            <a:ext cx="19202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1005840" cy="1005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2651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電気工事会社（お客様）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0"/>
            <a:ext cx="723900" cy="86868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723900" cy="8686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6576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熟練者・若手・工事部長</a:t>
            </a:r>
            <a:endParaRPr lang="en-US" sz="850" dirty="0"/>
          </a:p>
        </p:txBody>
      </p:sp>
      <p:sp>
        <p:nvSpPr>
          <p:cNvPr id="11" name="Shape 5"/>
          <p:cNvSpPr/>
          <p:nvPr/>
        </p:nvSpPr>
        <p:spPr>
          <a:xfrm>
            <a:off x="3429000" y="1371600"/>
            <a:ext cx="2240280" cy="2926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342900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三現ワークス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828800"/>
            <a:ext cx="640080" cy="64008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520440" y="25146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AIが整理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記録が貯まるほど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真似されにくくなる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3520440" y="3383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1拠点の粗利 255万円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（300万円 − サーバー代45万円）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2377440" y="1737360"/>
            <a:ext cx="96012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7" name="Text 10"/>
          <p:cNvSpPr txBox="1"/>
          <p:nvPr/>
        </p:nvSpPr>
        <p:spPr>
          <a:xfrm>
            <a:off x="2286000" y="14356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動画と会話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 flipH="1">
            <a:off x="2377440" y="2514600"/>
            <a:ext cx="96012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Text 12"/>
          <p:cNvSpPr txBox="1"/>
          <p:nvPr/>
        </p:nvSpPr>
        <p:spPr>
          <a:xfrm>
            <a:off x="2286000" y="2011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照合・報告書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・教材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2377440" y="3749040"/>
            <a:ext cx="960120" cy="0"/>
          </a:xfrm>
          <a:prstGeom prst="line">
            <a:avLst/>
          </a:prstGeom>
          <a:noFill/>
          <a:ln w="50800">
            <a:solidFill>
              <a:srgbClr val="B8692E"/>
            </a:solidFill>
            <a:prstDash val="solid"/>
            <a:tailEnd type="triangle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315468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286000" y="38404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年300万円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5705856" y="2011680"/>
            <a:ext cx="34747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Shape 16"/>
          <p:cNvSpPr/>
          <p:nvPr/>
        </p:nvSpPr>
        <p:spPr>
          <a:xfrm>
            <a:off x="5705856" y="3566160"/>
            <a:ext cx="34747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Shape 17"/>
          <p:cNvSpPr/>
          <p:nvPr/>
        </p:nvSpPr>
        <p:spPr>
          <a:xfrm>
            <a:off x="6080760" y="1371600"/>
            <a:ext cx="2697480" cy="12801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6190488" y="1417320"/>
            <a:ext cx="2478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出ていくお金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サーバー・AI代：売上の15%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社員1人：年713万円（給料・家賃など）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6080760" y="2880360"/>
            <a:ext cx="26974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692E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6190488" y="2926080"/>
            <a:ext cx="24780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黒字の条件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 × 2.8拠点 以上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4年目に3.67となり黒字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5年目 営業利益 6,900万円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365760" y="44348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将来：貯まった作業の記録で、ロボットに作業を教える（フィジカルAI）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虎のツッコミ3つ ─ この一言で返す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答えは必ず数字から言う。理由は後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800100" cy="960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34440" y="1143000"/>
            <a:ext cx="2377440" cy="5486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307592" y="117957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本当に年300万円も払うの？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 flipH="1">
            <a:off x="3703320" y="1143000"/>
            <a:ext cx="4069080" cy="685800"/>
          </a:xfrm>
          <a:prstGeom prst="wedgeRoundRectCallout">
            <a:avLst/>
          </a:prstGeom>
          <a:solidFill>
            <a:srgbClr val="F2F2F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776472" y="1179576"/>
            <a:ext cx="3922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月240万円分の時間が浮くので、約2か月で元が取れます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51560"/>
            <a:ext cx="800100" cy="9601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749040" y="18562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根拠：100人×月6時間×4,000円</a:t>
            </a:r>
            <a:endParaRPr lang="en-US" sz="8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94560"/>
            <a:ext cx="800100" cy="96012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234440" y="2286000"/>
            <a:ext cx="2377440" cy="5486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1307592" y="232257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なんで4年目まで赤字なの？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 flipH="1">
            <a:off x="3703320" y="2286000"/>
            <a:ext cx="4069080" cy="685800"/>
          </a:xfrm>
          <a:prstGeom prst="wedgeRoundRectCallout">
            <a:avLst/>
          </a:prstGeom>
          <a:solidFill>
            <a:srgbClr val="F2F2F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3776472" y="2322576"/>
            <a:ext cx="3922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人を先に雇うからです。社員1人2.8拠点を超えたら黒字です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194560"/>
            <a:ext cx="800100" cy="9601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749040" y="29992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根拠：713万円÷255万円＝2.8</a:t>
            </a:r>
            <a:endParaRPr lang="en-US" sz="8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337560"/>
            <a:ext cx="800100" cy="96012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1234440" y="3429000"/>
            <a:ext cx="2377440" cy="5486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1307592" y="346557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真似されたら終わりでは？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 flipH="1">
            <a:off x="3703320" y="3429000"/>
            <a:ext cx="4069080" cy="685800"/>
          </a:xfrm>
          <a:prstGeom prst="wedgeRoundRectCallout">
            <a:avLst/>
          </a:prstGeom>
          <a:solidFill>
            <a:srgbClr val="F2F2F2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3776472" y="3465576"/>
            <a:ext cx="3922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現場の記録は使うほど貯まり、後から来た会社には移せません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3337560"/>
            <a:ext cx="800100" cy="96012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3749040" y="41422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根拠：貯まる・意味づけ・業界の型</a:t>
            </a:r>
            <a:endParaRPr lang="en-US" sz="850" dirty="0"/>
          </a:p>
        </p:txBody>
      </p:sp>
      <p:sp>
        <p:nvSpPr>
          <p:cNvPr id="26" name="Text 17"/>
          <p:cNvSpPr txBox="1"/>
          <p:nvPr/>
        </p:nvSpPr>
        <p:spPr>
          <a:xfrm>
            <a:off x="365760" y="44805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左：虎（投資家）　右：社長（わたし）。細かい計算は「理論武装版」に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365760" y="2560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─ この3つの数字だけ覚えれば、話せる</a:t>
            </a:r>
            <a:endParaRPr lang="en-US" sz="2000" dirty="0"/>
          </a:p>
        </p:txBody>
      </p:sp>
      <p:sp>
        <p:nvSpPr>
          <p:cNvPr id="4" name="lead"/>
          <p:cNvSpPr txBox="1"/>
          <p:nvPr/>
        </p:nvSpPr>
        <p:spPr>
          <a:xfrm>
            <a:off x="365760" y="658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300万・255万・2.8。順番に言えば、お金の仕組みが全部つながる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2697480" cy="1417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300万円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お客様が1拠点で毎年払う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2か月で元が取れるから払う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81528" y="1764792"/>
            <a:ext cx="100584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00400" y="1051560"/>
            <a:ext cx="2697480" cy="1417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3756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255万円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333756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そのうち当社に残る粗利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サーバー代15%を引いた残り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16168" y="1764792"/>
            <a:ext cx="100584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035040" y="1051560"/>
            <a:ext cx="2697480" cy="1417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3A7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2.8拠点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社員1人で見れば黒字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4年目に超え、5年目は4.25</a:t>
            </a:r>
            <a:endParaRPr lang="en-US" sz="950" dirty="0"/>
          </a:p>
        </p:txBody>
      </p:sp>
      <p:sp>
        <p:nvSpPr>
          <p:cNvPr id="19" name="script30"/>
          <p:cNvSpPr/>
          <p:nvPr/>
        </p:nvSpPr>
        <p:spPr>
          <a:xfrm>
            <a:off x="365760" y="2651760"/>
            <a:ext cx="8412480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715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869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30秒で言うと（そのまま読める台本）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999232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気工事会社が1拠点あたり年300万円を払います。月240万円分の書類の時間が浮くので、2か月で元が取れます。当社にはサーバー代を引いた255万円が残り、社員1人で2.8拠点を見れば黒字です。人を先に雇うので3年目までは赤字ですが、去年のお客様が今年も払う積み上げ型なので、4年目に黒字、5年目に営業利益6,900万円になります。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017520"/>
            <a:ext cx="1028700" cy="1234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4837176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8C8C8C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マンガでわかる 三現ワークスのもうけの仕組み</dc:title>
  <dc:subject>PptxGenJS Presentation</dc:subject>
  <dc:creator>PptxGenJS</dc:creator>
  <cp:lastModifiedBy>PptxGenJS</cp:lastModifiedBy>
  <cp:revision>1</cp:revision>
  <dcterms:created xsi:type="dcterms:W3CDTF">2026-10-10T05:01:46Z</dcterms:created>
  <dcterms:modified xsi:type="dcterms:W3CDTF">2026-10-10T05:01:46Z</dcterms:modified>
</cp:coreProperties>
</file>