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営業損益</c:v>
                </c:pt>
              </c:strCache>
            </c:strRef>
          </c:tx>
          <c:spPr>
            <a:solidFill>
              <a:srgbClr val="9A9A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111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9A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9A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9A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9A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9A9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8692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8692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8692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8692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8692E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1年</c:v>
                  </c:pt>
                  <c:pt idx="1">
                    <c:v>2年</c:v>
                  </c:pt>
                  <c:pt idx="2">
                    <c:v>3年</c:v>
                  </c:pt>
                  <c:pt idx="3">
                    <c:v>4年</c:v>
                  </c:pt>
                  <c:pt idx="4">
                    <c:v>5年</c:v>
                  </c:pt>
                  <c:pt idx="5">
                    <c:v>6年</c:v>
                  </c:pt>
                  <c:pt idx="6">
                    <c:v>7年</c:v>
                  </c:pt>
                  <c:pt idx="7">
                    <c:v>8年</c:v>
                  </c:pt>
                  <c:pt idx="8">
                    <c:v>9年</c:v>
                  </c:pt>
                  <c:pt idx="9">
                    <c:v>10年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-48</c:v>
                </c:pt>
                <c:pt idx="1">
                  <c:v>-48</c:v>
                </c:pt>
                <c:pt idx="2">
                  <c:v>-37</c:v>
                </c:pt>
                <c:pt idx="3">
                  <c:v>-39</c:v>
                </c:pt>
                <c:pt idx="4">
                  <c:v>-11</c:v>
                </c:pt>
                <c:pt idx="5">
                  <c:v>45</c:v>
                </c:pt>
                <c:pt idx="6">
                  <c:v>79</c:v>
                </c:pt>
                <c:pt idx="7">
                  <c:v>120</c:v>
                </c:pt>
                <c:pt idx="8">
                  <c:v>163</c:v>
                </c:pt>
                <c:pt idx="9">
                  <c:v>190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11111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111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FCF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5E5E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【0:00 - 0:30】
要約：つかみ
こんにちは。今日は、私が立ち上げる会社「カンツギ」の話をさせてください。カンツギは、勘を継ぐ、と書きます。割れたお茶碗を金でつなぐ「金継ぎ」ってありますよね。あれと同じで、途切れそうな現場の勘を、データでつなぐ会社です。10分で、何をやるのか、誰とやるのか、お金はどうなるのか、全部お話し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【0:30 - 1:00】
要約：一言で
まず、一言で言うとこうです。メガネを掛けて、いつも通り働くだけ。それで日報と写真台帳ができあがる。使うのは、普段のメガネと同じくらい軽い、カメラ付きのAIグラスです。記録して、書類にして、最後は若手の教材にする。この三つを一続きでやります。お客さんは、関東の中堅の電気工事会社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【1:00 - 1:35】
要約：なぜ今
じゃあ、なぜ今なのか。数字を三つだけ見てください。建設業で働く人の36.7%が、55歳以上です。2024年からは、建設業にも残業の上限ができました。原則、月45時間です。そして、やり直しの工事、いわゆる手戻りは、建設全体で年1.5兆円と見積もれます。人は減る、時間は増やせない、ミスは高くつく。だから、熟練の人の勘を残す仕組みが、今いるん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【1:35 - 2:05】
要約：理由と想い
ここで少し、私自身の話をさせてください。私は電線メーカーで、地中送電線の施工管理を5年やってきました。そこで何度も見たのが、ベテランの「ここが大事なんだよ」という判断が、手順書に書かれないまま、退職と一緒に消えていく場面です。現場のこともAIのことも分かる人は、まだ多くありません。だから、私がや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【2:05 - 2:35】
要約：使い方
使い方はシンプルです。メガネは全員には配りません。1つの班に1台、職長さんが掛けます。1つの支店で10台です。撮るのは作業エリアだけ。休憩中や移動中は撮りません。録画はメガネの中に残して、作業の区切りや「ここ撮って」という声の場面だけをAIに送ります。そこから写真台帳と日報ができて、ベテランの判断は教材として残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【2:35 - 3:15】
要約：競合
正直に言います。ほぼ同じ方向のサービスを、日立グループがもうやっています。ビルの保守で安全を見守るAI Safety、それから日立パワーソリューションズの、変電設備の点検でミスを見つけるAIです。技術と規模では、正直かないません。だから、ずらします。日立は大手の保守と安全。私たちは、中堅の電気工事会社の、工事そのものの書類と、技能の継承です。月額で、2か月で使い始められる形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【3:15 - 3:55】
要約：スタッフ
一緒に働くメンバーです。5年目に23人の会社にします。カギは三つの役割です。映像AIを作るエンジニア。電気工事の経験が10年以上あって、映像のどこが大事かを見分ける現場監修。そして、お客さんの現場に入って、その会社の書類の形に合わせて設定する導入コンサルタント。この設定は外注しません。社内でやるから、ノウハウが会社に貯まるんです。私の役割は、最初の営業と、判断の基準をつくる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【3:55 - 4:30】
要約：経営理念
経営理念は、「現場の勘を、次の担い手へ。」です。ホームページでも、最初にこの言葉を出します。大事にしたいことは三つ。現場を主役にすること。入力の手間は増やしません。勘に敬意を払うこと。記録は本人の同意のもとで、誰の技術かを残します。そして、数字で約束すること。効果は毎月測って見せます。特に現場の方には、これは監視じゃない、あなたの技術を残す仕組みだ、と伝えた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【4:30 - 5:05】
要約：お客さんの得
では、お客さんはいくら得をするのか。メガネを掛けた班で、職長さんの日報が1日15分、施工管理者の写真整理が20分減るとします。10台で計算すると、年に約500万円分の時間です。払っていただくのは、利用料とメガネのリースで約332万円。だいたい1.5倍ですね。逆に言うと、1台1日23分減れば元が取れます。ここを、最初の実証の合格ライン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【5:05 - 5:40】
要約：稼ぎ方
私たちの稼ぎ方です。会社の基盤に月5万円、メガネ1台に月2万円。10台で月25万円、年300万円です。報告書の形に整えるところまで、この中に入っています。ここからAIと保存の費用を引くと、1拠点あたり年216万円が残ります。粗利率は72%。スマホの家族プランと同じで、去年のお客さんが今年も払ってくれるので、売上は雪だるま式に積み上が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【5:40 - 6:10】
要約：5年の計画
5年の計画です。1年目は3社で試してもらうところから。5年目には81拠点、売上は約2.7億円です。ただ、ここは正直に言います。人を先に雇うので、5年間はずっと赤字です。5年目もまだ約11百万円の赤字。これを隠さずにお見せしたうえで、じゃあ10年ならどうか、を次で見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【6:10 - 6:45】
要約：10年
同じ計算を10年まで延ばしました。5年目までの計画は変えずに、6年目からは採用のペースを落とします。すると、1拠点10台のままでも、6年目に黒字になって、8年目には5年分の赤字を取り戻します。10年目の利益は約190百万円。もし、効果が出た班からメガネを15台に増やしてもらえたら、5年目で黒字です。時間を味方にできる事業だ、というのがポイン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【6:45 - 7:15】
要約：資金
お金は、自分の資金でまかないます。合計で約2.55億円です。ただ、一度に全部は入れません。最初は500万円で試作品と実証。実証で合格したら、1年目に2億円。3年目に、お客さんが続けてくれていたら、5,000万円を追加します。そして、止まる線も先に決めておきます。実証で1台1日15分も減らなかったら、撤退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【7:15 - 7:45】
要約：段階ごとの課題
それぞれの段階の課題です。準備期は、本当に効果が出るか。普段使いのメガネは、録画の長さや電池に限りがあります。導入期は、売れるか、使い続けてもらえるか。成長期は、メガネの台数と、人を採れるか。そして成熟期は、日立のような大手との競争です。どの段階にも、進む条件と止まる条件を置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【7:45 - 8:20】
要約：弱いところ
最後に、自分で計画を疑って見つけた弱いところです。一つ目、普段使いのメガネは、現場にはまだ弱い。落としたら壊れるし、保護めがねの規格も確認が必要です。二つ目、年300万円という値段は、まだ誰にも確かめていません。三つ目、10台のままだと、5年では黒字になりません。四つ目、日立が中堅向けに来たら、ブランドでは負けます。だからこそ、最初の6か月で、ここを一つずつ確か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【8:20 - 8:55】
要約：締め
最後に、私の願いです。10年続けば、書類に使っていた約137万時間が、現場と若手の指導に戻ります。私にとって、利益は目的ではなく、続けるための条件です。配当は求めません。共感してくれる会社や職人さんと一緒に、育てていきたい。日本の現場の勘を、次の担い手へ。その最初の一歩として、6か月で、最初の1拠点を動かします。ご清聴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74320"/>
            <a:ext cx="1051560" cy="22533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E5E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E5E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011680" cy="43107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1430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現場の勘を、</a:t>
            </a:r>
            <a:endParaRPr lang="en-US" sz="5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5400" b="1" dirty="0">
                <a:solidFill>
                  <a:srgbClr val="111111"/>
                </a:solidFill>
                <a:highlight>
                  <a:srgbClr val="FFE14D"/>
                </a:highlight>
                <a:latin typeface="Meiryo" pitchFamily="34" charset="0"/>
                <a:ea typeface="Meiryo" pitchFamily="34" charset="-122"/>
                <a:cs typeface="Meiryo" pitchFamily="34" charset="-120"/>
              </a:rPr>
              <a:t>次の担い手へ。</a:t>
            </a:r>
            <a:endParaRPr lang="en-US" sz="5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AIグラス × 電気工事。メガネを掛けて働くだけで、書類と教材ができる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548640" y="3840480"/>
            <a:ext cx="4206240" cy="548640"/>
          </a:xfrm>
          <a:prstGeom prst="rect">
            <a:avLst/>
          </a:prstGeom>
          <a:solidFill>
            <a:srgbClr val="B8692E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85800" y="3840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株式会社カンツギ　事業計画（10分）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65760" y="256032"/>
            <a:ext cx="1737360" cy="329184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事業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658368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メガネを掛けるだけで、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highlight>
                  <a:srgbClr val="FFE14D"/>
                </a:highlight>
                <a:latin typeface="Meiryo" pitchFamily="34" charset="0"/>
                <a:ea typeface="Meiryo" pitchFamily="34" charset="-122"/>
                <a:cs typeface="Meiryo" pitchFamily="34" charset="-120"/>
              </a:rPr>
              <a:t>日報と台帳ができる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3716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普段のメガネと同じ軽さのAIグラスで、熟練者の作業を記録する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920240"/>
            <a:ext cx="2606040" cy="214884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514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54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AIグラスが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要所を自動で撮る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990088" y="27432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246120" y="1920240"/>
            <a:ext cx="2606040" cy="214884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4290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2514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3429000" y="3154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写真台帳・日報を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各社の形で作る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870448" y="27432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126480" y="1920240"/>
            <a:ext cx="2606040" cy="21488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3093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E1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2514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教材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3154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ベテランの判断を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若手に渡す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0" y="4370832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65760" y="4370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お客様：関東の中堅の電気工事会社　／　1拠点10台で年300万円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E5E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65760" y="256032"/>
            <a:ext cx="1737360" cy="329184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事業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658368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人は減る。時間は増やせない。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highlight>
                  <a:srgbClr val="FFE14D"/>
                </a:highlight>
                <a:latin typeface="Meiryo" pitchFamily="34" charset="0"/>
                <a:ea typeface="Meiryo" pitchFamily="34" charset="-122"/>
                <a:cs typeface="Meiryo" pitchFamily="34" charset="-120"/>
              </a:rPr>
              <a:t>ミスは高くつく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3716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だから今、熟練者の勘を残す仕組みが要る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874520"/>
            <a:ext cx="2651760" cy="224028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947672"/>
            <a:ext cx="2377440" cy="129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36.7%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218688"/>
            <a:ext cx="237744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建設業で働く人のうち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55歳以上（2024年）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0" y="1874520"/>
            <a:ext cx="2651760" cy="224028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37560" y="1947672"/>
            <a:ext cx="2377440" cy="129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月45時間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337560" y="3218688"/>
            <a:ext cx="237744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2024年から建設業にも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残業の上限（原則）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35040" y="1874520"/>
            <a:ext cx="2651760" cy="224028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72200" y="1947672"/>
            <a:ext cx="2377440" cy="129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年1.5兆円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3218688"/>
            <a:ext cx="237744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建設全体の手戻り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（建設投資×2%で推計）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" y="41605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出典：国土交通省（労働力調査 2024年）、労働基準法、国交省 建設投資見通し×海外研究の手戻り率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0" y="4370832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65760" y="4370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熟練者が辞めると、判断の理由も一緒に消える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E5E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65760" y="256032"/>
            <a:ext cx="1737360" cy="329184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理由と想い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658368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ベテランの勘が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highlight>
                  <a:srgbClr val="FFE14D"/>
                </a:highlight>
                <a:latin typeface="Meiryo" pitchFamily="34" charset="0"/>
                <a:ea typeface="Meiryo" pitchFamily="34" charset="-122"/>
                <a:cs typeface="Meiryo" pitchFamily="34" charset="-120"/>
              </a:rPr>
              <a:t>消えていくのを見てきた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3716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選んだ理由は3つ。払う理由がある市場、使える技術、そして自分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828800"/>
            <a:ext cx="1005840" cy="475488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8288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人手不足と残業の上限。お金を払ってでも解きたい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2395728"/>
            <a:ext cx="1005840" cy="475488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39572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見て理解するAIと、50gのAIグラスが実用に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2962656"/>
            <a:ext cx="1005840" cy="475488"/>
          </a:xfrm>
          <a:prstGeom prst="rect">
            <a:avLst/>
          </a:prstGeom>
          <a:solidFill>
            <a:srgbClr val="B869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29626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地中送電線の施工管理5年。AIも自分で作れる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577840" y="1828800"/>
            <a:ext cx="3200400" cy="2286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60720" y="19202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E1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想い</a:t>
            </a:r>
            <a:endParaRPr lang="en-US" sz="1600" dirty="0"/>
          </a:p>
          <a:p>
            <a:pPr algn="l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割れた器を金で継ぐ「金継ぎ」のように、途切れそうな現場の勘を、データで継ぐ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0" y="4370832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65760" y="4370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社名「カンツギ（勘継）」は、この想いから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E5E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65760" y="256032"/>
            <a:ext cx="1737360" cy="329184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事業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658368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1班に1台、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highlight>
                  <a:srgbClr val="FFE14D"/>
                </a:highlight>
                <a:latin typeface="Meiryo" pitchFamily="34" charset="0"/>
                <a:ea typeface="Meiryo" pitchFamily="34" charset="-122"/>
                <a:cs typeface="Meiryo" pitchFamily="34" charset="-120"/>
              </a:rPr>
              <a:t>職長が掛ける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だけ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3716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全員には配らない。撮るのは作業エリアの、大事な場面だけ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828800"/>
            <a:ext cx="1097280" cy="475488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8288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1班に1台、職長が掛ける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2395728"/>
            <a:ext cx="1097280" cy="475488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何台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3957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1支店10台（5現場×2班）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2962656"/>
            <a:ext cx="1097280" cy="475488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どこで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96265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作業エリアだけ。休憩・移動は撮らない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3529584"/>
            <a:ext cx="1097280" cy="475488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35295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作業の区切り・「ここ撮って」の声の場面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760720" y="1828800"/>
            <a:ext cx="3017520" cy="105156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897880" y="1901952"/>
            <a:ext cx="27432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約50g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5897880" y="2459736"/>
            <a:ext cx="274320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カメラ付きAIグラス（普段のメガネの重さ）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760720" y="3017520"/>
            <a:ext cx="3017520" cy="105156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97880" y="3090672"/>
            <a:ext cx="27432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8台＋2台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5897880" y="3648456"/>
            <a:ext cx="274320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記録用8台＋図面を映す表示付き2台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4370832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65760" y="4370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録画はメガネに残し、AIに送るのは選んだ場面だけ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E5E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65760" y="256032"/>
            <a:ext cx="1737360" cy="329184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競合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658368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日立と同じ方向。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highlight>
                  <a:srgbClr val="FFE14D"/>
                </a:highlight>
                <a:latin typeface="Meiryo" pitchFamily="34" charset="0"/>
                <a:ea typeface="Meiryo" pitchFamily="34" charset="-122"/>
                <a:cs typeface="Meiryo" pitchFamily="34" charset="-120"/>
              </a:rPr>
              <a:t>だから、ずらす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3716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日立グループ（AI Safety・日立パワーソリューションズ）は、大手の保守と安全から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810512"/>
            <a:ext cx="12344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1810512"/>
            <a:ext cx="3474720" cy="402336"/>
          </a:xfrm>
          <a:prstGeom prst="rect">
            <a:avLst/>
          </a:prstGeom>
          <a:solidFill>
            <a:srgbClr val="5E5E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日立グループ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257800" y="1810512"/>
            <a:ext cx="3520440" cy="402336"/>
          </a:xfrm>
          <a:prstGeom prst="rect">
            <a:avLst/>
          </a:prstGeom>
          <a:solidFill>
            <a:srgbClr val="B869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カンツギ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267712"/>
            <a:ext cx="1234440" cy="402336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仕事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267712"/>
            <a:ext cx="3474720" cy="402336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設備の保守・点検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257800" y="2267712"/>
            <a:ext cx="3520440" cy="402336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電気工事の施工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65760" y="2697480"/>
            <a:ext cx="8412480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5760" y="2724912"/>
            <a:ext cx="1234440" cy="402336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691640" y="2724912"/>
            <a:ext cx="3474720" cy="402336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自社・大手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257800" y="2724912"/>
            <a:ext cx="3520440" cy="402336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中堅の電気工事会社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65760" y="3154680"/>
            <a:ext cx="8412480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5760" y="3182112"/>
            <a:ext cx="1234440" cy="402336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691640" y="3182112"/>
            <a:ext cx="3474720" cy="402336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安全・ミスの照合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257800" y="3182112"/>
            <a:ext cx="3520440" cy="402336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書類の削減と技能継承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65760" y="3611880"/>
            <a:ext cx="8412480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65760" y="3639312"/>
            <a:ext cx="1234440" cy="402336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買い方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691640" y="3639312"/>
            <a:ext cx="3474720" cy="402336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個別の開発・保守契約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257800" y="3639312"/>
            <a:ext cx="3520440" cy="402336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月額・2か月で導入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365760" y="4069080"/>
            <a:ext cx="8412480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0" y="4370832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65760" y="4370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技術と規模では勝てない。勝負は「施工の型」を先に揃えること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E5E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65760" y="256032"/>
            <a:ext cx="1737360" cy="329184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スタッフ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658368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highlight>
                  <a:srgbClr val="FFE14D"/>
                </a:highlight>
                <a:latin typeface="Meiryo" pitchFamily="34" charset="0"/>
                <a:ea typeface="Meiryo" pitchFamily="34" charset="-122"/>
                <a:cs typeface="Meiryo" pitchFamily="34" charset="-120"/>
              </a:rPr>
              <a:t>23人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。カギは3つの役割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3716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帳票の設定は外注せず、社内のコンサル部隊で。ノウハウを会社に貯める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828800"/>
            <a:ext cx="2651760" cy="18288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9019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3042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1→5人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834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映像AIとデータ基盤をつくる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200400" y="1828800"/>
            <a:ext cx="2651760" cy="18288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337560" y="19019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現場監修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3337560" y="23042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1→2人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3337560" y="2834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電気工事10年以上。映像の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大事な場面を見分ける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035040" y="1828800"/>
            <a:ext cx="2651760" cy="18288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172200" y="19019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導入コンサル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23042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1→8人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834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現場に入り、各社の書類の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形に合わせて設定する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365760" y="37673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私の役割：</a:t>
            </a:r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最初の営業と、判断の基準をつくること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0" y="4370832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65760" y="4370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ほかにCTO・営業・管理・戦略企画。社外の技術顧問と業界の顧問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E5E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65760" y="256032"/>
            <a:ext cx="1737360" cy="329184"/>
          </a:xfrm>
          <a:prstGeom prst="rect">
            <a:avLst/>
          </a:prstGeom>
          <a:solidFill>
            <a:srgbClr val="FFE1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経営理念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7772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現場の勘を、</a:t>
            </a:r>
            <a:endParaRPr lang="en-US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E1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次の担い手へ。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365760" y="2606040"/>
            <a:ext cx="2651760" cy="0"/>
          </a:xfrm>
          <a:prstGeom prst="line">
            <a:avLst/>
          </a:prstGeom>
          <a:noFill/>
          <a:ln w="31750">
            <a:solidFill>
              <a:srgbClr val="FFE14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現場を主役に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9D9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入力の手間を増やさない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200400" y="2606040"/>
            <a:ext cx="2651760" cy="0"/>
          </a:xfrm>
          <a:prstGeom prst="line">
            <a:avLst/>
          </a:prstGeom>
          <a:noFill/>
          <a:ln w="31750">
            <a:solidFill>
              <a:srgbClr val="FFE14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勘に敬意を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320040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9D9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本人の同意で、誰の技術かを残す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035040" y="2606040"/>
            <a:ext cx="2651760" cy="0"/>
          </a:xfrm>
          <a:prstGeom prst="line">
            <a:avLst/>
          </a:prstGeom>
          <a:noFill/>
          <a:ln w="31750">
            <a:solidFill>
              <a:srgbClr val="FFE14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3504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数字で約束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9D9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効果を毎月測って見せる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E1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現場で働く方へ：これは監視ではなく、あなたの技術を残す仕組みです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65760" y="256032"/>
            <a:ext cx="1737360" cy="329184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経営計画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658368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払う額の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highlight>
                  <a:srgbClr val="FFE14D"/>
                </a:highlight>
                <a:latin typeface="Meiryo" pitchFamily="34" charset="0"/>
                <a:ea typeface="Meiryo" pitchFamily="34" charset="-122"/>
                <a:cs typeface="Meiryo" pitchFamily="34" charset="-120"/>
              </a:rPr>
              <a:t>約1.5倍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が、時間で戻る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3716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1拠点10台。職長の日報15分＋施工管理者の写真整理20分が、1台1日で減る想定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828800"/>
            <a:ext cx="2651760" cy="224028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901952"/>
            <a:ext cx="2377440" cy="129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500万円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172968"/>
            <a:ext cx="237744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お客様の得（年）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書類の時間だけで計算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24688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÷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383280" y="1828800"/>
            <a:ext cx="2377440" cy="224028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20440" y="1901952"/>
            <a:ext cx="2103120" cy="129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332万円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3172968"/>
            <a:ext cx="210312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お客様が払う額（年）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利用料＋グラスのリース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43600" y="1828800"/>
            <a:ext cx="2834640" cy="2240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080760" y="1874520"/>
            <a:ext cx="2606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元が取れるのは</a:t>
            </a:r>
            <a:endParaRPr lang="en-US" sz="1600" dirty="0"/>
          </a:p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E1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1台1日23分</a:t>
            </a:r>
            <a:endParaRPr lang="en-US" sz="1600" dirty="0"/>
          </a:p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実証の合格ライン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0" y="4370832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5760" y="4370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手戻りが減れば、さらに上乗せ（実証で測ってから足す）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E5E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65760" y="256032"/>
            <a:ext cx="1737360" cy="329184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経営計画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658368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月25万円の利用料が、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highlight>
                  <a:srgbClr val="FFE14D"/>
                </a:highlight>
                <a:latin typeface="Meiryo" pitchFamily="34" charset="0"/>
                <a:ea typeface="Meiryo" pitchFamily="34" charset="-122"/>
                <a:cs typeface="Meiryo" pitchFamily="34" charset="-120"/>
              </a:rPr>
              <a:t>毎年積み上がる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3716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会社の基盤 月5万円 ＋ メガネ1台 月2万円 × 10台。初年度だけ導入支援200万円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828800"/>
            <a:ext cx="2651760" cy="224028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901952"/>
            <a:ext cx="2377440" cy="129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年300万円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172968"/>
            <a:ext cx="237744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1拠点（10台）の利用料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報告書の形に整えるまで込み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24688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383280" y="1828800"/>
            <a:ext cx="2377440" cy="224028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20440" y="1901952"/>
            <a:ext cx="2103120" cy="129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84万円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3172968"/>
            <a:ext cx="210312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AI・保存の費用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メガネ1台 月約6,000円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43600" y="1828800"/>
            <a:ext cx="2834640" cy="2240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080760" y="1874520"/>
            <a:ext cx="2606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当社に残る</a:t>
            </a:r>
            <a:endParaRPr lang="en-US" sz="1600" dirty="0"/>
          </a:p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3800" b="1" dirty="0">
                <a:solidFill>
                  <a:srgbClr val="FFE1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216万円</a:t>
            </a:r>
            <a:endParaRPr lang="en-US" sz="1600" dirty="0"/>
          </a:p>
          <a:p>
            <a:pPr algn="ct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粗利率 72%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0" y="4370832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5760" y="4370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1拠点を獲得する費用 約86万円に対し、7年で約1,571万円が残る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E5E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65760" y="256032"/>
            <a:ext cx="1737360" cy="329184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経営計画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658368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5年は赤字。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highlight>
                  <a:srgbClr val="FFE14D"/>
                </a:highlight>
                <a:latin typeface="Meiryo" pitchFamily="34" charset="0"/>
                <a:ea typeface="Meiryo" pitchFamily="34" charset="-122"/>
                <a:cs typeface="Meiryo" pitchFamily="34" charset="-120"/>
              </a:rPr>
              <a:t>それでも隠さず見せる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3716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人を先に雇うので、5年目までは赤字が続く（百万円）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828800"/>
            <a:ext cx="1280160" cy="402336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828800"/>
            <a:ext cx="1316736" cy="402336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1年目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145536" y="1828800"/>
            <a:ext cx="1316736" cy="402336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53712" y="1828800"/>
            <a:ext cx="1316736" cy="402336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3年目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61888" y="1828800"/>
            <a:ext cx="1316736" cy="402336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4年目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70064" y="1828800"/>
            <a:ext cx="1316736" cy="402336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2286000"/>
            <a:ext cx="1280160" cy="402336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拠点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22860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145536" y="22860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553712" y="22860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961888" y="22860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370064" y="22860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81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65760" y="2743200"/>
            <a:ext cx="1280160" cy="402336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737360" y="27432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145536" y="27432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553712" y="27432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961888" y="27432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370064" y="27432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365760" y="3200400"/>
            <a:ext cx="1280160" cy="402336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737360" y="32004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3145536" y="32004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48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4553712" y="32004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107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5961888" y="32004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178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7370064" y="32004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269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365760" y="3657600"/>
            <a:ext cx="1280160" cy="402336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営業損益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1737360" y="36576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▲48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3145536" y="36576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▲48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4553712" y="36576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▲37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5961888" y="36576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▲39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7370064" y="36576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▲11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0" y="4370832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365760" y="4370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5年目：81拠点・売上約2.7億円。黒字まで、あと約6拠点分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E5E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65760" y="256032"/>
            <a:ext cx="1737360" cy="329184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経営計画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658368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10年で見れば、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highlight>
                  <a:srgbClr val="FFE14D"/>
                </a:highlight>
                <a:latin typeface="Meiryo" pitchFamily="34" charset="0"/>
                <a:ea typeface="Meiryo" pitchFamily="34" charset="-122"/>
                <a:cs typeface="Meiryo" pitchFamily="34" charset="-120"/>
              </a:rPr>
              <a:t>6年目に黒字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3716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5年目までは変えずに延長。6年目から採用のペースを落とすと、8年目に赤字を取り戻す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783080"/>
          <a:ext cx="53949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943600" y="1783080"/>
            <a:ext cx="2834640" cy="118872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080760" y="1856232"/>
            <a:ext cx="256032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190百万円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080760" y="2496312"/>
            <a:ext cx="25603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10年目の営業利益（10台）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943600" y="3108960"/>
            <a:ext cx="2834640" cy="118872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080760" y="3182112"/>
            <a:ext cx="256032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5年目に黒字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6080760" y="3822192"/>
            <a:ext cx="25603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効果が出た班から15台に増やせたら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0" y="4370832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65760" y="4370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積み上げ型なので、時間が味方になる（百万円）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E5E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65760" y="256032"/>
            <a:ext cx="1737360" cy="329184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経営計画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658368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自己資金を、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highlight>
                  <a:srgbClr val="FFE14D"/>
                </a:highlight>
                <a:latin typeface="Meiryo" pitchFamily="34" charset="0"/>
                <a:ea typeface="Meiryo" pitchFamily="34" charset="-122"/>
                <a:cs typeface="Meiryo" pitchFamily="34" charset="-120"/>
              </a:rPr>
              <a:t>線を越えたときだけ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入れる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3716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 約2.55億円。資金が豊富でも、一度に全部は使わない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828800"/>
            <a:ext cx="2651760" cy="164592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準備期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500万円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条件：試作品と実証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2423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0" y="1828800"/>
            <a:ext cx="2651760" cy="16459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33756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E1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1年目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33756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2億円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333756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条件：実証で1台1日23分以上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5852160" y="2423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35040" y="1828800"/>
            <a:ext cx="2651760" cy="164592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7220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3年目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5,000万円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条件：継続率90%・平均12台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3611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止まる線：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実証で1台1日15分も減らなければ撤退。2年目末に平均12台に届かなければ採用を止める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0" y="4370832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65760" y="4370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融資・出資は使わない。返済も利息もない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E5E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65760" y="256032"/>
            <a:ext cx="1737360" cy="329184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課題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658368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段階ごとに、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highlight>
                  <a:srgbClr val="FFE14D"/>
                </a:highlight>
                <a:latin typeface="Meiryo" pitchFamily="34" charset="0"/>
                <a:ea typeface="Meiryo" pitchFamily="34" charset="-122"/>
                <a:cs typeface="Meiryo" pitchFamily="34" charset="-120"/>
              </a:rPr>
              <a:t>一番の課題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は変わる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3716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それぞれに「進む条件」と「止まる条件」を置いている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828800"/>
            <a:ext cx="2011680" cy="457200"/>
          </a:xfrm>
          <a:prstGeom prst="rect">
            <a:avLst/>
          </a:prstGeom>
          <a:solidFill>
            <a:srgbClr val="B869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準備期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65760" y="2331720"/>
            <a:ext cx="2011680" cy="178308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75488" y="239572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効果が出るか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475488" y="310896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メガネの電池と録画の制約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2496312" y="1828800"/>
            <a:ext cx="201168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導入期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496312" y="2331720"/>
            <a:ext cx="2011680" cy="178308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606040" y="239572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売れるか・続くか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2606040" y="310896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300万円を払うか、監視と思われないか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626864" y="1828800"/>
            <a:ext cx="201168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成長期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626864" y="2331720"/>
            <a:ext cx="2011680" cy="178308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736592" y="239572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台数と人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4736592" y="310896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10台では黒字にならない・採用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757416" y="1828800"/>
            <a:ext cx="201168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成熟期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757416" y="2331720"/>
            <a:ext cx="2011680" cy="178308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67144" y="239572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大手との競争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6867144" y="310896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日立が中堅・施工に来たら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0" y="4370832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65760" y="4370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準備期の6か月で、最初の課題「効果が出るか」を確かめる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E5E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65760" y="256032"/>
            <a:ext cx="1737360" cy="329184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課題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658368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自分で見つけた、</a:t>
            </a:r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11111"/>
                </a:solidFill>
                <a:highlight>
                  <a:srgbClr val="FFE14D"/>
                </a:highlight>
                <a:latin typeface="Meiryo" pitchFamily="34" charset="0"/>
                <a:ea typeface="Meiryo" pitchFamily="34" charset="-122"/>
                <a:cs typeface="Meiryo" pitchFamily="34" charset="-120"/>
              </a:rPr>
              <a:t>計画の弱いところ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3716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隠さず、確かめ方とセットで示す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828800"/>
            <a:ext cx="502920" cy="530352"/>
          </a:xfrm>
          <a:prstGeom prst="rect">
            <a:avLst/>
          </a:prstGeom>
          <a:solidFill>
            <a:srgbClr val="B869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828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普段使いのメガネは、現場に弱い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落下・粉じん・保護めがねの規格。実機で1日使って確かめる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2450592"/>
            <a:ext cx="502920" cy="530352"/>
          </a:xfrm>
          <a:prstGeom prst="rect">
            <a:avLst/>
          </a:prstGeom>
          <a:solidFill>
            <a:srgbClr val="B869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450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年300万円は、まだ未検証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試験導入の3社に値段を聞く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3072384"/>
            <a:ext cx="502920" cy="530352"/>
          </a:xfrm>
          <a:prstGeom prst="rect">
            <a:avLst/>
          </a:prstGeom>
          <a:solidFill>
            <a:srgbClr val="B869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07238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10台のままでは、5年で黒字にならない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効果が出た班から台数を増やす提案を仕組みに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3694176"/>
            <a:ext cx="502920" cy="530352"/>
          </a:xfrm>
          <a:prstGeom prst="rect">
            <a:avLst/>
          </a:prstGeom>
          <a:solidFill>
            <a:srgbClr val="B869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369417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日立が来たら、ブランドで負ける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E5E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施工の書類の型を先に揃える。提携も選ぶ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0" y="4370832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65760" y="4370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弱みを先に言い、止まる線を先に引く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E5E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65760" y="256032"/>
            <a:ext cx="1737360" cy="329184"/>
          </a:xfrm>
          <a:prstGeom prst="rect">
            <a:avLst/>
          </a:prstGeom>
          <a:solidFill>
            <a:srgbClr val="FFE1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73152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儲けより、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E1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残したいものがある。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731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9D9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10年で現場に戻る時間</a:t>
            </a:r>
            <a:endParaRPr lang="en-US" sz="16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E1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約137万時間</a:t>
            </a:r>
            <a:endParaRPr lang="en-US" sz="16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D9D9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約49億円分の書類の時間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2423160"/>
            <a:ext cx="841248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" y="2468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利益は目的ではなく、続けるための条件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2468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D9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配当は求めず、現場と開発に戻す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2971800"/>
            <a:ext cx="841248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5760" y="3017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見返りを求めない投資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D9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共感する会社・職人と一緒に育てる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5760" y="3520440"/>
            <a:ext cx="841248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5760" y="3566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それでも止まる線は守る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D9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資金は有限。続けられる形を探す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0" y="4206240"/>
            <a:ext cx="9144000" cy="621792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5760" y="420624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日本の現場の勘を、次の担い手へ。最初の一歩として、6か月で1拠点を動かします。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カンツギ 事業計画書（10分・16枚版）</dc:title>
  <dc:subject>PptxGenJS Presentation</dc:subject>
  <dc:creator>PptxGenJS</dc:creator>
  <cp:lastModifiedBy>PptxGenJS</cp:lastModifiedBy>
  <cp:revision>1</cp:revision>
  <dcterms:created xsi:type="dcterms:W3CDTF">2026-10-17T05:37:42Z</dcterms:created>
  <dcterms:modified xsi:type="dcterms:W3CDTF">2026-10-17T05:37:42Z</dcterms:modified>
</cp:coreProperties>
</file>