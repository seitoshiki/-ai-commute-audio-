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【使い方】
要約：本編は結論と一行の式、詳細版は計算の過程
この資料は、本編の数字の計算の過程をまとめたものです。本編では時間の都合で結論と一行の式だけを示し、質問があればこの資料の該当ページを開きます。本編の右上に、対応するページ番号を書いています。数字はすべて一つの計算モデルから出しているので、どこを聞かれても辻褄が合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【対応表】
要約：本編のページと、詳細版のページの対応
本編のどのページの数字が、詳細版のどこで計算されているかの一覧です。質問を受けたら、このページから該当ページへ飛びます。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【数字の木】
要約：5年目の営業利益を、売上と費用の枝に分解する
5年目の営業利益約773万円を分解した木です。粗利は、利用料からAIと保存の費用を引いたものと、導入支援・受託から担当者の人件費などを引いたものの合計。販管費は、人件費から原価に回した分を引き、採用費と家賃などを足したもの。動かせるのは、拠点数、1拠点の台数、社員数の3つ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【前提一覧】
要約：前提と懸念を一枚に。確度の低いものから実証で測る
計画の前提の一覧です。確度は、統計、公表価格、見積、仮説の4つに分けています。仮説のものは実証で測ります。特に大事なのは、1台1日の削減時間、AIと保存の実際の費用、値段への反応、手戻りの削減の4つ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【人件費】
要約：1時間の人件費は、統計の年収÷残業を含む総労働時間
お客様の1時間あたりの人件費です。厚生労働省の賃金構造基本統計調査の年収に、会社が負担する社会保険料の約16%を足し、建設業の残業を含む年間の総実労働時間、約2,000時間で割りました。電工は約3,200円、施工管理者は約3,600円です。所定の1,950時間で割ると、残業代込みの年収を少ない時間で割ることになり、単価が高く出てしまいます。残業が減った分は25%の割増で評価できますが、計画では使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【削減時間】
要約：得をするのは端末を着けた班だけ。1台1日35分で年約480万円
得をするのは、端末を着けた班だけです。1拠点10台、年240日使うとして、職長の日報と撮影が1日15分、施工管理者の写真整理と写真台帳が20分減ると、年約479万円です。建設業の書類電子化の実績として知られる月6.5時間は、原典を確認できていないので使いません。実証で、導入前の2週間と導入後の4週間を比べて、1台1日の削減分を測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【手戻り・指導】
要約：手戻りと新人指導は、実証で測るまで計画に入れない
手戻りの削減は、AIの出力がそのまま現場で使える前提では大きく見えますが、実際には当社の現場監修と、工種ごとの準備がいります。対象をARが効く工種の3割に絞ると年360万円で、これは上振れとして計画には入れません。新人の指導時間は、他の仕事と混ざっていて測れないので金額にしません。代わりに独り立ちまでの月数などを測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【元が取れる条件】
要約：お客様が元を取るには、1台1日26分減ればよい
お客様が1年に払うのは、当社への300万円と端末のリース約53万円です。これを10台×240日で割ると、1台1日約1,470円。人件費で割り戻すと、1台1日約26分減れば元が取れます。値段を月18万円に下げるとお客様は約1.8倍になりますが、当社は5年目でも黒字になりません。値下げではなく、1台あたりの削減時間を上げることと、手戻りを実測することで価値を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【値段】
要約：値段は「基盤＋端末の台数」。1拠点10台で年300万円
値段の内訳です。会社のデータ基盤が月5万円、端末1台ごとのライセンスが月2万円。10台なら月25万円、年300万円です。端末本体はお客様がリース会社と直接契約し、当社の売上には入れません。教材化や手元ARはオプションとし、計画には入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【端末の台数】
要約：全員には着けない。1班に1台、職長が着ける
1現場に何台いるか。電工が5人いる現場が5つあれば25台になりますが、全員には着けません。班の作業が映るのは職長の視点なので、1班に1台を職長が着けます。5現場に2班ずつで10台。増やすのは、ミスが多い工種や新人がいる班です。記録だけならヘルメットカメラで十分で、手元に図面を出す班だけ産業用のヘッドマウント端末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【AI費用】
要約：AI・保存の費用を積み上げると、粗利率は72%
1台あたり月に、音声の文字起こし約2,200円、画像の解析約1,000円、報告書の生成約200円、動画の保存約700円、転送や端末管理など約1,900円で、合計約6,000円です。これに会社ごとのデータ基盤を月1万円足すと、10台で年84万円、粗利率は約72%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【トレードオフ】
要約：台数では粗利率は崩れない。崩れるのは使い方
端末の台数が増えても、1台の値段が1台の原価を賄っているので、粗利率は約70%で変わりません。崩れるのは使い方です。動画を全部クラウドに送って毎秒解析すると、1台月5万円かかり、値段を超えます。だから、端末で大事な場面だけ切り出す、1台の録画に月80時間の上限と超過料金を設ける、提案の段階で営業と技術が一緒に撮影計画を決める、毎月台ごとの処理量と粗利を見る、の4つを仕組み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【導入支援】
要約：導入支援200万円は、42人日の作業に交通費を足して決めた
導入支援の中身です。現状の調査、端末の設定、図面や手順の登録、研修、現場での立ち会い、効果測定で合計42人日、約2か月です。原価は141万円で、200万円との差、約59万円が粗利です。他社の相場はまだ確かめ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【拠点と解約】
要約：既存・新規・解約を分けて見る。解約は年10%
拠点数を、期首、解約、新規、期末に分けました。海外の目安では、B2BのSaaSの年間解約は大企業で5から10%、中小で30から50%です。記録が貯まるほど乗り換えにくい点を見て、年10%と置きました。実績で更新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【売上の内訳】
要約：売上の柱は既存のお客様の利用料。受託は5%以下に抑える
売上を4つに分けました。5年目は、既存のお客様の利用料が半分を超えます。受託開発は、お客様の施工管理アプリや基幹システムとの連携、大手向けの帳票の調整、教材の個別制作です。エンジニアを取られるので、売上の5%以下を目安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【オフィス・広告】
要約：オフィスは賃料と共益費。広告は展示会・業界団体・事例動画
家賃はオフィスの賃料と共益費です。広告は、5年目の500万円を、展示会、業界団体の勉強会と業界紙、事例動画とホームページ、検索広告、営業資料に分けました。5年目に必要な商談は約100件なので、1商談あたり約5万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【チーム】
要約：役割ごとの人数と年収。社外の顧問と採用費も入れる
チームを役割ごとに決めました。代表、CTO、エンジニア、現場監修、カスタマーサクセス、営業、管理、戦略企画です。年収は役割ごとに置き、会社負担として1.2倍しました。紹介会社を使う採用費と、社外の技術顧問と業界の顧問も入れ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【収支】
要約：5年目に黒字。台数を増やせば4年目
前提をすべて入れた5年間の損益です。黒字化は5年目、営業利益は約773万円。累積の赤字は最も深い4年目で約1.35億円です。1拠点の台数を15台に増やせると4年目に黒字になり、値下げすると5年目でも黒字にな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【損益分岐点】
要約：売上で見ても、人で見ても5年目
損益分岐点は二通りで見ています。一つは販管費を粗利率で割る売上ベースで、5年目に初めて売上が上回ります。もう一つは社員1人あたりの拠点数で、5年目の販管費約734万円を1拠点の粗利216万円で割って約3.4。新規は初年度に半年分しか払わないので、期末では約4拠点が目安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【LTV・CAC】
要約：LTVは控えめに7年。獲得費用の約18倍
1拠点の粗利は年216万円。7年分と導入支援の粗利で、LTVは約1,571万円です。CACは5年目の営業3人の人件費と広告500万円を新規33拠点で割って約86万円。解約が年10%なら平均10年続くので、7年は控えめです。3年で解約されても約8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【ストレステスト】
要約：計画に余裕は少ない。守りは台数と採用の連動
前提を一つずつ崩しました。正直に言うと、計画に余裕は少なく、値引き、解約の増加、AI費用の増加、年収の上昇のどれか1つでも、10台のままでは5年以内に黒字になりません。特に危ないのは、動画を全部クラウドで解析する使い方と、獲得が遅れているのに計画どおり採用することです。守りは、1拠点の台数を増やすことと、採用を拠点数に合わせて遅らせることです。15台にできれば4年目に黒字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【撤退ライン】
要約：黒字の鍵は拠点数より、1拠点の台数。止まる線も先に決める
新規拠点が計画に届かなかった場合です。1拠点10台のままだと、計画の9割を下回ると5年以内に黒字になりません。15台に増やせれば、計画の6割でも5年目に黒字です。進むか止まるかの線を、実証、1年目末、2年目末、3年目で先に決め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【資金計画】
要約：必要資金1.8億円は積み上げで出した
必要資金1.8億円は、累積赤字のピーク約1.35億円、最低残高として固定費3か月分、残りを遅れへの備えとして積み上げました。1年目に1億2,500万円、3年目にシリーズAで5,000万円を調達します。準備期の約500万円は自己資金と補助金でまかな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【市場規模】
要約：ターゲット市場は業種×規模で数えて約141億円
市場規模の計算です。業種と規模の2つの軸で分けて、顧客数かける年額を足しました。電気工事と電気通信工事の中堅以上、約3,100社で約141億円です。土台の65,497社は国の統計ですが、規模別の内訳は仮定なので、聞かれたら推計だと正直に言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【ターゲット】
要約：規模ではなく条件で絞る。営業1人は月3件の商談
ターゲットを規模だけでなく条件で絞りました。施工管理者30人以上、電力会社や官公庁の工事が多く写真台帳の提出が多い、ケーブル接続など手戻りが高くつく工種がある、デジタル化の素地がある、の4つです。5年目に必要な商談は約100件、営業3人で1人月約3件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【端末と実証】
要約：グラスは作らず選ぶ。効果は実証で測る
端末と実証の設計です。グラス本体は開発しません。現場の条件で市販の端末を選び、乗り換えられる設計にします。実証では、1台1日の削減時間、手戻りの件数、1ジョイントの作業時間、新人が独り立ちするまでの期間を測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【厳しい質問】
要約：厳しい質問には、数字→式→前提の順で答える
厳しい質問への回答集です。それぞれ、一言の答えと、根拠のページを書いています。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【出典】
要約：公的統計と公表価格。未確認のものは未確認と書く
出典の一覧です。最新の年の値や原表を確かめていないものには印を付けています。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837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現場の勘を、次の担い手へ。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2743200" cy="58782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数字には、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すべて式と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前提がある。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3657600" y="502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カンツギ　事業計画書　別冊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657600" y="822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計算詳細版</a:t>
            </a:r>
            <a:endParaRPr lang="en-US" sz="2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質問されたら、ここを開く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3657600" y="1920240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657600" y="1920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p.3〜4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920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数字の木・前提の一覧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657600" y="2304288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0" y="23042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p.5〜8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3042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お客様の得：人件費・削減時間・手戻り・元が取れる条件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0" y="2688336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57600" y="26883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p.9〜13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26883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値段と原価：内訳・台数・AI費用・粗利率・導入支援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0" y="3072384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657600" y="30723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p.14〜23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30723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売上・費用・チーム・収支・損益分岐点・LTV・崩れたとき・資金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657600" y="3456432"/>
            <a:ext cx="5120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657600" y="34564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p.24〜28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63440" y="3456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市場・ターゲット・端末と実証・厳しい質問・出典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365760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二段構え：本編は「結論と一行の式」、この資料は「計算の過程」。本編の右上の「詳細版 p.○」がこの資料のページ。数字はすべて tora_v2.js から出力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本編との対応表 ─ この数字は、どこで計算しているか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本編の右上にも同じページ番号を書いている</a:t>
            </a:r>
            <a:endParaRPr lang="en-US" sz="1200" dirty="0"/>
          </a:p>
        </p:txBody>
      </p:sp>
      <p:graphicFrame>
        <p:nvGraphicFramePr>
          <p:cNvPr id="3" name="ma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486400"/>
                <a:gridCol w="91440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本編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本編で言う数字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詳細版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p.7 導入効果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1拠点10台で年約479万円・払う額の約1.4倍・元が取れるのは1台1日26分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p.5〜8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p.15〜16 ビジネス・収益モデル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 月5万円＋端末 月2万円×10台＝年300万円、導入支援200万円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p.9〜13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p.16 収益モデル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1拠点の粗利 年216万円（粗利率72%）、LTV約1,571万円・CAC約86万円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p.11・20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p.17 売り方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条件に合う約180社 → 5年で約85拠点（解約を引いて81拠点）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p.25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p.18 売上予測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5年目の売上 約269百万円、解約は年10%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p.14〜16・18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p.19 損益分岐点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5年目に超える。社員1人約4拠点が目安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p.19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p.20 資金計画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必要資金1.8億円。現金の谷 約4,000万円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p.23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p.21 黒字化の条件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10台のままでは計画の9割を割ると黒字にならない。15台なら6割でも黒字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p.21〜22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p.22 チーム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5年目21人。役割別の年収×1.2＋採用費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p.13 市場規模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ターゲット市場 約141億円、5年目 約2.43億円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p.24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206240"/>
            <a:ext cx="841248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02920" y="42062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答え方：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 → 式 → 前提の順。前提が仮説なら「実証で測ります」と言い切る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p.18〜19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数字の木 ─ 5年目の営業利益 約770万円を分解する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どの数字を聞かれても、この木のどこかを指せば答えられる（単位：百万円）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2377440"/>
            <a:ext cx="1600200" cy="5669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38912" y="2395728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営業利益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267919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 − 販管費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240280" y="1325880"/>
            <a:ext cx="173736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13432" y="134416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162.0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313432" y="162763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利用料の粗利＋サービスの粗利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240280" y="3429000"/>
            <a:ext cx="173736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313432" y="34472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販管費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154.2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313432" y="373075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人件費−振替＋採用費＋その他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251960" y="1024128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325112" y="104241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利用料の粗利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139.3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325112" y="13258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利用料193.5−AI・保存54.2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251960" y="1682496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25112" y="170078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サービスの粗利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22.6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325112" y="198424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支援・受託75.5−人件費・交通52.9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251960" y="3017520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325112" y="303580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172.4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325112" y="331927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社員21人・役割別の年収×1.2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251960" y="3675888"/>
            <a:ext cx="210312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325112" y="369417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振替・採用・その他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−47.9 / +29.7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325112" y="3977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原価へ振替／採用費・家賃・広告など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629400" y="1005840"/>
            <a:ext cx="21488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B8692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02552" y="1024128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前の年までの利用料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144.0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702552" y="130759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（期首53−解約5）拠点×300万円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629400" y="1609344"/>
            <a:ext cx="21488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B8692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02552" y="162763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新しいお客様の利用料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49.5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702552" y="1911096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新規33拠点×300万円×半年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629400" y="2267712"/>
            <a:ext cx="214884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702552" y="228600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 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66.0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702552" y="2569464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新規33拠点×200万円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2103120" y="1609344"/>
            <a:ext cx="0" cy="21031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965960" y="266090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103120" y="160934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103120" y="371246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0" y="1307592"/>
            <a:ext cx="0" cy="65836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977640" y="160934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0" y="130759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0" y="1965960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0" y="3300984"/>
            <a:ext cx="0" cy="65836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977640" y="371246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0" y="3300984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114800" y="395935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492240" y="1289304"/>
            <a:ext cx="0" cy="603504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355080" y="1307592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492240" y="1892808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55080" y="1965960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92240" y="1965960"/>
            <a:ext cx="0" cy="585216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492240" y="2551176"/>
            <a:ext cx="1371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629400" y="3017520"/>
            <a:ext cx="2148840" cy="12252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6739128" y="30632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動かせるのは3つだけ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拠点数（新規−解約）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1拠点の台数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社員数（採用のペース）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受託開発（9.5百万円）はサービスに含む。端数は四捨五入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全ページ共通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前提と懸念の一覧 ─ 確度の低いものから実証で測る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統計＝公的統計・制度　公表＝メーカー・クラウドの公表価格　見積＝社内見積　仮説＝実証で測る</a:t>
            </a:r>
            <a:endParaRPr lang="en-US" sz="1200" dirty="0"/>
          </a:p>
        </p:txBody>
      </p:sp>
      <p:graphicFrame>
        <p:nvGraphicFramePr>
          <p:cNvPr id="5" name="assum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91640"/>
                <a:gridCol w="548640"/>
                <a:gridCol w="2194560"/>
                <a:gridCol w="256032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懸念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どう確かめるか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1時間の人件費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3,200円／3,600円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統計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最新年の原表を未確認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e-Statで令和6年値に差し替え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1台1日の削減時間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仮説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得の大半を占める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実証で導入前後を記録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端末の台数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1拠点10台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職長だけで足りるか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実証で班ごとに使い方を見る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値段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基盤月5万＋月2万／台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払ってもらえるか未検証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実証3社に価格を聞く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AI・保存の原価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1台月6,000円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使い方で大きく変わる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実証で台ごとの実費を測る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端末とリース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カメラ8万・HMD40万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国内価格・料率が未確認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販売店・リース会社の見積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42人日・200万円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3D化で人日が増える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1社目の実績で更新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手戻りの削減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対象30%×20%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仮説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AIの精度と監修の手間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手戻り件数を実証で記録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解約率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年10%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日本の調査がない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更新時の継続率を記録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会える率・成約率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45〜60%・15〜30%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仮説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4年続けられるか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最初の商談で記録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年収・採用費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役割別×1.2＋紹介料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採用市場の相場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紹介会社の見積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調達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1年目1.25億＋3年目0.5億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出資が取れるか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実証の結果で交渉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仮説の4つ（削減時間・手戻り・値段への反応・会える率と成約率）が、500万円の実証で測る対象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p.7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1時間の人件費 ─ 統計の年収÷残業を含む総労働時間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年収（残業代・賞与込み）を、残業も含めた1年の総労働時間で割る</a:t>
            </a:r>
            <a:endParaRPr lang="en-US" sz="1200" dirty="0"/>
          </a:p>
        </p:txBody>
      </p:sp>
      <p:graphicFrame>
        <p:nvGraphicFramePr>
          <p:cNvPr id="6" name="wa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  <a:gridCol w="45720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施工管理者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年収（残業代・賞与込み）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551万円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620万円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賃金構造基本統計調査（電気工事従事者 令和5年／建築・土木技術者で代用）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 会社負担の社会保険料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×1.16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×1.16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健保5.0%＋厚年9.15%＋雇用1.15%＋労災など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÷ 年間の総実労働時間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 2,056時間（2016年度）・1,986時間（日建連）。残業を含む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＝ 1時間あたり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約3,200円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約3,600円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残業が減る分は×1.25で評価できるが、計画では使わない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2834640"/>
            <a:ext cx="4069080" cy="1600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02920" y="283464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1,950時間で割らない理由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1日8時間 × 約244日 ＝ 1,952時間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これは所定の労働時間で、残業を含まない。残業代込みの年収をこれで割ると、1時間の単価が高く出てしまう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709160" y="2834640"/>
            <a:ext cx="40690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846320" y="283464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なぜ残業を含めるか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年収には残業代が含まれるので、割る時間も残業を含めないと単価が高く出る。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書類の時間が減って残業が減るなら、その時間は割増25%の分だけ価値が高い（上振れ）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最新年（令和6年）の電気工事従事者の年収と、建設業の年間総実労働時間は、原表（e-Stat）で確認する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p.7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削減時間 ─ 得をするのは端末を着けた班だけ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「社員全員が減る」とは数えない。1拠点10台×1台1日35分で数える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024128"/>
            <a:ext cx="406908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024128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式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10台 × 年240日 ×（職長15分×3,200円 ＋ 施工管理20分×3,600円）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年 約479万円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浮く時間は年1,400時間（10台分）</a:t>
            </a:r>
            <a:endParaRPr lang="en-US" sz="950" dirty="0"/>
          </a:p>
        </p:txBody>
      </p:sp>
      <p:graphicFrame>
        <p:nvGraphicFramePr>
          <p:cNvPr id="7" name="minu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05456"/>
          <a:ext cx="406908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00584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中身（1台1日・仮説）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誰の時間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日報・撮影・黒板の書き込み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職長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写真の整理・写真台帳・報告書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施工管理者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1台1日の削減分が変わったら</a:t>
            </a:r>
            <a:endParaRPr lang="en-US" sz="1050" dirty="0"/>
          </a:p>
        </p:txBody>
      </p:sp>
      <p:graphicFrame>
        <p:nvGraphicFramePr>
          <p:cNvPr id="13" name="se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25880"/>
                <a:gridCol w="86868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1台1日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お客様の得（書類）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÷費用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手戻り込み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344万円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1.0倍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2.0倍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479万円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2.4倍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823万円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3.4倍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4709160" y="2505456"/>
            <a:ext cx="4069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846320" y="250545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借りてきた数字は使わない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建設業の書類電子化の実績（月6.5時間）は原典を確認できておらず、ARグラスの効果とも違う。削減時間は実証で測る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65760" y="3611880"/>
            <a:ext cx="841248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502920" y="36118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実証での測り方：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導入前2週間と導入後4週間で、日報・写真整理・写真台帳にかかった時間を、職長と施工管理者が毎日記録（作業ログとアプリの操作記録で裏付け）。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合格ラインは1台1日26分以上（p.8）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年240日は端末を使う日数の見積。1拠点10台は「1班に1台・職長が着ける」前提（p.10）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p.5・7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手戻りと新人指導 ─ 実証で測るまで計画に入れない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AIの出力がそのまま現場で使える前提の数字は、計画に入れない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手戻り：対象工種に絞って上振れに回す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65760" y="1298448"/>
            <a:ext cx="406908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2920" y="1298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完成工事高30億円 × 手戻り2% × 対象工種30% × 削減20%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年360万円（上振れ・計画に入れない）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322576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かかる手間（当社）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・AIの出力はそのまま報告書にならない。現場監修が確認する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・工種ごとに組立図の3D化とミス事例の登録がいる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導入支援と現場監修の人件費として、当社の費用に入れた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新人指導：金額にせず、3つの数で測る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298448"/>
            <a:ext cx="4069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298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指導は他の仕事と混ざっていて、何を指導時間とするか決められない。年144万円は計画から外す</a:t>
            </a:r>
            <a:endParaRPr lang="en-US" sz="950" dirty="0"/>
          </a:p>
        </p:txBody>
      </p:sp>
      <p:graphicFrame>
        <p:nvGraphicFramePr>
          <p:cNvPr id="8" name="coac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322576"/>
          <a:ext cx="4069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060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測る数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測り方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独り立ちまでの月数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職長が「一人で任せられる」と判定した日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先輩が付き添った時間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日報に付き添いの時間を記録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新人のやり直し件数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検査での指摘・やり直しの記録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365760" y="3611880"/>
            <a:ext cx="841248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02920" y="36118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計画に入れるのは書類の削減だけ：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年479万円。手戻り360万円と新人指導は、実証で数字が出てから加える。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本編の導入効果（p.7）は、書類の時間だけで示している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手戻り率2%は海外研究の範囲（工事費の0.4〜6%）から控えめに置いた。対象工種30%・削減20%は仮説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p.7・16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お客様が元を取る条件 ─ 1台1日26分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お客様が払うのは「当社への利用料」と「端末のリース」。初年度は導入支援も</a:t>
            </a:r>
            <a:endParaRPr lang="en-US" sz="1200" dirty="0"/>
          </a:p>
        </p:txBody>
      </p:sp>
      <p:graphicFrame>
        <p:nvGraphicFramePr>
          <p:cNvPr id="9" name="custco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406908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お客様が払うもの（1拠点・年）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当社：基盤 月5万円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当社：端末ライセンス 月2万円×10台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リース会社：ヘルメットカメラ8台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リース会社：産業用HMD 2台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2年目以降の合計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初年度は＋導入支援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035808"/>
            <a:ext cx="406908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02920" y="303580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353万円 ÷（10台×240日）＝ 1台1日 約1,470円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今の単価で約26分減れば元が取れる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値段を下げたら？ 台数を増やしたら？</a:t>
            </a:r>
            <a:endParaRPr lang="en-US" sz="1050" dirty="0"/>
          </a:p>
        </p:txBody>
      </p:sp>
      <p:graphicFrame>
        <p:nvGraphicFramePr>
          <p:cNvPr id="17" name="o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お客様の倍率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当社の黒字化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月25万円・10台（計画）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月18万円に値下げ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15台に増やす（同じ単価）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4709160" y="25328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台数を増やしても、お客様の倍率は1台あたりの得で決まるので変わらない。当社は1拠点の売上が増えて黒字化が早まる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65760" y="3611880"/>
            <a:ext cx="841248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502920" y="36118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値下げでは当社が持たない。①1台あたりの削減時間を上げる（写真台帳・日報の自動化を最優先）②手戻りを実測する ③効果が出た班から台数を増やす。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実証の合格ライン：1台1日26分以上の削減、または手戻りの減少を記録で示せること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リース料は端末価格×3年リースの料率約3%／月の見積。端末価格はp.10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p.2・15・16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値段の内訳 ─ 「会社の基盤」＋「端末の台数」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会社に1つかかる費用と、端末1台ごとにかかる費用を分けた。標準の10台で年300万円</a:t>
            </a:r>
            <a:endParaRPr lang="en-US" sz="1200" dirty="0"/>
          </a:p>
        </p:txBody>
      </p:sp>
      <p:graphicFrame>
        <p:nvGraphicFramePr>
          <p:cNvPr id="10" name="pri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463040"/>
                <a:gridCol w="4343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値段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当社の原価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基盤（1拠点）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月5万円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会社ごとのデータ保管庫・管理画面・図面と手順の登録・権限・月次の効果レポート・問い合わせ窓口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端末ライセンス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月2万円／台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記録 → 写真の自動抽出 → 日報・写真台帳の作成。録画は月80時間まで、超過は従量（単価は実証で決める）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月0.6万円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端末本体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当社の売上外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お客様がリース会社と契約。当社は機種の選定・設定・保護カバーと取付具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導入支援（初年度）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約2か月・42人日（p.13）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141万円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オプション：教材化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月5万円／拠点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熟練者の作業を手順の動画と注意点にまとめる（年4本まで）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現場監修の時間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オプション：手元AR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初期50万円／工種＋月1万円／台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組立図の3D化とミス事例の登録。HMDでミスしやすい所を警告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3D化の作業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定着の支援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利用料に含む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月1回の効果レポートと改善の打合せ、四半期ごとの現場巡回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カスタマーサクセス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886200"/>
            <a:ext cx="84124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02920" y="3886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考え方：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会社に1つかかる費用は基盤で、端末1台ごとにかかるAIの処理代はライセンスで回収する。台数が増えるほど売上も原価も増え、粗利率は崩れない。オプションは計画の売上に入れない（上振れ）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値段はすべて見積。実証3社で「月25万円なら払うか」「端末1台いくらなら増やすか」を聞いて決める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p.11・16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端末の台数 ─ 全員には着けない。1班に1台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5人の現場が5つで25台、とはしない。班の作業が映る職長の視点を記録する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1拠点（100人）の例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7498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3350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38912" y="1591056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2" name="Shape 9"/>
          <p:cNvSpPr/>
          <p:nvPr/>
        </p:nvSpPr>
        <p:spPr>
          <a:xfrm>
            <a:off x="1042416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3" name="Shape 10"/>
          <p:cNvSpPr/>
          <p:nvPr/>
        </p:nvSpPr>
        <p:spPr>
          <a:xfrm>
            <a:off x="438912" y="2029968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5" name="Shape 12"/>
          <p:cNvSpPr/>
          <p:nvPr/>
        </p:nvSpPr>
        <p:spPr>
          <a:xfrm>
            <a:off x="841248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2416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7" name="Shape 14"/>
          <p:cNvSpPr/>
          <p:nvPr/>
        </p:nvSpPr>
        <p:spPr>
          <a:xfrm>
            <a:off x="1188720" y="1316736"/>
            <a:ext cx="7498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88720" y="13350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現場2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261872" y="1591056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20" name="Shape 17"/>
          <p:cNvSpPr/>
          <p:nvPr/>
        </p:nvSpPr>
        <p:spPr>
          <a:xfrm>
            <a:off x="1463040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1" name="Shape 18"/>
          <p:cNvSpPr/>
          <p:nvPr/>
        </p:nvSpPr>
        <p:spPr>
          <a:xfrm>
            <a:off x="1664208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2" name="Shape 19"/>
          <p:cNvSpPr/>
          <p:nvPr/>
        </p:nvSpPr>
        <p:spPr>
          <a:xfrm>
            <a:off x="1865376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3" name="Shape 20"/>
          <p:cNvSpPr/>
          <p:nvPr/>
        </p:nvSpPr>
        <p:spPr>
          <a:xfrm>
            <a:off x="1261872" y="2029968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24" name="Shape 21"/>
          <p:cNvSpPr/>
          <p:nvPr/>
        </p:nvSpPr>
        <p:spPr>
          <a:xfrm>
            <a:off x="1463040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5" name="Shape 22"/>
          <p:cNvSpPr/>
          <p:nvPr/>
        </p:nvSpPr>
        <p:spPr>
          <a:xfrm>
            <a:off x="1664208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6" name="Shape 23"/>
          <p:cNvSpPr/>
          <p:nvPr/>
        </p:nvSpPr>
        <p:spPr>
          <a:xfrm>
            <a:off x="1865376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7" name="Shape 24"/>
          <p:cNvSpPr/>
          <p:nvPr/>
        </p:nvSpPr>
        <p:spPr>
          <a:xfrm>
            <a:off x="2011680" y="1316736"/>
            <a:ext cx="7498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011680" y="13350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現場3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084832" y="1591056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30" name="Shape 27"/>
          <p:cNvSpPr/>
          <p:nvPr/>
        </p:nvSpPr>
        <p:spPr>
          <a:xfrm>
            <a:off x="2286000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1" name="Shape 28"/>
          <p:cNvSpPr/>
          <p:nvPr/>
        </p:nvSpPr>
        <p:spPr>
          <a:xfrm>
            <a:off x="2487168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2" name="Shape 29"/>
          <p:cNvSpPr/>
          <p:nvPr/>
        </p:nvSpPr>
        <p:spPr>
          <a:xfrm>
            <a:off x="2688336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3" name="Shape 30"/>
          <p:cNvSpPr/>
          <p:nvPr/>
        </p:nvSpPr>
        <p:spPr>
          <a:xfrm>
            <a:off x="2084832" y="2029968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34" name="Shape 31"/>
          <p:cNvSpPr/>
          <p:nvPr/>
        </p:nvSpPr>
        <p:spPr>
          <a:xfrm>
            <a:off x="2286000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5" name="Shape 32"/>
          <p:cNvSpPr/>
          <p:nvPr/>
        </p:nvSpPr>
        <p:spPr>
          <a:xfrm>
            <a:off x="2487168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6" name="Shape 33"/>
          <p:cNvSpPr/>
          <p:nvPr/>
        </p:nvSpPr>
        <p:spPr>
          <a:xfrm>
            <a:off x="2688336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7" name="Shape 34"/>
          <p:cNvSpPr/>
          <p:nvPr/>
        </p:nvSpPr>
        <p:spPr>
          <a:xfrm>
            <a:off x="2834640" y="1316736"/>
            <a:ext cx="7498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834640" y="13350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現場4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907792" y="1591056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40" name="Shape 37"/>
          <p:cNvSpPr/>
          <p:nvPr/>
        </p:nvSpPr>
        <p:spPr>
          <a:xfrm>
            <a:off x="3108960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1" name="Shape 38"/>
          <p:cNvSpPr/>
          <p:nvPr/>
        </p:nvSpPr>
        <p:spPr>
          <a:xfrm>
            <a:off x="3310128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2" name="Shape 39"/>
          <p:cNvSpPr/>
          <p:nvPr/>
        </p:nvSpPr>
        <p:spPr>
          <a:xfrm>
            <a:off x="3511296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3" name="Shape 40"/>
          <p:cNvSpPr/>
          <p:nvPr/>
        </p:nvSpPr>
        <p:spPr>
          <a:xfrm>
            <a:off x="2907792" y="2029968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44" name="Shape 41"/>
          <p:cNvSpPr/>
          <p:nvPr/>
        </p:nvSpPr>
        <p:spPr>
          <a:xfrm>
            <a:off x="3108960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5" name="Shape 42"/>
          <p:cNvSpPr/>
          <p:nvPr/>
        </p:nvSpPr>
        <p:spPr>
          <a:xfrm>
            <a:off x="3310128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6" name="Shape 43"/>
          <p:cNvSpPr/>
          <p:nvPr/>
        </p:nvSpPr>
        <p:spPr>
          <a:xfrm>
            <a:off x="3511296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7" name="Shape 44"/>
          <p:cNvSpPr/>
          <p:nvPr/>
        </p:nvSpPr>
        <p:spPr>
          <a:xfrm>
            <a:off x="3657600" y="1316736"/>
            <a:ext cx="7498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657600" y="133502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現場5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3730752" y="1591056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50" name="Shape 47"/>
          <p:cNvSpPr/>
          <p:nvPr/>
        </p:nvSpPr>
        <p:spPr>
          <a:xfrm>
            <a:off x="3931920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1" name="Shape 48"/>
          <p:cNvSpPr/>
          <p:nvPr/>
        </p:nvSpPr>
        <p:spPr>
          <a:xfrm>
            <a:off x="4133088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2" name="Shape 49"/>
          <p:cNvSpPr/>
          <p:nvPr/>
        </p:nvSpPr>
        <p:spPr>
          <a:xfrm>
            <a:off x="4334256" y="16367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3" name="Shape 50"/>
          <p:cNvSpPr/>
          <p:nvPr/>
        </p:nvSpPr>
        <p:spPr>
          <a:xfrm>
            <a:off x="3730752" y="2029968"/>
            <a:ext cx="201168" cy="201168"/>
          </a:xfrm>
          <a:prstGeom prst="ellipse">
            <a:avLst/>
          </a:prstGeom>
          <a:solidFill>
            <a:srgbClr val="B8692E"/>
          </a:solidFill>
          <a:ln/>
        </p:spPr>
      </p:sp>
      <p:sp>
        <p:nvSpPr>
          <p:cNvPr id="54" name="Shape 51"/>
          <p:cNvSpPr/>
          <p:nvPr/>
        </p:nvSpPr>
        <p:spPr>
          <a:xfrm>
            <a:off x="3931920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5" name="Shape 52"/>
          <p:cNvSpPr/>
          <p:nvPr/>
        </p:nvSpPr>
        <p:spPr>
          <a:xfrm>
            <a:off x="4133088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6" name="Shape 53"/>
          <p:cNvSpPr/>
          <p:nvPr/>
        </p:nvSpPr>
        <p:spPr>
          <a:xfrm>
            <a:off x="4334256" y="207568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365760" y="255117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職長（端末を着ける）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● 電工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365760" y="280720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5現場 × 2班 ＝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10台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（電工全員なら35台）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365760" y="320040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台数を増やすのは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・ミスが多い工種（ケーブル接続・端末処理）の班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・新人がいる班（教材の素材が貯まる）</a:t>
            </a:r>
            <a:endParaRPr lang="en-US" sz="950" dirty="0"/>
          </a:p>
        </p:txBody>
      </p:sp>
      <p:sp>
        <p:nvSpPr>
          <p:cNvPr id="60" name="Text 57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端末の種類と値段</a:t>
            </a:r>
            <a:endParaRPr lang="en-US" sz="1050" dirty="0"/>
          </a:p>
        </p:txBody>
      </p:sp>
      <p:graphicFrame>
        <p:nvGraphicFramePr>
          <p:cNvPr id="11" name="devi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4630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種類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使い方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値段（目安）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ヘルメットカメラ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記録だけ。日報・写真台帳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約5〜10万円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産業用HMD（RealWear Navigator 520など）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手元に図面・声で操作・ミス警告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約40万円（$2,700）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一般向けARグラス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2027年以降。軽さが決め手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Shape 58"/>
          <p:cNvSpPr/>
          <p:nvPr/>
        </p:nvSpPr>
        <p:spPr>
          <a:xfrm>
            <a:off x="4709160" y="2990088"/>
            <a:ext cx="4069080" cy="9875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4846320" y="2990088"/>
            <a:ext cx="3794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標準の構成：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カメラ8台＋HMD2台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お客様のリース代 年約53万円（3年リース・料率約3%／月）。端末は当社の売上に入れず、在庫も持たない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365760" y="4005072"/>
            <a:ext cx="841248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502920" y="400507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導入の費用は台数に比例して増える：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だから最初は10台。効果が出た班から増やす（お客様の倍率は台数で変わらない）</a:t>
            </a:r>
            <a:endParaRPr lang="en-US" sz="950" dirty="0"/>
          </a:p>
        </p:txBody>
      </p:sp>
      <p:sp>
        <p:nvSpPr>
          <p:cNvPr id="66" name="Text 6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HMDの値段はメーカー発表の米国価格。国内価格・カメラの価格・リース料率は販売店とリース会社の見積で確認する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p.16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AI・保存の費用 ─ 積み上げると粗利率は72%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端末1台あたりの処理代を、クラウド・AIの公表単価から積み上げた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端末1台あたりのAI・保存費（月）</a:t>
            </a:r>
            <a:endParaRPr lang="en-US" sz="1050" dirty="0"/>
          </a:p>
        </p:txBody>
      </p:sp>
      <p:graphicFrame>
        <p:nvGraphicFramePr>
          <p:cNvPr id="12" name="clou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円／月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音声の文字起こし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1日4時間×20日＝4,800分×$0.003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大事な場面の画像解析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3,000枚×約1,000トークン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日報・報告書の文章生成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20日分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動画の保存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切り出した月10GBを3年保存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転送・監視・端末管理・余裕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6,000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1拠点（10台）で見ると（年）</a:t>
            </a:r>
            <a:endParaRPr lang="en-US" sz="1050" dirty="0"/>
          </a:p>
        </p:txBody>
      </p:sp>
      <p:graphicFrame>
        <p:nvGraphicFramePr>
          <p:cNvPr id="23" name="siteco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売上（基盤60＋端末240）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データ基盤（会社ごとの保管庫）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AI・保存（1台7.2万円×10台）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216（72%）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709160" y="2807208"/>
            <a:ext cx="4069080" cy="10515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4846320" y="280720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データ基盤とAI費用の違い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データ基盤：会社ごとに1つ。図面・手順・権限・記録の保管庫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AI費用：端末ごとに増える。録画の文字起こし・解析・保存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65760" y="3886200"/>
            <a:ext cx="8412480" cy="5669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502920" y="3886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粗利率は妥当か：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一般のSaaSは70〜80%、AIを多く使うサービスはそれより低いと言われる。72%はその範囲。実証で1台あたりの実費を測って更新する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単価はクラウド・AIの公表価格（$1＝150円）からの見積。モデル・為替・値下げで変わる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p.16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粗利率のトレードオフ ─ 崩れるのは台数より使い方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動画を全部送って毎秒解析すると、1台の原価が値段を超える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1拠点の粗利率（利用料）</a:t>
            </a:r>
            <a:endParaRPr lang="en-US" sz="1050" dirty="0"/>
          </a:p>
        </p:txBody>
      </p:sp>
      <p:graphicFrame>
        <p:nvGraphicFramePr>
          <p:cNvPr id="13" name="tradeof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台数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大事な場面だけ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（1台 月0.6万円）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全編を毎秒解析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（1台 月5万円）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-73%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-104%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-129%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65760" y="271576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1台の値段（月2万円）が1台の原価（月0.6万円）を賄うので、台数を増やしても粗利率はほぼ一定。全編を送ると台数が増えるほど赤字が膨らむ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粗利率を守る4つの仕組み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709160" y="1316736"/>
            <a:ext cx="384048" cy="457200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709160" y="131673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184648" y="1316736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端末で切り出す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作業の区切り・声の合図・危険な動作の前後だけを送る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09160" y="1865376"/>
            <a:ext cx="384048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709160" y="186537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184648" y="1865376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録画の上限と超過料金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1台 月80時間まで。超えたら従量。上限は実証で決める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09160" y="2414016"/>
            <a:ext cx="384048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709160" y="241401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184648" y="2414016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撮影計画を営業と技術で決める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提案の段階で「何を・誰が・何時間撮るか」を決めて見積に入れる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709160" y="2962656"/>
            <a:ext cx="384048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709160" y="29626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5184648" y="2962656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毎月、台ごとの粗利を見る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処理量が多い台は、使い方の見直しか料金の相談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65760" y="3657600"/>
            <a:ext cx="8412480" cy="7955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02920" y="3657600"/>
            <a:ext cx="8138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営業との連携が要になる：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台数を増やす提案は売上を増やすが、使い方を決めずに増やすと原価も増える。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営業の目標は「拠点数」だけでなく「台ごとの粗利」も見る。事業が大きくなるほど、この最適化が経営の仕事になる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全編解析の1台月5万円は、動画1日4時間・毎秒1枚の画像解析と保存を公表単価で見積もった値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p.15・16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導入支援200万円の中身 ─ 42人日＋交通費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200万円は作業を積み上げた原価の約1.4倍として置いた（他社の相場は未確認）</a:t>
            </a:r>
            <a:endParaRPr lang="en-US" sz="1200" dirty="0"/>
          </a:p>
        </p:txBody>
      </p:sp>
      <p:graphicFrame>
        <p:nvGraphicFramePr>
          <p:cNvPr id="14" name="task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48463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作業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現状調査・業務の流れの整理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端末の設定・アカウント・端末管理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図面・手順・報告書の型の登録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職長・施工管理者への研修（2回）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現場での立ち会い・初期の手直し（週2日×8週）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導入前後の効果測定レポート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合計（約2か月）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setupco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24128"/>
          <a:ext cx="3291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 42人日×約3.0万円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交通費（16回訪問）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値段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59（30%）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486400" y="2761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日額＝カスタマーサクセスの年収600万円×1.2÷240日</a:t>
            </a:r>
            <a:endParaRPr lang="en-US" sz="850" dirty="0"/>
          </a:p>
        </p:txBody>
      </p:sp>
      <p:sp>
        <p:nvSpPr>
          <p:cNvPr id="9" name="Shape 4"/>
          <p:cNvSpPr/>
          <p:nvPr/>
        </p:nvSpPr>
        <p:spPr>
          <a:xfrm>
            <a:off x="365760" y="3337560"/>
            <a:ext cx="841248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502920" y="333756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懸念と対策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・手元AR（3D化）を含めると人日が増える → 手元ARは工種ごとのオプション（初期50万円）に分けた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・1人で年6拠点（2か月で1拠点）が上限 → 新規が増えるほどカスタマーサクセスの採用が先に要る（p.17）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・お客様の負担が重い → 着手金50%・試験導入の結果で本契約に切り替える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他社の導入支援の相場は未確認。1社目の実績（人日・交通費）で更新する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p.18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拠点の積み上げ ─ 既存・新規・解約を分けて見る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解約は年10%（期首の拠点に対して）。既存から入る利用料と、解約で減る利用料を分ける</a:t>
            </a:r>
            <a:endParaRPr lang="en-US" sz="1200" dirty="0"/>
          </a:p>
        </p:txBody>
      </p:sp>
      <p:graphicFrame>
        <p:nvGraphicFramePr>
          <p:cNvPr id="15" name="stoc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143000"/>
                <a:gridCol w="114300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拠点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期首（既存のお客様）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− 解約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 新規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既存から入る利用料（万円）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新規から入る利用料（半年分）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解約で減った利用料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337560"/>
            <a:ext cx="4069080" cy="11155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02920" y="3337560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年10%の根拠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海外の目安：B2B SaaSの年間の解約は大企業5〜10%、中小30〜50%。記録が貯まるほど乗り換えにくいので、中堅として低めに置いた（日本の調査は見つからず）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709160" y="3337560"/>
            <a:ext cx="406908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846320" y="3337560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解約を減らす手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月次の効果レポートで「何分減ったか」を毎月見せる。年額前払いで、更新の3か月前に効果の振り返りをする。解約の理由は必ず聞いて記録する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1年目の3拠点は有償の試験導入（利用料なし）。解約は期首に起きると置いた控えめな計算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p.18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売上の内訳 ─ 柱は既存の利用料。受託は5%以下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売上＝既存の利用料＋新規の利用料（半年分）＋導入支援＋受託開発（万円）</a:t>
            </a:r>
            <a:endParaRPr lang="en-US" sz="1200" dirty="0"/>
          </a:p>
        </p:txBody>
      </p:sp>
      <p:graphicFrame>
        <p:nvGraphicFramePr>
          <p:cNvPr id="16" name="sa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143000"/>
                <a:gridCol w="114300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既存の利用料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新規の利用料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受託開発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26,900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既存の利用料の割合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30358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受託開発の中身（件数×単価の仮置き）</a:t>
            </a:r>
            <a:endParaRPr lang="en-US" sz="1050" dirty="0"/>
          </a:p>
        </p:txBody>
      </p:sp>
      <p:graphicFrame>
        <p:nvGraphicFramePr>
          <p:cNvPr id="31" name="contrac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10128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1417320"/>
                <a:gridCol w="1691640"/>
                <a:gridCol w="1188720"/>
                <a:gridCol w="17373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試験導入先の施工管理アプリ連携 2件×300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連携・帳票の調整 3件×250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大手の基幹連携600＋2件×250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2件×275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大手の追加450＋2件×250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受託の粗利は1/3（エンジニアの人件費を原価に振り替え）。受託が増えるとプロダクトの開発が遅れるので、売上の5%以下を目安にする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p.18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オフィスと広告 ─ 何にいくら使い、何件の商談を生むか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家賃＝オフィスの賃料＋共益費。広告は展示会・業界団体・事例動画が中心</a:t>
            </a:r>
            <a:endParaRPr lang="en-US" sz="1200" dirty="0"/>
          </a:p>
        </p:txBody>
      </p:sp>
      <p:graphicFrame>
        <p:nvGraphicFramePr>
          <p:cNvPr id="17" name="oth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406908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594360"/>
                <a:gridCol w="59436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その他の経費（万円）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オフィス（賃料＋共益費）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広告・展示会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営業・定着支援の交通費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検証用の端末・ソフト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専門家（税理士・弁護士・弁理士・社労士）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社外顧問（技術・業界）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雑費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3291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オフィス：川崎市。1年目15坪→5年目40坪、坪1.25〜1.3万円（相場は要確認）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5年目の広告500万円の内訳と商談数</a:t>
            </a:r>
            <a:endParaRPr lang="en-US" sz="1050" dirty="0"/>
          </a:p>
        </p:txBody>
      </p:sp>
      <p:graphicFrame>
        <p:nvGraphicFramePr>
          <p:cNvPr id="33" name="ad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"/>
                <a:gridCol w="6858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媒体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展示会（電設の展示会など）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業界団体の勉強会・業界紙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事例動画・ホームページ（YouTubeに置く）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検索・SNS広告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営業資料・デモ機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紹介（既存のお客様・協力会社・メーカー）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365760" y="3749040"/>
            <a:ext cx="8412480" cy="7040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502920" y="3749040"/>
            <a:ext cx="8138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費用対効果：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5年目は新規33拠点≒約25社。成約率25%なら商談約100件。500万円÷100件＝1商談5万円、1拠点約15万円。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媒体ごとの商談数は仮説。最初の1年で媒体ごとに「名刺→商談→成約」を記録し、効かない媒体はやめる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YouTubeは単独の広告ではなく、事例動画の置き場所。現場の人が「自分の工事で使えるか」を見て、展示会や勉強会から来てもらう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p.22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チームと採用計画 ─ 役割ごとに人数と年収を決める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人件費＝役割別の年収×1.2（会社負担）。これに採用費と社外顧問の費用を足す</a:t>
            </a:r>
            <a:endParaRPr lang="en-US" sz="1200" dirty="0"/>
          </a:p>
        </p:txBody>
      </p:sp>
      <p:graphicFrame>
        <p:nvGraphicFramePr>
          <p:cNvPr id="18" name="tea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457200"/>
                <a:gridCol w="457200"/>
                <a:gridCol w="457200"/>
                <a:gridCol w="457200"/>
                <a:gridCol w="457200"/>
                <a:gridCol w="333756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年収（万円）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主な仕事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代表（創業者）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480〜720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資金調達・最初の営業・現場監修の統括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CTO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映像AI・データ基盤の設計と開発の責任者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エンジニア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アプリ・AI処理・クラウド・端末連携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現場監修（施工管理経験者）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映像の意味づけ・工種の型・品質の確認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カスタマーサクセス（導入・定着）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導入支援（1人年6拠点）と定着の支援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営業（技術営業）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商談・試験導入の提案。年30商談／人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管理（人事・経理・総務）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採用・労務・経理・契約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戦略企画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価格・提携・大手顧客の企画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社員数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人件費（会社負担込み）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3,516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6,120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9,324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14,124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17,244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年収×1.2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採用費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年収の30%×紹介会社経由50%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822192"/>
            <a:ext cx="841248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02920" y="38221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技術顧問（大学・映像AI）月10万円、業界顧問（電気工事業のOB）月5万円 ＝ 年180万円。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カスタマーサクセスは「その年の新規拠点÷6」で先に採用する。採用は拠点数の実績に合わせて遅らせられる（p.22）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年収はすべて見積（採用市場の相場は要確認）。代表の年収は1年目480万円から段階的に上げる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p.18〜19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収支 ─ 5年目に黒字。台数を増やせば4年目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ここまでの前提をすべて入れた5年間の損益（万円）</a:t>
            </a:r>
            <a:endParaRPr lang="en-US" sz="1200" dirty="0"/>
          </a:p>
        </p:txBody>
      </p:sp>
      <p:graphicFrame>
        <p:nvGraphicFramePr>
          <p:cNvPr id="19" name="p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143000"/>
                <a:gridCol w="1143000"/>
                <a:gridCol w="1143000"/>
                <a:gridCol w="1143000"/>
                <a:gridCol w="11430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4,800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10,700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17,800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26,900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2,401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5,749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10,308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16,196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58%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人件費（原価に振り替えた分を除く）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2,738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4,486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6,323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10,355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12,453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その他の経費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1,170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1,470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1,780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2,190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2,580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営業利益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▲4,034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▲3,863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▲2,736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▲2,837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773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累積の営業損益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▲4,034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▲7,896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▲10,633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▲13,470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▲12,697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whati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56432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1920240"/>
                <a:gridCol w="201168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もし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黒字化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5年目の営業利益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累積赤字のピーク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計画どおり（10台）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773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13,470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1拠点15台に増やす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6,191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8,350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解約が年5%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1,637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13,038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月18万円に値下げ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しない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▲4,645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23,743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累積赤字のピークは約1.35億円。調達は1年目1.25億円＋3年目5,000万円（p.23）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p.19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損益分岐点 ─ 売上で見ても、人で見ても5年目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二つの見方が同じ答えになることを確かめる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売上で見る：損益分岐点売上＝販管費÷粗利率</a:t>
            </a:r>
            <a:endParaRPr lang="en-US" sz="1050" dirty="0"/>
          </a:p>
        </p:txBody>
      </p:sp>
      <p:graphicFrame>
        <p:nvGraphicFramePr>
          <p:cNvPr id="20" name="bep-sa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販管費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粗利率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分岐点売上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実際の売上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安全余裕率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7091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人で見る：社員1人あたりの拠点数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709160" y="1325880"/>
            <a:ext cx="4069080" cy="868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846320" y="134416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社員1人の販管費 734万円（5年目：15,423万円÷21人）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÷ 1拠点の粗利 216万円 ＝ 3.4拠点／人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新規は初年度半額 → 期末で1人約4拠点</a:t>
            </a:r>
            <a:endParaRPr lang="en-US" sz="950" dirty="0"/>
          </a:p>
        </p:txBody>
      </p:sp>
      <p:graphicFrame>
        <p:nvGraphicFramePr>
          <p:cNvPr id="39" name="bep-peo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28600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拠点÷社員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2.64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3.86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365760" y="3154680"/>
            <a:ext cx="8412480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502920" y="31546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なぜ販管費を「固定費」とみなすか：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販管費の大半は人件費と家賃で、売上が増えても1年の中では動かない。変動費（AI・保存の費用、導入支援と受託の人件費）は原価に入れてある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聞かれたらこう答える：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「4年目は社員17人で53拠点、1人3.12で届かず赤字。5年目は21人で81拠点、3.86で黒字です」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経営のルール：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採用は「期末で1人約4拠点を超える見込み」が立ってから（p.22）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社員1人の販管費は年で動く（1年目1,087万円、5年目734万円）。安全余裕率＝（売上−分岐点売上）÷売上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p.16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LTV・CAC ─ 控えめに7年。3年で解約されても8倍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LTV＝1拠点の年の粗利×継続年数＋導入支援の粗利　CAC＝営業・広告費÷新規拠点数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051560"/>
            <a:ext cx="4069080" cy="1143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0972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LTV（1拠点が残す粗利）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216万円 × 7年 ＋ 59万円 ＝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約1,571万円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216万円＝300万円−AI・保存84万円　59万円＝200万円−141万円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4069080" cy="1143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46320" y="10972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CAC（1拠点を獲得する費用）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（2,340万円＋500万円）÷ 33拠点 ＝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約86万円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5年目：営業3人（年収650万円×1.2）＋広告・展示会 ÷ 新規拠点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23500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継続年数を変えたら</a:t>
            </a:r>
            <a:endParaRPr lang="en-US" sz="1050" dirty="0"/>
          </a:p>
        </p:txBody>
      </p:sp>
      <p:graphicFrame>
        <p:nvGraphicFramePr>
          <p:cNvPr id="21" name="ltv-yea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24328"/>
          <a:ext cx="40690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280160"/>
                <a:gridCol w="12801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継続年数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LTV÷CAC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707万円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1,139万円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7年（計画）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1,571万円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2,219万円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709160" y="23500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獲得が難しくなったら</a:t>
            </a:r>
            <a:endParaRPr lang="en-US" sz="1050" dirty="0"/>
          </a:p>
        </p:txBody>
      </p:sp>
      <p:graphicFrame>
        <p:nvGraphicFramePr>
          <p:cNvPr id="41" name="cac-stres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624328"/>
          <a:ext cx="4069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234440"/>
                <a:gridCol w="12344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CAC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LTV÷CAC（7年）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回収期間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86万円（計画）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172万円（2倍）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344万円（4倍）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19か月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365760" y="3931920"/>
            <a:ext cx="841248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02920" y="39319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7年は控えめ：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解約が年10%なら平均10年続く計算。7年は年約14%の解約に相当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SaaSでよく使われる目安は「LTV÷CACが3倍以上、回収12か月以内」。当社は18倍・約5か月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1〜2年目は創業者が営業するため、CACに創業者の人件費は入れていない（聞かれたら正直に言う）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p.21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崩れたら ─ 前提を一つずつ崩したストレステスト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同じ計算モデルで1つずつ前提を変えた結果。最低現金のライン＝固定費3か月分</a:t>
            </a:r>
            <a:endParaRPr lang="en-US" sz="1200" dirty="0"/>
          </a:p>
        </p:txBody>
      </p:sp>
      <p:graphicFrame>
        <p:nvGraphicFramePr>
          <p:cNvPr id="22" name="stres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1005840"/>
                <a:gridCol w="1325880"/>
                <a:gridCol w="141732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シナリオ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想定する事態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黒字化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 営業利益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最低の現金残高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計画どおり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 −20%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値引きされた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▲31百万円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▲31百万円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 年20%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定着しなかった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▲12百万円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AI・保存費が2倍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処理量が想定より多い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▲39百万円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▲47百万円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年収 +100万円／人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採用市場が厳しい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▲24百万円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 −30%（採用も連動）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営業が想定より遅い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▲15百万円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1拠点15台に増やせた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効果が出た班から追加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62百万円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全編をクラウドで解析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やってはいけない例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▲333百万円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▲650百万円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 −30%（採用は計画どおり）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やってはいけない例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5年でしない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▲57百万円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▲102百万円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840480"/>
            <a:ext cx="841248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02920" y="384048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計画に余裕は少ない。値引き・解約・AI費用・年収のどれか1つが崩れるだけで、10台のままでは5年以内に黒字にならない。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守りは2つ。1拠点の台数を増やす（15台で4年目に黒字）と、採用を拠点数に合わせて遅らせる（p.22）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最低現金のライン＝4年目の販管費の3か月分（約33百万円）。調達は全シナリオで同じ（1年目1.25億円＋3年目0.5億円）。簡易計算（税・償却・運転資本は含めない）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p.21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黒字化の条件と撤退ライン ─ 鍵は1拠点の台数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新規が計画に届かないとき、10台のままと15台に増やせた場合を比べる。止まる線を先に引く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0241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新規拠点が計画に届かなかったら（採用も拠点数に合わせて遅らせる・百万円）</a:t>
            </a:r>
            <a:endParaRPr lang="en-US" sz="1000" dirty="0"/>
          </a:p>
        </p:txBody>
      </p:sp>
      <p:graphicFrame>
        <p:nvGraphicFramePr>
          <p:cNvPr id="23" name="shortfal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27048"/>
          <a:ext cx="84124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00200"/>
                <a:gridCol w="960120"/>
                <a:gridCol w="960120"/>
                <a:gridCol w="868680"/>
                <a:gridCol w="960120"/>
                <a:gridCol w="1051560"/>
                <a:gridCol w="86868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新規の達成度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新規拠点（1〜5年目）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黒字化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5年目利益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最低現金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黒字化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5年目利益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最低現金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計画どおり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3・9・18・27・33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計画の9割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3・8・16・24・30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計画の8割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2・7・14・22・26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5年でしない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計画の7割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2・6・13・19・23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5年でしない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計画の6割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2・5・11・16・20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5年でしない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▲19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-14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108960" y="1298448"/>
            <a:ext cx="2788920" cy="21031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1拠点10台のまま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5897880" y="1298448"/>
            <a:ext cx="2880360" cy="21031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1拠点15台に増やせた場合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29626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進む・直す・止まるの線（案）</a:t>
            </a:r>
            <a:endParaRPr lang="en-US" sz="1000" dirty="0"/>
          </a:p>
        </p:txBody>
      </p:sp>
      <p:graphicFrame>
        <p:nvGraphicFramePr>
          <p:cNvPr id="45" name="ga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18688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463040"/>
                <a:gridCol w="228600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測るもの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進む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止まる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実証（準備期）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1台1日の削減時間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26分以上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15〜26分：機能を写真台帳に絞る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15分未満：撤退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試験導入3社の本契約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2社以上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1社：値段と顧客を見直す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0社：撤退か方向転換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2年目末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新規拠点・1拠点の台数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5拠点以上・平均12台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5拠点未満：採用を止める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シリーズAの交渉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継続率90%以上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未達：調達額と採用を絞る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新規拠点・受託を同じ割合で減らし、社員数＝4＋（計画−4）×達成度で採用も遅らせた簡易計算。15台はカメラ12台＋HMD3台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p.20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資金計画 ─ 必要資金1.8億円は積み上げで出した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「集められるだけ集める」ではなく「必要額を積んだら1.8億円」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必要資金の積み上げ</a:t>
            </a:r>
            <a:endParaRPr lang="en-US" sz="1050" dirty="0"/>
          </a:p>
        </p:txBody>
      </p:sp>
      <p:graphicFrame>
        <p:nvGraphicFramePr>
          <p:cNvPr id="24" name="ne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00584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累積赤字のピーク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13,470万円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1〜4年目の赤字の合計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最低残高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3,290万円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4年目の販管費の3か月分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遅れへの備え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1,240万円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残り（計画が遅れたときの吸収分）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1億8,000万円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準備期の500万円を含む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65760" y="28346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調達の順番</a:t>
            </a:r>
            <a:endParaRPr lang="en-US" sz="1050" dirty="0"/>
          </a:p>
        </p:txBody>
      </p:sp>
      <p:graphicFrame>
        <p:nvGraphicFramePr>
          <p:cNvPr id="47" name="rais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08960"/>
          <a:ext cx="4069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114300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手段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準備期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自己資金・創業補助金（予定）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日本政策金融公庫（創業融資）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CVC・VC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1億1,500万円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シリーズA（2年目の実績で交渉）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予備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公庫 資本性ローン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2,000万円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7091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期末の現金残高（簡易計算・百万円）</a:t>
            </a:r>
            <a:endParaRPr lang="en-US" sz="1050" dirty="0"/>
          </a:p>
        </p:txBody>
      </p:sp>
      <p:graphicFrame>
        <p:nvGraphicFramePr>
          <p:cNvPr id="70" name="cas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25880"/>
          <a:ext cx="4069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"/>
                <a:gridCol w="594360"/>
                <a:gridCol w="594360"/>
                <a:gridCol w="5943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調達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営業損益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▲40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期末現金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4709160" y="2560320"/>
            <a:ext cx="4069080" cy="1828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4846320" y="26060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黒字倒産を防ぐ4つのルール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利用料は年額前払い。導入支援は着手金50%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現金が固定費3か月分を割る前に追加調達を始める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資金繰り表で12か月先までの入出金を管理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採用は期末で社員1人約4拠点の見込みが立ってから</a:t>
            </a:r>
            <a:endParaRPr lang="en-US" sz="950" dirty="0"/>
          </a:p>
        </p:txBody>
      </p:sp>
      <p:sp>
        <p:nvSpPr>
          <p:cNvPr id="14" name="Text 8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公庫「新規開業・スタートアップ支援資金」の融資限度額7,200万円（うち運転資金4,800万円）。融資額・金利・補助金の採否は要確認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p.13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市場規模の計算 ─ 業種×規模で数えて約141億円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全体市場は第三者の調査、ターゲット市場は「顧客数×年額×年1回」を足し上げる</a:t>
            </a:r>
            <a:endParaRPr lang="en-US" sz="1200" dirty="0"/>
          </a:p>
        </p:txBody>
      </p:sp>
      <p:graphicFrame>
        <p:nvGraphicFramePr>
          <p:cNvPr id="25" name="seg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5577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63040"/>
                <a:gridCol w="15087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業種＼規模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大（300人以上）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中（30〜299人）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小（30人未満）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電気工事会社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300社×1,500万＝45億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2,100社×300万＝63億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電気通信工事会社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100社×1,500万＝15億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600社×300万＝18億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電線・ケーブル工場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C8C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隣接市場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market-assum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5486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電気工事業の許可業者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65,497社（令和7年3月末）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統計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規模別の内訳（大300・中2,100）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資本金5,000万円以上 約2,400社を分けた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仮説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電気通信工事の中堅以上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約700社（完成工事高の比率から）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仮説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1拠点の年額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標準10台で300万円。大手は支店5拠点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小規模を外す理由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書類の量が少なく、1台1日26分を満たしにくい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6126480" y="1051560"/>
            <a:ext cx="265176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6236208" y="109728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ターゲット市場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約141億円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中堅以上 約3,100社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6126480" y="2514600"/>
            <a:ext cx="2651760" cy="1325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6236208" y="2560320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全体市場（第三者の調査）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建設テック（建築分野）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1,845億→3,043億円、年7.4%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スマートファクトリー（国内）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42億→92億米ドル、年9.03%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365760" y="4069080"/>
            <a:ext cx="841248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02920" y="4069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聞かれたら：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「土台の65,497社は国の統計、規模別の内訳は推計です。業界団体の名簿と経済センサスで数え直します」。5年目の売上は約2.43億円で、ターゲット市場の約1.7%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計算は tora_market.js。差し替える統計：国交省「建設業許可業者数調査」業種別・資本金階層別、経済センサス（設備工事業の従業者規模別）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p.14・17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ターゲットと営業 ─ 規模ではなく条件で絞る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中堅2,100社を規模だけで追うと会えない。4つの条件で一次ターゲットを決める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一次ターゲットの4条件（ペルソナ）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105156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65760" y="13167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316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施工管理者30人以上、拠点（支店）が1〜3つ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1773936"/>
            <a:ext cx="105156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5760" y="17739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書類の重さ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17739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電力会社・官公庁の工事が多く、写真台帳と報告書の提出が多い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2231136"/>
            <a:ext cx="105156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5760" y="22311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手戻りの痛さ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22311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ケーブル接続・端末処理など、やり直しが高くつく工種がある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2688336"/>
            <a:ext cx="105156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65760" y="26883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デジタルの素地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508760" y="26883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施工管理アプリを使っている、またはDX担当がいる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3172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決裁は社長・工事部長、使うのは職長と施工管理者、推進はDX担当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5年間の積み上げ（仮説）</a:t>
            </a:r>
            <a:endParaRPr lang="en-US" sz="1050" dirty="0"/>
          </a:p>
        </p:txBody>
      </p:sp>
      <p:graphicFrame>
        <p:nvGraphicFramePr>
          <p:cNvPr id="26" name="funn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48640"/>
                <a:gridCol w="640080"/>
                <a:gridCol w="59436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社数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会える率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成約率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成約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関東の中堅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条件に合う（約25%）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180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それ以外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15%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合計×1社1.3拠点＋大手5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約85拠点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4709160" y="2807208"/>
            <a:ext cx="4069080" cy="685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846320" y="280720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営業1人の量：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5年目の商談約100件÷3人＝1人月約3件。商談は4〜6か月かかるので、常に10〜15件を同時に追う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65760" y="3611880"/>
            <a:ext cx="841248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02920" y="36118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「1人が毎年4件取る」ではない：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黒字の目安「社員1人約4拠点」は、続いている拠点の累計÷全社員。新規は全社で年3→33拠点。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未知数なのは会える率・成約率・商談期間。最初の3社で実測し、届かなければ撤退ライン（p.22）で判断する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条件に合う割合・会える率・成約率・1社あたりの拠点数はすべて仮説。業界団体の名簿と経済センサスで数え直す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本編 p.11 の詳細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端末と実証 ─ グラスは作らず選び、効果は実測する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端末の条件と候補（公表値）、実証で測る数字</a:t>
            </a:r>
            <a:endParaRPr lang="en-US" sz="1200" dirty="0"/>
          </a:p>
        </p:txBody>
      </p:sp>
      <p:graphicFrame>
        <p:nvGraphicFramePr>
          <p:cNvPr id="27" name="device-sp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05840"/>
                <a:gridCol w="2697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現場の条件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候補の公表値（RealWear Navigator 520）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落下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2m級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2mの落下試験（販売店の公表値）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防じん・防水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IP66級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IP66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1シフト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約6〜8時間、動作中に交換できる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装着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ヘルメット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ヘルメット用クリップ（別売）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操作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手袋のまま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音声操作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価格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─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発表時の米国価格 $2,700（国内は販売店に問い合わせ）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記録だけならヘルメットカメラ（約5〜10万円）。ARグラスの一般発売は2027年と報道（公式発表ではない）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5440680" y="1051560"/>
            <a:ext cx="3337560" cy="2423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577840" y="109728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実証（準備期の3か月）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対象：1拠点・2〜3班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導入前2週間と導入後4週間を比べる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測る数字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1台1日の削減時間（合格 26分以上）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手戻り・施工ミスの件数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1台あたりのAI・保存の実費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新人が独り立ちするまでの期間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65760" y="3657600"/>
            <a:ext cx="841248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02920" y="36576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聞かれたら：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「グラスは作りません。作るのはアプリ・AI・データ基盤と、端末を壊さない保護カバーとヘルメット取付具です。端末が進化したら乗り換えます」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手元ARの初期コスト：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組立図の3D化が必要。工種ごとのオプション（初期50万円）にして、1種類から始める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端末の仕様は販売店の公表値。RealWear公式の仕様書で確認する。保護めがねとしての規格適合は要確認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質問への答え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厳しい質問 ─ 数字 → 式 → 前提の順で答える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一言で答え、このページ番号を示す</a:t>
            </a:r>
            <a:endParaRPr lang="en-US" sz="1200" dirty="0"/>
          </a:p>
        </p:txBody>
      </p:sp>
      <p:graphicFrame>
        <p:nvGraphicFramePr>
          <p:cNvPr id="28" name="q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486400"/>
                <a:gridCol w="100584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質問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一言の答え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詳細版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本当に年300万円払う？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1台1日26分減れば元が取れます。想定は35分で、実証で測ります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p.8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1時間の人件費の根拠は？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統計の年収×会社負担1.16÷残業を含む年2,000時間です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p.5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4,000万円も得するのでは？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全員ではなく、端末を着けた班だけで数えています。手戻りは測れてから足します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p.6〜7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端末代は誰が払う？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お客様がリース会社と契約します。10台で年約53万円、当社の売上には入れません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p.9〜10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台数が増えると原価は？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1台の値段が1台の原価を賄うので粗利率は約70%のまま。崩れるのは全編を送る使い方です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p.11〜12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なぜ5年目まで赤字？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人を先に雇うからです。期末で社員1人約4拠点を超える5年目に黒字です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p.19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獲得が遅れたら？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採用も遅らせ、台数を増やします。2年目に5拠点未満なら採用を止めます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p.22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解約率の根拠は？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海外のB2B SaaSの目安から年10%と置きました。日本の実績で更新します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p.14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1.8億円は多すぎない？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赤字のピーク・最低残高・遅れの備えを積んだ額です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p.23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市場が小さくない？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5年目でターゲット市場の約1.7%。工場と海外は含めていません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p.24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グラスは開発できるのか？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作りません。市販の端末を現場仕様にし、乗り換えられる設計にします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p.26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あなたが倒れたら？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役割を絞り判断基準を先に決め、1か月不在でも回る形にします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本編 p.25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詳しい想定問答は「カンツギ_想定問答.md」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577840" y="54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</a:t>
            </a:r>
            <a:endParaRPr lang="en-US" sz="80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 ─ 公的統計と公表価格</a:t>
            </a:r>
            <a:endParaRPr lang="en-US" sz="200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★＝最新年の値・原表を確認していない</a:t>
            </a:r>
            <a:endParaRPr lang="en-US" sz="1200" dirty="0"/>
          </a:p>
        </p:txBody>
      </p:sp>
      <p:graphicFrame>
        <p:nvGraphicFramePr>
          <p:cNvPr id="29" name="sour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3093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出典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電気工事従事者の年収 ★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厚生労働省「令和5年賃金構造基本統計調査」（月36.74万円×12＋賞与110.06万円＝約551万円）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建築・土木技術者の年収 ★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同調査 建築技術者 約642万円（令和6年）・土木技術者 約604万円（令和5年）。施工管理者の区分はないため代用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年間総実労働時間 ★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毎月勤労統計調査を国交省が整理：建設業2,056時間（2016年度）、日建連資料で1,986時間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会社負担の社会保険料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健康保険5.0%・厚生年金9.15%・雇用保険1.15%（令和6年度）＋労災・介護など。目安15〜17%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時間外の割増・上限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労働基準法（割増25%以上、建設業は2024年4月から原則 月45時間・年360時間）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建設業の就業者・年齢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国土交通省（総務省「労働力調査」2024年平均）477万人、55歳以上36.7%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電気工事業の許可業者数 ★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国土交通省 建設業許可業者数（令和7年3月末）65,497社（二次資料で確認）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市場の伸び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矢野経済研究所 No.3789（建設テック）、IMARC Group（Japan Smart Factory）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手戻り率・建設投資 ★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海外研究で工事費の0.4〜6%。建設投資は国交省 2025年度見通し 約75.6兆円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産業用HMD・リース ★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RealWear Navigator 520 $2,700（発表時）。リース料率はリース会社の公表例から3年を約3%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クラウド・AIの単価 ★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音声文字起こし $0.003／分、オブジェクト保存 約$0.025／GB・月など各社の公表価格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解約率の目安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B2B SaaSの年間解約：大企業5〜10%・中小30〜50%（海外の業界記事。一次調査ではない）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創業融資・国の方針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日本政策金融公庫「新規開業・スタートアップ支援資金」、内閣府「人工知能基本計画」（令和8年7月）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65760" y="45537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数字はすべて tora_v2.js から出力。前提を変えると、本編・やさしい版・この資料の表が同じ式で計算し直される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カンツギ 事業計画書 計算詳細版（質問用）</dc:title>
  <dc:subject>PptxGenJS Presentation</dc:subject>
  <dc:creator>PptxGenJS</dc:creator>
  <cp:lastModifiedBy>PptxGenJS</cp:lastModifiedBy>
  <cp:revision>1</cp:revision>
  <dcterms:created xsi:type="dcterms:W3CDTF">2026-10-16T03:49:36Z</dcterms:created>
  <dcterms:modified xsi:type="dcterms:W3CDTF">2026-10-16T03:49:36Z</dcterms:modified>
</cp:coreProperties>
</file>