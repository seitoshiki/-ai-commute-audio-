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【使い方】
要約：本編は結論と一行の式、詳細版は計算の過程
この資料は、本編の数字の計算の過程をまとめたものです。本編では時間の都合で結論と一行の式だけを示し、質問があればこの資料の該当ページを開きます。本編の右上に、対応するページ番号を書いています。数字はすべて一つの計算モデルから出しているので、どこを聞かれても辻褄が合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【対応表】
要約：本編のページと、詳細版のページの対応
本編のどのページの数字が、詳細版のどこで計算されているかの一覧です。質問を受けたら、このページから該当ページへ飛びます。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【数字の木】
要約：5年目の営業利益を、売上と費用の枝に分解する
5年目の営業損益約▲1,117万円を分解した木です。粗利は、利用料からAIと保存の費用を引いたものと、導入支援・個社設定から導入コンサルタントの人件費などを引いたものの合計。販管費は、人件費から原価に回した分を引き、採用費と家賃などを足したもの。動かせるのは、拠点数、1拠点の台数、社員数の3つ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【前提一覧】
要約：前提と懸念を一枚に。確度の低いものから実証で測る
計画の前提の一覧です。確度は、統計、公表価格、見積、仮説の4つに分けています。仮説のものは実証で測ります。特に大事なのは、1台1日の削減時間、AIと保存の実際の費用、値段への反応、手戻りの削減の4つ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【人件費】
要約：1時間の人件費は、統計の年収÷残業を含む総労働時間
お客様の1時間あたりの人件費です。厚生労働省の賃金構造基本統計調査の年収に、会社が負担する社会保険料の約17%を足し、建設業の残業を含む年間の総実労働時間で割りました。総実労働時間は毎月勤労統計調査の令和6年の値、月161.5時間の12か月分で1,938時間です。電工は約3,300円、施工管理者は約3,700円です。よく使われる1,950時間は、1日8時間で約244日という所定の時間の目安で、残業を含みません。値は近いのですが意味が違うので、統計の実績を使いました。残業が減った分は25%の割増で評価できますが、計画では使いませ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【削減時間】
要約：得をするのは端末を着けた班だけ。1台1日35分で年約480万円
得をするのは、端末を着けた班だけです。1拠点10台、年240日使うとして、職長の日報と撮影が1日15分、施工管理者の写真整理と写真台帳が20分減ると、年約499万円です。建設業の書類電子化の実績として知られる月6.5時間は、原典を確認できていないので使いません。実証で、導入前の2週間と導入後の4週間を比べて、1台1日の削減分を測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【手戻り・指導】
要約：手戻りと新人指導は、実証で測るまで計画に入れない
手戻りの削減は、AIの出力がそのまま現場で使える前提では大きく見えますが、実際には当社の現場監修と、工種ごとの準備がいります。対象をARが効く工種の3割に絞ると年360万円で、これは上振れとして計画には入れません。新人の指導時間は、他の仕事と混ざっていて測れないので金額にしません。代わりに独り立ちまでの月数などを測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【元が取れる条件】
要約：お客様が元を取るには、1台1日23分減ればよい
お客様が1年に払うのは、当社への300万円とグラスのリース約32万円です。これを10台×240日で割ると、1台1日約1,382円。人件費で割り戻すと、1台1日約23分減れば元が取れます。値段を月18万円に下げるとお客様は約2.0倍になりますが、当社は5年目でも黒字になりません。値下げではなく、1台あたりの削減時間を上げることと、手戻りを実測することで価値を示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【値段】
要約：値段は「基盤＋端末の台数」。1拠点10台で年300万円
値段の内訳です。会社のデータ基盤が月5万円、端末1台ごとのライセンスが月2万円。10台なら月25万円、年300万円です。AIの出力を各社の報告書の形に整えるところまで、この利用料に含みます。グラス本体はお客様の名義でリースし、手続きは当社が代行します。当社の売上には入れません。教材化や手元ARはオプションとし、計画には入れませ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【端末の台数】
要約：全員には着けない。1班に1台、職長が着ける
1現場に何台いるか。電工が5人いる現場が5つあれば25台になりますが、全員には配りません。班の作業が映るのは職長の視点なので、1班に1台を職長が掛けます。5現場に2班ずつで10台。増やすのは、ミスが多い工種や新人がいる班です。記録はカメラ付きのAIグラスで、手元に図面を出す班だけ表示付きのARグラスにします。粉じんや高所の現場では、産業用のヘッドセットも選べ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【AI費用】
要約：AI・保存の費用を積み上げると、粗利率は72%
1台あたり月に、音声の文字起こし約2,200円、画像の解析約1,000円、報告書の生成約200円、動画の保存約700円、転送や端末管理など約1,900円で、合計約6,000円です。これに会社ごとのデータ基盤を月1万円足すと、10台で年84万円、粗利率は約72%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【トレードオフ】
要約：台数では粗利率は崩れない。崩れるのは使い方
端末の台数が増えても、1台の値段が1台の原価を賄っているので、粗利率は約70%で変わりません。崩れるのは使い方です。動画を全部クラウドに送って毎秒解析すると、1台月5万円かかり、値段を超えます。だから、録画は端末に全部残し、クラウドで解析するのは選んだ場面だけにする、解析する場面の数に月の上限と超過料金を設ける、提案の段階で営業と技術が一緒に撮影計画を決める、毎月台ごとの処理量と粗利を見る、の4つを仕組みに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【導入支援】
要約：導入支援200万円は、42人日の作業に交通費を足して決めた
導入支援の中身です。現状の調査、端末の設定、図面や手順の登録、研修、現場での立ち会い、効果測定で合計42人日、約2か月です。原価は141万円で、200万円との差、約59万円が粗利です。他社の相場はまだ確かめていませ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【拠点と解約】
要約：既存・新規・解約を分けて見る。解約は年10%
拠点数を、期首、解約、新規、期末に分けました。海外の目安では、B2BのSaaSの年間解約は大企業で5から10%、中小で30から50%です。記録が貯まるほど乗り換えにくい点を見て、年10%と置きました。実績で更新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【売上の内訳】
要約：売上の柱は既存のお客様の利用料。個社設定は社内のコンサル部隊が行う
売上を4つに分けました。5年目は、既存のお客様の利用料が半分を超えます。報告書の書式を整える工程は利用料に含みます。有償の個社設定は、大手のお客様の基幹システムとの連携など、標準の出力では足りない部分だけです。外部に委託せず、当社の導入コンサルタントが行い、作った型は製品に戻します。プロダクトの開発が遅れないよう、売上の5%以下を目安に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【オフィス・広告】
要約：オフィスは賃料と共益費。広告は展示会・業界団体・事例動画
家賃はオフィスの賃料と共益費です。広告は、5年目の500万円を、展示会、業界団体の勉強会と業界紙、事例動画とホームページ、検索広告、営業資料に分けました。5年目に必要な商談は約100件なので、1商談あたり約5万円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【チーム】
要約：役割ごとの人数と年収。社外の顧問と採用費も入れる
チームを役割ごとに決めました。代表、CTO、エンジニア、現場監修、導入コンサルタント、営業、管理、戦略企画です。年収は役割ごとに置き、会社負担として1.2倍しました。紹介会社を使う採用費と、社外の技術顧問と業界の顧問も入れ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【収支】
要約：10台のままでは5年で黒字にならない。15台なら5年目
前提をすべて入れた5年間の損益です。1拠点10台のままでは5年目も約1,117万円の赤字で、累積の赤字は約1.83億円です。導入コンサルタントの増員とAIの学習費を入れたためです。1拠点の台数を15台に増やせると5年目に黒字になり、値下げすると赤字が広が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【損益分岐点】
要約：売上で見ても、人で見ても5年目はまだ届かない
損益分岐点は二通りで見ています。一つは販管費を粗利率で割る売上ベースで、5年目の売上は分岐点の約94%です。もう一つは社員1人あたりの拠点数で、5年目の販管費約753万円を1拠点の粗利216万円で割って約3.5。新規は初年度に半年分しか払わないので、期末では約4拠点が目安ですが、5年目は3.52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【LTV・CAC】
要約：LTVは控えめに7年。獲得費用の約18倍
1拠点の粗利は年216万円。7年分と導入支援の粗利で、LTVは約1,571万円です。CACは5年目の営業3人の人件費と広告500万円を新規33拠点で割って約86万円。解約が年10%なら平均10年続くので、7年は控えめです。3年で解約されても約8倍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【ストレステスト】
要約：計画に余裕は少ない。守りは台数と採用の連動
前提を一つずつ崩しました。正直に言うと、1拠点10台のままでは計画どおりでも5年以内に黒字にならず、値引き、解約の増加、AI費用の増加、年収の上昇はどれも赤字を広げます。特に危ないのは、動画を全部クラウドで解析する使い方と、獲得が遅れているのに計画どおり採用することです。守りは、1拠点の台数を増やすことと、採用を拠点数に合わせて遅らせることです。15台にできれば5年目に黒字にな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【撤退ライン】
要約：黒字の鍵は拠点数より、1拠点の台数。止まる線も先に決める
新規拠点が計画に届かなかった場合です。1拠点10台のままだと、計画どおりでも5年以内に黒字になりません。15台に増やせれば、計画の6割でも5年目に黒字です。進むか止まるかの線を、実証、1年目末、2年目末、3年目で先に決め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【資金計画】
要約：自己資金は積み上げで出し、段階に分けて入れる
課題の前提は豊富な資金なので、自己資金でまかないます。必要額は、5年間の赤字の累計約1.83億円、最低残高として固定費3か月分、残りを遅れへの備えとして積み上げ、準備期の500万円を含めて約2.55億円です。準備期に500万円、実証に合格したら1年目に2億円、3年目に継続率と台数の線を越えていれば5,000万円を入れます。融資と出資は使わないので、返済と利息はありませ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【市場規模】
要約：ターゲット市場は業種×規模で数えて約141億円
市場規模の計算です。業種と規模の2つの軸で分けて、顧客数かける年額を足しました。電気工事と電気通信工事の中堅以上、約3,100社で約141億円です。土台の65,497社は国の統計ですが、規模別の内訳は仮定なので、聞かれたら推計だと正直に言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【ターゲット】
要約：規模ではなく条件で絞る。営業1人は月3件の商談
ターゲットを規模だけでなく条件で絞りました。施工管理者30人以上、電力会社や官公庁の工事が多く写真台帳の提出が多い、ケーブル接続など手戻りが高くつく工種がある、デジタル化の素地がある、の4つです。5年目に必要な商談は約100件、営業3人で1人月約3件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【グラスの条件と実証】
要約：普段使いのグラスは軽いが、現場の条件には足りない所がある
グラスと実証の設計です。普段使いのAIグラスは約50グラムと軽く、一日中掛けられますが、現場の条件で見ると足りない所があります。一般向けは動画が1回3分程度まで、開発者向けの映像は720p、連続で撮ると電池が持たず、落下や粉じんへの強さ、保護めがねの規格も確かではありません。だから、要所の短い記録に絞り、準備期に実機で1日使って確かめます。粉じんや高所の現場では、産業用のヘッドセットを選べるようにします。実証では、1台1日の削減時間、手戻りの件数、1台あたりのAI費用、新人が独り立ちするまでの期間を測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【データ基盤】
要約：基盤は会社の記録の置き場と各社の型。原価は月1万円
基盤の中身です。記録の保管庫、図面と手順、各社の報告書の型、電気工事の工種の型、権限と同意、管理画面、月次の効果レポート、連携の口の8つです。原価は月1万円で、値段の月5万円との差で、設定と定着支援の人の時間と開発を回収します。報告書の型と工種の型は、外部に委託せず社内で作るので、お客様が増えるほど次の設定が速くな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【場面の選び方とAIの学習】
要約：全部は送らず、決まり→汎用AI→自社AIの3段階で選ぶ
録画は端末に全部残し、クラウドで解析するのは選んだ場面だけです。最初は作業の区切りや声の合図などの決まりで選び、次にClaudeなどの汎用AIで大事な場面かを判定し、3年目からは現場監修が付けた印で自社の小さな判定AIを学習させます。印を付けるのはAIが迷った5%程度の場面で、1拠点月約2.5時間、5年目の81拠点で約1.3人分です。学習の計算費は2年目から経費に入れまし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【グラスの持ち方】
要約：試験導入はレンタル、本契約はお客様名義のリースを当社が代行、3年目から端末込みも
グラスの持ち方を3段階に分けました。3か月の試験導入でリースを組むのは重いので、当社がレンタルして渡します。本契約からはお客様の名義でリースし、販売店やリース会社との手続きは当社が代行します。3年目からは、当社がまとめて調達して利用料に端末代を含める料金も選べるようにします。端末の売上を当社に入れないのは、利用料の粗利率を見えやすくするため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【10年の延長】
要約：5年目までは変えずに延ばすと、10台でも6年目に黒字。条件は採用のペースを落とすこと
6年目から10年目を、同じ計算式で延ばしました。新しい拠点は年36から40で頭打ち、社員は24人から32人と、5年目までより採用のペースを落とします。導入コンサルタントは新規÷6で8〜9人、現場監修は印付けの量に合わせて2〜4人です。この前提で、1拠点10台のままでも6年目に黒字になり、累積の赤字は8年目に取り戻します。採用を1.3倍にすると黒字は1年遅れます。電線工場や海外は入れていませ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【厳しい質問】
要約：厳しい質問には、数字→式→前提の順で答える
厳しい質問への回答集です。それぞれ、一言の答えと、根拠のページを書いています。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【出典】
要約：公的統計と公表価格。未確認のものは未確認と書く
出典の一覧です。最新の年の値や原表を確かめていないものには印を付けています。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GR_CONTENT">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452360" y="4754880"/>
            <a:ext cx="1325880" cy="284117"/>
          </a:xfrm>
          <a:prstGeom prst="rect">
            <a:avLst/>
          </a:prstGeom>
        </p:spPr>
      </p:pic>
      <p:sp>
        <p:nvSpPr>
          <p:cNvPr id="3" name="Text 0"/>
          <p:cNvSpPr/>
          <p:nvPr/>
        </p:nvSpPr>
        <p:spPr>
          <a:xfrm>
            <a:off x="731520" y="4837176"/>
            <a:ext cx="3200400" cy="201168"/>
          </a:xfrm>
          <a:prstGeom prst="rect">
            <a:avLst/>
          </a:prstGeom>
          <a:noFill/>
          <a:ln/>
        </p:spPr>
        <p:txBody>
          <a:bodyPr wrap="square" lIns="0" tIns="0" rIns="0" bIns="0" rtlCol="0" anchor="ctr"/>
          <a:lstStyle/>
          <a:p>
            <a:pPr algn="l" indent="0" marL="0">
              <a:buNone/>
            </a:pPr>
            <a:r>
              <a:rPr lang="en-US" sz="850" dirty="0">
                <a:solidFill>
                  <a:srgbClr val="8C8C8C"/>
                </a:solidFill>
                <a:latin typeface="Meiryo" pitchFamily="34" charset="0"/>
                <a:ea typeface="Meiryo" pitchFamily="34" charset="-122"/>
                <a:cs typeface="Meiryo" pitchFamily="34" charset="-120"/>
              </a:rPr>
              <a:t>現場の勘を、次の担い手へ。</a:t>
            </a:r>
            <a:endParaRPr lang="en-US" sz="85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GR_COVER">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452360" y="4754880"/>
            <a:ext cx="1325880" cy="284117"/>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Shape 0"/>
          <p:cNvSpPr/>
          <p:nvPr/>
        </p:nvSpPr>
        <p:spPr>
          <a:xfrm>
            <a:off x="0" y="0"/>
            <a:ext cx="3291840" cy="5143500"/>
          </a:xfrm>
          <a:prstGeom prst="rect">
            <a:avLst/>
          </a:prstGeom>
          <a:solidFill>
            <a:srgbClr val="1A1A1A"/>
          </a:solidFill>
          <a:ln/>
        </p:spPr>
      </p:sp>
      <p:pic>
        <p:nvPicPr>
          <p:cNvPr id="4" name="Image 0" descr="preencoded.png">    </p:cNvPr>
          <p:cNvPicPr>
            <a:picLocks noChangeAspect="1"/>
          </p:cNvPicPr>
          <p:nvPr/>
        </p:nvPicPr>
        <p:blipFill>
          <a:blip r:embed="rId1"/>
          <a:stretch>
            <a:fillRect/>
          </a:stretch>
        </p:blipFill>
        <p:spPr>
          <a:xfrm>
            <a:off x="320040" y="960120"/>
            <a:ext cx="2743200" cy="587829"/>
          </a:xfrm>
          <a:prstGeom prst="rect">
            <a:avLst/>
          </a:prstGeom>
        </p:spPr>
      </p:pic>
      <p:sp>
        <p:nvSpPr>
          <p:cNvPr id="5" name="Text 1"/>
          <p:cNvSpPr txBox="1"/>
          <p:nvPr/>
        </p:nvSpPr>
        <p:spPr>
          <a:xfrm>
            <a:off x="365760" y="1920240"/>
            <a:ext cx="2743200" cy="1280160"/>
          </a:xfrm>
          <a:prstGeom prst="rect">
            <a:avLst/>
          </a:prstGeom>
          <a:noFill/>
          <a:ln/>
        </p:spPr>
        <p:txBody>
          <a:bodyPr wrap="square" lIns="0" tIns="0" rIns="0" bIns="0" rtlCol="0" anchor="t"/>
          <a:lstStyle/>
          <a:p>
            <a:pPr algn="l" indent="0" marL="0">
              <a:lnSpc>
                <a:spcPct val="120000"/>
              </a:lnSpc>
              <a:buNone/>
            </a:pPr>
            <a:r>
              <a:rPr lang="en-US" sz="2000" b="1" dirty="0">
                <a:solidFill>
                  <a:srgbClr val="FFFFFF"/>
                </a:solidFill>
                <a:latin typeface="Meiryo" pitchFamily="34" charset="0"/>
                <a:ea typeface="Meiryo" pitchFamily="34" charset="-122"/>
                <a:cs typeface="Meiryo" pitchFamily="34" charset="-120"/>
              </a:rPr>
              <a:t>数字には、</a:t>
            </a:r>
            <a:endParaRPr lang="en-US" sz="2000" dirty="0"/>
          </a:p>
          <a:p>
            <a:pPr algn="l" indent="0" marL="0">
              <a:lnSpc>
                <a:spcPct val="120000"/>
              </a:lnSpc>
              <a:buNone/>
            </a:pPr>
            <a:r>
              <a:rPr lang="en-US" sz="2000" b="1" dirty="0">
                <a:solidFill>
                  <a:srgbClr val="FFFFFF"/>
                </a:solidFill>
                <a:latin typeface="Meiryo" pitchFamily="34" charset="0"/>
                <a:ea typeface="Meiryo" pitchFamily="34" charset="-122"/>
                <a:cs typeface="Meiryo" pitchFamily="34" charset="-120"/>
              </a:rPr>
              <a:t>すべて式と</a:t>
            </a:r>
            <a:endParaRPr lang="en-US" sz="2000" dirty="0"/>
          </a:p>
          <a:p>
            <a:pPr algn="l" indent="0" marL="0">
              <a:lnSpc>
                <a:spcPct val="120000"/>
              </a:lnSpc>
              <a:buNone/>
            </a:pPr>
            <a:r>
              <a:rPr lang="en-US" sz="2000" b="1" dirty="0">
                <a:solidFill>
                  <a:srgbClr val="FFFFFF"/>
                </a:solidFill>
                <a:latin typeface="Meiryo" pitchFamily="34" charset="0"/>
                <a:ea typeface="Meiryo" pitchFamily="34" charset="-122"/>
                <a:cs typeface="Meiryo" pitchFamily="34" charset="-120"/>
              </a:rPr>
              <a:t>前提がある。</a:t>
            </a:r>
            <a:endParaRPr lang="en-US" sz="2000" dirty="0"/>
          </a:p>
        </p:txBody>
      </p:sp>
      <p:sp>
        <p:nvSpPr>
          <p:cNvPr id="6" name="Text 2"/>
          <p:cNvSpPr txBox="1"/>
          <p:nvPr/>
        </p:nvSpPr>
        <p:spPr>
          <a:xfrm>
            <a:off x="3657600" y="502920"/>
            <a:ext cx="5029200" cy="256032"/>
          </a:xfrm>
          <a:prstGeom prst="rect">
            <a:avLst/>
          </a:prstGeom>
          <a:noFill/>
          <a:ln/>
        </p:spPr>
        <p:txBody>
          <a:bodyPr wrap="square" lIns="0" tIns="0" rIns="0" bIns="0" rtlCol="0" anchor="t"/>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カンツギ　事業計画書　別冊</a:t>
            </a:r>
            <a:endParaRPr lang="en-US" sz="1200" dirty="0"/>
          </a:p>
        </p:txBody>
      </p:sp>
      <p:sp>
        <p:nvSpPr>
          <p:cNvPr id="7" name="Text 3"/>
          <p:cNvSpPr txBox="1"/>
          <p:nvPr/>
        </p:nvSpPr>
        <p:spPr>
          <a:xfrm>
            <a:off x="3657600" y="822960"/>
            <a:ext cx="5120640" cy="914400"/>
          </a:xfrm>
          <a:prstGeom prst="rect">
            <a:avLst/>
          </a:prstGeom>
          <a:noFill/>
          <a:ln/>
        </p:spPr>
        <p:txBody>
          <a:bodyPr wrap="square" lIns="0" tIns="0" rIns="0" bIns="0" rtlCol="0" anchor="t"/>
          <a:lstStyle/>
          <a:p>
            <a:pPr algn="l" indent="0" marL="0">
              <a:lnSpc>
                <a:spcPct val="115000"/>
              </a:lnSpc>
              <a:buNone/>
            </a:pPr>
            <a:r>
              <a:rPr lang="en-US" sz="2400" b="1" dirty="0">
                <a:solidFill>
                  <a:srgbClr val="B8692E"/>
                </a:solidFill>
                <a:latin typeface="Meiryo" pitchFamily="34" charset="0"/>
                <a:ea typeface="Meiryo" pitchFamily="34" charset="-122"/>
                <a:cs typeface="Meiryo" pitchFamily="34" charset="-120"/>
              </a:rPr>
              <a:t>計算詳細版</a:t>
            </a:r>
            <a:endParaRPr lang="en-US" sz="2400" dirty="0"/>
          </a:p>
          <a:p>
            <a:pPr algn="l" indent="0" marL="0">
              <a:lnSpc>
                <a:spcPct val="115000"/>
              </a:lnSpc>
              <a:buNone/>
            </a:pPr>
            <a:r>
              <a:rPr lang="en-US" sz="2400" b="1" dirty="0">
                <a:solidFill>
                  <a:srgbClr val="1A1A1A"/>
                </a:solidFill>
                <a:latin typeface="Meiryo" pitchFamily="34" charset="0"/>
                <a:ea typeface="Meiryo" pitchFamily="34" charset="-122"/>
                <a:cs typeface="Meiryo" pitchFamily="34" charset="-120"/>
              </a:rPr>
              <a:t>質問されたら、ここを開く</a:t>
            </a:r>
            <a:endParaRPr lang="en-US" sz="2400" dirty="0"/>
          </a:p>
        </p:txBody>
      </p:sp>
      <p:sp>
        <p:nvSpPr>
          <p:cNvPr id="8" name="Shape 4"/>
          <p:cNvSpPr/>
          <p:nvPr/>
        </p:nvSpPr>
        <p:spPr>
          <a:xfrm>
            <a:off x="3657600" y="1828800"/>
            <a:ext cx="5120640" cy="0"/>
          </a:xfrm>
          <a:prstGeom prst="line">
            <a:avLst/>
          </a:prstGeom>
          <a:noFill/>
          <a:ln w="9525">
            <a:solidFill>
              <a:srgbClr val="BFBFBF"/>
            </a:solidFill>
            <a:prstDash val="solid"/>
          </a:ln>
        </p:spPr>
      </p:sp>
      <p:sp>
        <p:nvSpPr>
          <p:cNvPr id="9" name="Text 5"/>
          <p:cNvSpPr txBox="1"/>
          <p:nvPr/>
        </p:nvSpPr>
        <p:spPr>
          <a:xfrm>
            <a:off x="3657600" y="1828800"/>
            <a:ext cx="1005840" cy="347472"/>
          </a:xfrm>
          <a:prstGeom prst="rect">
            <a:avLst/>
          </a:prstGeom>
          <a:noFill/>
          <a:ln/>
        </p:spPr>
        <p:txBody>
          <a:bodyPr wrap="square" lIns="0" tIns="0" rIns="0" bIns="0" rtlCol="0" anchor="ctr"/>
          <a:lstStyle/>
          <a:p>
            <a:pPr algn="l" indent="0" marL="0">
              <a:lnSpc>
                <a:spcPct val="115000"/>
              </a:lnSpc>
              <a:buNone/>
            </a:pPr>
            <a:r>
              <a:rPr lang="en-US" sz="1000" b="1" dirty="0">
                <a:solidFill>
                  <a:srgbClr val="B8692E"/>
                </a:solidFill>
                <a:latin typeface="Meiryo" pitchFamily="34" charset="0"/>
                <a:ea typeface="Meiryo" pitchFamily="34" charset="-122"/>
                <a:cs typeface="Meiryo" pitchFamily="34" charset="-120"/>
              </a:rPr>
              <a:t>p.3〜4</a:t>
            </a:r>
            <a:endParaRPr lang="en-US" sz="1000" dirty="0"/>
          </a:p>
        </p:txBody>
      </p:sp>
      <p:sp>
        <p:nvSpPr>
          <p:cNvPr id="10" name="Text 6"/>
          <p:cNvSpPr txBox="1"/>
          <p:nvPr/>
        </p:nvSpPr>
        <p:spPr>
          <a:xfrm>
            <a:off x="4663440" y="1828800"/>
            <a:ext cx="4114800" cy="347472"/>
          </a:xfrm>
          <a:prstGeom prst="rect">
            <a:avLst/>
          </a:prstGeom>
          <a:noFill/>
          <a:ln/>
        </p:spPr>
        <p:txBody>
          <a:bodyPr wrap="square" lIns="0" tIns="0" rIns="0" bIns="0" rtlCol="0" anchor="ctr"/>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数字の木・前提の一覧</a:t>
            </a:r>
            <a:endParaRPr lang="en-US" sz="950" dirty="0"/>
          </a:p>
        </p:txBody>
      </p:sp>
      <p:sp>
        <p:nvSpPr>
          <p:cNvPr id="11" name="Shape 7"/>
          <p:cNvSpPr/>
          <p:nvPr/>
        </p:nvSpPr>
        <p:spPr>
          <a:xfrm>
            <a:off x="3657600" y="2176272"/>
            <a:ext cx="5120640" cy="0"/>
          </a:xfrm>
          <a:prstGeom prst="line">
            <a:avLst/>
          </a:prstGeom>
          <a:noFill/>
          <a:ln w="9525">
            <a:solidFill>
              <a:srgbClr val="BFBFBF"/>
            </a:solidFill>
            <a:prstDash val="solid"/>
          </a:ln>
        </p:spPr>
      </p:sp>
      <p:sp>
        <p:nvSpPr>
          <p:cNvPr id="12" name="Text 8"/>
          <p:cNvSpPr txBox="1"/>
          <p:nvPr/>
        </p:nvSpPr>
        <p:spPr>
          <a:xfrm>
            <a:off x="3657600" y="2176272"/>
            <a:ext cx="1005840" cy="347472"/>
          </a:xfrm>
          <a:prstGeom prst="rect">
            <a:avLst/>
          </a:prstGeom>
          <a:noFill/>
          <a:ln/>
        </p:spPr>
        <p:txBody>
          <a:bodyPr wrap="square" lIns="0" tIns="0" rIns="0" bIns="0" rtlCol="0" anchor="ctr"/>
          <a:lstStyle/>
          <a:p>
            <a:pPr algn="l" indent="0" marL="0">
              <a:lnSpc>
                <a:spcPct val="115000"/>
              </a:lnSpc>
              <a:buNone/>
            </a:pPr>
            <a:r>
              <a:rPr lang="en-US" sz="1000" b="1" dirty="0">
                <a:solidFill>
                  <a:srgbClr val="B8692E"/>
                </a:solidFill>
                <a:latin typeface="Meiryo" pitchFamily="34" charset="0"/>
                <a:ea typeface="Meiryo" pitchFamily="34" charset="-122"/>
                <a:cs typeface="Meiryo" pitchFamily="34" charset="-120"/>
              </a:rPr>
              <a:t>p.5〜8</a:t>
            </a:r>
            <a:endParaRPr lang="en-US" sz="1000" dirty="0"/>
          </a:p>
        </p:txBody>
      </p:sp>
      <p:sp>
        <p:nvSpPr>
          <p:cNvPr id="13" name="Text 9"/>
          <p:cNvSpPr txBox="1"/>
          <p:nvPr/>
        </p:nvSpPr>
        <p:spPr>
          <a:xfrm>
            <a:off x="4663440" y="2176272"/>
            <a:ext cx="4114800" cy="347472"/>
          </a:xfrm>
          <a:prstGeom prst="rect">
            <a:avLst/>
          </a:prstGeom>
          <a:noFill/>
          <a:ln/>
        </p:spPr>
        <p:txBody>
          <a:bodyPr wrap="square" lIns="0" tIns="0" rIns="0" bIns="0" rtlCol="0" anchor="ctr"/>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お客様の得：人件費・削減時間・手戻り・元が取れる条件</a:t>
            </a:r>
            <a:endParaRPr lang="en-US" sz="950" dirty="0"/>
          </a:p>
        </p:txBody>
      </p:sp>
      <p:sp>
        <p:nvSpPr>
          <p:cNvPr id="14" name="Shape 10"/>
          <p:cNvSpPr/>
          <p:nvPr/>
        </p:nvSpPr>
        <p:spPr>
          <a:xfrm>
            <a:off x="3657600" y="2523744"/>
            <a:ext cx="5120640" cy="0"/>
          </a:xfrm>
          <a:prstGeom prst="line">
            <a:avLst/>
          </a:prstGeom>
          <a:noFill/>
          <a:ln w="9525">
            <a:solidFill>
              <a:srgbClr val="BFBFBF"/>
            </a:solidFill>
            <a:prstDash val="solid"/>
          </a:ln>
        </p:spPr>
      </p:sp>
      <p:sp>
        <p:nvSpPr>
          <p:cNvPr id="15" name="Text 11"/>
          <p:cNvSpPr txBox="1"/>
          <p:nvPr/>
        </p:nvSpPr>
        <p:spPr>
          <a:xfrm>
            <a:off x="3657600" y="2523744"/>
            <a:ext cx="1005840" cy="347472"/>
          </a:xfrm>
          <a:prstGeom prst="rect">
            <a:avLst/>
          </a:prstGeom>
          <a:noFill/>
          <a:ln/>
        </p:spPr>
        <p:txBody>
          <a:bodyPr wrap="square" lIns="0" tIns="0" rIns="0" bIns="0" rtlCol="0" anchor="ctr"/>
          <a:lstStyle/>
          <a:p>
            <a:pPr algn="l" indent="0" marL="0">
              <a:lnSpc>
                <a:spcPct val="115000"/>
              </a:lnSpc>
              <a:buNone/>
            </a:pPr>
            <a:r>
              <a:rPr lang="en-US" sz="1000" b="1" dirty="0">
                <a:solidFill>
                  <a:srgbClr val="B8692E"/>
                </a:solidFill>
                <a:latin typeface="Meiryo" pitchFamily="34" charset="0"/>
                <a:ea typeface="Meiryo" pitchFamily="34" charset="-122"/>
                <a:cs typeface="Meiryo" pitchFamily="34" charset="-120"/>
              </a:rPr>
              <a:t>p.9〜13</a:t>
            </a:r>
            <a:endParaRPr lang="en-US" sz="1000" dirty="0"/>
          </a:p>
        </p:txBody>
      </p:sp>
      <p:sp>
        <p:nvSpPr>
          <p:cNvPr id="16" name="Text 12"/>
          <p:cNvSpPr txBox="1"/>
          <p:nvPr/>
        </p:nvSpPr>
        <p:spPr>
          <a:xfrm>
            <a:off x="4663440" y="2523744"/>
            <a:ext cx="4114800" cy="347472"/>
          </a:xfrm>
          <a:prstGeom prst="rect">
            <a:avLst/>
          </a:prstGeom>
          <a:noFill/>
          <a:ln/>
        </p:spPr>
        <p:txBody>
          <a:bodyPr wrap="square" lIns="0" tIns="0" rIns="0" bIns="0" rtlCol="0" anchor="ctr"/>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値段と原価：内訳・台数・AI費用・粗利率・導入支援</a:t>
            </a:r>
            <a:endParaRPr lang="en-US" sz="950" dirty="0"/>
          </a:p>
        </p:txBody>
      </p:sp>
      <p:sp>
        <p:nvSpPr>
          <p:cNvPr id="17" name="Shape 13"/>
          <p:cNvSpPr/>
          <p:nvPr/>
        </p:nvSpPr>
        <p:spPr>
          <a:xfrm>
            <a:off x="3657600" y="2871216"/>
            <a:ext cx="5120640" cy="0"/>
          </a:xfrm>
          <a:prstGeom prst="line">
            <a:avLst/>
          </a:prstGeom>
          <a:noFill/>
          <a:ln w="9525">
            <a:solidFill>
              <a:srgbClr val="BFBFBF"/>
            </a:solidFill>
            <a:prstDash val="solid"/>
          </a:ln>
        </p:spPr>
      </p:sp>
      <p:sp>
        <p:nvSpPr>
          <p:cNvPr id="18" name="Text 14"/>
          <p:cNvSpPr txBox="1"/>
          <p:nvPr/>
        </p:nvSpPr>
        <p:spPr>
          <a:xfrm>
            <a:off x="3657600" y="2871216"/>
            <a:ext cx="1005840" cy="347472"/>
          </a:xfrm>
          <a:prstGeom prst="rect">
            <a:avLst/>
          </a:prstGeom>
          <a:noFill/>
          <a:ln/>
        </p:spPr>
        <p:txBody>
          <a:bodyPr wrap="square" lIns="0" tIns="0" rIns="0" bIns="0" rtlCol="0" anchor="ctr"/>
          <a:lstStyle/>
          <a:p>
            <a:pPr algn="l" indent="0" marL="0">
              <a:lnSpc>
                <a:spcPct val="115000"/>
              </a:lnSpc>
              <a:buNone/>
            </a:pPr>
            <a:r>
              <a:rPr lang="en-US" sz="1000" b="1" dirty="0">
                <a:solidFill>
                  <a:srgbClr val="B8692E"/>
                </a:solidFill>
                <a:latin typeface="Meiryo" pitchFamily="34" charset="0"/>
                <a:ea typeface="Meiryo" pitchFamily="34" charset="-122"/>
                <a:cs typeface="Meiryo" pitchFamily="34" charset="-120"/>
              </a:rPr>
              <a:t>p.14〜23</a:t>
            </a:r>
            <a:endParaRPr lang="en-US" sz="1000" dirty="0"/>
          </a:p>
        </p:txBody>
      </p:sp>
      <p:sp>
        <p:nvSpPr>
          <p:cNvPr id="19" name="Text 15"/>
          <p:cNvSpPr txBox="1"/>
          <p:nvPr/>
        </p:nvSpPr>
        <p:spPr>
          <a:xfrm>
            <a:off x="4663440" y="2871216"/>
            <a:ext cx="4114800" cy="347472"/>
          </a:xfrm>
          <a:prstGeom prst="rect">
            <a:avLst/>
          </a:prstGeom>
          <a:noFill/>
          <a:ln/>
        </p:spPr>
        <p:txBody>
          <a:bodyPr wrap="square" lIns="0" tIns="0" rIns="0" bIns="0" rtlCol="0" anchor="ctr"/>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売上・費用・チーム・収支・損益分岐点・LTV・崩れたとき・資金</a:t>
            </a:r>
            <a:endParaRPr lang="en-US" sz="950" dirty="0"/>
          </a:p>
        </p:txBody>
      </p:sp>
      <p:sp>
        <p:nvSpPr>
          <p:cNvPr id="20" name="Shape 16"/>
          <p:cNvSpPr/>
          <p:nvPr/>
        </p:nvSpPr>
        <p:spPr>
          <a:xfrm>
            <a:off x="3657600" y="3218688"/>
            <a:ext cx="5120640" cy="0"/>
          </a:xfrm>
          <a:prstGeom prst="line">
            <a:avLst/>
          </a:prstGeom>
          <a:noFill/>
          <a:ln w="9525">
            <a:solidFill>
              <a:srgbClr val="BFBFBF"/>
            </a:solidFill>
            <a:prstDash val="solid"/>
          </a:ln>
        </p:spPr>
      </p:sp>
      <p:sp>
        <p:nvSpPr>
          <p:cNvPr id="21" name="Text 17"/>
          <p:cNvSpPr txBox="1"/>
          <p:nvPr/>
        </p:nvSpPr>
        <p:spPr>
          <a:xfrm>
            <a:off x="3657600" y="3218688"/>
            <a:ext cx="1005840" cy="347472"/>
          </a:xfrm>
          <a:prstGeom prst="rect">
            <a:avLst/>
          </a:prstGeom>
          <a:noFill/>
          <a:ln/>
        </p:spPr>
        <p:txBody>
          <a:bodyPr wrap="square" lIns="0" tIns="0" rIns="0" bIns="0" rtlCol="0" anchor="ctr"/>
          <a:lstStyle/>
          <a:p>
            <a:pPr algn="l" indent="0" marL="0">
              <a:lnSpc>
                <a:spcPct val="115000"/>
              </a:lnSpc>
              <a:buNone/>
            </a:pPr>
            <a:r>
              <a:rPr lang="en-US" sz="1000" b="1" dirty="0">
                <a:solidFill>
                  <a:srgbClr val="B8692E"/>
                </a:solidFill>
                <a:latin typeface="Meiryo" pitchFamily="34" charset="0"/>
                <a:ea typeface="Meiryo" pitchFamily="34" charset="-122"/>
                <a:cs typeface="Meiryo" pitchFamily="34" charset="-120"/>
              </a:rPr>
              <a:t>p.24〜29</a:t>
            </a:r>
            <a:endParaRPr lang="en-US" sz="1000" dirty="0"/>
          </a:p>
        </p:txBody>
      </p:sp>
      <p:sp>
        <p:nvSpPr>
          <p:cNvPr id="22" name="Text 18"/>
          <p:cNvSpPr txBox="1"/>
          <p:nvPr/>
        </p:nvSpPr>
        <p:spPr>
          <a:xfrm>
            <a:off x="4663440" y="3218688"/>
            <a:ext cx="4114800" cy="347472"/>
          </a:xfrm>
          <a:prstGeom prst="rect">
            <a:avLst/>
          </a:prstGeom>
          <a:noFill/>
          <a:ln/>
        </p:spPr>
        <p:txBody>
          <a:bodyPr wrap="square" lIns="0" tIns="0" rIns="0" bIns="0" rtlCol="0" anchor="ctr"/>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市場・ターゲット・グラスと実証・データ基盤・AIの学習・リース</a:t>
            </a:r>
            <a:endParaRPr lang="en-US" sz="950" dirty="0"/>
          </a:p>
        </p:txBody>
      </p:sp>
      <p:sp>
        <p:nvSpPr>
          <p:cNvPr id="23" name="Shape 19"/>
          <p:cNvSpPr/>
          <p:nvPr/>
        </p:nvSpPr>
        <p:spPr>
          <a:xfrm>
            <a:off x="3657600" y="3566160"/>
            <a:ext cx="5120640" cy="0"/>
          </a:xfrm>
          <a:prstGeom prst="line">
            <a:avLst/>
          </a:prstGeom>
          <a:noFill/>
          <a:ln w="9525">
            <a:solidFill>
              <a:srgbClr val="BFBFBF"/>
            </a:solidFill>
            <a:prstDash val="solid"/>
          </a:ln>
        </p:spPr>
      </p:sp>
      <p:sp>
        <p:nvSpPr>
          <p:cNvPr id="24" name="Text 20"/>
          <p:cNvSpPr txBox="1"/>
          <p:nvPr/>
        </p:nvSpPr>
        <p:spPr>
          <a:xfrm>
            <a:off x="3657600" y="3566160"/>
            <a:ext cx="1005840" cy="347472"/>
          </a:xfrm>
          <a:prstGeom prst="rect">
            <a:avLst/>
          </a:prstGeom>
          <a:noFill/>
          <a:ln/>
        </p:spPr>
        <p:txBody>
          <a:bodyPr wrap="square" lIns="0" tIns="0" rIns="0" bIns="0" rtlCol="0" anchor="ctr"/>
          <a:lstStyle/>
          <a:p>
            <a:pPr algn="l" indent="0" marL="0">
              <a:lnSpc>
                <a:spcPct val="115000"/>
              </a:lnSpc>
              <a:buNone/>
            </a:pPr>
            <a:r>
              <a:rPr lang="en-US" sz="1000" b="1" dirty="0">
                <a:solidFill>
                  <a:srgbClr val="B8692E"/>
                </a:solidFill>
                <a:latin typeface="Meiryo" pitchFamily="34" charset="0"/>
                <a:ea typeface="Meiryo" pitchFamily="34" charset="-122"/>
                <a:cs typeface="Meiryo" pitchFamily="34" charset="-120"/>
              </a:rPr>
              <a:t>p.30〜32</a:t>
            </a:r>
            <a:endParaRPr lang="en-US" sz="1000" dirty="0"/>
          </a:p>
        </p:txBody>
      </p:sp>
      <p:sp>
        <p:nvSpPr>
          <p:cNvPr id="25" name="Text 21"/>
          <p:cNvSpPr txBox="1"/>
          <p:nvPr/>
        </p:nvSpPr>
        <p:spPr>
          <a:xfrm>
            <a:off x="4663440" y="3566160"/>
            <a:ext cx="4114800" cy="347472"/>
          </a:xfrm>
          <a:prstGeom prst="rect">
            <a:avLst/>
          </a:prstGeom>
          <a:noFill/>
          <a:ln/>
        </p:spPr>
        <p:txBody>
          <a:bodyPr wrap="square" lIns="0" tIns="0" rIns="0" bIns="0" rtlCol="0" anchor="ctr"/>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10年の延長・厳しい質問・出典</a:t>
            </a:r>
            <a:endParaRPr lang="en-US" sz="950" dirty="0"/>
          </a:p>
        </p:txBody>
      </p:sp>
      <p:sp>
        <p:nvSpPr>
          <p:cNvPr id="26" name="Text 22"/>
          <p:cNvSpPr txBox="1"/>
          <p:nvPr/>
        </p:nvSpPr>
        <p:spPr>
          <a:xfrm>
            <a:off x="3657600" y="3977640"/>
            <a:ext cx="5120640" cy="411480"/>
          </a:xfrm>
          <a:prstGeom prst="rect">
            <a:avLst/>
          </a:prstGeom>
          <a:noFill/>
          <a:ln/>
        </p:spPr>
        <p:txBody>
          <a:bodyPr wrap="square" lIns="0" tIns="0" rIns="0" bIns="0" rtlCol="0" anchor="t"/>
          <a:lstStyle/>
          <a:p>
            <a:pPr algn="l" indent="0" marL="0">
              <a:lnSpc>
                <a:spcPct val="115000"/>
              </a:lnSpc>
              <a:buNone/>
            </a:pPr>
            <a:r>
              <a:rPr lang="en-US" sz="900" dirty="0">
                <a:solidFill>
                  <a:srgbClr val="4D4D4D"/>
                </a:solidFill>
                <a:latin typeface="Meiryo" pitchFamily="34" charset="0"/>
                <a:ea typeface="Meiryo" pitchFamily="34" charset="-122"/>
                <a:cs typeface="Meiryo" pitchFamily="34" charset="-120"/>
              </a:rPr>
              <a:t>二段構え：本編は「結論と一行の式」、この資料は「計算の過程」。本編の右上の「詳細版 p.○」がこの資料のページ。数字はすべて tora_v2.js から出力</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本編との対応表 ─ この数字は、どこで計算しているか</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本編の右上にも同じページ番号を書いている</a:t>
            </a:r>
            <a:endParaRPr lang="en-US" sz="1200" dirty="0"/>
          </a:p>
        </p:txBody>
      </p:sp>
      <p:graphicFrame>
        <p:nvGraphicFramePr>
          <p:cNvPr id="3" name="map"/>
          <p:cNvGraphicFramePr>
            <a:graphicFrameLocks noGrp="1"/>
          </p:cNvGraphicFramePr>
          <p:nvPr>
            <p:extLst>
              <p:ext uri="{D42A27DB-BD31-4B8C-83A1-F6EECF244321}">
                <p14:modId xmlns:p14="http://schemas.microsoft.com/office/powerpoint/2010/main" val="1579011935"/>
              </p:ext>
            </p:extLst>
          </p:nvPr>
        </p:nvGraphicFramePr>
        <p:xfrm>
          <a:off x="365760" y="1024128"/>
          <a:ext cx="8412480" cy="914400"/>
        </p:xfrm>
        <a:graphic>
          <a:graphicData uri="http://schemas.openxmlformats.org/drawingml/2006/table">
            <a:tbl>
              <a:tblPr/>
              <a:tblGrid>
                <a:gridCol w="2011680"/>
                <a:gridCol w="5394960"/>
                <a:gridCol w="1005840"/>
              </a:tblGrid>
              <a:tr h="283464">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本編</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本編で言う数字</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850" b="1" dirty="0">
                          <a:solidFill>
                            <a:srgbClr val="1A1A1A"/>
                          </a:solidFill>
                          <a:latin typeface="Meiryo" pitchFamily="34" charset="0"/>
                          <a:ea typeface="Meiryo" pitchFamily="34" charset="-122"/>
                          <a:cs typeface="Meiryo" pitchFamily="34" charset="-120"/>
                        </a:rPr>
                        <a:t>詳細版</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83464">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p.9 導入効果</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1拠点10台で年約499万円・払う額の約1.5倍・元が取れるのは1台1日23分</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p.5〜8</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83464">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p.13 端末と使い方</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1班に1台・職長。AIグラス8台＋表示付き2台、リース年約32万円</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p.10・26・29</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83464">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p.16 スタッフ</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5年目23人。役割別の年収×1.2＋採用費</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p.17</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83464">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p.20〜21 ビジネス・収益モデル</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年300万円・導入支援200万円。粗利 年216万円（72%）、LTV約1,571万円・CAC約86万円</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p.9〜13・20・27</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83464">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p.22 売り方</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条件に合う約180社 → 5年で約85拠点（解約を引いて81拠点）</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p.25</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83464">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p.23 売上予測</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5年目の売上 約269百万円、解約は年10%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p.14〜16・18</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83464">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p.24 損益分岐点</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5年目は分岐点の約94%。社員1人約4拠点が目安</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p.19</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83464">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p.25 資金計画</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自己資金 約2.55億円。現金の谷 約6,700万円</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p.23</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83464">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p.26 黒字化の条件</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10台のままでは黒字にならない。15台なら計画の6割でも5年目に黒字</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p.21〜22</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83464">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p.18 市場規模</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ターゲット市場 約141億円、5年目 約2.43億円</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p.24</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6" name="Shape 2"/>
          <p:cNvSpPr/>
          <p:nvPr/>
        </p:nvSpPr>
        <p:spPr>
          <a:xfrm>
            <a:off x="365760" y="4206240"/>
            <a:ext cx="8412480" cy="292608"/>
          </a:xfrm>
          <a:prstGeom prst="rect">
            <a:avLst/>
          </a:prstGeom>
          <a:solidFill>
            <a:srgbClr val="1A1A1A"/>
          </a:solidFill>
          <a:ln/>
        </p:spPr>
      </p:sp>
      <p:sp>
        <p:nvSpPr>
          <p:cNvPr id="7" name="Text 3"/>
          <p:cNvSpPr txBox="1"/>
          <p:nvPr/>
        </p:nvSpPr>
        <p:spPr>
          <a:xfrm>
            <a:off x="502920" y="4206240"/>
            <a:ext cx="8138160" cy="292608"/>
          </a:xfrm>
          <a:prstGeom prst="rect">
            <a:avLst/>
          </a:prstGeom>
          <a:noFill/>
          <a:ln/>
        </p:spPr>
        <p:txBody>
          <a:bodyPr wrap="square" lIns="0" tIns="0" rIns="0" bIns="0" rtlCol="0" anchor="ctr"/>
          <a:lstStyle/>
          <a:p>
            <a:pPr algn="l" indent="0" marL="0">
              <a:lnSpc>
                <a:spcPct val="115000"/>
              </a:lnSpc>
              <a:spcAft>
                <a:spcPts val="200"/>
              </a:spcAft>
              <a:buNone/>
            </a:pPr>
            <a:r>
              <a:rPr lang="en-US" sz="900" b="1" dirty="0">
                <a:solidFill>
                  <a:srgbClr val="E3A774"/>
                </a:solidFill>
                <a:latin typeface="Meiryo" pitchFamily="34" charset="0"/>
                <a:ea typeface="Meiryo" pitchFamily="34" charset="-122"/>
                <a:cs typeface="Meiryo" pitchFamily="34" charset="-120"/>
              </a:rPr>
              <a:t>答え方：</a:t>
            </a:r>
            <a:pPr algn="l" indent="0" marL="0">
              <a:lnSpc>
                <a:spcPct val="115000"/>
              </a:lnSpc>
              <a:spcAft>
                <a:spcPts val="200"/>
              </a:spcAft>
              <a:buNone/>
            </a:pPr>
            <a:r>
              <a:rPr lang="en-US" sz="900" dirty="0">
                <a:solidFill>
                  <a:srgbClr val="FFFFFF"/>
                </a:solidFill>
                <a:latin typeface="Meiryo" pitchFamily="34" charset="0"/>
                <a:ea typeface="Meiryo" pitchFamily="34" charset="-122"/>
                <a:cs typeface="Meiryo" pitchFamily="34" charset="-120"/>
              </a:rPr>
              <a:t>数字 → 式 → 前提の順。前提が仮説なら「実証で測ります」と言い切る</a:t>
            </a:r>
            <a:endParaRPr lang="en-US" sz="9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ext 0"/>
          <p:cNvSpPr txBox="1"/>
          <p:nvPr/>
        </p:nvSpPr>
        <p:spPr>
          <a:xfrm>
            <a:off x="5577840" y="54864"/>
            <a:ext cx="3200400" cy="182880"/>
          </a:xfrm>
          <a:prstGeom prst="rect">
            <a:avLst/>
          </a:prstGeom>
          <a:noFill/>
          <a:ln/>
        </p:spPr>
        <p:txBody>
          <a:bodyPr wrap="square" lIns="0" tIns="0" rIns="0" bIns="0" rtlCol="0" anchor="ctr"/>
          <a:lstStyle/>
          <a:p>
            <a:pPr algn="r" indent="0" marL="0">
              <a:lnSpc>
                <a:spcPct val="115000"/>
              </a:lnSpc>
              <a:buNone/>
            </a:pPr>
            <a:r>
              <a:rPr lang="en-US" sz="800" dirty="0">
                <a:solidFill>
                  <a:srgbClr val="8C8C8C"/>
                </a:solidFill>
                <a:latin typeface="Meiryo" pitchFamily="34" charset="0"/>
                <a:ea typeface="Meiryo" pitchFamily="34" charset="-122"/>
                <a:cs typeface="Meiryo" pitchFamily="34" charset="-120"/>
              </a:rPr>
              <a:t>本編 p.23〜24 の詳細</a:t>
            </a:r>
            <a:endParaRPr lang="en-US" sz="800" dirty="0"/>
          </a:p>
        </p:txBody>
      </p:sp>
      <p:sp>
        <p:nvSpPr>
          <p:cNvPr id="4"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数字の木 ─ 5年目の営業損益 約▲1,120万円を分解する</a:t>
            </a:r>
            <a:endParaRPr lang="en-US" sz="2000" dirty="0"/>
          </a:p>
        </p:txBody>
      </p:sp>
      <p:sp>
        <p:nvSpPr>
          <p:cNvPr id="5"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どの数字を聞かれても、この木のどこかを指せば答えられる（単位：百万円）</a:t>
            </a:r>
            <a:endParaRPr lang="en-US" sz="1200" dirty="0"/>
          </a:p>
        </p:txBody>
      </p:sp>
      <p:sp>
        <p:nvSpPr>
          <p:cNvPr id="6" name="Shape 3"/>
          <p:cNvSpPr/>
          <p:nvPr/>
        </p:nvSpPr>
        <p:spPr>
          <a:xfrm>
            <a:off x="365760" y="2377440"/>
            <a:ext cx="1600200" cy="566928"/>
          </a:xfrm>
          <a:prstGeom prst="rect">
            <a:avLst/>
          </a:prstGeom>
          <a:solidFill>
            <a:srgbClr val="1A1A1A"/>
          </a:solidFill>
          <a:ln/>
        </p:spPr>
      </p:sp>
      <p:sp>
        <p:nvSpPr>
          <p:cNvPr id="7" name="Text 4"/>
          <p:cNvSpPr txBox="1"/>
          <p:nvPr/>
        </p:nvSpPr>
        <p:spPr>
          <a:xfrm>
            <a:off x="438912" y="2395728"/>
            <a:ext cx="1453896" cy="292608"/>
          </a:xfrm>
          <a:prstGeom prst="rect">
            <a:avLst/>
          </a:prstGeom>
          <a:noFill/>
          <a:ln/>
        </p:spPr>
        <p:txBody>
          <a:bodyPr wrap="square" lIns="0" tIns="0" rIns="0" bIns="0" rtlCol="0" anchor="ctr"/>
          <a:lstStyle/>
          <a:p>
            <a:pPr algn="l" indent="0" marL="0">
              <a:lnSpc>
                <a:spcPct val="115000"/>
              </a:lnSpc>
              <a:buNone/>
            </a:pPr>
            <a:r>
              <a:rPr lang="en-US" sz="850" dirty="0">
                <a:solidFill>
                  <a:srgbClr val="FFFFFF"/>
                </a:solidFill>
                <a:latin typeface="Meiryo" pitchFamily="34" charset="0"/>
                <a:ea typeface="Meiryo" pitchFamily="34" charset="-122"/>
                <a:cs typeface="Meiryo" pitchFamily="34" charset="-120"/>
              </a:rPr>
              <a:t>営業損益  </a:t>
            </a:r>
            <a:pPr algn="l" indent="0" marL="0">
              <a:lnSpc>
                <a:spcPct val="115000"/>
              </a:lnSpc>
              <a:buNone/>
            </a:pPr>
            <a:r>
              <a:rPr lang="en-US" sz="1300" b="1" dirty="0">
                <a:solidFill>
                  <a:srgbClr val="E3A774"/>
                </a:solidFill>
                <a:latin typeface="Meiryo" pitchFamily="34" charset="0"/>
                <a:ea typeface="Meiryo" pitchFamily="34" charset="-122"/>
                <a:cs typeface="Meiryo" pitchFamily="34" charset="-120"/>
              </a:rPr>
              <a:t>-11.2</a:t>
            </a:r>
            <a:endParaRPr lang="en-US" sz="1400" dirty="0"/>
          </a:p>
        </p:txBody>
      </p:sp>
      <p:sp>
        <p:nvSpPr>
          <p:cNvPr id="8" name="Text 5"/>
          <p:cNvSpPr txBox="1"/>
          <p:nvPr/>
        </p:nvSpPr>
        <p:spPr>
          <a:xfrm>
            <a:off x="438912" y="2679192"/>
            <a:ext cx="1453896" cy="237744"/>
          </a:xfrm>
          <a:prstGeom prst="rect">
            <a:avLst/>
          </a:prstGeom>
          <a:noFill/>
          <a:ln/>
        </p:spPr>
        <p:txBody>
          <a:bodyPr wrap="square" lIns="0" tIns="0" rIns="0" bIns="0" rtlCol="0" anchor="ctr"/>
          <a:lstStyle/>
          <a:p>
            <a:pPr algn="l" indent="0" marL="0">
              <a:lnSpc>
                <a:spcPct val="115000"/>
              </a:lnSpc>
              <a:buNone/>
            </a:pPr>
            <a:r>
              <a:rPr lang="en-US" sz="750" dirty="0">
                <a:solidFill>
                  <a:srgbClr val="FFFFFF"/>
                </a:solidFill>
                <a:latin typeface="Meiryo" pitchFamily="34" charset="0"/>
                <a:ea typeface="Meiryo" pitchFamily="34" charset="-122"/>
                <a:cs typeface="Meiryo" pitchFamily="34" charset="-120"/>
              </a:rPr>
              <a:t>粗利 − 販管費</a:t>
            </a:r>
            <a:endParaRPr lang="en-US" sz="750" dirty="0"/>
          </a:p>
        </p:txBody>
      </p:sp>
      <p:sp>
        <p:nvSpPr>
          <p:cNvPr id="9" name="Shape 6"/>
          <p:cNvSpPr/>
          <p:nvPr/>
        </p:nvSpPr>
        <p:spPr>
          <a:xfrm>
            <a:off x="2240280" y="1325880"/>
            <a:ext cx="1737360" cy="566928"/>
          </a:xfrm>
          <a:prstGeom prst="rect">
            <a:avLst/>
          </a:prstGeom>
          <a:solidFill>
            <a:srgbClr val="F2F2F2"/>
          </a:solidFill>
          <a:ln/>
        </p:spPr>
      </p:sp>
      <p:sp>
        <p:nvSpPr>
          <p:cNvPr id="10" name="Text 7"/>
          <p:cNvSpPr txBox="1"/>
          <p:nvPr/>
        </p:nvSpPr>
        <p:spPr>
          <a:xfrm>
            <a:off x="2313432" y="1344168"/>
            <a:ext cx="1591056" cy="292608"/>
          </a:xfrm>
          <a:prstGeom prst="rect">
            <a:avLst/>
          </a:prstGeom>
          <a:noFill/>
          <a:ln/>
        </p:spPr>
        <p:txBody>
          <a:bodyPr wrap="square" lIns="0" tIns="0" rIns="0" bIns="0" rtlCol="0" anchor="ctr"/>
          <a:lstStyle/>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粗利  </a:t>
            </a:r>
            <a:pPr algn="l" indent="0" marL="0">
              <a:lnSpc>
                <a:spcPct val="115000"/>
              </a:lnSpc>
              <a:buNone/>
            </a:pPr>
            <a:r>
              <a:rPr lang="en-US" sz="1300" b="1" dirty="0">
                <a:solidFill>
                  <a:srgbClr val="1A1A1A"/>
                </a:solidFill>
                <a:latin typeface="Meiryo" pitchFamily="34" charset="0"/>
                <a:ea typeface="Meiryo" pitchFamily="34" charset="-122"/>
                <a:cs typeface="Meiryo" pitchFamily="34" charset="-120"/>
              </a:rPr>
              <a:t>162.0</a:t>
            </a:r>
            <a:endParaRPr lang="en-US" sz="1400" dirty="0"/>
          </a:p>
        </p:txBody>
      </p:sp>
      <p:sp>
        <p:nvSpPr>
          <p:cNvPr id="11" name="Text 8"/>
          <p:cNvSpPr txBox="1"/>
          <p:nvPr/>
        </p:nvSpPr>
        <p:spPr>
          <a:xfrm>
            <a:off x="2313432" y="1627632"/>
            <a:ext cx="1591056" cy="237744"/>
          </a:xfrm>
          <a:prstGeom prst="rect">
            <a:avLst/>
          </a:prstGeom>
          <a:noFill/>
          <a:ln/>
        </p:spPr>
        <p:txBody>
          <a:bodyPr wrap="square" lIns="0" tIns="0" rIns="0" bIns="0" rtlCol="0" anchor="ctr"/>
          <a:lstStyle/>
          <a:p>
            <a:pPr algn="l" indent="0" marL="0">
              <a:lnSpc>
                <a:spcPct val="115000"/>
              </a:lnSpc>
              <a:buNone/>
            </a:pPr>
            <a:r>
              <a:rPr lang="en-US" sz="750" dirty="0">
                <a:solidFill>
                  <a:srgbClr val="4D4D4D"/>
                </a:solidFill>
                <a:latin typeface="Meiryo" pitchFamily="34" charset="0"/>
                <a:ea typeface="Meiryo" pitchFamily="34" charset="-122"/>
                <a:cs typeface="Meiryo" pitchFamily="34" charset="-120"/>
              </a:rPr>
              <a:t>利用料の粗利＋サービスの粗利</a:t>
            </a:r>
            <a:endParaRPr lang="en-US" sz="750" dirty="0"/>
          </a:p>
        </p:txBody>
      </p:sp>
      <p:sp>
        <p:nvSpPr>
          <p:cNvPr id="12" name="Shape 9"/>
          <p:cNvSpPr/>
          <p:nvPr/>
        </p:nvSpPr>
        <p:spPr>
          <a:xfrm>
            <a:off x="2240280" y="3429000"/>
            <a:ext cx="1737360" cy="566928"/>
          </a:xfrm>
          <a:prstGeom prst="rect">
            <a:avLst/>
          </a:prstGeom>
          <a:solidFill>
            <a:srgbClr val="F2F2F2"/>
          </a:solidFill>
          <a:ln/>
        </p:spPr>
      </p:sp>
      <p:sp>
        <p:nvSpPr>
          <p:cNvPr id="13" name="Text 10"/>
          <p:cNvSpPr txBox="1"/>
          <p:nvPr/>
        </p:nvSpPr>
        <p:spPr>
          <a:xfrm>
            <a:off x="2313432" y="3447288"/>
            <a:ext cx="1591056" cy="292608"/>
          </a:xfrm>
          <a:prstGeom prst="rect">
            <a:avLst/>
          </a:prstGeom>
          <a:noFill/>
          <a:ln/>
        </p:spPr>
        <p:txBody>
          <a:bodyPr wrap="square" lIns="0" tIns="0" rIns="0" bIns="0" rtlCol="0" anchor="ctr"/>
          <a:lstStyle/>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販管費  </a:t>
            </a:r>
            <a:pPr algn="l" indent="0" marL="0">
              <a:lnSpc>
                <a:spcPct val="115000"/>
              </a:lnSpc>
              <a:buNone/>
            </a:pPr>
            <a:r>
              <a:rPr lang="en-US" sz="1300" b="1" dirty="0">
                <a:solidFill>
                  <a:srgbClr val="1A1A1A"/>
                </a:solidFill>
                <a:latin typeface="Meiryo" pitchFamily="34" charset="0"/>
                <a:ea typeface="Meiryo" pitchFamily="34" charset="-122"/>
                <a:cs typeface="Meiryo" pitchFamily="34" charset="-120"/>
              </a:rPr>
              <a:t>173.1</a:t>
            </a:r>
            <a:endParaRPr lang="en-US" sz="1400" dirty="0"/>
          </a:p>
        </p:txBody>
      </p:sp>
      <p:sp>
        <p:nvSpPr>
          <p:cNvPr id="14" name="Text 11"/>
          <p:cNvSpPr txBox="1"/>
          <p:nvPr/>
        </p:nvSpPr>
        <p:spPr>
          <a:xfrm>
            <a:off x="2313432" y="3730752"/>
            <a:ext cx="1591056" cy="237744"/>
          </a:xfrm>
          <a:prstGeom prst="rect">
            <a:avLst/>
          </a:prstGeom>
          <a:noFill/>
          <a:ln/>
        </p:spPr>
        <p:txBody>
          <a:bodyPr wrap="square" lIns="0" tIns="0" rIns="0" bIns="0" rtlCol="0" anchor="ctr"/>
          <a:lstStyle/>
          <a:p>
            <a:pPr algn="l" indent="0" marL="0">
              <a:lnSpc>
                <a:spcPct val="115000"/>
              </a:lnSpc>
              <a:buNone/>
            </a:pPr>
            <a:r>
              <a:rPr lang="en-US" sz="750" dirty="0">
                <a:solidFill>
                  <a:srgbClr val="4D4D4D"/>
                </a:solidFill>
                <a:latin typeface="Meiryo" pitchFamily="34" charset="0"/>
                <a:ea typeface="Meiryo" pitchFamily="34" charset="-122"/>
                <a:cs typeface="Meiryo" pitchFamily="34" charset="-120"/>
              </a:rPr>
              <a:t>人件費−振替＋採用費＋その他</a:t>
            </a:r>
            <a:endParaRPr lang="en-US" sz="750" dirty="0"/>
          </a:p>
        </p:txBody>
      </p:sp>
      <p:sp>
        <p:nvSpPr>
          <p:cNvPr id="15" name="Shape 12"/>
          <p:cNvSpPr/>
          <p:nvPr/>
        </p:nvSpPr>
        <p:spPr>
          <a:xfrm>
            <a:off x="4251960" y="1024128"/>
            <a:ext cx="2103120" cy="566928"/>
          </a:xfrm>
          <a:prstGeom prst="rect">
            <a:avLst/>
          </a:prstGeom>
          <a:solidFill>
            <a:srgbClr val="F2F2F2"/>
          </a:solidFill>
          <a:ln/>
        </p:spPr>
      </p:sp>
      <p:sp>
        <p:nvSpPr>
          <p:cNvPr id="16" name="Text 13"/>
          <p:cNvSpPr txBox="1"/>
          <p:nvPr/>
        </p:nvSpPr>
        <p:spPr>
          <a:xfrm>
            <a:off x="4325112" y="1042416"/>
            <a:ext cx="1956816" cy="292608"/>
          </a:xfrm>
          <a:prstGeom prst="rect">
            <a:avLst/>
          </a:prstGeom>
          <a:noFill/>
          <a:ln/>
        </p:spPr>
        <p:txBody>
          <a:bodyPr wrap="square" lIns="0" tIns="0" rIns="0" bIns="0" rtlCol="0" anchor="ctr"/>
          <a:lstStyle/>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利用料の粗利  </a:t>
            </a:r>
            <a:pPr algn="l" indent="0" marL="0">
              <a:lnSpc>
                <a:spcPct val="115000"/>
              </a:lnSpc>
              <a:buNone/>
            </a:pPr>
            <a:r>
              <a:rPr lang="en-US" sz="1300" b="1" dirty="0">
                <a:solidFill>
                  <a:srgbClr val="1A1A1A"/>
                </a:solidFill>
                <a:latin typeface="Meiryo" pitchFamily="34" charset="0"/>
                <a:ea typeface="Meiryo" pitchFamily="34" charset="-122"/>
                <a:cs typeface="Meiryo" pitchFamily="34" charset="-120"/>
              </a:rPr>
              <a:t>139.3</a:t>
            </a:r>
            <a:endParaRPr lang="en-US" sz="1400" dirty="0"/>
          </a:p>
        </p:txBody>
      </p:sp>
      <p:sp>
        <p:nvSpPr>
          <p:cNvPr id="17" name="Text 14"/>
          <p:cNvSpPr txBox="1"/>
          <p:nvPr/>
        </p:nvSpPr>
        <p:spPr>
          <a:xfrm>
            <a:off x="4325112" y="1325880"/>
            <a:ext cx="1956816" cy="237744"/>
          </a:xfrm>
          <a:prstGeom prst="rect">
            <a:avLst/>
          </a:prstGeom>
          <a:noFill/>
          <a:ln/>
        </p:spPr>
        <p:txBody>
          <a:bodyPr wrap="square" lIns="0" tIns="0" rIns="0" bIns="0" rtlCol="0" anchor="ctr"/>
          <a:lstStyle/>
          <a:p>
            <a:pPr algn="l" indent="0" marL="0">
              <a:lnSpc>
                <a:spcPct val="115000"/>
              </a:lnSpc>
              <a:buNone/>
            </a:pPr>
            <a:r>
              <a:rPr lang="en-US" sz="750" dirty="0">
                <a:solidFill>
                  <a:srgbClr val="4D4D4D"/>
                </a:solidFill>
                <a:latin typeface="Meiryo" pitchFamily="34" charset="0"/>
                <a:ea typeface="Meiryo" pitchFamily="34" charset="-122"/>
                <a:cs typeface="Meiryo" pitchFamily="34" charset="-120"/>
              </a:rPr>
              <a:t>利用料193.5−AI・保存54.2</a:t>
            </a:r>
            <a:endParaRPr lang="en-US" sz="750" dirty="0"/>
          </a:p>
        </p:txBody>
      </p:sp>
      <p:sp>
        <p:nvSpPr>
          <p:cNvPr id="18" name="Shape 15"/>
          <p:cNvSpPr/>
          <p:nvPr/>
        </p:nvSpPr>
        <p:spPr>
          <a:xfrm>
            <a:off x="4251960" y="1682496"/>
            <a:ext cx="2103120" cy="566928"/>
          </a:xfrm>
          <a:prstGeom prst="rect">
            <a:avLst/>
          </a:prstGeom>
          <a:solidFill>
            <a:srgbClr val="F2F2F2"/>
          </a:solidFill>
          <a:ln/>
        </p:spPr>
      </p:sp>
      <p:sp>
        <p:nvSpPr>
          <p:cNvPr id="19" name="Text 16"/>
          <p:cNvSpPr txBox="1"/>
          <p:nvPr/>
        </p:nvSpPr>
        <p:spPr>
          <a:xfrm>
            <a:off x="4325112" y="1700784"/>
            <a:ext cx="1956816" cy="292608"/>
          </a:xfrm>
          <a:prstGeom prst="rect">
            <a:avLst/>
          </a:prstGeom>
          <a:noFill/>
          <a:ln/>
        </p:spPr>
        <p:txBody>
          <a:bodyPr wrap="square" lIns="0" tIns="0" rIns="0" bIns="0" rtlCol="0" anchor="ctr"/>
          <a:lstStyle/>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サービスの粗利  </a:t>
            </a:r>
            <a:pPr algn="l" indent="0" marL="0">
              <a:lnSpc>
                <a:spcPct val="115000"/>
              </a:lnSpc>
              <a:buNone/>
            </a:pPr>
            <a:r>
              <a:rPr lang="en-US" sz="1300" b="1" dirty="0">
                <a:solidFill>
                  <a:srgbClr val="1A1A1A"/>
                </a:solidFill>
                <a:latin typeface="Meiryo" pitchFamily="34" charset="0"/>
                <a:ea typeface="Meiryo" pitchFamily="34" charset="-122"/>
                <a:cs typeface="Meiryo" pitchFamily="34" charset="-120"/>
              </a:rPr>
              <a:t>22.6</a:t>
            </a:r>
            <a:endParaRPr lang="en-US" sz="1400" dirty="0"/>
          </a:p>
        </p:txBody>
      </p:sp>
      <p:sp>
        <p:nvSpPr>
          <p:cNvPr id="20" name="Text 17"/>
          <p:cNvSpPr txBox="1"/>
          <p:nvPr/>
        </p:nvSpPr>
        <p:spPr>
          <a:xfrm>
            <a:off x="4325112" y="1984248"/>
            <a:ext cx="1956816" cy="237744"/>
          </a:xfrm>
          <a:prstGeom prst="rect">
            <a:avLst/>
          </a:prstGeom>
          <a:noFill/>
          <a:ln/>
        </p:spPr>
        <p:txBody>
          <a:bodyPr wrap="square" lIns="0" tIns="0" rIns="0" bIns="0" rtlCol="0" anchor="ctr"/>
          <a:lstStyle/>
          <a:p>
            <a:pPr algn="l" indent="0" marL="0">
              <a:lnSpc>
                <a:spcPct val="115000"/>
              </a:lnSpc>
              <a:buNone/>
            </a:pPr>
            <a:r>
              <a:rPr lang="en-US" sz="750" dirty="0">
                <a:solidFill>
                  <a:srgbClr val="4D4D4D"/>
                </a:solidFill>
                <a:latin typeface="Meiryo" pitchFamily="34" charset="0"/>
                <a:ea typeface="Meiryo" pitchFamily="34" charset="-122"/>
                <a:cs typeface="Meiryo" pitchFamily="34" charset="-120"/>
              </a:rPr>
              <a:t>支援・個社設定75.5−人件費・交通52.9</a:t>
            </a:r>
            <a:endParaRPr lang="en-US" sz="750" dirty="0"/>
          </a:p>
        </p:txBody>
      </p:sp>
      <p:sp>
        <p:nvSpPr>
          <p:cNvPr id="21" name="Shape 18"/>
          <p:cNvSpPr/>
          <p:nvPr/>
        </p:nvSpPr>
        <p:spPr>
          <a:xfrm>
            <a:off x="4251960" y="3017520"/>
            <a:ext cx="2103120" cy="566928"/>
          </a:xfrm>
          <a:prstGeom prst="rect">
            <a:avLst/>
          </a:prstGeom>
          <a:solidFill>
            <a:srgbClr val="F2F2F2"/>
          </a:solidFill>
          <a:ln/>
        </p:spPr>
      </p:sp>
      <p:sp>
        <p:nvSpPr>
          <p:cNvPr id="22" name="Text 19"/>
          <p:cNvSpPr txBox="1"/>
          <p:nvPr/>
        </p:nvSpPr>
        <p:spPr>
          <a:xfrm>
            <a:off x="4325112" y="3035808"/>
            <a:ext cx="1956816" cy="292608"/>
          </a:xfrm>
          <a:prstGeom prst="rect">
            <a:avLst/>
          </a:prstGeom>
          <a:noFill/>
          <a:ln/>
        </p:spPr>
        <p:txBody>
          <a:bodyPr wrap="square" lIns="0" tIns="0" rIns="0" bIns="0" rtlCol="0" anchor="ctr"/>
          <a:lstStyle/>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人件費  </a:t>
            </a:r>
            <a:pPr algn="l" indent="0" marL="0">
              <a:lnSpc>
                <a:spcPct val="115000"/>
              </a:lnSpc>
              <a:buNone/>
            </a:pPr>
            <a:r>
              <a:rPr lang="en-US" sz="1300" b="1" dirty="0">
                <a:solidFill>
                  <a:srgbClr val="1A1A1A"/>
                </a:solidFill>
                <a:latin typeface="Meiryo" pitchFamily="34" charset="0"/>
                <a:ea typeface="Meiryo" pitchFamily="34" charset="-122"/>
                <a:cs typeface="Meiryo" pitchFamily="34" charset="-120"/>
              </a:rPr>
              <a:t>186.8</a:t>
            </a:r>
            <a:endParaRPr lang="en-US" sz="1400" dirty="0"/>
          </a:p>
        </p:txBody>
      </p:sp>
      <p:sp>
        <p:nvSpPr>
          <p:cNvPr id="23" name="Text 20"/>
          <p:cNvSpPr txBox="1"/>
          <p:nvPr/>
        </p:nvSpPr>
        <p:spPr>
          <a:xfrm>
            <a:off x="4325112" y="3319272"/>
            <a:ext cx="1956816" cy="237744"/>
          </a:xfrm>
          <a:prstGeom prst="rect">
            <a:avLst/>
          </a:prstGeom>
          <a:noFill/>
          <a:ln/>
        </p:spPr>
        <p:txBody>
          <a:bodyPr wrap="square" lIns="0" tIns="0" rIns="0" bIns="0" rtlCol="0" anchor="ctr"/>
          <a:lstStyle/>
          <a:p>
            <a:pPr algn="l" indent="0" marL="0">
              <a:lnSpc>
                <a:spcPct val="115000"/>
              </a:lnSpc>
              <a:buNone/>
            </a:pPr>
            <a:r>
              <a:rPr lang="en-US" sz="750" dirty="0">
                <a:solidFill>
                  <a:srgbClr val="4D4D4D"/>
                </a:solidFill>
                <a:latin typeface="Meiryo" pitchFamily="34" charset="0"/>
                <a:ea typeface="Meiryo" pitchFamily="34" charset="-122"/>
                <a:cs typeface="Meiryo" pitchFamily="34" charset="-120"/>
              </a:rPr>
              <a:t>社員23人・役割別の年収×1.2</a:t>
            </a:r>
            <a:endParaRPr lang="en-US" sz="750" dirty="0"/>
          </a:p>
        </p:txBody>
      </p:sp>
      <p:sp>
        <p:nvSpPr>
          <p:cNvPr id="24" name="Shape 21"/>
          <p:cNvSpPr/>
          <p:nvPr/>
        </p:nvSpPr>
        <p:spPr>
          <a:xfrm>
            <a:off x="4251960" y="3675888"/>
            <a:ext cx="2103120" cy="566928"/>
          </a:xfrm>
          <a:prstGeom prst="rect">
            <a:avLst/>
          </a:prstGeom>
          <a:solidFill>
            <a:srgbClr val="F2F2F2"/>
          </a:solidFill>
          <a:ln/>
        </p:spPr>
      </p:sp>
      <p:sp>
        <p:nvSpPr>
          <p:cNvPr id="25" name="Text 22"/>
          <p:cNvSpPr txBox="1"/>
          <p:nvPr/>
        </p:nvSpPr>
        <p:spPr>
          <a:xfrm>
            <a:off x="4325112" y="3694176"/>
            <a:ext cx="1956816" cy="292608"/>
          </a:xfrm>
          <a:prstGeom prst="rect">
            <a:avLst/>
          </a:prstGeom>
          <a:noFill/>
          <a:ln/>
        </p:spPr>
        <p:txBody>
          <a:bodyPr wrap="square" lIns="0" tIns="0" rIns="0" bIns="0" rtlCol="0" anchor="ctr"/>
          <a:lstStyle/>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振替・採用・その他  </a:t>
            </a:r>
            <a:pPr algn="l" indent="0" marL="0">
              <a:lnSpc>
                <a:spcPct val="115000"/>
              </a:lnSpc>
              <a:buNone/>
            </a:pPr>
            <a:r>
              <a:rPr lang="en-US" sz="1300" b="1" dirty="0">
                <a:solidFill>
                  <a:srgbClr val="1A1A1A"/>
                </a:solidFill>
                <a:latin typeface="Meiryo" pitchFamily="34" charset="0"/>
                <a:ea typeface="Meiryo" pitchFamily="34" charset="-122"/>
                <a:cs typeface="Meiryo" pitchFamily="34" charset="-120"/>
              </a:rPr>
              <a:t>−47.9 / +34.2</a:t>
            </a:r>
            <a:endParaRPr lang="en-US" sz="1400" dirty="0"/>
          </a:p>
        </p:txBody>
      </p:sp>
      <p:sp>
        <p:nvSpPr>
          <p:cNvPr id="26" name="Text 23"/>
          <p:cNvSpPr txBox="1"/>
          <p:nvPr/>
        </p:nvSpPr>
        <p:spPr>
          <a:xfrm>
            <a:off x="4325112" y="3977640"/>
            <a:ext cx="1956816" cy="237744"/>
          </a:xfrm>
          <a:prstGeom prst="rect">
            <a:avLst/>
          </a:prstGeom>
          <a:noFill/>
          <a:ln/>
        </p:spPr>
        <p:txBody>
          <a:bodyPr wrap="square" lIns="0" tIns="0" rIns="0" bIns="0" rtlCol="0" anchor="ctr"/>
          <a:lstStyle/>
          <a:p>
            <a:pPr algn="l" indent="0" marL="0">
              <a:lnSpc>
                <a:spcPct val="115000"/>
              </a:lnSpc>
              <a:buNone/>
            </a:pPr>
            <a:r>
              <a:rPr lang="en-US" sz="750" dirty="0">
                <a:solidFill>
                  <a:srgbClr val="4D4D4D"/>
                </a:solidFill>
                <a:latin typeface="Meiryo" pitchFamily="34" charset="0"/>
                <a:ea typeface="Meiryo" pitchFamily="34" charset="-122"/>
                <a:cs typeface="Meiryo" pitchFamily="34" charset="-120"/>
              </a:rPr>
              <a:t>原価へ振替／採用費・家賃・広告など</a:t>
            </a:r>
            <a:endParaRPr lang="en-US" sz="750" dirty="0"/>
          </a:p>
        </p:txBody>
      </p:sp>
      <p:sp>
        <p:nvSpPr>
          <p:cNvPr id="27" name="Shape 24"/>
          <p:cNvSpPr/>
          <p:nvPr/>
        </p:nvSpPr>
        <p:spPr>
          <a:xfrm>
            <a:off x="6629400" y="1005840"/>
            <a:ext cx="2148840" cy="566928"/>
          </a:xfrm>
          <a:prstGeom prst="rect">
            <a:avLst/>
          </a:prstGeom>
          <a:solidFill>
            <a:srgbClr val="FFFFFF"/>
          </a:solidFill>
          <a:ln w="22225">
            <a:solidFill>
              <a:srgbClr val="B8692E"/>
            </a:solidFill>
            <a:prstDash val="solid"/>
          </a:ln>
        </p:spPr>
      </p:sp>
      <p:sp>
        <p:nvSpPr>
          <p:cNvPr id="28" name="Text 25"/>
          <p:cNvSpPr txBox="1"/>
          <p:nvPr/>
        </p:nvSpPr>
        <p:spPr>
          <a:xfrm>
            <a:off x="6702552" y="1024128"/>
            <a:ext cx="2002536" cy="292608"/>
          </a:xfrm>
          <a:prstGeom prst="rect">
            <a:avLst/>
          </a:prstGeom>
          <a:noFill/>
          <a:ln/>
        </p:spPr>
        <p:txBody>
          <a:bodyPr wrap="square" lIns="0" tIns="0" rIns="0" bIns="0" rtlCol="0" anchor="ctr"/>
          <a:lstStyle/>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前の年までの利用料  </a:t>
            </a:r>
            <a:pPr algn="l" indent="0" marL="0">
              <a:lnSpc>
                <a:spcPct val="115000"/>
              </a:lnSpc>
              <a:buNone/>
            </a:pPr>
            <a:r>
              <a:rPr lang="en-US" sz="1300" b="1" dirty="0">
                <a:solidFill>
                  <a:srgbClr val="B8692E"/>
                </a:solidFill>
                <a:latin typeface="Meiryo" pitchFamily="34" charset="0"/>
                <a:ea typeface="Meiryo" pitchFamily="34" charset="-122"/>
                <a:cs typeface="Meiryo" pitchFamily="34" charset="-120"/>
              </a:rPr>
              <a:t>144.0</a:t>
            </a:r>
            <a:endParaRPr lang="en-US" sz="1400" dirty="0"/>
          </a:p>
        </p:txBody>
      </p:sp>
      <p:sp>
        <p:nvSpPr>
          <p:cNvPr id="29" name="Text 26"/>
          <p:cNvSpPr txBox="1"/>
          <p:nvPr/>
        </p:nvSpPr>
        <p:spPr>
          <a:xfrm>
            <a:off x="6702552" y="1307592"/>
            <a:ext cx="2002536" cy="237744"/>
          </a:xfrm>
          <a:prstGeom prst="rect">
            <a:avLst/>
          </a:prstGeom>
          <a:noFill/>
          <a:ln/>
        </p:spPr>
        <p:txBody>
          <a:bodyPr wrap="square" lIns="0" tIns="0" rIns="0" bIns="0" rtlCol="0" anchor="ctr"/>
          <a:lstStyle/>
          <a:p>
            <a:pPr algn="l" indent="0" marL="0">
              <a:lnSpc>
                <a:spcPct val="115000"/>
              </a:lnSpc>
              <a:buNone/>
            </a:pPr>
            <a:r>
              <a:rPr lang="en-US" sz="750" dirty="0">
                <a:solidFill>
                  <a:srgbClr val="4D4D4D"/>
                </a:solidFill>
                <a:latin typeface="Meiryo" pitchFamily="34" charset="0"/>
                <a:ea typeface="Meiryo" pitchFamily="34" charset="-122"/>
                <a:cs typeface="Meiryo" pitchFamily="34" charset="-120"/>
              </a:rPr>
              <a:t>（期首53−解約5）拠点×300万円</a:t>
            </a:r>
            <a:endParaRPr lang="en-US" sz="750" dirty="0"/>
          </a:p>
        </p:txBody>
      </p:sp>
      <p:sp>
        <p:nvSpPr>
          <p:cNvPr id="30" name="Shape 27"/>
          <p:cNvSpPr/>
          <p:nvPr/>
        </p:nvSpPr>
        <p:spPr>
          <a:xfrm>
            <a:off x="6629400" y="1609344"/>
            <a:ext cx="2148840" cy="566928"/>
          </a:xfrm>
          <a:prstGeom prst="rect">
            <a:avLst/>
          </a:prstGeom>
          <a:solidFill>
            <a:srgbClr val="FFFFFF"/>
          </a:solidFill>
          <a:ln w="22225">
            <a:solidFill>
              <a:srgbClr val="B8692E"/>
            </a:solidFill>
            <a:prstDash val="solid"/>
          </a:ln>
        </p:spPr>
      </p:sp>
      <p:sp>
        <p:nvSpPr>
          <p:cNvPr id="31" name="Text 28"/>
          <p:cNvSpPr txBox="1"/>
          <p:nvPr/>
        </p:nvSpPr>
        <p:spPr>
          <a:xfrm>
            <a:off x="6702552" y="1627632"/>
            <a:ext cx="2002536" cy="292608"/>
          </a:xfrm>
          <a:prstGeom prst="rect">
            <a:avLst/>
          </a:prstGeom>
          <a:noFill/>
          <a:ln/>
        </p:spPr>
        <p:txBody>
          <a:bodyPr wrap="square" lIns="0" tIns="0" rIns="0" bIns="0" rtlCol="0" anchor="ctr"/>
          <a:lstStyle/>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新しいお客様の利用料  </a:t>
            </a:r>
            <a:pPr algn="l" indent="0" marL="0">
              <a:lnSpc>
                <a:spcPct val="115000"/>
              </a:lnSpc>
              <a:buNone/>
            </a:pPr>
            <a:r>
              <a:rPr lang="en-US" sz="1300" b="1" dirty="0">
                <a:solidFill>
                  <a:srgbClr val="B8692E"/>
                </a:solidFill>
                <a:latin typeface="Meiryo" pitchFamily="34" charset="0"/>
                <a:ea typeface="Meiryo" pitchFamily="34" charset="-122"/>
                <a:cs typeface="Meiryo" pitchFamily="34" charset="-120"/>
              </a:rPr>
              <a:t>49.5</a:t>
            </a:r>
            <a:endParaRPr lang="en-US" sz="1400" dirty="0"/>
          </a:p>
        </p:txBody>
      </p:sp>
      <p:sp>
        <p:nvSpPr>
          <p:cNvPr id="32" name="Text 29"/>
          <p:cNvSpPr txBox="1"/>
          <p:nvPr/>
        </p:nvSpPr>
        <p:spPr>
          <a:xfrm>
            <a:off x="6702552" y="1911096"/>
            <a:ext cx="2002536" cy="237744"/>
          </a:xfrm>
          <a:prstGeom prst="rect">
            <a:avLst/>
          </a:prstGeom>
          <a:noFill/>
          <a:ln/>
        </p:spPr>
        <p:txBody>
          <a:bodyPr wrap="square" lIns="0" tIns="0" rIns="0" bIns="0" rtlCol="0" anchor="ctr"/>
          <a:lstStyle/>
          <a:p>
            <a:pPr algn="l" indent="0" marL="0">
              <a:lnSpc>
                <a:spcPct val="115000"/>
              </a:lnSpc>
              <a:buNone/>
            </a:pPr>
            <a:r>
              <a:rPr lang="en-US" sz="750" dirty="0">
                <a:solidFill>
                  <a:srgbClr val="4D4D4D"/>
                </a:solidFill>
                <a:latin typeface="Meiryo" pitchFamily="34" charset="0"/>
                <a:ea typeface="Meiryo" pitchFamily="34" charset="-122"/>
                <a:cs typeface="Meiryo" pitchFamily="34" charset="-120"/>
              </a:rPr>
              <a:t>新規33拠点×300万円×半年</a:t>
            </a:r>
            <a:endParaRPr lang="en-US" sz="750" dirty="0"/>
          </a:p>
        </p:txBody>
      </p:sp>
      <p:sp>
        <p:nvSpPr>
          <p:cNvPr id="33" name="Shape 30"/>
          <p:cNvSpPr/>
          <p:nvPr/>
        </p:nvSpPr>
        <p:spPr>
          <a:xfrm>
            <a:off x="6629400" y="2267712"/>
            <a:ext cx="2148840" cy="566928"/>
          </a:xfrm>
          <a:prstGeom prst="rect">
            <a:avLst/>
          </a:prstGeom>
          <a:solidFill>
            <a:srgbClr val="F2F2F2"/>
          </a:solidFill>
          <a:ln/>
        </p:spPr>
      </p:sp>
      <p:sp>
        <p:nvSpPr>
          <p:cNvPr id="34" name="Text 31"/>
          <p:cNvSpPr txBox="1"/>
          <p:nvPr/>
        </p:nvSpPr>
        <p:spPr>
          <a:xfrm>
            <a:off x="6702552" y="2286000"/>
            <a:ext cx="2002536" cy="292608"/>
          </a:xfrm>
          <a:prstGeom prst="rect">
            <a:avLst/>
          </a:prstGeom>
          <a:noFill/>
          <a:ln/>
        </p:spPr>
        <p:txBody>
          <a:bodyPr wrap="square" lIns="0" tIns="0" rIns="0" bIns="0" rtlCol="0" anchor="ctr"/>
          <a:lstStyle/>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導入支援  </a:t>
            </a:r>
            <a:pPr algn="l" indent="0" marL="0">
              <a:lnSpc>
                <a:spcPct val="115000"/>
              </a:lnSpc>
              <a:buNone/>
            </a:pPr>
            <a:r>
              <a:rPr lang="en-US" sz="1300" b="1" dirty="0">
                <a:solidFill>
                  <a:srgbClr val="1A1A1A"/>
                </a:solidFill>
                <a:latin typeface="Meiryo" pitchFamily="34" charset="0"/>
                <a:ea typeface="Meiryo" pitchFamily="34" charset="-122"/>
                <a:cs typeface="Meiryo" pitchFamily="34" charset="-120"/>
              </a:rPr>
              <a:t>66.0</a:t>
            </a:r>
            <a:endParaRPr lang="en-US" sz="1400" dirty="0"/>
          </a:p>
        </p:txBody>
      </p:sp>
      <p:sp>
        <p:nvSpPr>
          <p:cNvPr id="35" name="Text 32"/>
          <p:cNvSpPr txBox="1"/>
          <p:nvPr/>
        </p:nvSpPr>
        <p:spPr>
          <a:xfrm>
            <a:off x="6702552" y="2569464"/>
            <a:ext cx="2002536" cy="237744"/>
          </a:xfrm>
          <a:prstGeom prst="rect">
            <a:avLst/>
          </a:prstGeom>
          <a:noFill/>
          <a:ln/>
        </p:spPr>
        <p:txBody>
          <a:bodyPr wrap="square" lIns="0" tIns="0" rIns="0" bIns="0" rtlCol="0" anchor="ctr"/>
          <a:lstStyle/>
          <a:p>
            <a:pPr algn="l" indent="0" marL="0">
              <a:lnSpc>
                <a:spcPct val="115000"/>
              </a:lnSpc>
              <a:buNone/>
            </a:pPr>
            <a:r>
              <a:rPr lang="en-US" sz="750" dirty="0">
                <a:solidFill>
                  <a:srgbClr val="4D4D4D"/>
                </a:solidFill>
                <a:latin typeface="Meiryo" pitchFamily="34" charset="0"/>
                <a:ea typeface="Meiryo" pitchFamily="34" charset="-122"/>
                <a:cs typeface="Meiryo" pitchFamily="34" charset="-120"/>
              </a:rPr>
              <a:t>新規33拠点×200万円</a:t>
            </a:r>
            <a:endParaRPr lang="en-US" sz="750" dirty="0"/>
          </a:p>
        </p:txBody>
      </p:sp>
      <p:sp>
        <p:nvSpPr>
          <p:cNvPr id="36" name="Shape 33"/>
          <p:cNvSpPr/>
          <p:nvPr/>
        </p:nvSpPr>
        <p:spPr>
          <a:xfrm>
            <a:off x="2103120" y="1609344"/>
            <a:ext cx="0" cy="2103120"/>
          </a:xfrm>
          <a:prstGeom prst="line">
            <a:avLst/>
          </a:prstGeom>
          <a:noFill/>
          <a:ln w="12700">
            <a:solidFill>
              <a:srgbClr val="8C8C8C"/>
            </a:solidFill>
            <a:prstDash val="solid"/>
          </a:ln>
        </p:spPr>
      </p:sp>
      <p:sp>
        <p:nvSpPr>
          <p:cNvPr id="37" name="Shape 34"/>
          <p:cNvSpPr/>
          <p:nvPr/>
        </p:nvSpPr>
        <p:spPr>
          <a:xfrm>
            <a:off x="1965960" y="2660904"/>
            <a:ext cx="137160" cy="0"/>
          </a:xfrm>
          <a:prstGeom prst="line">
            <a:avLst/>
          </a:prstGeom>
          <a:noFill/>
          <a:ln w="12700">
            <a:solidFill>
              <a:srgbClr val="8C8C8C"/>
            </a:solidFill>
            <a:prstDash val="solid"/>
          </a:ln>
        </p:spPr>
      </p:sp>
      <p:sp>
        <p:nvSpPr>
          <p:cNvPr id="38" name="Shape 35"/>
          <p:cNvSpPr/>
          <p:nvPr/>
        </p:nvSpPr>
        <p:spPr>
          <a:xfrm>
            <a:off x="2103120" y="1609344"/>
            <a:ext cx="137160" cy="0"/>
          </a:xfrm>
          <a:prstGeom prst="line">
            <a:avLst/>
          </a:prstGeom>
          <a:noFill/>
          <a:ln w="12700">
            <a:solidFill>
              <a:srgbClr val="8C8C8C"/>
            </a:solidFill>
            <a:prstDash val="solid"/>
          </a:ln>
        </p:spPr>
      </p:sp>
      <p:sp>
        <p:nvSpPr>
          <p:cNvPr id="39" name="Shape 36"/>
          <p:cNvSpPr/>
          <p:nvPr/>
        </p:nvSpPr>
        <p:spPr>
          <a:xfrm>
            <a:off x="2103120" y="3712464"/>
            <a:ext cx="137160" cy="0"/>
          </a:xfrm>
          <a:prstGeom prst="line">
            <a:avLst/>
          </a:prstGeom>
          <a:noFill/>
          <a:ln w="12700">
            <a:solidFill>
              <a:srgbClr val="8C8C8C"/>
            </a:solidFill>
            <a:prstDash val="solid"/>
          </a:ln>
        </p:spPr>
      </p:sp>
      <p:sp>
        <p:nvSpPr>
          <p:cNvPr id="40" name="Shape 37"/>
          <p:cNvSpPr/>
          <p:nvPr/>
        </p:nvSpPr>
        <p:spPr>
          <a:xfrm>
            <a:off x="4114800" y="1307592"/>
            <a:ext cx="0" cy="658368"/>
          </a:xfrm>
          <a:prstGeom prst="line">
            <a:avLst/>
          </a:prstGeom>
          <a:noFill/>
          <a:ln w="12700">
            <a:solidFill>
              <a:srgbClr val="8C8C8C"/>
            </a:solidFill>
            <a:prstDash val="solid"/>
          </a:ln>
        </p:spPr>
      </p:sp>
      <p:sp>
        <p:nvSpPr>
          <p:cNvPr id="41" name="Shape 38"/>
          <p:cNvSpPr/>
          <p:nvPr/>
        </p:nvSpPr>
        <p:spPr>
          <a:xfrm>
            <a:off x="3977640" y="1609344"/>
            <a:ext cx="137160" cy="0"/>
          </a:xfrm>
          <a:prstGeom prst="line">
            <a:avLst/>
          </a:prstGeom>
          <a:noFill/>
          <a:ln w="12700">
            <a:solidFill>
              <a:srgbClr val="8C8C8C"/>
            </a:solidFill>
            <a:prstDash val="solid"/>
          </a:ln>
        </p:spPr>
      </p:sp>
      <p:sp>
        <p:nvSpPr>
          <p:cNvPr id="42" name="Shape 39"/>
          <p:cNvSpPr/>
          <p:nvPr/>
        </p:nvSpPr>
        <p:spPr>
          <a:xfrm>
            <a:off x="4114800" y="1307592"/>
            <a:ext cx="137160" cy="0"/>
          </a:xfrm>
          <a:prstGeom prst="line">
            <a:avLst/>
          </a:prstGeom>
          <a:noFill/>
          <a:ln w="12700">
            <a:solidFill>
              <a:srgbClr val="8C8C8C"/>
            </a:solidFill>
            <a:prstDash val="solid"/>
          </a:ln>
        </p:spPr>
      </p:sp>
      <p:sp>
        <p:nvSpPr>
          <p:cNvPr id="43" name="Shape 40"/>
          <p:cNvSpPr/>
          <p:nvPr/>
        </p:nvSpPr>
        <p:spPr>
          <a:xfrm>
            <a:off x="4114800" y="1965960"/>
            <a:ext cx="137160" cy="0"/>
          </a:xfrm>
          <a:prstGeom prst="line">
            <a:avLst/>
          </a:prstGeom>
          <a:noFill/>
          <a:ln w="12700">
            <a:solidFill>
              <a:srgbClr val="8C8C8C"/>
            </a:solidFill>
            <a:prstDash val="solid"/>
          </a:ln>
        </p:spPr>
      </p:sp>
      <p:sp>
        <p:nvSpPr>
          <p:cNvPr id="44" name="Shape 41"/>
          <p:cNvSpPr/>
          <p:nvPr/>
        </p:nvSpPr>
        <p:spPr>
          <a:xfrm>
            <a:off x="4114800" y="3300984"/>
            <a:ext cx="0" cy="658368"/>
          </a:xfrm>
          <a:prstGeom prst="line">
            <a:avLst/>
          </a:prstGeom>
          <a:noFill/>
          <a:ln w="12700">
            <a:solidFill>
              <a:srgbClr val="8C8C8C"/>
            </a:solidFill>
            <a:prstDash val="solid"/>
          </a:ln>
        </p:spPr>
      </p:sp>
      <p:sp>
        <p:nvSpPr>
          <p:cNvPr id="45" name="Shape 42"/>
          <p:cNvSpPr/>
          <p:nvPr/>
        </p:nvSpPr>
        <p:spPr>
          <a:xfrm>
            <a:off x="3977640" y="3712464"/>
            <a:ext cx="137160" cy="0"/>
          </a:xfrm>
          <a:prstGeom prst="line">
            <a:avLst/>
          </a:prstGeom>
          <a:noFill/>
          <a:ln w="12700">
            <a:solidFill>
              <a:srgbClr val="8C8C8C"/>
            </a:solidFill>
            <a:prstDash val="solid"/>
          </a:ln>
        </p:spPr>
      </p:sp>
      <p:sp>
        <p:nvSpPr>
          <p:cNvPr id="46" name="Shape 43"/>
          <p:cNvSpPr/>
          <p:nvPr/>
        </p:nvSpPr>
        <p:spPr>
          <a:xfrm>
            <a:off x="4114800" y="3300984"/>
            <a:ext cx="137160" cy="0"/>
          </a:xfrm>
          <a:prstGeom prst="line">
            <a:avLst/>
          </a:prstGeom>
          <a:noFill/>
          <a:ln w="12700">
            <a:solidFill>
              <a:srgbClr val="8C8C8C"/>
            </a:solidFill>
            <a:prstDash val="solid"/>
          </a:ln>
        </p:spPr>
      </p:sp>
      <p:sp>
        <p:nvSpPr>
          <p:cNvPr id="47" name="Shape 44"/>
          <p:cNvSpPr/>
          <p:nvPr/>
        </p:nvSpPr>
        <p:spPr>
          <a:xfrm>
            <a:off x="4114800" y="3959352"/>
            <a:ext cx="137160" cy="0"/>
          </a:xfrm>
          <a:prstGeom prst="line">
            <a:avLst/>
          </a:prstGeom>
          <a:noFill/>
          <a:ln w="12700">
            <a:solidFill>
              <a:srgbClr val="8C8C8C"/>
            </a:solidFill>
            <a:prstDash val="solid"/>
          </a:ln>
        </p:spPr>
      </p:sp>
      <p:sp>
        <p:nvSpPr>
          <p:cNvPr id="48" name="Shape 45"/>
          <p:cNvSpPr/>
          <p:nvPr/>
        </p:nvSpPr>
        <p:spPr>
          <a:xfrm>
            <a:off x="6492240" y="1289304"/>
            <a:ext cx="0" cy="603504"/>
          </a:xfrm>
          <a:prstGeom prst="line">
            <a:avLst/>
          </a:prstGeom>
          <a:noFill/>
          <a:ln w="12700">
            <a:solidFill>
              <a:srgbClr val="8C8C8C"/>
            </a:solidFill>
            <a:prstDash val="solid"/>
          </a:ln>
        </p:spPr>
      </p:sp>
      <p:sp>
        <p:nvSpPr>
          <p:cNvPr id="49" name="Shape 46"/>
          <p:cNvSpPr/>
          <p:nvPr/>
        </p:nvSpPr>
        <p:spPr>
          <a:xfrm>
            <a:off x="6355080" y="1307592"/>
            <a:ext cx="137160" cy="0"/>
          </a:xfrm>
          <a:prstGeom prst="line">
            <a:avLst/>
          </a:prstGeom>
          <a:noFill/>
          <a:ln w="12700">
            <a:solidFill>
              <a:srgbClr val="8C8C8C"/>
            </a:solidFill>
            <a:prstDash val="solid"/>
          </a:ln>
        </p:spPr>
      </p:sp>
      <p:sp>
        <p:nvSpPr>
          <p:cNvPr id="50" name="Shape 47"/>
          <p:cNvSpPr/>
          <p:nvPr/>
        </p:nvSpPr>
        <p:spPr>
          <a:xfrm>
            <a:off x="6492240" y="1892808"/>
            <a:ext cx="137160" cy="0"/>
          </a:xfrm>
          <a:prstGeom prst="line">
            <a:avLst/>
          </a:prstGeom>
          <a:noFill/>
          <a:ln w="12700">
            <a:solidFill>
              <a:srgbClr val="8C8C8C"/>
            </a:solidFill>
            <a:prstDash val="solid"/>
          </a:ln>
        </p:spPr>
      </p:sp>
      <p:sp>
        <p:nvSpPr>
          <p:cNvPr id="51" name="Shape 48"/>
          <p:cNvSpPr/>
          <p:nvPr/>
        </p:nvSpPr>
        <p:spPr>
          <a:xfrm>
            <a:off x="6355080" y="1965960"/>
            <a:ext cx="137160" cy="0"/>
          </a:xfrm>
          <a:prstGeom prst="line">
            <a:avLst/>
          </a:prstGeom>
          <a:noFill/>
          <a:ln w="12700">
            <a:solidFill>
              <a:srgbClr val="8C8C8C"/>
            </a:solidFill>
            <a:prstDash val="solid"/>
          </a:ln>
        </p:spPr>
      </p:sp>
      <p:sp>
        <p:nvSpPr>
          <p:cNvPr id="52" name="Shape 49"/>
          <p:cNvSpPr/>
          <p:nvPr/>
        </p:nvSpPr>
        <p:spPr>
          <a:xfrm>
            <a:off x="6492240" y="1965960"/>
            <a:ext cx="0" cy="585216"/>
          </a:xfrm>
          <a:prstGeom prst="line">
            <a:avLst/>
          </a:prstGeom>
          <a:noFill/>
          <a:ln w="12700">
            <a:solidFill>
              <a:srgbClr val="8C8C8C"/>
            </a:solidFill>
            <a:prstDash val="solid"/>
          </a:ln>
        </p:spPr>
      </p:sp>
      <p:sp>
        <p:nvSpPr>
          <p:cNvPr id="53" name="Shape 50"/>
          <p:cNvSpPr/>
          <p:nvPr/>
        </p:nvSpPr>
        <p:spPr>
          <a:xfrm>
            <a:off x="6492240" y="2551176"/>
            <a:ext cx="137160" cy="0"/>
          </a:xfrm>
          <a:prstGeom prst="line">
            <a:avLst/>
          </a:prstGeom>
          <a:noFill/>
          <a:ln w="12700">
            <a:solidFill>
              <a:srgbClr val="8C8C8C"/>
            </a:solidFill>
            <a:prstDash val="solid"/>
          </a:ln>
        </p:spPr>
      </p:sp>
      <p:sp>
        <p:nvSpPr>
          <p:cNvPr id="54" name="Shape 51"/>
          <p:cNvSpPr/>
          <p:nvPr/>
        </p:nvSpPr>
        <p:spPr>
          <a:xfrm>
            <a:off x="6629400" y="3017520"/>
            <a:ext cx="2148840" cy="1225296"/>
          </a:xfrm>
          <a:prstGeom prst="rect">
            <a:avLst/>
          </a:prstGeom>
          <a:solidFill>
            <a:srgbClr val="1A1A1A"/>
          </a:solidFill>
          <a:ln/>
        </p:spPr>
      </p:sp>
      <p:sp>
        <p:nvSpPr>
          <p:cNvPr id="55" name="Text 52"/>
          <p:cNvSpPr txBox="1"/>
          <p:nvPr/>
        </p:nvSpPr>
        <p:spPr>
          <a:xfrm>
            <a:off x="6739128" y="3063240"/>
            <a:ext cx="1965960" cy="1143000"/>
          </a:xfrm>
          <a:prstGeom prst="rect">
            <a:avLst/>
          </a:prstGeom>
          <a:noFill/>
          <a:ln/>
        </p:spPr>
        <p:txBody>
          <a:bodyPr wrap="square" lIns="0" tIns="0" rIns="0" bIns="0" rtlCol="0" anchor="ctr"/>
          <a:lstStyle/>
          <a:p>
            <a:pPr algn="l" indent="0" marL="0">
              <a:lnSpc>
                <a:spcPct val="115000"/>
              </a:lnSpc>
              <a:spcAft>
                <a:spcPts val="200"/>
              </a:spcAft>
              <a:buNone/>
            </a:pPr>
            <a:r>
              <a:rPr lang="en-US" sz="950" b="1" dirty="0">
                <a:solidFill>
                  <a:srgbClr val="E3A774"/>
                </a:solidFill>
                <a:latin typeface="Meiryo" pitchFamily="34" charset="0"/>
                <a:ea typeface="Meiryo" pitchFamily="34" charset="-122"/>
                <a:cs typeface="Meiryo" pitchFamily="34" charset="-120"/>
              </a:rPr>
              <a:t>動かせるのは3つだけ</a:t>
            </a:r>
            <a:endParaRPr lang="en-US" sz="950" dirty="0"/>
          </a:p>
          <a:p>
            <a:pPr algn="l" indent="0" marL="0">
              <a:lnSpc>
                <a:spcPct val="115000"/>
              </a:lnSpc>
              <a:spcAft>
                <a:spcPts val="200"/>
              </a:spcAft>
              <a:buNone/>
            </a:pPr>
            <a:r>
              <a:rPr lang="en-US" sz="950" dirty="0">
                <a:solidFill>
                  <a:srgbClr val="FFFFFF"/>
                </a:solidFill>
                <a:latin typeface="Meiryo" pitchFamily="34" charset="0"/>
                <a:ea typeface="Meiryo" pitchFamily="34" charset="-122"/>
                <a:cs typeface="Meiryo" pitchFamily="34" charset="-120"/>
              </a:rPr>
              <a:t>① 拠点数（新規−解約）</a:t>
            </a:r>
            <a:endParaRPr lang="en-US" sz="950" dirty="0"/>
          </a:p>
          <a:p>
            <a:pPr algn="l" indent="0" marL="0">
              <a:lnSpc>
                <a:spcPct val="115000"/>
              </a:lnSpc>
              <a:spcAft>
                <a:spcPts val="200"/>
              </a:spcAft>
              <a:buNone/>
            </a:pPr>
            <a:r>
              <a:rPr lang="en-US" sz="950" dirty="0">
                <a:solidFill>
                  <a:srgbClr val="FFFFFF"/>
                </a:solidFill>
                <a:latin typeface="Meiryo" pitchFamily="34" charset="0"/>
                <a:ea typeface="Meiryo" pitchFamily="34" charset="-122"/>
                <a:cs typeface="Meiryo" pitchFamily="34" charset="-120"/>
              </a:rPr>
              <a:t>② 1拠点の台数</a:t>
            </a:r>
            <a:endParaRPr lang="en-US" sz="950" dirty="0"/>
          </a:p>
          <a:p>
            <a:pPr algn="l" indent="0" marL="0">
              <a:lnSpc>
                <a:spcPct val="115000"/>
              </a:lnSpc>
              <a:spcAft>
                <a:spcPts val="200"/>
              </a:spcAft>
              <a:buNone/>
            </a:pPr>
            <a:r>
              <a:rPr lang="en-US" sz="950" dirty="0">
                <a:solidFill>
                  <a:srgbClr val="FFFFFF"/>
                </a:solidFill>
                <a:latin typeface="Meiryo" pitchFamily="34" charset="0"/>
                <a:ea typeface="Meiryo" pitchFamily="34" charset="-122"/>
                <a:cs typeface="Meiryo" pitchFamily="34" charset="-120"/>
              </a:rPr>
              <a:t>③ 社員数（採用のペース）</a:t>
            </a:r>
            <a:endParaRPr lang="en-US" sz="950" dirty="0"/>
          </a:p>
        </p:txBody>
      </p:sp>
      <p:sp>
        <p:nvSpPr>
          <p:cNvPr id="56" name="Text 53"/>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個社設定（9.5百万円・当社の導入コンサルタントが行う）はサービスに含む。端数は四捨五入</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ext 0"/>
          <p:cNvSpPr txBox="1"/>
          <p:nvPr/>
        </p:nvSpPr>
        <p:spPr>
          <a:xfrm>
            <a:off x="5577840" y="54864"/>
            <a:ext cx="3200400" cy="182880"/>
          </a:xfrm>
          <a:prstGeom prst="rect">
            <a:avLst/>
          </a:prstGeom>
          <a:noFill/>
          <a:ln/>
        </p:spPr>
        <p:txBody>
          <a:bodyPr wrap="square" lIns="0" tIns="0" rIns="0" bIns="0" rtlCol="0" anchor="ctr"/>
          <a:lstStyle/>
          <a:p>
            <a:pPr algn="r" indent="0" marL="0">
              <a:lnSpc>
                <a:spcPct val="115000"/>
              </a:lnSpc>
              <a:buNone/>
            </a:pPr>
            <a:r>
              <a:rPr lang="en-US" sz="800" dirty="0">
                <a:solidFill>
                  <a:srgbClr val="8C8C8C"/>
                </a:solidFill>
                <a:latin typeface="Meiryo" pitchFamily="34" charset="0"/>
                <a:ea typeface="Meiryo" pitchFamily="34" charset="-122"/>
                <a:cs typeface="Meiryo" pitchFamily="34" charset="-120"/>
              </a:rPr>
              <a:t>全ページ共通</a:t>
            </a:r>
            <a:endParaRPr lang="en-US" sz="800" dirty="0"/>
          </a:p>
        </p:txBody>
      </p:sp>
      <p:sp>
        <p:nvSpPr>
          <p:cNvPr id="4"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前提と懸念の一覧 ─ 確度の低いものから実証で測る</a:t>
            </a:r>
            <a:endParaRPr lang="en-US" sz="2000" dirty="0"/>
          </a:p>
        </p:txBody>
      </p:sp>
      <p:sp>
        <p:nvSpPr>
          <p:cNvPr id="5"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統計＝公的統計・制度　公表＝メーカー・クラウドの公表価格　見積＝社内見積　仮説＝実証で測る</a:t>
            </a:r>
            <a:endParaRPr lang="en-US" sz="1200" dirty="0"/>
          </a:p>
        </p:txBody>
      </p:sp>
      <p:graphicFrame>
        <p:nvGraphicFramePr>
          <p:cNvPr id="5" name="assumptions"/>
          <p:cNvGraphicFramePr>
            <a:graphicFrameLocks noGrp="1"/>
          </p:cNvGraphicFramePr>
          <p:nvPr>
            <p:extLst>
              <p:ext uri="{D42A27DB-BD31-4B8C-83A1-F6EECF244321}">
                <p14:modId xmlns:p14="http://schemas.microsoft.com/office/powerpoint/2010/main" val="1579011935"/>
              </p:ext>
            </p:extLst>
          </p:nvPr>
        </p:nvGraphicFramePr>
        <p:xfrm>
          <a:off x="365760" y="1005840"/>
          <a:ext cx="8412480" cy="914400"/>
        </p:xfrm>
        <a:graphic>
          <a:graphicData uri="http://schemas.openxmlformats.org/drawingml/2006/table">
            <a:tbl>
              <a:tblPr/>
              <a:tblGrid>
                <a:gridCol w="1417320"/>
                <a:gridCol w="1691640"/>
                <a:gridCol w="548640"/>
                <a:gridCol w="2194560"/>
                <a:gridCol w="2560320"/>
              </a:tblGrid>
              <a:tr h="246888">
                <a:tc>
                  <a:txBody>
                    <a:bodyPr/>
                    <a:lstStyle/>
                    <a:p>
                      <a:pPr algn="l" indent="0" marL="0">
                        <a:buNone/>
                      </a:pPr>
                      <a:r>
                        <a:rPr lang="en-US" sz="800" b="1" dirty="0">
                          <a:solidFill>
                            <a:srgbClr val="1A1A1A"/>
                          </a:solidFill>
                          <a:latin typeface="Meiryo" pitchFamily="34" charset="0"/>
                          <a:ea typeface="Meiryo" pitchFamily="34" charset="-122"/>
                          <a:cs typeface="Meiryo" pitchFamily="34" charset="-120"/>
                        </a:rPr>
                        <a:t>前提</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00" b="1" dirty="0">
                          <a:solidFill>
                            <a:srgbClr val="1A1A1A"/>
                          </a:solidFill>
                          <a:latin typeface="Meiryo" pitchFamily="34" charset="0"/>
                          <a:ea typeface="Meiryo" pitchFamily="34" charset="-122"/>
                          <a:cs typeface="Meiryo" pitchFamily="34" charset="-120"/>
                        </a:rPr>
                        <a:t>値</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800" b="1" dirty="0">
                          <a:solidFill>
                            <a:srgbClr val="1A1A1A"/>
                          </a:solidFill>
                          <a:latin typeface="Meiryo" pitchFamily="34" charset="0"/>
                          <a:ea typeface="Meiryo" pitchFamily="34" charset="-122"/>
                          <a:cs typeface="Meiryo" pitchFamily="34" charset="-120"/>
                        </a:rPr>
                        <a:t>確度</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00" b="1" dirty="0">
                          <a:solidFill>
                            <a:srgbClr val="1A1A1A"/>
                          </a:solidFill>
                          <a:latin typeface="Meiryo" pitchFamily="34" charset="0"/>
                          <a:ea typeface="Meiryo" pitchFamily="34" charset="-122"/>
                          <a:cs typeface="Meiryo" pitchFamily="34" charset="-120"/>
                        </a:rPr>
                        <a:t>懸念</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00" b="1" dirty="0">
                          <a:solidFill>
                            <a:srgbClr val="1A1A1A"/>
                          </a:solidFill>
                          <a:latin typeface="Meiryo" pitchFamily="34" charset="0"/>
                          <a:ea typeface="Meiryo" pitchFamily="34" charset="-122"/>
                          <a:cs typeface="Meiryo" pitchFamily="34" charset="-120"/>
                        </a:rPr>
                        <a:t>どう確かめるか</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46888">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1時間の人件費</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3,300円／3,700円</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統計</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最新年の原表を未確認</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e-Statで令和6年値に差し替え</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1台1日の削減時間</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35分</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b="1" dirty="0">
                          <a:solidFill>
                            <a:srgbClr val="B8692E"/>
                          </a:solidFill>
                          <a:latin typeface="Meiryo" pitchFamily="34" charset="0"/>
                          <a:ea typeface="Meiryo" pitchFamily="34" charset="-122"/>
                          <a:cs typeface="Meiryo" pitchFamily="34" charset="-120"/>
                        </a:rPr>
                        <a:t>仮説</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得の大半を占める</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実証で導入前後を記録</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端末の台数</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1拠点10台</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見積</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職長だけで足りるか</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実証で班ごとに使い方を見る</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値段</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基盤月5万＋月2万／台</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見積</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払ってもらえるか未検証</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実証3社に価格を聞く</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AI・保存の原価</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1台月6,000円</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公表</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使い方で大きく変わる</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実証で台ごとの実費を測る</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グラスとリース</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AIグラス8万・表示付き12万</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公表</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国内の正規販売・料率が未確認</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販売店・リース会社の見積</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グラスの性能</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要所の記録で1日もつ</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b="1" dirty="0">
                          <a:solidFill>
                            <a:srgbClr val="B8692E"/>
                          </a:solidFill>
                          <a:latin typeface="Meiryo" pitchFamily="34" charset="0"/>
                          <a:ea typeface="Meiryo" pitchFamily="34" charset="-122"/>
                          <a:cs typeface="Meiryo" pitchFamily="34" charset="-120"/>
                        </a:rPr>
                        <a:t>仮説</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録画の長さ・電池・規格</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準備期に実機で1日使う</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導入支援</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42人日・200万円</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見積</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3D化で人日が増える</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1社目の実績で更新</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手戻りの削減</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対象30%×20%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b="1" dirty="0">
                          <a:solidFill>
                            <a:srgbClr val="B8692E"/>
                          </a:solidFill>
                          <a:latin typeface="Meiryo" pitchFamily="34" charset="0"/>
                          <a:ea typeface="Meiryo" pitchFamily="34" charset="-122"/>
                          <a:cs typeface="Meiryo" pitchFamily="34" charset="-120"/>
                        </a:rPr>
                        <a:t>仮説</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AIの精度と監修の手間</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手戻り件数を実証で記録</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解約率</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年10%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見積</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日本の調査がない</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更新時の継続率を記録</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会える率・成約率</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45〜60%・15〜30%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b="1" dirty="0">
                          <a:solidFill>
                            <a:srgbClr val="B8692E"/>
                          </a:solidFill>
                          <a:latin typeface="Meiryo" pitchFamily="34" charset="0"/>
                          <a:ea typeface="Meiryo" pitchFamily="34" charset="-122"/>
                          <a:cs typeface="Meiryo" pitchFamily="34" charset="-120"/>
                        </a:rPr>
                        <a:t>仮説</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4年続けられるか</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最初の商談で記録</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年収・採用費</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役割別×1.2＋紹介料</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見積</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採用市場の相場</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紹介会社の見積</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自己資金</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1年目2億＋3年目0.5億</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見積</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線を越えたときだけ入れる</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撤退ラインで判断</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7" name="Text 3"/>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仮説の5つ（削減時間・グラスの性能・手戻り・値段への反応・会える率と成約率）が、500万円の実証で測る対象</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ext 0"/>
          <p:cNvSpPr txBox="1"/>
          <p:nvPr/>
        </p:nvSpPr>
        <p:spPr>
          <a:xfrm>
            <a:off x="5577840" y="54864"/>
            <a:ext cx="3200400" cy="182880"/>
          </a:xfrm>
          <a:prstGeom prst="rect">
            <a:avLst/>
          </a:prstGeom>
          <a:noFill/>
          <a:ln/>
        </p:spPr>
        <p:txBody>
          <a:bodyPr wrap="square" lIns="0" tIns="0" rIns="0" bIns="0" rtlCol="0" anchor="ctr"/>
          <a:lstStyle/>
          <a:p>
            <a:pPr algn="r" indent="0" marL="0">
              <a:lnSpc>
                <a:spcPct val="115000"/>
              </a:lnSpc>
              <a:buNone/>
            </a:pPr>
            <a:r>
              <a:rPr lang="en-US" sz="800" dirty="0">
                <a:solidFill>
                  <a:srgbClr val="8C8C8C"/>
                </a:solidFill>
                <a:latin typeface="Meiryo" pitchFamily="34" charset="0"/>
                <a:ea typeface="Meiryo" pitchFamily="34" charset="-122"/>
                <a:cs typeface="Meiryo" pitchFamily="34" charset="-120"/>
              </a:rPr>
              <a:t>本編 p.9 の詳細</a:t>
            </a:r>
            <a:endParaRPr lang="en-US" sz="800" dirty="0"/>
          </a:p>
        </p:txBody>
      </p:sp>
      <p:sp>
        <p:nvSpPr>
          <p:cNvPr id="4"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1時間の人件費 ─ 統計の年収÷残業を含む総労働時間</a:t>
            </a:r>
            <a:endParaRPr lang="en-US" sz="2000" dirty="0"/>
          </a:p>
        </p:txBody>
      </p:sp>
      <p:sp>
        <p:nvSpPr>
          <p:cNvPr id="5"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年収（残業代・賞与込み）を、残業も含めた1年の総労働時間で割る</a:t>
            </a:r>
            <a:endParaRPr lang="en-US" sz="1200" dirty="0"/>
          </a:p>
        </p:txBody>
      </p:sp>
      <p:graphicFrame>
        <p:nvGraphicFramePr>
          <p:cNvPr id="6" name="wage"/>
          <p:cNvGraphicFramePr>
            <a:graphicFrameLocks noGrp="1"/>
          </p:cNvGraphicFramePr>
          <p:nvPr>
            <p:extLst>
              <p:ext uri="{D42A27DB-BD31-4B8C-83A1-F6EECF244321}">
                <p14:modId xmlns:p14="http://schemas.microsoft.com/office/powerpoint/2010/main" val="1579011935"/>
              </p:ext>
            </p:extLst>
          </p:nvPr>
        </p:nvGraphicFramePr>
        <p:xfrm>
          <a:off x="365760" y="1024128"/>
          <a:ext cx="8412480" cy="914400"/>
        </p:xfrm>
        <a:graphic>
          <a:graphicData uri="http://schemas.openxmlformats.org/drawingml/2006/table">
            <a:tbl>
              <a:tblPr/>
              <a:tblGrid>
                <a:gridCol w="1828800"/>
                <a:gridCol w="1005840"/>
                <a:gridCol w="1005840"/>
                <a:gridCol w="4572000"/>
              </a:tblGrid>
              <a:tr h="329184">
                <a:tc>
                  <a:txBody>
                    <a:bodyPr/>
                    <a:lstStyle/>
                    <a:p>
                      <a:pPr algn="l" indent="0" marL="0">
                        <a:buNone/>
                      </a:pP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電工</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施工管理者</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900" b="1" dirty="0">
                          <a:solidFill>
                            <a:srgbClr val="1A1A1A"/>
                          </a:solidFill>
                          <a:latin typeface="Meiryo" pitchFamily="34" charset="0"/>
                          <a:ea typeface="Meiryo" pitchFamily="34" charset="-122"/>
                          <a:cs typeface="Meiryo" pitchFamily="34" charset="-120"/>
                        </a:rPr>
                        <a:t>根拠</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329184">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年収（残業代・賞与込み）</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551万円</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620万円</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賃金構造基本統計調査（電気工事従事者 令和5年。令和6年も約548〜551万円）／建築・土木技術者で代用</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329184">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 会社負担の社会保険料</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×1.17</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×1.17</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健保約5.0%＋厚年9.15%＋雇用（建設）1.1%＋子ども・子育て拠出金0.36%＋労災 約1.2%</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329184">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 年間の総実労働時間</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1,938時間</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1,938時間</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毎月勤労統計調査 令和6年 建設業 月161.5時間×12。残業を含む</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329184">
                <a:tc>
                  <a:txBody>
                    <a:bodyPr/>
                    <a:lstStyle/>
                    <a:p>
                      <a:pPr algn="l" indent="0" marL="0">
                        <a:buNone/>
                      </a:pPr>
                      <a:r>
                        <a:rPr lang="en-US" sz="900" b="1" dirty="0">
                          <a:solidFill>
                            <a:srgbClr val="1A1A1A"/>
                          </a:solidFill>
                          <a:latin typeface="Meiryo" pitchFamily="34" charset="0"/>
                          <a:ea typeface="Meiryo" pitchFamily="34" charset="-122"/>
                          <a:cs typeface="Meiryo" pitchFamily="34" charset="-120"/>
                        </a:rPr>
                        <a:t>＝ 1時間あたり</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B8692E"/>
                          </a:solidFill>
                          <a:latin typeface="Meiryo" pitchFamily="34" charset="0"/>
                          <a:ea typeface="Meiryo" pitchFamily="34" charset="-122"/>
                          <a:cs typeface="Meiryo" pitchFamily="34" charset="-120"/>
                        </a:rPr>
                        <a:t>約3,300円</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B8692E"/>
                          </a:solidFill>
                          <a:latin typeface="Meiryo" pitchFamily="34" charset="0"/>
                          <a:ea typeface="Meiryo" pitchFamily="34" charset="-122"/>
                          <a:cs typeface="Meiryo" pitchFamily="34" charset="-120"/>
                        </a:rPr>
                        <a:t>約3,700円</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00" b="1" dirty="0">
                          <a:solidFill>
                            <a:srgbClr val="1A1A1A"/>
                          </a:solidFill>
                          <a:latin typeface="Meiryo" pitchFamily="34" charset="0"/>
                          <a:ea typeface="Meiryo" pitchFamily="34" charset="-122"/>
                          <a:cs typeface="Meiryo" pitchFamily="34" charset="-120"/>
                        </a:rPr>
                        <a:t>残業が減る分は×1.25で評価できるが、計画では使わない</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7" name="Shape 3"/>
          <p:cNvSpPr/>
          <p:nvPr/>
        </p:nvSpPr>
        <p:spPr>
          <a:xfrm>
            <a:off x="365760" y="2834640"/>
            <a:ext cx="4069080" cy="1600200"/>
          </a:xfrm>
          <a:prstGeom prst="rect">
            <a:avLst/>
          </a:prstGeom>
          <a:solidFill>
            <a:srgbClr val="F2F2F2"/>
          </a:solidFill>
          <a:ln/>
        </p:spPr>
      </p:sp>
      <p:sp>
        <p:nvSpPr>
          <p:cNvPr id="8" name="Text 4"/>
          <p:cNvSpPr txBox="1"/>
          <p:nvPr/>
        </p:nvSpPr>
        <p:spPr>
          <a:xfrm>
            <a:off x="502920" y="2834640"/>
            <a:ext cx="3794760" cy="1600200"/>
          </a:xfrm>
          <a:prstGeom prst="rect">
            <a:avLst/>
          </a:prstGeom>
          <a:noFill/>
          <a:ln/>
        </p:spPr>
        <p:txBody>
          <a:bodyPr wrap="square" lIns="0" tIns="0" rIns="0" bIns="0" rtlCol="0" anchor="ctr"/>
          <a:lstStyle/>
          <a:p>
            <a:pPr algn="l" indent="0" marL="0">
              <a:lnSpc>
                <a:spcPct val="115000"/>
              </a:lnSpc>
              <a:spcAft>
                <a:spcPts val="300"/>
              </a:spcAft>
              <a:buNone/>
            </a:pPr>
            <a:r>
              <a:rPr lang="en-US" sz="950" b="1" dirty="0">
                <a:solidFill>
                  <a:srgbClr val="B8692E"/>
                </a:solidFill>
                <a:latin typeface="Meiryo" pitchFamily="34" charset="0"/>
                <a:ea typeface="Meiryo" pitchFamily="34" charset="-122"/>
                <a:cs typeface="Meiryo" pitchFamily="34" charset="-120"/>
              </a:rPr>
              <a:t>1,950時間との違い</a:t>
            </a:r>
            <a:endParaRPr lang="en-US" sz="950" dirty="0"/>
          </a:p>
          <a:p>
            <a:pPr algn="l" indent="0" marL="0">
              <a:lnSpc>
                <a:spcPct val="115000"/>
              </a:lnSpc>
              <a:spcAft>
                <a:spcPts val="300"/>
              </a:spcAft>
              <a:buNone/>
            </a:pPr>
            <a:r>
              <a:rPr lang="en-US" sz="950" b="1" dirty="0">
                <a:solidFill>
                  <a:srgbClr val="1A1A1A"/>
                </a:solidFill>
                <a:latin typeface="Meiryo" pitchFamily="34" charset="0"/>
                <a:ea typeface="Meiryo" pitchFamily="34" charset="-122"/>
                <a:cs typeface="Meiryo" pitchFamily="34" charset="-120"/>
              </a:rPr>
              <a:t>1日8時間 × 約244日 ＝ 1,952時間</a:t>
            </a:r>
            <a:endParaRPr lang="en-US" sz="950" dirty="0"/>
          </a:p>
          <a:p>
            <a:pPr algn="l" indent="0" marL="0">
              <a:lnSpc>
                <a:spcPct val="115000"/>
              </a:lnSpc>
              <a:spcAft>
                <a:spcPts val="300"/>
              </a:spcAft>
              <a:buNone/>
            </a:pPr>
            <a:r>
              <a:rPr lang="en-US" sz="950" dirty="0">
                <a:solidFill>
                  <a:srgbClr val="1A1A1A"/>
                </a:solidFill>
                <a:latin typeface="Meiryo" pitchFamily="34" charset="0"/>
                <a:ea typeface="Meiryo" pitchFamily="34" charset="-122"/>
                <a:cs typeface="Meiryo" pitchFamily="34" charset="-120"/>
              </a:rPr>
              <a:t>これは所定の時間の目安で、残業を含まない。統計の実績1,938時間は残業込み。値は近いが意味が違うので、計画は統計の実績を使う</a:t>
            </a:r>
            <a:endParaRPr lang="en-US" sz="950" dirty="0"/>
          </a:p>
        </p:txBody>
      </p:sp>
      <p:sp>
        <p:nvSpPr>
          <p:cNvPr id="9" name="Shape 5"/>
          <p:cNvSpPr/>
          <p:nvPr/>
        </p:nvSpPr>
        <p:spPr>
          <a:xfrm>
            <a:off x="4709160" y="2834640"/>
            <a:ext cx="4069080" cy="1600200"/>
          </a:xfrm>
          <a:prstGeom prst="rect">
            <a:avLst/>
          </a:prstGeom>
          <a:solidFill>
            <a:srgbClr val="FFFFFF"/>
          </a:solidFill>
          <a:ln w="19050">
            <a:solidFill>
              <a:srgbClr val="B8692E"/>
            </a:solidFill>
            <a:prstDash val="solid"/>
          </a:ln>
        </p:spPr>
      </p:sp>
      <p:sp>
        <p:nvSpPr>
          <p:cNvPr id="10" name="Text 6"/>
          <p:cNvSpPr txBox="1"/>
          <p:nvPr/>
        </p:nvSpPr>
        <p:spPr>
          <a:xfrm>
            <a:off x="4846320" y="2834640"/>
            <a:ext cx="3794760" cy="1600200"/>
          </a:xfrm>
          <a:prstGeom prst="rect">
            <a:avLst/>
          </a:prstGeom>
          <a:noFill/>
          <a:ln/>
        </p:spPr>
        <p:txBody>
          <a:bodyPr wrap="square" lIns="0" tIns="0" rIns="0" bIns="0" rtlCol="0" anchor="ctr"/>
          <a:lstStyle/>
          <a:p>
            <a:pPr algn="l" indent="0" marL="0">
              <a:lnSpc>
                <a:spcPct val="115000"/>
              </a:lnSpc>
              <a:spcAft>
                <a:spcPts val="300"/>
              </a:spcAft>
              <a:buNone/>
            </a:pPr>
            <a:r>
              <a:rPr lang="en-US" sz="950" b="1" dirty="0">
                <a:solidFill>
                  <a:srgbClr val="B8692E"/>
                </a:solidFill>
                <a:latin typeface="Meiryo" pitchFamily="34" charset="0"/>
                <a:ea typeface="Meiryo" pitchFamily="34" charset="-122"/>
                <a:cs typeface="Meiryo" pitchFamily="34" charset="-120"/>
              </a:rPr>
              <a:t>なぜ残業を含めるか</a:t>
            </a:r>
            <a:endParaRPr lang="en-US" sz="950" dirty="0"/>
          </a:p>
          <a:p>
            <a:pPr algn="l" indent="0" marL="0">
              <a:lnSpc>
                <a:spcPct val="115000"/>
              </a:lnSpc>
              <a:spcAft>
                <a:spcPts val="300"/>
              </a:spcAft>
              <a:buNone/>
            </a:pPr>
            <a:r>
              <a:rPr lang="en-US" sz="950" dirty="0">
                <a:solidFill>
                  <a:srgbClr val="1A1A1A"/>
                </a:solidFill>
                <a:latin typeface="Meiryo" pitchFamily="34" charset="0"/>
                <a:ea typeface="Meiryo" pitchFamily="34" charset="-122"/>
                <a:cs typeface="Meiryo" pitchFamily="34" charset="-120"/>
              </a:rPr>
              <a:t>年収には残業代が含まれるので、割る時間も残業を含めないと単価が高く出る。</a:t>
            </a:r>
            <a:endParaRPr lang="en-US" sz="950" dirty="0"/>
          </a:p>
          <a:p>
            <a:pPr algn="l" indent="0" marL="0">
              <a:lnSpc>
                <a:spcPct val="115000"/>
              </a:lnSpc>
              <a:spcAft>
                <a:spcPts val="300"/>
              </a:spcAft>
              <a:buNone/>
            </a:pPr>
            <a:r>
              <a:rPr lang="en-US" sz="950" dirty="0">
                <a:solidFill>
                  <a:srgbClr val="1A1A1A"/>
                </a:solidFill>
                <a:latin typeface="Meiryo" pitchFamily="34" charset="0"/>
                <a:ea typeface="Meiryo" pitchFamily="34" charset="-122"/>
                <a:cs typeface="Meiryo" pitchFamily="34" charset="-120"/>
              </a:rPr>
              <a:t>書類の時間が減って残業が減るなら、その時間は割増25%の分だけ価値が高い（上振れ）</a:t>
            </a:r>
            <a:endParaRPr lang="en-US" sz="950" dirty="0"/>
          </a:p>
        </p:txBody>
      </p:sp>
      <p:sp>
        <p:nvSpPr>
          <p:cNvPr id="11" name="Text 7"/>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年収は令和5年の値（令和6年の職業情報提供サイトでも約548〜551万円）。施工管理技士の年収は標本が少なく使わない。原表（e-Stat）で確認する</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ext 0"/>
          <p:cNvSpPr txBox="1"/>
          <p:nvPr/>
        </p:nvSpPr>
        <p:spPr>
          <a:xfrm>
            <a:off x="5577840" y="54864"/>
            <a:ext cx="3200400" cy="182880"/>
          </a:xfrm>
          <a:prstGeom prst="rect">
            <a:avLst/>
          </a:prstGeom>
          <a:noFill/>
          <a:ln/>
        </p:spPr>
        <p:txBody>
          <a:bodyPr wrap="square" lIns="0" tIns="0" rIns="0" bIns="0" rtlCol="0" anchor="ctr"/>
          <a:lstStyle/>
          <a:p>
            <a:pPr algn="r" indent="0" marL="0">
              <a:lnSpc>
                <a:spcPct val="115000"/>
              </a:lnSpc>
              <a:buNone/>
            </a:pPr>
            <a:r>
              <a:rPr lang="en-US" sz="800" dirty="0">
                <a:solidFill>
                  <a:srgbClr val="8C8C8C"/>
                </a:solidFill>
                <a:latin typeface="Meiryo" pitchFamily="34" charset="0"/>
                <a:ea typeface="Meiryo" pitchFamily="34" charset="-122"/>
                <a:cs typeface="Meiryo" pitchFamily="34" charset="-120"/>
              </a:rPr>
              <a:t>本編 p.9 の詳細</a:t>
            </a:r>
            <a:endParaRPr lang="en-US" sz="800" dirty="0"/>
          </a:p>
        </p:txBody>
      </p:sp>
      <p:sp>
        <p:nvSpPr>
          <p:cNvPr id="4"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削減時間 ─ 得をするのは、グラスを掛けた班だけ</a:t>
            </a:r>
            <a:endParaRPr lang="en-US" sz="2000" dirty="0"/>
          </a:p>
        </p:txBody>
      </p:sp>
      <p:sp>
        <p:nvSpPr>
          <p:cNvPr id="5"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「社員全員が減る」とは数えない。1拠点10台×1台1日35分で数える</a:t>
            </a:r>
            <a:endParaRPr lang="en-US" sz="1200" dirty="0"/>
          </a:p>
        </p:txBody>
      </p:sp>
      <p:sp>
        <p:nvSpPr>
          <p:cNvPr id="6" name="Shape 3"/>
          <p:cNvSpPr/>
          <p:nvPr/>
        </p:nvSpPr>
        <p:spPr>
          <a:xfrm>
            <a:off x="365760" y="1024128"/>
            <a:ext cx="4069080" cy="1371600"/>
          </a:xfrm>
          <a:prstGeom prst="rect">
            <a:avLst/>
          </a:prstGeom>
          <a:solidFill>
            <a:srgbClr val="F2F2F2"/>
          </a:solidFill>
          <a:ln/>
        </p:spPr>
      </p:sp>
      <p:sp>
        <p:nvSpPr>
          <p:cNvPr id="7" name="Text 4"/>
          <p:cNvSpPr txBox="1"/>
          <p:nvPr/>
        </p:nvSpPr>
        <p:spPr>
          <a:xfrm>
            <a:off x="502920" y="1024128"/>
            <a:ext cx="3794760" cy="1371600"/>
          </a:xfrm>
          <a:prstGeom prst="rect">
            <a:avLst/>
          </a:prstGeom>
          <a:noFill/>
          <a:ln/>
        </p:spPr>
        <p:txBody>
          <a:bodyPr wrap="square" lIns="0" tIns="0" rIns="0" bIns="0" rtlCol="0" anchor="ctr"/>
          <a:lstStyle/>
          <a:p>
            <a:pPr algn="l" indent="0" marL="0">
              <a:lnSpc>
                <a:spcPct val="115000"/>
              </a:lnSpc>
              <a:spcAft>
                <a:spcPts val="200"/>
              </a:spcAft>
              <a:buNone/>
            </a:pPr>
            <a:r>
              <a:rPr lang="en-US" sz="950" b="1" dirty="0">
                <a:solidFill>
                  <a:srgbClr val="B8692E"/>
                </a:solidFill>
                <a:latin typeface="Meiryo" pitchFamily="34" charset="0"/>
                <a:ea typeface="Meiryo" pitchFamily="34" charset="-122"/>
                <a:cs typeface="Meiryo" pitchFamily="34" charset="-120"/>
              </a:rPr>
              <a:t>式</a:t>
            </a:r>
            <a:endParaRPr lang="en-US" sz="950" dirty="0"/>
          </a:p>
          <a:p>
            <a:pPr algn="l" indent="0" marL="0">
              <a:lnSpc>
                <a:spcPct val="115000"/>
              </a:lnSpc>
              <a:spcAft>
                <a:spcPts val="200"/>
              </a:spcAft>
              <a:buNone/>
            </a:pPr>
            <a:r>
              <a:rPr lang="en-US" sz="950" dirty="0">
                <a:solidFill>
                  <a:srgbClr val="1A1A1A"/>
                </a:solidFill>
                <a:latin typeface="Meiryo" pitchFamily="34" charset="0"/>
                <a:ea typeface="Meiryo" pitchFamily="34" charset="-122"/>
                <a:cs typeface="Meiryo" pitchFamily="34" charset="-120"/>
              </a:rPr>
              <a:t>10台 × 年240日 ×（職長15分×3,300円 ＋ 施工管理20分×3,700円）</a:t>
            </a:r>
            <a:endParaRPr lang="en-US" sz="950" dirty="0"/>
          </a:p>
          <a:p>
            <a:pPr algn="l" indent="0" marL="0">
              <a:lnSpc>
                <a:spcPct val="115000"/>
              </a:lnSpc>
              <a:spcAft>
                <a:spcPts val="200"/>
              </a:spcAft>
              <a:buNone/>
            </a:pPr>
            <a:r>
              <a:rPr lang="en-US" sz="1600" b="1" dirty="0">
                <a:solidFill>
                  <a:srgbClr val="B8692E"/>
                </a:solidFill>
                <a:latin typeface="Meiryo" pitchFamily="34" charset="0"/>
                <a:ea typeface="Meiryo" pitchFamily="34" charset="-122"/>
                <a:cs typeface="Meiryo" pitchFamily="34" charset="-120"/>
              </a:rPr>
              <a:t>＝ 年 約499万円</a:t>
            </a:r>
            <a:endParaRPr lang="en-US" sz="950" dirty="0"/>
          </a:p>
          <a:p>
            <a:pPr algn="l" indent="0" marL="0">
              <a:lnSpc>
                <a:spcPct val="115000"/>
              </a:lnSpc>
              <a:spcAft>
                <a:spcPts val="200"/>
              </a:spcAft>
              <a:buNone/>
            </a:pPr>
            <a:r>
              <a:rPr lang="en-US" sz="900" dirty="0">
                <a:solidFill>
                  <a:srgbClr val="4D4D4D"/>
                </a:solidFill>
                <a:latin typeface="Meiryo" pitchFamily="34" charset="0"/>
                <a:ea typeface="Meiryo" pitchFamily="34" charset="-122"/>
                <a:cs typeface="Meiryo" pitchFamily="34" charset="-120"/>
              </a:rPr>
              <a:t>浮く時間は年1,400時間（10台分）</a:t>
            </a:r>
            <a:endParaRPr lang="en-US" sz="950" dirty="0"/>
          </a:p>
        </p:txBody>
      </p:sp>
      <p:graphicFrame>
        <p:nvGraphicFramePr>
          <p:cNvPr id="7" name="minutes"/>
          <p:cNvGraphicFramePr>
            <a:graphicFrameLocks noGrp="1"/>
          </p:cNvGraphicFramePr>
          <p:nvPr>
            <p:extLst>
              <p:ext uri="{D42A27DB-BD31-4B8C-83A1-F6EECF244321}">
                <p14:modId xmlns:p14="http://schemas.microsoft.com/office/powerpoint/2010/main" val="1579011935"/>
              </p:ext>
            </p:extLst>
          </p:nvPr>
        </p:nvGraphicFramePr>
        <p:xfrm>
          <a:off x="365760" y="2505456"/>
          <a:ext cx="4069080" cy="914400"/>
        </p:xfrm>
        <a:graphic>
          <a:graphicData uri="http://schemas.openxmlformats.org/drawingml/2006/table">
            <a:tbl>
              <a:tblPr/>
              <a:tblGrid>
                <a:gridCol w="2423160"/>
                <a:gridCol w="1005840"/>
                <a:gridCol w="640080"/>
              </a:tblGrid>
              <a:tr h="274320">
                <a:tc>
                  <a:txBody>
                    <a:bodyPr/>
                    <a:lstStyle/>
                    <a:p>
                      <a:pPr algn="l" indent="0" marL="0">
                        <a:buNone/>
                      </a:pPr>
                      <a:r>
                        <a:rPr lang="en-US" sz="900" b="1" dirty="0">
                          <a:solidFill>
                            <a:srgbClr val="1A1A1A"/>
                          </a:solidFill>
                          <a:latin typeface="Meiryo" pitchFamily="34" charset="0"/>
                          <a:ea typeface="Meiryo" pitchFamily="34" charset="-122"/>
                          <a:cs typeface="Meiryo" pitchFamily="34" charset="-120"/>
                        </a:rPr>
                        <a:t>中身（1台1日・仮説）</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誰の時間</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分</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74320">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日報・撮影・黒板の書き込み</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職長</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15</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写真の整理・写真台帳・報告書</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施工管理者</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20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9" name="Text 5"/>
          <p:cNvSpPr txBox="1"/>
          <p:nvPr/>
        </p:nvSpPr>
        <p:spPr>
          <a:xfrm>
            <a:off x="4709160" y="1024128"/>
            <a:ext cx="40690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1台1日の削減分が変わったら</a:t>
            </a:r>
            <a:endParaRPr lang="en-US" sz="1050" dirty="0"/>
          </a:p>
        </p:txBody>
      </p:sp>
      <p:graphicFrame>
        <p:nvGraphicFramePr>
          <p:cNvPr id="13" name="sens"/>
          <p:cNvGraphicFramePr>
            <a:graphicFrameLocks noGrp="1"/>
          </p:cNvGraphicFramePr>
          <p:nvPr>
            <p:extLst>
              <p:ext uri="{D42A27DB-BD31-4B8C-83A1-F6EECF244321}">
                <p14:modId xmlns:p14="http://schemas.microsoft.com/office/powerpoint/2010/main" val="1579011935"/>
              </p:ext>
            </p:extLst>
          </p:nvPr>
        </p:nvGraphicFramePr>
        <p:xfrm>
          <a:off x="4709160" y="1298448"/>
          <a:ext cx="4069080" cy="914400"/>
        </p:xfrm>
        <a:graphic>
          <a:graphicData uri="http://schemas.openxmlformats.org/drawingml/2006/table">
            <a:tbl>
              <a:tblPr/>
              <a:tblGrid>
                <a:gridCol w="822960"/>
                <a:gridCol w="1325880"/>
                <a:gridCol w="868680"/>
                <a:gridCol w="1051560"/>
              </a:tblGrid>
              <a:tr h="274320">
                <a:tc>
                  <a:txBody>
                    <a:bodyPr/>
                    <a:lstStyle/>
                    <a:p>
                      <a:pPr algn="l" indent="0" marL="0">
                        <a:buNone/>
                      </a:pPr>
                      <a:r>
                        <a:rPr lang="en-US" sz="900" b="1" dirty="0">
                          <a:solidFill>
                            <a:srgbClr val="1A1A1A"/>
                          </a:solidFill>
                          <a:latin typeface="Meiryo" pitchFamily="34" charset="0"/>
                          <a:ea typeface="Meiryo" pitchFamily="34" charset="-122"/>
                          <a:cs typeface="Meiryo" pitchFamily="34" charset="-120"/>
                        </a:rPr>
                        <a:t>1台1日</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900" b="1" dirty="0">
                          <a:solidFill>
                            <a:srgbClr val="1A1A1A"/>
                          </a:solidFill>
                          <a:latin typeface="Meiryo" pitchFamily="34" charset="0"/>
                          <a:ea typeface="Meiryo" pitchFamily="34" charset="-122"/>
                          <a:cs typeface="Meiryo" pitchFamily="34" charset="-120"/>
                        </a:rPr>
                        <a:t>お客様の得（書類）</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900" b="1" dirty="0">
                          <a:solidFill>
                            <a:srgbClr val="1A1A1A"/>
                          </a:solidFill>
                          <a:latin typeface="Meiryo" pitchFamily="34" charset="0"/>
                          <a:ea typeface="Meiryo" pitchFamily="34" charset="-122"/>
                          <a:cs typeface="Meiryo" pitchFamily="34" charset="-120"/>
                        </a:rPr>
                        <a:t>÷費用</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900" b="1" dirty="0">
                          <a:solidFill>
                            <a:srgbClr val="1A1A1A"/>
                          </a:solidFill>
                          <a:latin typeface="Meiryo" pitchFamily="34" charset="0"/>
                          <a:ea typeface="Meiryo" pitchFamily="34" charset="-122"/>
                          <a:cs typeface="Meiryo" pitchFamily="34" charset="-120"/>
                        </a:rPr>
                        <a:t>手戻り込み</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74320">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25分</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A1A1A"/>
                          </a:solidFill>
                          <a:latin typeface="Meiryo" pitchFamily="34" charset="0"/>
                          <a:ea typeface="Meiryo" pitchFamily="34" charset="-122"/>
                          <a:cs typeface="Meiryo" pitchFamily="34" charset="-120"/>
                        </a:rPr>
                        <a:t>358万円</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A1A1A"/>
                          </a:solidFill>
                          <a:latin typeface="Meiryo" pitchFamily="34" charset="0"/>
                          <a:ea typeface="Meiryo" pitchFamily="34" charset="-122"/>
                          <a:cs typeface="Meiryo" pitchFamily="34" charset="-120"/>
                        </a:rPr>
                        <a:t>1.1倍</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A1A1A"/>
                          </a:solidFill>
                          <a:latin typeface="Meiryo" pitchFamily="34" charset="0"/>
                          <a:ea typeface="Meiryo" pitchFamily="34" charset="-122"/>
                          <a:cs typeface="Meiryo" pitchFamily="34" charset="-120"/>
                        </a:rPr>
                        <a:t>2.2倍</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900" b="1" dirty="0">
                          <a:solidFill>
                            <a:srgbClr val="1A1A1A"/>
                          </a:solidFill>
                          <a:latin typeface="Meiryo" pitchFamily="34" charset="0"/>
                          <a:ea typeface="Meiryo" pitchFamily="34" charset="-122"/>
                          <a:cs typeface="Meiryo" pitchFamily="34" charset="-120"/>
                        </a:rPr>
                        <a:t>35分</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A1A1A"/>
                          </a:solidFill>
                          <a:latin typeface="Meiryo" pitchFamily="34" charset="0"/>
                          <a:ea typeface="Meiryo" pitchFamily="34" charset="-122"/>
                          <a:cs typeface="Meiryo" pitchFamily="34" charset="-120"/>
                        </a:rPr>
                        <a:t>499万円</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A1A1A"/>
                          </a:solidFill>
                          <a:latin typeface="Meiryo" pitchFamily="34" charset="0"/>
                          <a:ea typeface="Meiryo" pitchFamily="34" charset="-122"/>
                          <a:cs typeface="Meiryo" pitchFamily="34" charset="-120"/>
                        </a:rPr>
                        <a:t>1.5倍</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A1A1A"/>
                          </a:solidFill>
                          <a:latin typeface="Meiryo" pitchFamily="34" charset="0"/>
                          <a:ea typeface="Meiryo" pitchFamily="34" charset="-122"/>
                          <a:cs typeface="Meiryo" pitchFamily="34" charset="-120"/>
                        </a:rPr>
                        <a:t>2.6倍</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60分</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A1A1A"/>
                          </a:solidFill>
                          <a:latin typeface="Meiryo" pitchFamily="34" charset="0"/>
                          <a:ea typeface="Meiryo" pitchFamily="34" charset="-122"/>
                          <a:cs typeface="Meiryo" pitchFamily="34" charset="-120"/>
                        </a:rPr>
                        <a:t>857万円</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A1A1A"/>
                          </a:solidFill>
                          <a:latin typeface="Meiryo" pitchFamily="34" charset="0"/>
                          <a:ea typeface="Meiryo" pitchFamily="34" charset="-122"/>
                          <a:cs typeface="Meiryo" pitchFamily="34" charset="-120"/>
                        </a:rPr>
                        <a:t>2.6倍</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A1A1A"/>
                          </a:solidFill>
                          <a:latin typeface="Meiryo" pitchFamily="34" charset="0"/>
                          <a:ea typeface="Meiryo" pitchFamily="34" charset="-122"/>
                          <a:cs typeface="Meiryo" pitchFamily="34" charset="-120"/>
                        </a:rPr>
                        <a:t>3.7倍</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11" name="Shape 6"/>
          <p:cNvSpPr/>
          <p:nvPr/>
        </p:nvSpPr>
        <p:spPr>
          <a:xfrm>
            <a:off x="4709160" y="2505456"/>
            <a:ext cx="4069080" cy="914400"/>
          </a:xfrm>
          <a:prstGeom prst="rect">
            <a:avLst/>
          </a:prstGeom>
          <a:solidFill>
            <a:srgbClr val="FFFFFF"/>
          </a:solidFill>
          <a:ln w="19050">
            <a:solidFill>
              <a:srgbClr val="B8692E"/>
            </a:solidFill>
            <a:prstDash val="solid"/>
          </a:ln>
        </p:spPr>
      </p:sp>
      <p:sp>
        <p:nvSpPr>
          <p:cNvPr id="12" name="Text 7"/>
          <p:cNvSpPr txBox="1"/>
          <p:nvPr/>
        </p:nvSpPr>
        <p:spPr>
          <a:xfrm>
            <a:off x="4846320" y="2505456"/>
            <a:ext cx="3794760" cy="914400"/>
          </a:xfrm>
          <a:prstGeom prst="rect">
            <a:avLst/>
          </a:prstGeom>
          <a:noFill/>
          <a:ln/>
        </p:spPr>
        <p:txBody>
          <a:bodyPr wrap="square" lIns="0" tIns="0" rIns="0" bIns="0" rtlCol="0" anchor="ctr"/>
          <a:lstStyle/>
          <a:p>
            <a:pPr algn="l" indent="0" marL="0">
              <a:lnSpc>
                <a:spcPct val="115000"/>
              </a:lnSpc>
              <a:buNone/>
            </a:pPr>
            <a:r>
              <a:rPr lang="en-US" sz="950" b="1" dirty="0">
                <a:solidFill>
                  <a:srgbClr val="B8692E"/>
                </a:solidFill>
                <a:latin typeface="Meiryo" pitchFamily="34" charset="0"/>
                <a:ea typeface="Meiryo" pitchFamily="34" charset="-122"/>
                <a:cs typeface="Meiryo" pitchFamily="34" charset="-120"/>
              </a:rPr>
              <a:t>借りてきた数字は使わない</a:t>
            </a:r>
            <a:endParaRPr lang="en-US" sz="950" dirty="0"/>
          </a:p>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建設業の書類電子化の実績（月6.5時間）は原典を確認できておらず、ARグラスの効果とも違う。削減時間は実証で測る</a:t>
            </a:r>
            <a:endParaRPr lang="en-US" sz="950" dirty="0"/>
          </a:p>
        </p:txBody>
      </p:sp>
      <p:sp>
        <p:nvSpPr>
          <p:cNvPr id="13" name="Shape 8"/>
          <p:cNvSpPr/>
          <p:nvPr/>
        </p:nvSpPr>
        <p:spPr>
          <a:xfrm>
            <a:off x="365760" y="3611880"/>
            <a:ext cx="8412480" cy="841248"/>
          </a:xfrm>
          <a:prstGeom prst="rect">
            <a:avLst/>
          </a:prstGeom>
          <a:solidFill>
            <a:srgbClr val="1A1A1A"/>
          </a:solidFill>
          <a:ln/>
        </p:spPr>
      </p:sp>
      <p:sp>
        <p:nvSpPr>
          <p:cNvPr id="14" name="Text 9"/>
          <p:cNvSpPr txBox="1"/>
          <p:nvPr/>
        </p:nvSpPr>
        <p:spPr>
          <a:xfrm>
            <a:off x="502920" y="3611880"/>
            <a:ext cx="8138160" cy="841248"/>
          </a:xfrm>
          <a:prstGeom prst="rect">
            <a:avLst/>
          </a:prstGeom>
          <a:noFill/>
          <a:ln/>
        </p:spPr>
        <p:txBody>
          <a:bodyPr wrap="square" lIns="0" tIns="0" rIns="0" bIns="0" rtlCol="0" anchor="ctr"/>
          <a:lstStyle/>
          <a:p>
            <a:pPr algn="l" indent="0" marL="0">
              <a:lnSpc>
                <a:spcPct val="115000"/>
              </a:lnSpc>
              <a:spcAft>
                <a:spcPts val="200"/>
              </a:spcAft>
              <a:buNone/>
            </a:pPr>
            <a:r>
              <a:rPr lang="en-US" sz="950" b="1" dirty="0">
                <a:solidFill>
                  <a:srgbClr val="E3A774"/>
                </a:solidFill>
                <a:latin typeface="Meiryo" pitchFamily="34" charset="0"/>
                <a:ea typeface="Meiryo" pitchFamily="34" charset="-122"/>
                <a:cs typeface="Meiryo" pitchFamily="34" charset="-120"/>
              </a:rPr>
              <a:t>実証での測り方：</a:t>
            </a:r>
            <a:pPr algn="l" indent="0" marL="0">
              <a:lnSpc>
                <a:spcPct val="115000"/>
              </a:lnSpc>
              <a:spcAft>
                <a:spcPts val="200"/>
              </a:spcAft>
              <a:buNone/>
            </a:pPr>
            <a:r>
              <a:rPr lang="en-US" sz="950" dirty="0">
                <a:solidFill>
                  <a:srgbClr val="FFFFFF"/>
                </a:solidFill>
                <a:latin typeface="Meiryo" pitchFamily="34" charset="0"/>
                <a:ea typeface="Meiryo" pitchFamily="34" charset="-122"/>
                <a:cs typeface="Meiryo" pitchFamily="34" charset="-120"/>
              </a:rPr>
              <a:t>導入前2週間と導入後4週間で、日報・写真整理・写真台帳にかかった時間を、職長と施工管理者が毎日記録（作業ログとアプリの操作記録で裏付け）。</a:t>
            </a:r>
            <a:endParaRPr lang="en-US" sz="950" dirty="0"/>
          </a:p>
          <a:p>
            <a:pPr algn="l" indent="0" marL="0">
              <a:lnSpc>
                <a:spcPct val="115000"/>
              </a:lnSpc>
              <a:spcAft>
                <a:spcPts val="200"/>
              </a:spcAft>
              <a:buNone/>
            </a:pPr>
            <a:r>
              <a:rPr lang="en-US" sz="950" dirty="0">
                <a:solidFill>
                  <a:srgbClr val="FFFFFF"/>
                </a:solidFill>
                <a:latin typeface="Meiryo" pitchFamily="34" charset="0"/>
                <a:ea typeface="Meiryo" pitchFamily="34" charset="-122"/>
                <a:cs typeface="Meiryo" pitchFamily="34" charset="-120"/>
              </a:rPr>
              <a:t>合格ラインは1台1日23分以上（p.8）</a:t>
            </a:r>
            <a:endParaRPr lang="en-US" sz="950" dirty="0"/>
          </a:p>
        </p:txBody>
      </p:sp>
      <p:sp>
        <p:nvSpPr>
          <p:cNvPr id="15" name="Text 10"/>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年240日は端末を使う日数の見積。1拠点10台は「1班に1台・職長が着ける」前提（p.10）</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0"/>
          <p:cNvSpPr txBox="1"/>
          <p:nvPr/>
        </p:nvSpPr>
        <p:spPr>
          <a:xfrm>
            <a:off x="5577840" y="54864"/>
            <a:ext cx="3200400" cy="182880"/>
          </a:xfrm>
          <a:prstGeom prst="rect">
            <a:avLst/>
          </a:prstGeom>
          <a:noFill/>
          <a:ln/>
        </p:spPr>
        <p:txBody>
          <a:bodyPr wrap="square" lIns="0" tIns="0" rIns="0" bIns="0" rtlCol="0" anchor="ctr"/>
          <a:lstStyle/>
          <a:p>
            <a:pPr algn="r" indent="0" marL="0">
              <a:lnSpc>
                <a:spcPct val="115000"/>
              </a:lnSpc>
              <a:buNone/>
            </a:pPr>
            <a:r>
              <a:rPr lang="en-US" sz="800" dirty="0">
                <a:solidFill>
                  <a:srgbClr val="8C8C8C"/>
                </a:solidFill>
                <a:latin typeface="Meiryo" pitchFamily="34" charset="0"/>
                <a:ea typeface="Meiryo" pitchFamily="34" charset="-122"/>
                <a:cs typeface="Meiryo" pitchFamily="34" charset="-120"/>
              </a:rPr>
              <a:t>本編 p.7・9 の詳細</a:t>
            </a:r>
            <a:endParaRPr lang="en-US" sz="800" dirty="0"/>
          </a:p>
        </p:txBody>
      </p:sp>
      <p:sp>
        <p:nvSpPr>
          <p:cNvPr id="4"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手戻りと新人指導 ─ 実証で測るまで計画に入れない</a:t>
            </a:r>
            <a:endParaRPr lang="en-US" sz="2000" dirty="0"/>
          </a:p>
        </p:txBody>
      </p:sp>
      <p:sp>
        <p:nvSpPr>
          <p:cNvPr id="5"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AIの出力がそのまま現場で使える前提の数字は、計画に入れない</a:t>
            </a:r>
            <a:endParaRPr lang="en-US" sz="1200" dirty="0"/>
          </a:p>
        </p:txBody>
      </p:sp>
      <p:sp>
        <p:nvSpPr>
          <p:cNvPr id="6" name="Text 3"/>
          <p:cNvSpPr txBox="1"/>
          <p:nvPr/>
        </p:nvSpPr>
        <p:spPr>
          <a:xfrm>
            <a:off x="365760" y="1024128"/>
            <a:ext cx="40690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手戻り：対象工種に絞って上振れに回す</a:t>
            </a:r>
            <a:endParaRPr lang="en-US" sz="1050" dirty="0"/>
          </a:p>
        </p:txBody>
      </p:sp>
      <p:sp>
        <p:nvSpPr>
          <p:cNvPr id="7" name="Shape 4"/>
          <p:cNvSpPr/>
          <p:nvPr/>
        </p:nvSpPr>
        <p:spPr>
          <a:xfrm>
            <a:off x="365760" y="1298448"/>
            <a:ext cx="4069080" cy="914400"/>
          </a:xfrm>
          <a:prstGeom prst="rect">
            <a:avLst/>
          </a:prstGeom>
          <a:solidFill>
            <a:srgbClr val="F2F2F2"/>
          </a:solidFill>
          <a:ln/>
        </p:spPr>
      </p:sp>
      <p:sp>
        <p:nvSpPr>
          <p:cNvPr id="8" name="Text 5"/>
          <p:cNvSpPr txBox="1"/>
          <p:nvPr/>
        </p:nvSpPr>
        <p:spPr>
          <a:xfrm>
            <a:off x="502920" y="1298448"/>
            <a:ext cx="3794760" cy="914400"/>
          </a:xfrm>
          <a:prstGeom prst="rect">
            <a:avLst/>
          </a:prstGeom>
          <a:noFill/>
          <a:ln/>
        </p:spPr>
        <p:txBody>
          <a:bodyPr wrap="square" lIns="0" tIns="0" rIns="0" bIns="0" rtlCol="0" anchor="ctr"/>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完成工事高30億円 × 手戻り2% × 対象工種30% × 削減20%</a:t>
            </a:r>
            <a:endParaRPr lang="en-US" sz="950" dirty="0"/>
          </a:p>
          <a:p>
            <a:pPr algn="l" indent="0" marL="0">
              <a:lnSpc>
                <a:spcPct val="115000"/>
              </a:lnSpc>
              <a:buNone/>
            </a:pPr>
            <a:r>
              <a:rPr lang="en-US" sz="950" b="1" dirty="0">
                <a:solidFill>
                  <a:srgbClr val="B8692E"/>
                </a:solidFill>
                <a:latin typeface="Meiryo" pitchFamily="34" charset="0"/>
                <a:ea typeface="Meiryo" pitchFamily="34" charset="-122"/>
                <a:cs typeface="Meiryo" pitchFamily="34" charset="-120"/>
              </a:rPr>
              <a:t>＝ 年360万円（上振れ・計画に入れない）</a:t>
            </a:r>
            <a:endParaRPr lang="en-US" sz="950" dirty="0"/>
          </a:p>
        </p:txBody>
      </p:sp>
      <p:sp>
        <p:nvSpPr>
          <p:cNvPr id="9" name="Text 6"/>
          <p:cNvSpPr txBox="1"/>
          <p:nvPr/>
        </p:nvSpPr>
        <p:spPr>
          <a:xfrm>
            <a:off x="365760" y="2322576"/>
            <a:ext cx="4069080" cy="1188720"/>
          </a:xfrm>
          <a:prstGeom prst="rect">
            <a:avLst/>
          </a:prstGeom>
          <a:noFill/>
          <a:ln/>
        </p:spPr>
        <p:txBody>
          <a:bodyPr wrap="square" lIns="0" tIns="0" rIns="0" bIns="0" rtlCol="0" anchor="t"/>
          <a:lstStyle/>
          <a:p>
            <a:pPr algn="l" indent="0" marL="0">
              <a:lnSpc>
                <a:spcPct val="115000"/>
              </a:lnSpc>
              <a:spcAft>
                <a:spcPts val="200"/>
              </a:spcAft>
              <a:buNone/>
            </a:pPr>
            <a:r>
              <a:rPr lang="en-US" sz="950" b="1" dirty="0">
                <a:solidFill>
                  <a:srgbClr val="B8692E"/>
                </a:solidFill>
                <a:latin typeface="Meiryo" pitchFamily="34" charset="0"/>
                <a:ea typeface="Meiryo" pitchFamily="34" charset="-122"/>
                <a:cs typeface="Meiryo" pitchFamily="34" charset="-120"/>
              </a:rPr>
              <a:t>かかる手間（当社）</a:t>
            </a:r>
            <a:endParaRPr lang="en-US" sz="950" dirty="0"/>
          </a:p>
          <a:p>
            <a:pPr algn="l" indent="0" marL="0">
              <a:lnSpc>
                <a:spcPct val="115000"/>
              </a:lnSpc>
              <a:spcAft>
                <a:spcPts val="200"/>
              </a:spcAft>
              <a:buNone/>
            </a:pPr>
            <a:r>
              <a:rPr lang="en-US" sz="950" dirty="0">
                <a:solidFill>
                  <a:srgbClr val="1A1A1A"/>
                </a:solidFill>
                <a:latin typeface="Meiryo" pitchFamily="34" charset="0"/>
                <a:ea typeface="Meiryo" pitchFamily="34" charset="-122"/>
                <a:cs typeface="Meiryo" pitchFamily="34" charset="-120"/>
              </a:rPr>
              <a:t>・AIの出力はそのまま報告書にならない。現場監修が確認する</a:t>
            </a:r>
            <a:endParaRPr lang="en-US" sz="950" dirty="0"/>
          </a:p>
          <a:p>
            <a:pPr algn="l" indent="0" marL="0">
              <a:lnSpc>
                <a:spcPct val="115000"/>
              </a:lnSpc>
              <a:spcAft>
                <a:spcPts val="200"/>
              </a:spcAft>
              <a:buNone/>
            </a:pPr>
            <a:r>
              <a:rPr lang="en-US" sz="950" dirty="0">
                <a:solidFill>
                  <a:srgbClr val="1A1A1A"/>
                </a:solidFill>
                <a:latin typeface="Meiryo" pitchFamily="34" charset="0"/>
                <a:ea typeface="Meiryo" pitchFamily="34" charset="-122"/>
                <a:cs typeface="Meiryo" pitchFamily="34" charset="-120"/>
              </a:rPr>
              <a:t>・工種ごとに組立図の3D化とミス事例の登録がいる</a:t>
            </a:r>
            <a:endParaRPr lang="en-US" sz="950" dirty="0"/>
          </a:p>
          <a:p>
            <a:pPr algn="l" indent="0" marL="0">
              <a:lnSpc>
                <a:spcPct val="115000"/>
              </a:lnSpc>
              <a:spcAft>
                <a:spcPts val="200"/>
              </a:spcAft>
              <a:buNone/>
            </a:pPr>
            <a:r>
              <a:rPr lang="en-US" sz="950" dirty="0">
                <a:solidFill>
                  <a:srgbClr val="1A1A1A"/>
                </a:solidFill>
                <a:latin typeface="Meiryo" pitchFamily="34" charset="0"/>
                <a:ea typeface="Meiryo" pitchFamily="34" charset="-122"/>
                <a:cs typeface="Meiryo" pitchFamily="34" charset="-120"/>
              </a:rPr>
              <a:t>→ 導入支援と現場監修の人件費として、当社の費用に入れた</a:t>
            </a:r>
            <a:endParaRPr lang="en-US" sz="950" dirty="0"/>
          </a:p>
        </p:txBody>
      </p:sp>
      <p:sp>
        <p:nvSpPr>
          <p:cNvPr id="10" name="Text 7"/>
          <p:cNvSpPr txBox="1"/>
          <p:nvPr/>
        </p:nvSpPr>
        <p:spPr>
          <a:xfrm>
            <a:off x="4709160" y="1024128"/>
            <a:ext cx="40690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新人指導：金額にせず、3つの数で測る</a:t>
            </a:r>
            <a:endParaRPr lang="en-US" sz="1050" dirty="0"/>
          </a:p>
        </p:txBody>
      </p:sp>
      <p:sp>
        <p:nvSpPr>
          <p:cNvPr id="11" name="Shape 8"/>
          <p:cNvSpPr/>
          <p:nvPr/>
        </p:nvSpPr>
        <p:spPr>
          <a:xfrm>
            <a:off x="4709160" y="1298448"/>
            <a:ext cx="4069080" cy="914400"/>
          </a:xfrm>
          <a:prstGeom prst="rect">
            <a:avLst/>
          </a:prstGeom>
          <a:solidFill>
            <a:srgbClr val="FFFFFF"/>
          </a:solidFill>
          <a:ln w="19050">
            <a:solidFill>
              <a:srgbClr val="B8692E"/>
            </a:solidFill>
            <a:prstDash val="solid"/>
          </a:ln>
        </p:spPr>
      </p:sp>
      <p:sp>
        <p:nvSpPr>
          <p:cNvPr id="12" name="Text 9"/>
          <p:cNvSpPr txBox="1"/>
          <p:nvPr/>
        </p:nvSpPr>
        <p:spPr>
          <a:xfrm>
            <a:off x="4846320" y="1298448"/>
            <a:ext cx="3794760" cy="914400"/>
          </a:xfrm>
          <a:prstGeom prst="rect">
            <a:avLst/>
          </a:prstGeom>
          <a:noFill/>
          <a:ln/>
        </p:spPr>
        <p:txBody>
          <a:bodyPr wrap="square" lIns="0" tIns="0" rIns="0" bIns="0" rtlCol="0" anchor="ctr"/>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指導は他の仕事と混ざっていて、何を指導時間とするか決められない。年144万円は計画から外す</a:t>
            </a:r>
            <a:endParaRPr lang="en-US" sz="950" dirty="0"/>
          </a:p>
        </p:txBody>
      </p:sp>
      <p:graphicFrame>
        <p:nvGraphicFramePr>
          <p:cNvPr id="8" name="coach"/>
          <p:cNvGraphicFramePr>
            <a:graphicFrameLocks noGrp="1"/>
          </p:cNvGraphicFramePr>
          <p:nvPr>
            <p:extLst>
              <p:ext uri="{D42A27DB-BD31-4B8C-83A1-F6EECF244321}">
                <p14:modId xmlns:p14="http://schemas.microsoft.com/office/powerpoint/2010/main" val="1579011935"/>
              </p:ext>
            </p:extLst>
          </p:nvPr>
        </p:nvGraphicFramePr>
        <p:xfrm>
          <a:off x="4709160" y="2322576"/>
          <a:ext cx="4069080" cy="914400"/>
        </p:xfrm>
        <a:graphic>
          <a:graphicData uri="http://schemas.openxmlformats.org/drawingml/2006/table">
            <a:tbl>
              <a:tblPr/>
              <a:tblGrid>
                <a:gridCol w="1463040"/>
                <a:gridCol w="2606040"/>
              </a:tblGrid>
              <a:tr h="274320">
                <a:tc>
                  <a:txBody>
                    <a:bodyPr/>
                    <a:lstStyle/>
                    <a:p>
                      <a:pPr algn="l" indent="0" marL="0">
                        <a:buNone/>
                      </a:pPr>
                      <a:r>
                        <a:rPr lang="en-US" sz="900" b="1" dirty="0">
                          <a:solidFill>
                            <a:srgbClr val="1A1A1A"/>
                          </a:solidFill>
                          <a:latin typeface="Meiryo" pitchFamily="34" charset="0"/>
                          <a:ea typeface="Meiryo" pitchFamily="34" charset="-122"/>
                          <a:cs typeface="Meiryo" pitchFamily="34" charset="-120"/>
                        </a:rPr>
                        <a:t>測る数</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900" b="1" dirty="0">
                          <a:solidFill>
                            <a:srgbClr val="1A1A1A"/>
                          </a:solidFill>
                          <a:latin typeface="Meiryo" pitchFamily="34" charset="0"/>
                          <a:ea typeface="Meiryo" pitchFamily="34" charset="-122"/>
                          <a:cs typeface="Meiryo" pitchFamily="34" charset="-120"/>
                        </a:rPr>
                        <a:t>測り方</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74320">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独り立ちまでの月数</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職長が「一人で任せられる」と判定した日</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先輩が付き添った時間</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日報に付き添いの時間を記録</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新人のやり直し件数</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検査での指摘・やり直しの記録</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14" name="Shape 10"/>
          <p:cNvSpPr/>
          <p:nvPr/>
        </p:nvSpPr>
        <p:spPr>
          <a:xfrm>
            <a:off x="365760" y="3611880"/>
            <a:ext cx="8412480" cy="841248"/>
          </a:xfrm>
          <a:prstGeom prst="rect">
            <a:avLst/>
          </a:prstGeom>
          <a:solidFill>
            <a:srgbClr val="1A1A1A"/>
          </a:solidFill>
          <a:ln/>
        </p:spPr>
      </p:sp>
      <p:sp>
        <p:nvSpPr>
          <p:cNvPr id="15" name="Text 11"/>
          <p:cNvSpPr txBox="1"/>
          <p:nvPr/>
        </p:nvSpPr>
        <p:spPr>
          <a:xfrm>
            <a:off x="502920" y="3611880"/>
            <a:ext cx="8138160" cy="841248"/>
          </a:xfrm>
          <a:prstGeom prst="rect">
            <a:avLst/>
          </a:prstGeom>
          <a:noFill/>
          <a:ln/>
        </p:spPr>
        <p:txBody>
          <a:bodyPr wrap="square" lIns="0" tIns="0" rIns="0" bIns="0" rtlCol="0" anchor="ctr"/>
          <a:lstStyle/>
          <a:p>
            <a:pPr algn="l" indent="0" marL="0">
              <a:lnSpc>
                <a:spcPct val="115000"/>
              </a:lnSpc>
              <a:spcAft>
                <a:spcPts val="200"/>
              </a:spcAft>
              <a:buNone/>
            </a:pPr>
            <a:r>
              <a:rPr lang="en-US" sz="950" b="1" dirty="0">
                <a:solidFill>
                  <a:srgbClr val="E3A774"/>
                </a:solidFill>
                <a:latin typeface="Meiryo" pitchFamily="34" charset="0"/>
                <a:ea typeface="Meiryo" pitchFamily="34" charset="-122"/>
                <a:cs typeface="Meiryo" pitchFamily="34" charset="-120"/>
              </a:rPr>
              <a:t>計画に入れるのは書類の削減だけ：</a:t>
            </a:r>
            <a:pPr algn="l" indent="0" marL="0">
              <a:lnSpc>
                <a:spcPct val="115000"/>
              </a:lnSpc>
              <a:spcAft>
                <a:spcPts val="200"/>
              </a:spcAft>
              <a:buNone/>
            </a:pPr>
            <a:r>
              <a:rPr lang="en-US" sz="950" dirty="0">
                <a:solidFill>
                  <a:srgbClr val="FFFFFF"/>
                </a:solidFill>
                <a:latin typeface="Meiryo" pitchFamily="34" charset="0"/>
                <a:ea typeface="Meiryo" pitchFamily="34" charset="-122"/>
                <a:cs typeface="Meiryo" pitchFamily="34" charset="-120"/>
              </a:rPr>
              <a:t>年499万円。手戻り360万円と新人指導は、実証で数字が出てから加える。</a:t>
            </a:r>
            <a:endParaRPr lang="en-US" sz="950" dirty="0"/>
          </a:p>
          <a:p>
            <a:pPr algn="l" indent="0" marL="0">
              <a:lnSpc>
                <a:spcPct val="115000"/>
              </a:lnSpc>
              <a:spcAft>
                <a:spcPts val="200"/>
              </a:spcAft>
              <a:buNone/>
            </a:pPr>
            <a:r>
              <a:rPr lang="en-US" sz="950" dirty="0">
                <a:solidFill>
                  <a:srgbClr val="FFFFFF"/>
                </a:solidFill>
                <a:latin typeface="Meiryo" pitchFamily="34" charset="0"/>
                <a:ea typeface="Meiryo" pitchFamily="34" charset="-122"/>
                <a:cs typeface="Meiryo" pitchFamily="34" charset="-120"/>
              </a:rPr>
              <a:t>本編の導入効果（p.7）は、書類の時間だけで示している</a:t>
            </a:r>
            <a:endParaRPr lang="en-US" sz="950" dirty="0"/>
          </a:p>
        </p:txBody>
      </p:sp>
      <p:sp>
        <p:nvSpPr>
          <p:cNvPr id="16" name="Text 12"/>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手戻り率2%は海外研究の範囲（工事費の0.4〜6%）から控えめに置いた。対象工種30%・削減20%は仮説</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ext 0"/>
          <p:cNvSpPr txBox="1"/>
          <p:nvPr/>
        </p:nvSpPr>
        <p:spPr>
          <a:xfrm>
            <a:off x="5577840" y="54864"/>
            <a:ext cx="3200400" cy="182880"/>
          </a:xfrm>
          <a:prstGeom prst="rect">
            <a:avLst/>
          </a:prstGeom>
          <a:noFill/>
          <a:ln/>
        </p:spPr>
        <p:txBody>
          <a:bodyPr wrap="square" lIns="0" tIns="0" rIns="0" bIns="0" rtlCol="0" anchor="ctr"/>
          <a:lstStyle/>
          <a:p>
            <a:pPr algn="r" indent="0" marL="0">
              <a:lnSpc>
                <a:spcPct val="115000"/>
              </a:lnSpc>
              <a:buNone/>
            </a:pPr>
            <a:r>
              <a:rPr lang="en-US" sz="800" dirty="0">
                <a:solidFill>
                  <a:srgbClr val="8C8C8C"/>
                </a:solidFill>
                <a:latin typeface="Meiryo" pitchFamily="34" charset="0"/>
                <a:ea typeface="Meiryo" pitchFamily="34" charset="-122"/>
                <a:cs typeface="Meiryo" pitchFamily="34" charset="-120"/>
              </a:rPr>
              <a:t>本編 p.9・21 の詳細</a:t>
            </a:r>
            <a:endParaRPr lang="en-US" sz="800" dirty="0"/>
          </a:p>
        </p:txBody>
      </p:sp>
      <p:sp>
        <p:nvSpPr>
          <p:cNvPr id="4"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お客様が元を取る条件 ─ 1台1日23分</a:t>
            </a:r>
            <a:endParaRPr lang="en-US" sz="2000" dirty="0"/>
          </a:p>
        </p:txBody>
      </p:sp>
      <p:sp>
        <p:nvSpPr>
          <p:cNvPr id="5"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お客様が払うのは「当社への利用料」と「グラスのリース」。初年度は導入支援も</a:t>
            </a:r>
            <a:endParaRPr lang="en-US" sz="1200" dirty="0"/>
          </a:p>
        </p:txBody>
      </p:sp>
      <p:graphicFrame>
        <p:nvGraphicFramePr>
          <p:cNvPr id="9" name="custcost"/>
          <p:cNvGraphicFramePr>
            <a:graphicFrameLocks noGrp="1"/>
          </p:cNvGraphicFramePr>
          <p:nvPr>
            <p:extLst>
              <p:ext uri="{D42A27DB-BD31-4B8C-83A1-F6EECF244321}">
                <p14:modId xmlns:p14="http://schemas.microsoft.com/office/powerpoint/2010/main" val="1579011935"/>
              </p:ext>
            </p:extLst>
          </p:nvPr>
        </p:nvGraphicFramePr>
        <p:xfrm>
          <a:off x="365760" y="1024128"/>
          <a:ext cx="4069080" cy="914400"/>
        </p:xfrm>
        <a:graphic>
          <a:graphicData uri="http://schemas.openxmlformats.org/drawingml/2006/table">
            <a:tbl>
              <a:tblPr/>
              <a:tblGrid>
                <a:gridCol w="3154680"/>
                <a:gridCol w="914400"/>
              </a:tblGrid>
              <a:tr h="274320">
                <a:tc>
                  <a:txBody>
                    <a:bodyPr/>
                    <a:lstStyle/>
                    <a:p>
                      <a:pPr algn="l" indent="0" marL="0">
                        <a:buNone/>
                      </a:pPr>
                      <a:r>
                        <a:rPr lang="en-US" sz="900" b="1" dirty="0">
                          <a:solidFill>
                            <a:srgbClr val="1A1A1A"/>
                          </a:solidFill>
                          <a:latin typeface="Meiryo" pitchFamily="34" charset="0"/>
                          <a:ea typeface="Meiryo" pitchFamily="34" charset="-122"/>
                          <a:cs typeface="Meiryo" pitchFamily="34" charset="-120"/>
                        </a:rPr>
                        <a:t>お客様が払うもの（1拠点・年）</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万円</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74320">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当社：基盤 月5万円</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60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当社：端末ライセンス 月2万円×10台</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240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リース：カメラ付きAIグラス8台</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23</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リース：表示付きARグラス2台</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9</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900" b="1" dirty="0">
                          <a:solidFill>
                            <a:srgbClr val="1A1A1A"/>
                          </a:solidFill>
                          <a:latin typeface="Meiryo" pitchFamily="34" charset="0"/>
                          <a:ea typeface="Meiryo" pitchFamily="34" charset="-122"/>
                          <a:cs typeface="Meiryo" pitchFamily="34" charset="-120"/>
                        </a:rPr>
                        <a:t>2年目以降の合計</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332</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初年度は＋導入支援</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200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7" name="Shape 3"/>
          <p:cNvSpPr/>
          <p:nvPr/>
        </p:nvSpPr>
        <p:spPr>
          <a:xfrm>
            <a:off x="365760" y="3035808"/>
            <a:ext cx="4069080" cy="566928"/>
          </a:xfrm>
          <a:prstGeom prst="rect">
            <a:avLst/>
          </a:prstGeom>
          <a:solidFill>
            <a:srgbClr val="F2F2F2"/>
          </a:solidFill>
          <a:ln/>
        </p:spPr>
      </p:sp>
      <p:sp>
        <p:nvSpPr>
          <p:cNvPr id="8" name="Text 4"/>
          <p:cNvSpPr txBox="1"/>
          <p:nvPr/>
        </p:nvSpPr>
        <p:spPr>
          <a:xfrm>
            <a:off x="502920" y="3035808"/>
            <a:ext cx="3794760" cy="566928"/>
          </a:xfrm>
          <a:prstGeom prst="rect">
            <a:avLst/>
          </a:prstGeom>
          <a:noFill/>
          <a:ln/>
        </p:spPr>
        <p:txBody>
          <a:bodyPr wrap="square" lIns="0" tIns="0" rIns="0" bIns="0" rtlCol="0" anchor="ctr"/>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332万円 ÷（10台×240日）＝ 1台1日 約1,382円</a:t>
            </a:r>
            <a:endParaRPr lang="en-US" sz="950" dirty="0"/>
          </a:p>
          <a:p>
            <a:pPr algn="l" indent="0" marL="0">
              <a:lnSpc>
                <a:spcPct val="115000"/>
              </a:lnSpc>
              <a:buNone/>
            </a:pPr>
            <a:r>
              <a:rPr lang="en-US" sz="950" b="1" dirty="0">
                <a:solidFill>
                  <a:srgbClr val="B8692E"/>
                </a:solidFill>
                <a:latin typeface="Meiryo" pitchFamily="34" charset="0"/>
                <a:ea typeface="Meiryo" pitchFamily="34" charset="-122"/>
                <a:cs typeface="Meiryo" pitchFamily="34" charset="-120"/>
              </a:rPr>
              <a:t>→ 今の単価で約23分減れば元が取れる</a:t>
            </a:r>
            <a:endParaRPr lang="en-US" sz="950" dirty="0"/>
          </a:p>
        </p:txBody>
      </p:sp>
      <p:sp>
        <p:nvSpPr>
          <p:cNvPr id="9" name="Text 5"/>
          <p:cNvSpPr txBox="1"/>
          <p:nvPr/>
        </p:nvSpPr>
        <p:spPr>
          <a:xfrm>
            <a:off x="4709160" y="1024128"/>
            <a:ext cx="40690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値段を下げたら？ 台数を増やしたら？</a:t>
            </a:r>
            <a:endParaRPr lang="en-US" sz="1050" dirty="0"/>
          </a:p>
        </p:txBody>
      </p:sp>
      <p:graphicFrame>
        <p:nvGraphicFramePr>
          <p:cNvPr id="17" name="options"/>
          <p:cNvGraphicFramePr>
            <a:graphicFrameLocks noGrp="1"/>
          </p:cNvGraphicFramePr>
          <p:nvPr>
            <p:extLst>
              <p:ext uri="{D42A27DB-BD31-4B8C-83A1-F6EECF244321}">
                <p14:modId xmlns:p14="http://schemas.microsoft.com/office/powerpoint/2010/main" val="1579011935"/>
              </p:ext>
            </p:extLst>
          </p:nvPr>
        </p:nvGraphicFramePr>
        <p:xfrm>
          <a:off x="4709160" y="1298448"/>
          <a:ext cx="4069080" cy="914400"/>
        </p:xfrm>
        <a:graphic>
          <a:graphicData uri="http://schemas.openxmlformats.org/drawingml/2006/table">
            <a:tbl>
              <a:tblPr/>
              <a:tblGrid>
                <a:gridCol w="2057400"/>
                <a:gridCol w="1005840"/>
                <a:gridCol w="1005840"/>
              </a:tblGrid>
              <a:tr h="292608">
                <a:tc>
                  <a:txBody>
                    <a:bodyPr/>
                    <a:lstStyle/>
                    <a:p>
                      <a:pPr algn="l" indent="0" marL="0">
                        <a:buNone/>
                      </a:pPr>
                      <a:r>
                        <a:rPr lang="en-US" sz="900" b="1" dirty="0">
                          <a:solidFill>
                            <a:srgbClr val="1A1A1A"/>
                          </a:solidFill>
                          <a:latin typeface="Meiryo" pitchFamily="34" charset="0"/>
                          <a:ea typeface="Meiryo" pitchFamily="34" charset="-122"/>
                          <a:cs typeface="Meiryo" pitchFamily="34" charset="-120"/>
                        </a:rPr>
                        <a:t>案</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900" b="1" dirty="0">
                          <a:solidFill>
                            <a:srgbClr val="1A1A1A"/>
                          </a:solidFill>
                          <a:latin typeface="Meiryo" pitchFamily="34" charset="0"/>
                          <a:ea typeface="Meiryo" pitchFamily="34" charset="-122"/>
                          <a:cs typeface="Meiryo" pitchFamily="34" charset="-120"/>
                        </a:rPr>
                        <a:t>お客様の倍率</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900" b="1" dirty="0">
                          <a:solidFill>
                            <a:srgbClr val="1A1A1A"/>
                          </a:solidFill>
                          <a:latin typeface="Meiryo" pitchFamily="34" charset="0"/>
                          <a:ea typeface="Meiryo" pitchFamily="34" charset="-122"/>
                          <a:cs typeface="Meiryo" pitchFamily="34" charset="-120"/>
                        </a:rPr>
                        <a:t>当社の黒字化</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92608">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月25万円・10台（計画）</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A1A1A"/>
                          </a:solidFill>
                          <a:latin typeface="Meiryo" pitchFamily="34" charset="0"/>
                          <a:ea typeface="Meiryo" pitchFamily="34" charset="-122"/>
                          <a:cs typeface="Meiryo" pitchFamily="34" charset="-120"/>
                        </a:rPr>
                        <a:t>1.5倍</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A1A1A"/>
                          </a:solidFill>
                          <a:latin typeface="Meiryo" pitchFamily="34" charset="0"/>
                          <a:ea typeface="Meiryo" pitchFamily="34" charset="-122"/>
                          <a:cs typeface="Meiryo" pitchFamily="34" charset="-120"/>
                        </a:rPr>
                        <a:t>しない</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92608">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月18万円に値下げ</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A1A1A"/>
                          </a:solidFill>
                          <a:latin typeface="Meiryo" pitchFamily="34" charset="0"/>
                          <a:ea typeface="Meiryo" pitchFamily="34" charset="-122"/>
                          <a:cs typeface="Meiryo" pitchFamily="34" charset="-120"/>
                        </a:rPr>
                        <a:t>2.0倍</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692E"/>
                          </a:solidFill>
                          <a:latin typeface="Meiryo" pitchFamily="34" charset="0"/>
                          <a:ea typeface="Meiryo" pitchFamily="34" charset="-122"/>
                          <a:cs typeface="Meiryo" pitchFamily="34" charset="-120"/>
                        </a:rPr>
                        <a:t>しない</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92608">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15台に増やす（同じ単価）</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A1A1A"/>
                          </a:solidFill>
                          <a:latin typeface="Meiryo" pitchFamily="34" charset="0"/>
                          <a:ea typeface="Meiryo" pitchFamily="34" charset="-122"/>
                          <a:cs typeface="Meiryo" pitchFamily="34" charset="-120"/>
                        </a:rPr>
                        <a:t>1.5倍</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A1A1A"/>
                          </a:solidFill>
                          <a:latin typeface="Meiryo" pitchFamily="34" charset="0"/>
                          <a:ea typeface="Meiryo" pitchFamily="34" charset="-122"/>
                          <a:cs typeface="Meiryo" pitchFamily="34" charset="-120"/>
                        </a:rPr>
                        <a:t>5年目</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11" name="Text 6"/>
          <p:cNvSpPr txBox="1"/>
          <p:nvPr/>
        </p:nvSpPr>
        <p:spPr>
          <a:xfrm>
            <a:off x="4709160" y="2532888"/>
            <a:ext cx="4069080" cy="548640"/>
          </a:xfrm>
          <a:prstGeom prst="rect">
            <a:avLst/>
          </a:prstGeom>
          <a:noFill/>
          <a:ln/>
        </p:spPr>
        <p:txBody>
          <a:bodyPr wrap="square" lIns="0" tIns="0" rIns="0" bIns="0" rtlCol="0" anchor="t"/>
          <a:lstStyle/>
          <a:p>
            <a:pPr algn="l" indent="0" marL="0">
              <a:lnSpc>
                <a:spcPct val="115000"/>
              </a:lnSpc>
              <a:buNone/>
            </a:pPr>
            <a:r>
              <a:rPr lang="en-US" sz="900" dirty="0">
                <a:solidFill>
                  <a:srgbClr val="4D4D4D"/>
                </a:solidFill>
                <a:latin typeface="Meiryo" pitchFamily="34" charset="0"/>
                <a:ea typeface="Meiryo" pitchFamily="34" charset="-122"/>
                <a:cs typeface="Meiryo" pitchFamily="34" charset="-120"/>
              </a:rPr>
              <a:t>台数を増やしても、お客様の倍率は1台あたりの得で決まるので変わらない。当社は1拠点の売上が増えて黒字化が早まる</a:t>
            </a:r>
            <a:endParaRPr lang="en-US" sz="900" dirty="0"/>
          </a:p>
        </p:txBody>
      </p:sp>
      <p:sp>
        <p:nvSpPr>
          <p:cNvPr id="12" name="Shape 7"/>
          <p:cNvSpPr/>
          <p:nvPr/>
        </p:nvSpPr>
        <p:spPr>
          <a:xfrm>
            <a:off x="365760" y="3611880"/>
            <a:ext cx="8412480" cy="841248"/>
          </a:xfrm>
          <a:prstGeom prst="rect">
            <a:avLst/>
          </a:prstGeom>
          <a:solidFill>
            <a:srgbClr val="1A1A1A"/>
          </a:solidFill>
          <a:ln/>
        </p:spPr>
      </p:sp>
      <p:sp>
        <p:nvSpPr>
          <p:cNvPr id="13" name="Text 8"/>
          <p:cNvSpPr txBox="1"/>
          <p:nvPr/>
        </p:nvSpPr>
        <p:spPr>
          <a:xfrm>
            <a:off x="502920" y="3611880"/>
            <a:ext cx="8138160" cy="841248"/>
          </a:xfrm>
          <a:prstGeom prst="rect">
            <a:avLst/>
          </a:prstGeom>
          <a:noFill/>
          <a:ln/>
        </p:spPr>
        <p:txBody>
          <a:bodyPr wrap="square" lIns="0" tIns="0" rIns="0" bIns="0" rtlCol="0" anchor="ctr"/>
          <a:lstStyle/>
          <a:p>
            <a:pPr algn="l" indent="0" marL="0">
              <a:lnSpc>
                <a:spcPct val="115000"/>
              </a:lnSpc>
              <a:spcAft>
                <a:spcPts val="200"/>
              </a:spcAft>
              <a:buNone/>
            </a:pPr>
            <a:r>
              <a:rPr lang="en-US" sz="950" b="1" dirty="0">
                <a:solidFill>
                  <a:srgbClr val="E3A774"/>
                </a:solidFill>
                <a:latin typeface="Meiryo" pitchFamily="34" charset="0"/>
                <a:ea typeface="Meiryo" pitchFamily="34" charset="-122"/>
                <a:cs typeface="Meiryo" pitchFamily="34" charset="-120"/>
              </a:rPr>
              <a:t>結論：</a:t>
            </a:r>
            <a:pPr algn="l" indent="0" marL="0">
              <a:lnSpc>
                <a:spcPct val="115000"/>
              </a:lnSpc>
              <a:spcAft>
                <a:spcPts val="200"/>
              </a:spcAft>
              <a:buNone/>
            </a:pPr>
            <a:r>
              <a:rPr lang="en-US" sz="950" dirty="0">
                <a:solidFill>
                  <a:srgbClr val="FFFFFF"/>
                </a:solidFill>
                <a:latin typeface="Meiryo" pitchFamily="34" charset="0"/>
                <a:ea typeface="Meiryo" pitchFamily="34" charset="-122"/>
                <a:cs typeface="Meiryo" pitchFamily="34" charset="-120"/>
              </a:rPr>
              <a:t>値下げでは当社が持たない（10台のままでも5年で黒字にならない）。①1台あたりの削減時間を上げる（写真台帳・日報の自動化を最優先）②手戻りを実測する ③効果が出た班から台数を増やす。</a:t>
            </a:r>
            <a:endParaRPr lang="en-US" sz="950" dirty="0"/>
          </a:p>
          <a:p>
            <a:pPr algn="l" indent="0" marL="0">
              <a:lnSpc>
                <a:spcPct val="115000"/>
              </a:lnSpc>
              <a:spcAft>
                <a:spcPts val="200"/>
              </a:spcAft>
              <a:buNone/>
            </a:pPr>
            <a:r>
              <a:rPr lang="en-US" sz="950" dirty="0">
                <a:solidFill>
                  <a:srgbClr val="FFFFFF"/>
                </a:solidFill>
                <a:latin typeface="Meiryo" pitchFamily="34" charset="0"/>
                <a:ea typeface="Meiryo" pitchFamily="34" charset="-122"/>
                <a:cs typeface="Meiryo" pitchFamily="34" charset="-120"/>
              </a:rPr>
              <a:t>実証の合格ライン：1台1日23分以上の削減、または手戻りの減少を記録で示せること</a:t>
            </a:r>
            <a:endParaRPr lang="en-US" sz="950" dirty="0"/>
          </a:p>
        </p:txBody>
      </p:sp>
      <p:sp>
        <p:nvSpPr>
          <p:cNvPr id="14" name="Text 9"/>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リース料はグラスの価格×3年リースの料率約3%／月の見積。グラスの価格は p.29</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ext 0"/>
          <p:cNvSpPr txBox="1"/>
          <p:nvPr/>
        </p:nvSpPr>
        <p:spPr>
          <a:xfrm>
            <a:off x="5577840" y="54864"/>
            <a:ext cx="3200400" cy="182880"/>
          </a:xfrm>
          <a:prstGeom prst="rect">
            <a:avLst/>
          </a:prstGeom>
          <a:noFill/>
          <a:ln/>
        </p:spPr>
        <p:txBody>
          <a:bodyPr wrap="square" lIns="0" tIns="0" rIns="0" bIns="0" rtlCol="0" anchor="ctr"/>
          <a:lstStyle/>
          <a:p>
            <a:pPr algn="r" indent="0" marL="0">
              <a:lnSpc>
                <a:spcPct val="115000"/>
              </a:lnSpc>
              <a:buNone/>
            </a:pPr>
            <a:r>
              <a:rPr lang="en-US" sz="800" dirty="0">
                <a:solidFill>
                  <a:srgbClr val="8C8C8C"/>
                </a:solidFill>
                <a:latin typeface="Meiryo" pitchFamily="34" charset="0"/>
                <a:ea typeface="Meiryo" pitchFamily="34" charset="-122"/>
                <a:cs typeface="Meiryo" pitchFamily="34" charset="-120"/>
              </a:rPr>
              <a:t>本編 p.3・20・21 の詳細</a:t>
            </a:r>
            <a:endParaRPr lang="en-US" sz="800" dirty="0"/>
          </a:p>
        </p:txBody>
      </p:sp>
      <p:sp>
        <p:nvSpPr>
          <p:cNvPr id="4"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値段の内訳 ─ 「会社の基盤」＋「端末の台数」</a:t>
            </a:r>
            <a:endParaRPr lang="en-US" sz="2000" dirty="0"/>
          </a:p>
        </p:txBody>
      </p:sp>
      <p:sp>
        <p:nvSpPr>
          <p:cNvPr id="5"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会社に1つかかる費用と、端末1台ごとにかかる費用を分けた。標準の10台で年300万円</a:t>
            </a:r>
            <a:endParaRPr lang="en-US" sz="1200" dirty="0"/>
          </a:p>
        </p:txBody>
      </p:sp>
      <p:graphicFrame>
        <p:nvGraphicFramePr>
          <p:cNvPr id="10" name="price"/>
          <p:cNvGraphicFramePr>
            <a:graphicFrameLocks noGrp="1"/>
          </p:cNvGraphicFramePr>
          <p:nvPr>
            <p:extLst>
              <p:ext uri="{D42A27DB-BD31-4B8C-83A1-F6EECF244321}">
                <p14:modId xmlns:p14="http://schemas.microsoft.com/office/powerpoint/2010/main" val="1579011935"/>
              </p:ext>
            </p:extLst>
          </p:nvPr>
        </p:nvGraphicFramePr>
        <p:xfrm>
          <a:off x="365760" y="1024128"/>
          <a:ext cx="8412480" cy="914400"/>
        </p:xfrm>
        <a:graphic>
          <a:graphicData uri="http://schemas.openxmlformats.org/drawingml/2006/table">
            <a:tbl>
              <a:tblPr/>
              <a:tblGrid>
                <a:gridCol w="1508760"/>
                <a:gridCol w="1463040"/>
                <a:gridCol w="4343400"/>
                <a:gridCol w="1097280"/>
              </a:tblGrid>
              <a:tr h="347472">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項目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値段</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中身</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当社の原価</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347472">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基盤（1拠点）</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月5万円</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会社ごとのデータ保管庫・管理画面・図面と手順の登録・権限・月次の効果レポート・問い合わせ窓口</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月1万円</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347472">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端末ライセンス</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月2万円／台</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記録 → 写真の自動抽出 → 日報・写真台帳を各社の書式で作成。録画は端末に無制限、AIで解析する場面に月の上限、超過は従量</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月0.6万円</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347472">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グラス本体</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当社の売上外</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お客様の名義でリース、手続きは当社が代行（p.29）。当社は機種の選定・設定</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347472">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導入支援（初年度）</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200万円</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約2か月・42人日（p.13）</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141万円</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347472">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オプション：教材化</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月5万円／拠点</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熟練者の作業を手順の動画と注意点にまとめる（年4本まで）</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現場監修の時間</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347472">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オプション：手元AR</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初期50万円／工種＋月1万円／台</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組立図の3D化とミス事例の登録。表示付きグラスでミスしやすい所を警告</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3D化の作業</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347472">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定着の支援</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利用料に含む</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月1回の効果レポートと改善の打合せ、四半期ごとの現場巡回、報告書の型の手直し</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導入コンサルタント</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7" name="Shape 3"/>
          <p:cNvSpPr/>
          <p:nvPr/>
        </p:nvSpPr>
        <p:spPr>
          <a:xfrm>
            <a:off x="365760" y="3886200"/>
            <a:ext cx="8412480" cy="566928"/>
          </a:xfrm>
          <a:prstGeom prst="rect">
            <a:avLst/>
          </a:prstGeom>
          <a:solidFill>
            <a:srgbClr val="FFFFFF"/>
          </a:solidFill>
          <a:ln w="19050">
            <a:solidFill>
              <a:srgbClr val="B8692E"/>
            </a:solidFill>
            <a:prstDash val="solid"/>
          </a:ln>
        </p:spPr>
      </p:sp>
      <p:sp>
        <p:nvSpPr>
          <p:cNvPr id="8" name="Text 4"/>
          <p:cNvSpPr txBox="1"/>
          <p:nvPr/>
        </p:nvSpPr>
        <p:spPr>
          <a:xfrm>
            <a:off x="502920" y="3886200"/>
            <a:ext cx="8138160" cy="566928"/>
          </a:xfrm>
          <a:prstGeom prst="rect">
            <a:avLst/>
          </a:prstGeom>
          <a:noFill/>
          <a:ln/>
        </p:spPr>
        <p:txBody>
          <a:bodyPr wrap="square" lIns="0" tIns="0" rIns="0" bIns="0" rtlCol="0" anchor="ctr"/>
          <a:lstStyle/>
          <a:p>
            <a:pPr algn="l" indent="0" marL="0">
              <a:lnSpc>
                <a:spcPct val="115000"/>
              </a:lnSpc>
              <a:buNone/>
            </a:pPr>
            <a:r>
              <a:rPr lang="en-US" sz="950" b="1" dirty="0">
                <a:solidFill>
                  <a:srgbClr val="B8692E"/>
                </a:solidFill>
                <a:latin typeface="Meiryo" pitchFamily="34" charset="0"/>
                <a:ea typeface="Meiryo" pitchFamily="34" charset="-122"/>
                <a:cs typeface="Meiryo" pitchFamily="34" charset="-120"/>
              </a:rPr>
              <a:t>考え方：</a:t>
            </a:r>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会社に1つかかる費用は基盤で、端末1台ごとにかかるAIの処理代はライセンスで回収する。台数が増えるほど売上も原価も増え、粗利率は崩れない。オプションは計画の売上に入れない（上振れ）</a:t>
            </a:r>
            <a:endParaRPr lang="en-US" sz="950" dirty="0"/>
          </a:p>
        </p:txBody>
      </p:sp>
      <p:sp>
        <p:nvSpPr>
          <p:cNvPr id="9" name="Text 5"/>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値段はすべて見積。実証3社で「月25万円なら払うか」「端末1台いくらなら増やすか」を聞いて決める</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ext 0"/>
          <p:cNvSpPr txBox="1"/>
          <p:nvPr/>
        </p:nvSpPr>
        <p:spPr>
          <a:xfrm>
            <a:off x="5577840" y="54864"/>
            <a:ext cx="3200400" cy="182880"/>
          </a:xfrm>
          <a:prstGeom prst="rect">
            <a:avLst/>
          </a:prstGeom>
          <a:noFill/>
          <a:ln/>
        </p:spPr>
        <p:txBody>
          <a:bodyPr wrap="square" lIns="0" tIns="0" rIns="0" bIns="0" rtlCol="0" anchor="ctr"/>
          <a:lstStyle/>
          <a:p>
            <a:pPr algn="r" indent="0" marL="0">
              <a:lnSpc>
                <a:spcPct val="115000"/>
              </a:lnSpc>
              <a:buNone/>
            </a:pPr>
            <a:r>
              <a:rPr lang="en-US" sz="800" dirty="0">
                <a:solidFill>
                  <a:srgbClr val="8C8C8C"/>
                </a:solidFill>
                <a:latin typeface="Meiryo" pitchFamily="34" charset="0"/>
                <a:ea typeface="Meiryo" pitchFamily="34" charset="-122"/>
                <a:cs typeface="Meiryo" pitchFamily="34" charset="-120"/>
              </a:rPr>
              <a:t>本編 p.13・21 の詳細</a:t>
            </a:r>
            <a:endParaRPr lang="en-US" sz="800" dirty="0"/>
          </a:p>
        </p:txBody>
      </p:sp>
      <p:sp>
        <p:nvSpPr>
          <p:cNvPr id="4"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端末の台数 ─ 全員には配らない。1班に1台</a:t>
            </a:r>
            <a:endParaRPr lang="en-US" sz="2000" dirty="0"/>
          </a:p>
        </p:txBody>
      </p:sp>
      <p:sp>
        <p:nvSpPr>
          <p:cNvPr id="5"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5人の現場が5つで25台、とはしない。班の作業が映る職長の視点を記録する</a:t>
            </a:r>
            <a:endParaRPr lang="en-US" sz="1200" dirty="0"/>
          </a:p>
        </p:txBody>
      </p:sp>
      <p:sp>
        <p:nvSpPr>
          <p:cNvPr id="6" name="Text 3"/>
          <p:cNvSpPr txBox="1"/>
          <p:nvPr/>
        </p:nvSpPr>
        <p:spPr>
          <a:xfrm>
            <a:off x="365760" y="1024128"/>
            <a:ext cx="40690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1拠点（100人）の例</a:t>
            </a:r>
            <a:endParaRPr lang="en-US" sz="1050" dirty="0"/>
          </a:p>
        </p:txBody>
      </p:sp>
      <p:sp>
        <p:nvSpPr>
          <p:cNvPr id="7" name="Shape 4"/>
          <p:cNvSpPr/>
          <p:nvPr/>
        </p:nvSpPr>
        <p:spPr>
          <a:xfrm>
            <a:off x="365760" y="1316736"/>
            <a:ext cx="749808" cy="1188720"/>
          </a:xfrm>
          <a:prstGeom prst="rect">
            <a:avLst/>
          </a:prstGeom>
          <a:solidFill>
            <a:srgbClr val="FFFFFF"/>
          </a:solidFill>
          <a:ln w="12700">
            <a:solidFill>
              <a:srgbClr val="1A1A1A"/>
            </a:solidFill>
            <a:prstDash val="solid"/>
          </a:ln>
        </p:spPr>
      </p:sp>
      <p:sp>
        <p:nvSpPr>
          <p:cNvPr id="8" name="Text 5"/>
          <p:cNvSpPr txBox="1"/>
          <p:nvPr/>
        </p:nvSpPr>
        <p:spPr>
          <a:xfrm>
            <a:off x="365760" y="1335024"/>
            <a:ext cx="749808" cy="201168"/>
          </a:xfrm>
          <a:prstGeom prst="rect">
            <a:avLst/>
          </a:prstGeom>
          <a:noFill/>
          <a:ln/>
        </p:spPr>
        <p:txBody>
          <a:bodyPr wrap="square" lIns="0" tIns="0" rIns="0" bIns="0" rtlCol="0" anchor="t"/>
          <a:lstStyle/>
          <a:p>
            <a:pPr algn="ctr" indent="0" marL="0">
              <a:lnSpc>
                <a:spcPct val="115000"/>
              </a:lnSpc>
              <a:buNone/>
            </a:pPr>
            <a:r>
              <a:rPr lang="en-US" sz="850" b="1" dirty="0">
                <a:solidFill>
                  <a:srgbClr val="1A1A1A"/>
                </a:solidFill>
                <a:latin typeface="Meiryo" pitchFamily="34" charset="0"/>
                <a:ea typeface="Meiryo" pitchFamily="34" charset="-122"/>
                <a:cs typeface="Meiryo" pitchFamily="34" charset="-120"/>
              </a:rPr>
              <a:t>現場1</a:t>
            </a:r>
            <a:endParaRPr lang="en-US" sz="850" dirty="0"/>
          </a:p>
        </p:txBody>
      </p:sp>
      <p:sp>
        <p:nvSpPr>
          <p:cNvPr id="9" name="Shape 6"/>
          <p:cNvSpPr/>
          <p:nvPr/>
        </p:nvSpPr>
        <p:spPr>
          <a:xfrm>
            <a:off x="438912" y="1591056"/>
            <a:ext cx="201168" cy="201168"/>
          </a:xfrm>
          <a:prstGeom prst="ellipse">
            <a:avLst/>
          </a:prstGeom>
          <a:solidFill>
            <a:srgbClr val="B8692E"/>
          </a:solidFill>
          <a:ln/>
        </p:spPr>
      </p:sp>
      <p:sp>
        <p:nvSpPr>
          <p:cNvPr id="10" name="Shape 7"/>
          <p:cNvSpPr/>
          <p:nvPr/>
        </p:nvSpPr>
        <p:spPr>
          <a:xfrm>
            <a:off x="640080" y="1636776"/>
            <a:ext cx="128016" cy="128016"/>
          </a:xfrm>
          <a:prstGeom prst="ellipse">
            <a:avLst/>
          </a:prstGeom>
          <a:solidFill>
            <a:srgbClr val="8C8C8C"/>
          </a:solidFill>
          <a:ln/>
        </p:spPr>
      </p:sp>
      <p:sp>
        <p:nvSpPr>
          <p:cNvPr id="11" name="Shape 8"/>
          <p:cNvSpPr/>
          <p:nvPr/>
        </p:nvSpPr>
        <p:spPr>
          <a:xfrm>
            <a:off x="841248" y="1636776"/>
            <a:ext cx="128016" cy="128016"/>
          </a:xfrm>
          <a:prstGeom prst="ellipse">
            <a:avLst/>
          </a:prstGeom>
          <a:solidFill>
            <a:srgbClr val="8C8C8C"/>
          </a:solidFill>
          <a:ln/>
        </p:spPr>
      </p:sp>
      <p:sp>
        <p:nvSpPr>
          <p:cNvPr id="12" name="Shape 9"/>
          <p:cNvSpPr/>
          <p:nvPr/>
        </p:nvSpPr>
        <p:spPr>
          <a:xfrm>
            <a:off x="1042416" y="1636776"/>
            <a:ext cx="128016" cy="128016"/>
          </a:xfrm>
          <a:prstGeom prst="ellipse">
            <a:avLst/>
          </a:prstGeom>
          <a:solidFill>
            <a:srgbClr val="8C8C8C"/>
          </a:solidFill>
          <a:ln/>
        </p:spPr>
      </p:sp>
      <p:sp>
        <p:nvSpPr>
          <p:cNvPr id="13" name="Shape 10"/>
          <p:cNvSpPr/>
          <p:nvPr/>
        </p:nvSpPr>
        <p:spPr>
          <a:xfrm>
            <a:off x="438912" y="2029968"/>
            <a:ext cx="201168" cy="201168"/>
          </a:xfrm>
          <a:prstGeom prst="ellipse">
            <a:avLst/>
          </a:prstGeom>
          <a:solidFill>
            <a:srgbClr val="B8692E"/>
          </a:solidFill>
          <a:ln/>
        </p:spPr>
      </p:sp>
      <p:sp>
        <p:nvSpPr>
          <p:cNvPr id="14" name="Shape 11"/>
          <p:cNvSpPr/>
          <p:nvPr/>
        </p:nvSpPr>
        <p:spPr>
          <a:xfrm>
            <a:off x="640080" y="2075688"/>
            <a:ext cx="128016" cy="128016"/>
          </a:xfrm>
          <a:prstGeom prst="ellipse">
            <a:avLst/>
          </a:prstGeom>
          <a:solidFill>
            <a:srgbClr val="8C8C8C"/>
          </a:solidFill>
          <a:ln/>
        </p:spPr>
      </p:sp>
      <p:sp>
        <p:nvSpPr>
          <p:cNvPr id="15" name="Shape 12"/>
          <p:cNvSpPr/>
          <p:nvPr/>
        </p:nvSpPr>
        <p:spPr>
          <a:xfrm>
            <a:off x="841248" y="2075688"/>
            <a:ext cx="128016" cy="128016"/>
          </a:xfrm>
          <a:prstGeom prst="ellipse">
            <a:avLst/>
          </a:prstGeom>
          <a:solidFill>
            <a:srgbClr val="8C8C8C"/>
          </a:solidFill>
          <a:ln/>
        </p:spPr>
      </p:sp>
      <p:sp>
        <p:nvSpPr>
          <p:cNvPr id="16" name="Shape 13"/>
          <p:cNvSpPr/>
          <p:nvPr/>
        </p:nvSpPr>
        <p:spPr>
          <a:xfrm>
            <a:off x="1042416" y="2075688"/>
            <a:ext cx="128016" cy="128016"/>
          </a:xfrm>
          <a:prstGeom prst="ellipse">
            <a:avLst/>
          </a:prstGeom>
          <a:solidFill>
            <a:srgbClr val="8C8C8C"/>
          </a:solidFill>
          <a:ln/>
        </p:spPr>
      </p:sp>
      <p:sp>
        <p:nvSpPr>
          <p:cNvPr id="17" name="Shape 14"/>
          <p:cNvSpPr/>
          <p:nvPr/>
        </p:nvSpPr>
        <p:spPr>
          <a:xfrm>
            <a:off x="1188720" y="1316736"/>
            <a:ext cx="749808" cy="1188720"/>
          </a:xfrm>
          <a:prstGeom prst="rect">
            <a:avLst/>
          </a:prstGeom>
          <a:solidFill>
            <a:srgbClr val="FFFFFF"/>
          </a:solidFill>
          <a:ln w="12700">
            <a:solidFill>
              <a:srgbClr val="1A1A1A"/>
            </a:solidFill>
            <a:prstDash val="solid"/>
          </a:ln>
        </p:spPr>
      </p:sp>
      <p:sp>
        <p:nvSpPr>
          <p:cNvPr id="18" name="Text 15"/>
          <p:cNvSpPr txBox="1"/>
          <p:nvPr/>
        </p:nvSpPr>
        <p:spPr>
          <a:xfrm>
            <a:off x="1188720" y="1335024"/>
            <a:ext cx="749808" cy="201168"/>
          </a:xfrm>
          <a:prstGeom prst="rect">
            <a:avLst/>
          </a:prstGeom>
          <a:noFill/>
          <a:ln/>
        </p:spPr>
        <p:txBody>
          <a:bodyPr wrap="square" lIns="0" tIns="0" rIns="0" bIns="0" rtlCol="0" anchor="t"/>
          <a:lstStyle/>
          <a:p>
            <a:pPr algn="ctr" indent="0" marL="0">
              <a:lnSpc>
                <a:spcPct val="115000"/>
              </a:lnSpc>
              <a:buNone/>
            </a:pPr>
            <a:r>
              <a:rPr lang="en-US" sz="850" b="1" dirty="0">
                <a:solidFill>
                  <a:srgbClr val="1A1A1A"/>
                </a:solidFill>
                <a:latin typeface="Meiryo" pitchFamily="34" charset="0"/>
                <a:ea typeface="Meiryo" pitchFamily="34" charset="-122"/>
                <a:cs typeface="Meiryo" pitchFamily="34" charset="-120"/>
              </a:rPr>
              <a:t>現場2</a:t>
            </a:r>
            <a:endParaRPr lang="en-US" sz="850" dirty="0"/>
          </a:p>
        </p:txBody>
      </p:sp>
      <p:sp>
        <p:nvSpPr>
          <p:cNvPr id="19" name="Shape 16"/>
          <p:cNvSpPr/>
          <p:nvPr/>
        </p:nvSpPr>
        <p:spPr>
          <a:xfrm>
            <a:off x="1261872" y="1591056"/>
            <a:ext cx="201168" cy="201168"/>
          </a:xfrm>
          <a:prstGeom prst="ellipse">
            <a:avLst/>
          </a:prstGeom>
          <a:solidFill>
            <a:srgbClr val="B8692E"/>
          </a:solidFill>
          <a:ln/>
        </p:spPr>
      </p:sp>
      <p:sp>
        <p:nvSpPr>
          <p:cNvPr id="20" name="Shape 17"/>
          <p:cNvSpPr/>
          <p:nvPr/>
        </p:nvSpPr>
        <p:spPr>
          <a:xfrm>
            <a:off x="1463040" y="1636776"/>
            <a:ext cx="128016" cy="128016"/>
          </a:xfrm>
          <a:prstGeom prst="ellipse">
            <a:avLst/>
          </a:prstGeom>
          <a:solidFill>
            <a:srgbClr val="8C8C8C"/>
          </a:solidFill>
          <a:ln/>
        </p:spPr>
      </p:sp>
      <p:sp>
        <p:nvSpPr>
          <p:cNvPr id="21" name="Shape 18"/>
          <p:cNvSpPr/>
          <p:nvPr/>
        </p:nvSpPr>
        <p:spPr>
          <a:xfrm>
            <a:off x="1664208" y="1636776"/>
            <a:ext cx="128016" cy="128016"/>
          </a:xfrm>
          <a:prstGeom prst="ellipse">
            <a:avLst/>
          </a:prstGeom>
          <a:solidFill>
            <a:srgbClr val="8C8C8C"/>
          </a:solidFill>
          <a:ln/>
        </p:spPr>
      </p:sp>
      <p:sp>
        <p:nvSpPr>
          <p:cNvPr id="22" name="Shape 19"/>
          <p:cNvSpPr/>
          <p:nvPr/>
        </p:nvSpPr>
        <p:spPr>
          <a:xfrm>
            <a:off x="1865376" y="1636776"/>
            <a:ext cx="128016" cy="128016"/>
          </a:xfrm>
          <a:prstGeom prst="ellipse">
            <a:avLst/>
          </a:prstGeom>
          <a:solidFill>
            <a:srgbClr val="8C8C8C"/>
          </a:solidFill>
          <a:ln/>
        </p:spPr>
      </p:sp>
      <p:sp>
        <p:nvSpPr>
          <p:cNvPr id="23" name="Shape 20"/>
          <p:cNvSpPr/>
          <p:nvPr/>
        </p:nvSpPr>
        <p:spPr>
          <a:xfrm>
            <a:off x="1261872" y="2029968"/>
            <a:ext cx="201168" cy="201168"/>
          </a:xfrm>
          <a:prstGeom prst="ellipse">
            <a:avLst/>
          </a:prstGeom>
          <a:solidFill>
            <a:srgbClr val="B8692E"/>
          </a:solidFill>
          <a:ln/>
        </p:spPr>
      </p:sp>
      <p:sp>
        <p:nvSpPr>
          <p:cNvPr id="24" name="Shape 21"/>
          <p:cNvSpPr/>
          <p:nvPr/>
        </p:nvSpPr>
        <p:spPr>
          <a:xfrm>
            <a:off x="1463040" y="2075688"/>
            <a:ext cx="128016" cy="128016"/>
          </a:xfrm>
          <a:prstGeom prst="ellipse">
            <a:avLst/>
          </a:prstGeom>
          <a:solidFill>
            <a:srgbClr val="8C8C8C"/>
          </a:solidFill>
          <a:ln/>
        </p:spPr>
      </p:sp>
      <p:sp>
        <p:nvSpPr>
          <p:cNvPr id="25" name="Shape 22"/>
          <p:cNvSpPr/>
          <p:nvPr/>
        </p:nvSpPr>
        <p:spPr>
          <a:xfrm>
            <a:off x="1664208" y="2075688"/>
            <a:ext cx="128016" cy="128016"/>
          </a:xfrm>
          <a:prstGeom prst="ellipse">
            <a:avLst/>
          </a:prstGeom>
          <a:solidFill>
            <a:srgbClr val="8C8C8C"/>
          </a:solidFill>
          <a:ln/>
        </p:spPr>
      </p:sp>
      <p:sp>
        <p:nvSpPr>
          <p:cNvPr id="26" name="Shape 23"/>
          <p:cNvSpPr/>
          <p:nvPr/>
        </p:nvSpPr>
        <p:spPr>
          <a:xfrm>
            <a:off x="1865376" y="2075688"/>
            <a:ext cx="128016" cy="128016"/>
          </a:xfrm>
          <a:prstGeom prst="ellipse">
            <a:avLst/>
          </a:prstGeom>
          <a:solidFill>
            <a:srgbClr val="8C8C8C"/>
          </a:solidFill>
          <a:ln/>
        </p:spPr>
      </p:sp>
      <p:sp>
        <p:nvSpPr>
          <p:cNvPr id="27" name="Shape 24"/>
          <p:cNvSpPr/>
          <p:nvPr/>
        </p:nvSpPr>
        <p:spPr>
          <a:xfrm>
            <a:off x="2011680" y="1316736"/>
            <a:ext cx="749808" cy="1188720"/>
          </a:xfrm>
          <a:prstGeom prst="rect">
            <a:avLst/>
          </a:prstGeom>
          <a:solidFill>
            <a:srgbClr val="FFFFFF"/>
          </a:solidFill>
          <a:ln w="12700">
            <a:solidFill>
              <a:srgbClr val="1A1A1A"/>
            </a:solidFill>
            <a:prstDash val="solid"/>
          </a:ln>
        </p:spPr>
      </p:sp>
      <p:sp>
        <p:nvSpPr>
          <p:cNvPr id="28" name="Text 25"/>
          <p:cNvSpPr txBox="1"/>
          <p:nvPr/>
        </p:nvSpPr>
        <p:spPr>
          <a:xfrm>
            <a:off x="2011680" y="1335024"/>
            <a:ext cx="749808" cy="201168"/>
          </a:xfrm>
          <a:prstGeom prst="rect">
            <a:avLst/>
          </a:prstGeom>
          <a:noFill/>
          <a:ln/>
        </p:spPr>
        <p:txBody>
          <a:bodyPr wrap="square" lIns="0" tIns="0" rIns="0" bIns="0" rtlCol="0" anchor="t"/>
          <a:lstStyle/>
          <a:p>
            <a:pPr algn="ctr" indent="0" marL="0">
              <a:lnSpc>
                <a:spcPct val="115000"/>
              </a:lnSpc>
              <a:buNone/>
            </a:pPr>
            <a:r>
              <a:rPr lang="en-US" sz="850" b="1" dirty="0">
                <a:solidFill>
                  <a:srgbClr val="1A1A1A"/>
                </a:solidFill>
                <a:latin typeface="Meiryo" pitchFamily="34" charset="0"/>
                <a:ea typeface="Meiryo" pitchFamily="34" charset="-122"/>
                <a:cs typeface="Meiryo" pitchFamily="34" charset="-120"/>
              </a:rPr>
              <a:t>現場3</a:t>
            </a:r>
            <a:endParaRPr lang="en-US" sz="850" dirty="0"/>
          </a:p>
        </p:txBody>
      </p:sp>
      <p:sp>
        <p:nvSpPr>
          <p:cNvPr id="29" name="Shape 26"/>
          <p:cNvSpPr/>
          <p:nvPr/>
        </p:nvSpPr>
        <p:spPr>
          <a:xfrm>
            <a:off x="2084832" y="1591056"/>
            <a:ext cx="201168" cy="201168"/>
          </a:xfrm>
          <a:prstGeom prst="ellipse">
            <a:avLst/>
          </a:prstGeom>
          <a:solidFill>
            <a:srgbClr val="B8692E"/>
          </a:solidFill>
          <a:ln/>
        </p:spPr>
      </p:sp>
      <p:sp>
        <p:nvSpPr>
          <p:cNvPr id="30" name="Shape 27"/>
          <p:cNvSpPr/>
          <p:nvPr/>
        </p:nvSpPr>
        <p:spPr>
          <a:xfrm>
            <a:off x="2286000" y="1636776"/>
            <a:ext cx="128016" cy="128016"/>
          </a:xfrm>
          <a:prstGeom prst="ellipse">
            <a:avLst/>
          </a:prstGeom>
          <a:solidFill>
            <a:srgbClr val="8C8C8C"/>
          </a:solidFill>
          <a:ln/>
        </p:spPr>
      </p:sp>
      <p:sp>
        <p:nvSpPr>
          <p:cNvPr id="31" name="Shape 28"/>
          <p:cNvSpPr/>
          <p:nvPr/>
        </p:nvSpPr>
        <p:spPr>
          <a:xfrm>
            <a:off x="2487168" y="1636776"/>
            <a:ext cx="128016" cy="128016"/>
          </a:xfrm>
          <a:prstGeom prst="ellipse">
            <a:avLst/>
          </a:prstGeom>
          <a:solidFill>
            <a:srgbClr val="8C8C8C"/>
          </a:solidFill>
          <a:ln/>
        </p:spPr>
      </p:sp>
      <p:sp>
        <p:nvSpPr>
          <p:cNvPr id="32" name="Shape 29"/>
          <p:cNvSpPr/>
          <p:nvPr/>
        </p:nvSpPr>
        <p:spPr>
          <a:xfrm>
            <a:off x="2688336" y="1636776"/>
            <a:ext cx="128016" cy="128016"/>
          </a:xfrm>
          <a:prstGeom prst="ellipse">
            <a:avLst/>
          </a:prstGeom>
          <a:solidFill>
            <a:srgbClr val="8C8C8C"/>
          </a:solidFill>
          <a:ln/>
        </p:spPr>
      </p:sp>
      <p:sp>
        <p:nvSpPr>
          <p:cNvPr id="33" name="Shape 30"/>
          <p:cNvSpPr/>
          <p:nvPr/>
        </p:nvSpPr>
        <p:spPr>
          <a:xfrm>
            <a:off x="2084832" y="2029968"/>
            <a:ext cx="201168" cy="201168"/>
          </a:xfrm>
          <a:prstGeom prst="ellipse">
            <a:avLst/>
          </a:prstGeom>
          <a:solidFill>
            <a:srgbClr val="B8692E"/>
          </a:solidFill>
          <a:ln/>
        </p:spPr>
      </p:sp>
      <p:sp>
        <p:nvSpPr>
          <p:cNvPr id="34" name="Shape 31"/>
          <p:cNvSpPr/>
          <p:nvPr/>
        </p:nvSpPr>
        <p:spPr>
          <a:xfrm>
            <a:off x="2286000" y="2075688"/>
            <a:ext cx="128016" cy="128016"/>
          </a:xfrm>
          <a:prstGeom prst="ellipse">
            <a:avLst/>
          </a:prstGeom>
          <a:solidFill>
            <a:srgbClr val="8C8C8C"/>
          </a:solidFill>
          <a:ln/>
        </p:spPr>
      </p:sp>
      <p:sp>
        <p:nvSpPr>
          <p:cNvPr id="35" name="Shape 32"/>
          <p:cNvSpPr/>
          <p:nvPr/>
        </p:nvSpPr>
        <p:spPr>
          <a:xfrm>
            <a:off x="2487168" y="2075688"/>
            <a:ext cx="128016" cy="128016"/>
          </a:xfrm>
          <a:prstGeom prst="ellipse">
            <a:avLst/>
          </a:prstGeom>
          <a:solidFill>
            <a:srgbClr val="8C8C8C"/>
          </a:solidFill>
          <a:ln/>
        </p:spPr>
      </p:sp>
      <p:sp>
        <p:nvSpPr>
          <p:cNvPr id="36" name="Shape 33"/>
          <p:cNvSpPr/>
          <p:nvPr/>
        </p:nvSpPr>
        <p:spPr>
          <a:xfrm>
            <a:off x="2688336" y="2075688"/>
            <a:ext cx="128016" cy="128016"/>
          </a:xfrm>
          <a:prstGeom prst="ellipse">
            <a:avLst/>
          </a:prstGeom>
          <a:solidFill>
            <a:srgbClr val="8C8C8C"/>
          </a:solidFill>
          <a:ln/>
        </p:spPr>
      </p:sp>
      <p:sp>
        <p:nvSpPr>
          <p:cNvPr id="37" name="Shape 34"/>
          <p:cNvSpPr/>
          <p:nvPr/>
        </p:nvSpPr>
        <p:spPr>
          <a:xfrm>
            <a:off x="2834640" y="1316736"/>
            <a:ext cx="749808" cy="1188720"/>
          </a:xfrm>
          <a:prstGeom prst="rect">
            <a:avLst/>
          </a:prstGeom>
          <a:solidFill>
            <a:srgbClr val="FFFFFF"/>
          </a:solidFill>
          <a:ln w="12700">
            <a:solidFill>
              <a:srgbClr val="1A1A1A"/>
            </a:solidFill>
            <a:prstDash val="solid"/>
          </a:ln>
        </p:spPr>
      </p:sp>
      <p:sp>
        <p:nvSpPr>
          <p:cNvPr id="38" name="Text 35"/>
          <p:cNvSpPr txBox="1"/>
          <p:nvPr/>
        </p:nvSpPr>
        <p:spPr>
          <a:xfrm>
            <a:off x="2834640" y="1335024"/>
            <a:ext cx="749808" cy="201168"/>
          </a:xfrm>
          <a:prstGeom prst="rect">
            <a:avLst/>
          </a:prstGeom>
          <a:noFill/>
          <a:ln/>
        </p:spPr>
        <p:txBody>
          <a:bodyPr wrap="square" lIns="0" tIns="0" rIns="0" bIns="0" rtlCol="0" anchor="t"/>
          <a:lstStyle/>
          <a:p>
            <a:pPr algn="ctr" indent="0" marL="0">
              <a:lnSpc>
                <a:spcPct val="115000"/>
              </a:lnSpc>
              <a:buNone/>
            </a:pPr>
            <a:r>
              <a:rPr lang="en-US" sz="850" b="1" dirty="0">
                <a:solidFill>
                  <a:srgbClr val="1A1A1A"/>
                </a:solidFill>
                <a:latin typeface="Meiryo" pitchFamily="34" charset="0"/>
                <a:ea typeface="Meiryo" pitchFamily="34" charset="-122"/>
                <a:cs typeface="Meiryo" pitchFamily="34" charset="-120"/>
              </a:rPr>
              <a:t>現場4</a:t>
            </a:r>
            <a:endParaRPr lang="en-US" sz="850" dirty="0"/>
          </a:p>
        </p:txBody>
      </p:sp>
      <p:sp>
        <p:nvSpPr>
          <p:cNvPr id="39" name="Shape 36"/>
          <p:cNvSpPr/>
          <p:nvPr/>
        </p:nvSpPr>
        <p:spPr>
          <a:xfrm>
            <a:off x="2907792" y="1591056"/>
            <a:ext cx="201168" cy="201168"/>
          </a:xfrm>
          <a:prstGeom prst="ellipse">
            <a:avLst/>
          </a:prstGeom>
          <a:solidFill>
            <a:srgbClr val="B8692E"/>
          </a:solidFill>
          <a:ln/>
        </p:spPr>
      </p:sp>
      <p:sp>
        <p:nvSpPr>
          <p:cNvPr id="40" name="Shape 37"/>
          <p:cNvSpPr/>
          <p:nvPr/>
        </p:nvSpPr>
        <p:spPr>
          <a:xfrm>
            <a:off x="3108960" y="1636776"/>
            <a:ext cx="128016" cy="128016"/>
          </a:xfrm>
          <a:prstGeom prst="ellipse">
            <a:avLst/>
          </a:prstGeom>
          <a:solidFill>
            <a:srgbClr val="8C8C8C"/>
          </a:solidFill>
          <a:ln/>
        </p:spPr>
      </p:sp>
      <p:sp>
        <p:nvSpPr>
          <p:cNvPr id="41" name="Shape 38"/>
          <p:cNvSpPr/>
          <p:nvPr/>
        </p:nvSpPr>
        <p:spPr>
          <a:xfrm>
            <a:off x="3310128" y="1636776"/>
            <a:ext cx="128016" cy="128016"/>
          </a:xfrm>
          <a:prstGeom prst="ellipse">
            <a:avLst/>
          </a:prstGeom>
          <a:solidFill>
            <a:srgbClr val="8C8C8C"/>
          </a:solidFill>
          <a:ln/>
        </p:spPr>
      </p:sp>
      <p:sp>
        <p:nvSpPr>
          <p:cNvPr id="42" name="Shape 39"/>
          <p:cNvSpPr/>
          <p:nvPr/>
        </p:nvSpPr>
        <p:spPr>
          <a:xfrm>
            <a:off x="3511296" y="1636776"/>
            <a:ext cx="128016" cy="128016"/>
          </a:xfrm>
          <a:prstGeom prst="ellipse">
            <a:avLst/>
          </a:prstGeom>
          <a:solidFill>
            <a:srgbClr val="8C8C8C"/>
          </a:solidFill>
          <a:ln/>
        </p:spPr>
      </p:sp>
      <p:sp>
        <p:nvSpPr>
          <p:cNvPr id="43" name="Shape 40"/>
          <p:cNvSpPr/>
          <p:nvPr/>
        </p:nvSpPr>
        <p:spPr>
          <a:xfrm>
            <a:off x="2907792" y="2029968"/>
            <a:ext cx="201168" cy="201168"/>
          </a:xfrm>
          <a:prstGeom prst="ellipse">
            <a:avLst/>
          </a:prstGeom>
          <a:solidFill>
            <a:srgbClr val="B8692E"/>
          </a:solidFill>
          <a:ln/>
        </p:spPr>
      </p:sp>
      <p:sp>
        <p:nvSpPr>
          <p:cNvPr id="44" name="Shape 41"/>
          <p:cNvSpPr/>
          <p:nvPr/>
        </p:nvSpPr>
        <p:spPr>
          <a:xfrm>
            <a:off x="3108960" y="2075688"/>
            <a:ext cx="128016" cy="128016"/>
          </a:xfrm>
          <a:prstGeom prst="ellipse">
            <a:avLst/>
          </a:prstGeom>
          <a:solidFill>
            <a:srgbClr val="8C8C8C"/>
          </a:solidFill>
          <a:ln/>
        </p:spPr>
      </p:sp>
      <p:sp>
        <p:nvSpPr>
          <p:cNvPr id="45" name="Shape 42"/>
          <p:cNvSpPr/>
          <p:nvPr/>
        </p:nvSpPr>
        <p:spPr>
          <a:xfrm>
            <a:off x="3310128" y="2075688"/>
            <a:ext cx="128016" cy="128016"/>
          </a:xfrm>
          <a:prstGeom prst="ellipse">
            <a:avLst/>
          </a:prstGeom>
          <a:solidFill>
            <a:srgbClr val="8C8C8C"/>
          </a:solidFill>
          <a:ln/>
        </p:spPr>
      </p:sp>
      <p:sp>
        <p:nvSpPr>
          <p:cNvPr id="46" name="Shape 43"/>
          <p:cNvSpPr/>
          <p:nvPr/>
        </p:nvSpPr>
        <p:spPr>
          <a:xfrm>
            <a:off x="3511296" y="2075688"/>
            <a:ext cx="128016" cy="128016"/>
          </a:xfrm>
          <a:prstGeom prst="ellipse">
            <a:avLst/>
          </a:prstGeom>
          <a:solidFill>
            <a:srgbClr val="8C8C8C"/>
          </a:solidFill>
          <a:ln/>
        </p:spPr>
      </p:sp>
      <p:sp>
        <p:nvSpPr>
          <p:cNvPr id="47" name="Shape 44"/>
          <p:cNvSpPr/>
          <p:nvPr/>
        </p:nvSpPr>
        <p:spPr>
          <a:xfrm>
            <a:off x="3657600" y="1316736"/>
            <a:ext cx="749808" cy="1188720"/>
          </a:xfrm>
          <a:prstGeom prst="rect">
            <a:avLst/>
          </a:prstGeom>
          <a:solidFill>
            <a:srgbClr val="FFFFFF"/>
          </a:solidFill>
          <a:ln w="12700">
            <a:solidFill>
              <a:srgbClr val="1A1A1A"/>
            </a:solidFill>
            <a:prstDash val="solid"/>
          </a:ln>
        </p:spPr>
      </p:sp>
      <p:sp>
        <p:nvSpPr>
          <p:cNvPr id="48" name="Text 45"/>
          <p:cNvSpPr txBox="1"/>
          <p:nvPr/>
        </p:nvSpPr>
        <p:spPr>
          <a:xfrm>
            <a:off x="3657600" y="1335024"/>
            <a:ext cx="749808" cy="201168"/>
          </a:xfrm>
          <a:prstGeom prst="rect">
            <a:avLst/>
          </a:prstGeom>
          <a:noFill/>
          <a:ln/>
        </p:spPr>
        <p:txBody>
          <a:bodyPr wrap="square" lIns="0" tIns="0" rIns="0" bIns="0" rtlCol="0" anchor="t"/>
          <a:lstStyle/>
          <a:p>
            <a:pPr algn="ctr" indent="0" marL="0">
              <a:lnSpc>
                <a:spcPct val="115000"/>
              </a:lnSpc>
              <a:buNone/>
            </a:pPr>
            <a:r>
              <a:rPr lang="en-US" sz="850" b="1" dirty="0">
                <a:solidFill>
                  <a:srgbClr val="1A1A1A"/>
                </a:solidFill>
                <a:latin typeface="Meiryo" pitchFamily="34" charset="0"/>
                <a:ea typeface="Meiryo" pitchFamily="34" charset="-122"/>
                <a:cs typeface="Meiryo" pitchFamily="34" charset="-120"/>
              </a:rPr>
              <a:t>現場5</a:t>
            </a:r>
            <a:endParaRPr lang="en-US" sz="850" dirty="0"/>
          </a:p>
        </p:txBody>
      </p:sp>
      <p:sp>
        <p:nvSpPr>
          <p:cNvPr id="49" name="Shape 46"/>
          <p:cNvSpPr/>
          <p:nvPr/>
        </p:nvSpPr>
        <p:spPr>
          <a:xfrm>
            <a:off x="3730752" y="1591056"/>
            <a:ext cx="201168" cy="201168"/>
          </a:xfrm>
          <a:prstGeom prst="ellipse">
            <a:avLst/>
          </a:prstGeom>
          <a:solidFill>
            <a:srgbClr val="B8692E"/>
          </a:solidFill>
          <a:ln/>
        </p:spPr>
      </p:sp>
      <p:sp>
        <p:nvSpPr>
          <p:cNvPr id="50" name="Shape 47"/>
          <p:cNvSpPr/>
          <p:nvPr/>
        </p:nvSpPr>
        <p:spPr>
          <a:xfrm>
            <a:off x="3931920" y="1636776"/>
            <a:ext cx="128016" cy="128016"/>
          </a:xfrm>
          <a:prstGeom prst="ellipse">
            <a:avLst/>
          </a:prstGeom>
          <a:solidFill>
            <a:srgbClr val="8C8C8C"/>
          </a:solidFill>
          <a:ln/>
        </p:spPr>
      </p:sp>
      <p:sp>
        <p:nvSpPr>
          <p:cNvPr id="51" name="Shape 48"/>
          <p:cNvSpPr/>
          <p:nvPr/>
        </p:nvSpPr>
        <p:spPr>
          <a:xfrm>
            <a:off x="4133088" y="1636776"/>
            <a:ext cx="128016" cy="128016"/>
          </a:xfrm>
          <a:prstGeom prst="ellipse">
            <a:avLst/>
          </a:prstGeom>
          <a:solidFill>
            <a:srgbClr val="8C8C8C"/>
          </a:solidFill>
          <a:ln/>
        </p:spPr>
      </p:sp>
      <p:sp>
        <p:nvSpPr>
          <p:cNvPr id="52" name="Shape 49"/>
          <p:cNvSpPr/>
          <p:nvPr/>
        </p:nvSpPr>
        <p:spPr>
          <a:xfrm>
            <a:off x="4334256" y="1636776"/>
            <a:ext cx="128016" cy="128016"/>
          </a:xfrm>
          <a:prstGeom prst="ellipse">
            <a:avLst/>
          </a:prstGeom>
          <a:solidFill>
            <a:srgbClr val="8C8C8C"/>
          </a:solidFill>
          <a:ln/>
        </p:spPr>
      </p:sp>
      <p:sp>
        <p:nvSpPr>
          <p:cNvPr id="53" name="Shape 50"/>
          <p:cNvSpPr/>
          <p:nvPr/>
        </p:nvSpPr>
        <p:spPr>
          <a:xfrm>
            <a:off x="3730752" y="2029968"/>
            <a:ext cx="201168" cy="201168"/>
          </a:xfrm>
          <a:prstGeom prst="ellipse">
            <a:avLst/>
          </a:prstGeom>
          <a:solidFill>
            <a:srgbClr val="B8692E"/>
          </a:solidFill>
          <a:ln/>
        </p:spPr>
      </p:sp>
      <p:sp>
        <p:nvSpPr>
          <p:cNvPr id="54" name="Shape 51"/>
          <p:cNvSpPr/>
          <p:nvPr/>
        </p:nvSpPr>
        <p:spPr>
          <a:xfrm>
            <a:off x="3931920" y="2075688"/>
            <a:ext cx="128016" cy="128016"/>
          </a:xfrm>
          <a:prstGeom prst="ellipse">
            <a:avLst/>
          </a:prstGeom>
          <a:solidFill>
            <a:srgbClr val="8C8C8C"/>
          </a:solidFill>
          <a:ln/>
        </p:spPr>
      </p:sp>
      <p:sp>
        <p:nvSpPr>
          <p:cNvPr id="55" name="Shape 52"/>
          <p:cNvSpPr/>
          <p:nvPr/>
        </p:nvSpPr>
        <p:spPr>
          <a:xfrm>
            <a:off x="4133088" y="2075688"/>
            <a:ext cx="128016" cy="128016"/>
          </a:xfrm>
          <a:prstGeom prst="ellipse">
            <a:avLst/>
          </a:prstGeom>
          <a:solidFill>
            <a:srgbClr val="8C8C8C"/>
          </a:solidFill>
          <a:ln/>
        </p:spPr>
      </p:sp>
      <p:sp>
        <p:nvSpPr>
          <p:cNvPr id="56" name="Shape 53"/>
          <p:cNvSpPr/>
          <p:nvPr/>
        </p:nvSpPr>
        <p:spPr>
          <a:xfrm>
            <a:off x="4334256" y="2075688"/>
            <a:ext cx="128016" cy="128016"/>
          </a:xfrm>
          <a:prstGeom prst="ellipse">
            <a:avLst/>
          </a:prstGeom>
          <a:solidFill>
            <a:srgbClr val="8C8C8C"/>
          </a:solidFill>
          <a:ln/>
        </p:spPr>
      </p:sp>
      <p:sp>
        <p:nvSpPr>
          <p:cNvPr id="57" name="Text 54"/>
          <p:cNvSpPr txBox="1"/>
          <p:nvPr/>
        </p:nvSpPr>
        <p:spPr>
          <a:xfrm>
            <a:off x="365760" y="2551176"/>
            <a:ext cx="4069080" cy="219456"/>
          </a:xfrm>
          <a:prstGeom prst="rect">
            <a:avLst/>
          </a:prstGeom>
          <a:noFill/>
          <a:ln/>
        </p:spPr>
        <p:txBody>
          <a:bodyPr wrap="square" lIns="0" tIns="0" rIns="0" bIns="0" rtlCol="0" anchor="t"/>
          <a:lstStyle/>
          <a:p>
            <a:pPr algn="l" indent="0" marL="0">
              <a:lnSpc>
                <a:spcPct val="115000"/>
              </a:lnSpc>
              <a:buNone/>
            </a:pPr>
            <a:r>
              <a:rPr lang="en-US" sz="900" b="1" dirty="0">
                <a:solidFill>
                  <a:srgbClr val="B8692E"/>
                </a:solidFill>
                <a:latin typeface="Meiryo" pitchFamily="34" charset="0"/>
                <a:ea typeface="Meiryo" pitchFamily="34" charset="-122"/>
                <a:cs typeface="Meiryo" pitchFamily="34" charset="-120"/>
              </a:rPr>
              <a:t>● 職長（グラスを掛ける）</a:t>
            </a:r>
            <a:pPr algn="l" indent="0" marL="0">
              <a:lnSpc>
                <a:spcPct val="115000"/>
              </a:lnSpc>
              <a:buNone/>
            </a:pPr>
            <a:r>
              <a:rPr lang="en-US" sz="900" dirty="0">
                <a:solidFill>
                  <a:srgbClr val="4D4D4D"/>
                </a:solidFill>
                <a:latin typeface="Meiryo" pitchFamily="34" charset="0"/>
                <a:ea typeface="Meiryo" pitchFamily="34" charset="-122"/>
                <a:cs typeface="Meiryo" pitchFamily="34" charset="-120"/>
              </a:rPr>
              <a:t>　● 電工</a:t>
            </a:r>
            <a:endParaRPr lang="en-US" sz="900" dirty="0"/>
          </a:p>
        </p:txBody>
      </p:sp>
      <p:sp>
        <p:nvSpPr>
          <p:cNvPr id="58" name="Text 55"/>
          <p:cNvSpPr txBox="1"/>
          <p:nvPr/>
        </p:nvSpPr>
        <p:spPr>
          <a:xfrm>
            <a:off x="365760" y="2807208"/>
            <a:ext cx="4069080" cy="320040"/>
          </a:xfrm>
          <a:prstGeom prst="rect">
            <a:avLst/>
          </a:prstGeom>
          <a:noFill/>
          <a:ln/>
        </p:spPr>
        <p:txBody>
          <a:bodyPr wrap="square" lIns="0" tIns="0" rIns="0" bIns="0" rtlCol="0" anchor="ctr"/>
          <a:lstStyle/>
          <a:p>
            <a:pPr algn="l" indent="0" marL="0">
              <a:lnSpc>
                <a:spcPct val="115000"/>
              </a:lnSpc>
              <a:buNone/>
            </a:pPr>
            <a:r>
              <a:rPr lang="en-US" sz="1050" dirty="0">
                <a:solidFill>
                  <a:srgbClr val="1A1A1A"/>
                </a:solidFill>
                <a:latin typeface="Meiryo" pitchFamily="34" charset="0"/>
                <a:ea typeface="Meiryo" pitchFamily="34" charset="-122"/>
                <a:cs typeface="Meiryo" pitchFamily="34" charset="-120"/>
              </a:rPr>
              <a:t>5現場 × 2班 ＝ </a:t>
            </a:r>
            <a:pPr algn="l" indent="0" marL="0">
              <a:lnSpc>
                <a:spcPct val="115000"/>
              </a:lnSpc>
              <a:buNone/>
            </a:pPr>
            <a:r>
              <a:rPr lang="en-US" sz="1400" b="1" dirty="0">
                <a:solidFill>
                  <a:srgbClr val="B8692E"/>
                </a:solidFill>
                <a:latin typeface="Meiryo" pitchFamily="34" charset="0"/>
                <a:ea typeface="Meiryo" pitchFamily="34" charset="-122"/>
                <a:cs typeface="Meiryo" pitchFamily="34" charset="-120"/>
              </a:rPr>
              <a:t>10台</a:t>
            </a:r>
            <a:pPr algn="l" indent="0" marL="0">
              <a:lnSpc>
                <a:spcPct val="115000"/>
              </a:lnSpc>
              <a:buNone/>
            </a:pPr>
            <a:r>
              <a:rPr lang="en-US" sz="1050" dirty="0">
                <a:solidFill>
                  <a:srgbClr val="1A1A1A"/>
                </a:solidFill>
                <a:latin typeface="Meiryo" pitchFamily="34" charset="0"/>
                <a:ea typeface="Meiryo" pitchFamily="34" charset="-122"/>
                <a:cs typeface="Meiryo" pitchFamily="34" charset="-120"/>
              </a:rPr>
              <a:t>（電工全員なら35台）</a:t>
            </a:r>
            <a:endParaRPr lang="en-US" sz="1050" dirty="0"/>
          </a:p>
        </p:txBody>
      </p:sp>
      <p:sp>
        <p:nvSpPr>
          <p:cNvPr id="59" name="Text 56"/>
          <p:cNvSpPr txBox="1"/>
          <p:nvPr/>
        </p:nvSpPr>
        <p:spPr>
          <a:xfrm>
            <a:off x="365760" y="3200400"/>
            <a:ext cx="4069080" cy="777240"/>
          </a:xfrm>
          <a:prstGeom prst="rect">
            <a:avLst/>
          </a:prstGeom>
          <a:noFill/>
          <a:ln/>
        </p:spPr>
        <p:txBody>
          <a:bodyPr wrap="square" lIns="0" tIns="0" rIns="0" bIns="0" rtlCol="0" anchor="t"/>
          <a:lstStyle/>
          <a:p>
            <a:pPr algn="l" indent="0" marL="0">
              <a:lnSpc>
                <a:spcPct val="115000"/>
              </a:lnSpc>
              <a:spcAft>
                <a:spcPts val="200"/>
              </a:spcAft>
              <a:buNone/>
            </a:pPr>
            <a:r>
              <a:rPr lang="en-US" sz="950" b="1" dirty="0">
                <a:solidFill>
                  <a:srgbClr val="B8692E"/>
                </a:solidFill>
                <a:latin typeface="Meiryo" pitchFamily="34" charset="0"/>
                <a:ea typeface="Meiryo" pitchFamily="34" charset="-122"/>
                <a:cs typeface="Meiryo" pitchFamily="34" charset="-120"/>
              </a:rPr>
              <a:t>台数を増やすのは</a:t>
            </a:r>
            <a:endParaRPr lang="en-US" sz="950" dirty="0"/>
          </a:p>
          <a:p>
            <a:pPr algn="l" indent="0" marL="0">
              <a:lnSpc>
                <a:spcPct val="115000"/>
              </a:lnSpc>
              <a:spcAft>
                <a:spcPts val="200"/>
              </a:spcAft>
              <a:buNone/>
            </a:pPr>
            <a:r>
              <a:rPr lang="en-US" sz="950" dirty="0">
                <a:solidFill>
                  <a:srgbClr val="1A1A1A"/>
                </a:solidFill>
                <a:latin typeface="Meiryo" pitchFamily="34" charset="0"/>
                <a:ea typeface="Meiryo" pitchFamily="34" charset="-122"/>
                <a:cs typeface="Meiryo" pitchFamily="34" charset="-120"/>
              </a:rPr>
              <a:t>・ミスが多い工種（ケーブル接続・端末処理）の班</a:t>
            </a:r>
            <a:endParaRPr lang="en-US" sz="950" dirty="0"/>
          </a:p>
          <a:p>
            <a:pPr algn="l" indent="0" marL="0">
              <a:lnSpc>
                <a:spcPct val="115000"/>
              </a:lnSpc>
              <a:spcAft>
                <a:spcPts val="200"/>
              </a:spcAft>
              <a:buNone/>
            </a:pPr>
            <a:r>
              <a:rPr lang="en-US" sz="950" dirty="0">
                <a:solidFill>
                  <a:srgbClr val="1A1A1A"/>
                </a:solidFill>
                <a:latin typeface="Meiryo" pitchFamily="34" charset="0"/>
                <a:ea typeface="Meiryo" pitchFamily="34" charset="-122"/>
                <a:cs typeface="Meiryo" pitchFamily="34" charset="-120"/>
              </a:rPr>
              <a:t>・新人がいる班（教材の素材が貯まる）</a:t>
            </a:r>
            <a:endParaRPr lang="en-US" sz="950" dirty="0"/>
          </a:p>
        </p:txBody>
      </p:sp>
      <p:sp>
        <p:nvSpPr>
          <p:cNvPr id="60" name="Text 57"/>
          <p:cNvSpPr txBox="1"/>
          <p:nvPr/>
        </p:nvSpPr>
        <p:spPr>
          <a:xfrm>
            <a:off x="4709160" y="1024128"/>
            <a:ext cx="40690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グラスの種類と値段</a:t>
            </a:r>
            <a:endParaRPr lang="en-US" sz="1050" dirty="0"/>
          </a:p>
        </p:txBody>
      </p:sp>
      <p:graphicFrame>
        <p:nvGraphicFramePr>
          <p:cNvPr id="11" name="devices"/>
          <p:cNvGraphicFramePr>
            <a:graphicFrameLocks noGrp="1"/>
          </p:cNvGraphicFramePr>
          <p:nvPr>
            <p:extLst>
              <p:ext uri="{D42A27DB-BD31-4B8C-83A1-F6EECF244321}">
                <p14:modId xmlns:p14="http://schemas.microsoft.com/office/powerpoint/2010/main" val="1579011935"/>
              </p:ext>
            </p:extLst>
          </p:nvPr>
        </p:nvGraphicFramePr>
        <p:xfrm>
          <a:off x="4709160" y="1298448"/>
          <a:ext cx="4069080" cy="914400"/>
        </p:xfrm>
        <a:graphic>
          <a:graphicData uri="http://schemas.openxmlformats.org/drawingml/2006/table">
            <a:tbl>
              <a:tblPr/>
              <a:tblGrid>
                <a:gridCol w="1600200"/>
                <a:gridCol w="1463040"/>
                <a:gridCol w="1005840"/>
              </a:tblGrid>
              <a:tr h="384048">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種類</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使い方</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850" b="1" dirty="0">
                          <a:solidFill>
                            <a:srgbClr val="1A1A1A"/>
                          </a:solidFill>
                          <a:latin typeface="Meiryo" pitchFamily="34" charset="0"/>
                          <a:ea typeface="Meiryo" pitchFamily="34" charset="-122"/>
                          <a:cs typeface="Meiryo" pitchFamily="34" charset="-120"/>
                        </a:rPr>
                        <a:t>値段（目安）</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384048">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カメラ付きAIグラス（約50g）</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記録・音声メモ。日報・写真台帳</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約8万円</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384048">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表示付きARグラス（約70g）</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手元に図面と手順・ミス警告</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約12万円</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384048">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産業用ヘッドセット（RealWear）</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粉じん・高所の現場だけ選べる</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約37万円〜</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62" name="Shape 58"/>
          <p:cNvSpPr/>
          <p:nvPr/>
        </p:nvSpPr>
        <p:spPr>
          <a:xfrm>
            <a:off x="4709160" y="2990088"/>
            <a:ext cx="4069080" cy="987552"/>
          </a:xfrm>
          <a:prstGeom prst="rect">
            <a:avLst/>
          </a:prstGeom>
          <a:solidFill>
            <a:srgbClr val="F2F2F2"/>
          </a:solidFill>
          <a:ln/>
        </p:spPr>
      </p:sp>
      <p:sp>
        <p:nvSpPr>
          <p:cNvPr id="63" name="Text 59"/>
          <p:cNvSpPr txBox="1"/>
          <p:nvPr/>
        </p:nvSpPr>
        <p:spPr>
          <a:xfrm>
            <a:off x="4846320" y="2990088"/>
            <a:ext cx="3794760" cy="987552"/>
          </a:xfrm>
          <a:prstGeom prst="rect">
            <a:avLst/>
          </a:prstGeom>
          <a:noFill/>
          <a:ln/>
        </p:spPr>
        <p:txBody>
          <a:bodyPr wrap="square" lIns="0" tIns="0" rIns="0" bIns="0" rtlCol="0" anchor="ctr"/>
          <a:lstStyle/>
          <a:p>
            <a:pPr algn="l" indent="0" marL="0">
              <a:lnSpc>
                <a:spcPct val="115000"/>
              </a:lnSpc>
              <a:spcAft>
                <a:spcPts val="200"/>
              </a:spcAft>
              <a:buNone/>
            </a:pPr>
            <a:r>
              <a:rPr lang="en-US" sz="950" b="1" dirty="0">
                <a:solidFill>
                  <a:srgbClr val="B8692E"/>
                </a:solidFill>
                <a:latin typeface="Meiryo" pitchFamily="34" charset="0"/>
                <a:ea typeface="Meiryo" pitchFamily="34" charset="-122"/>
                <a:cs typeface="Meiryo" pitchFamily="34" charset="-120"/>
              </a:rPr>
              <a:t>標準の構成：</a:t>
            </a:r>
            <a:pPr algn="l" indent="0" marL="0">
              <a:lnSpc>
                <a:spcPct val="115000"/>
              </a:lnSpc>
              <a:spcAft>
                <a:spcPts val="200"/>
              </a:spcAft>
              <a:buNone/>
            </a:pPr>
            <a:r>
              <a:rPr lang="en-US" sz="950" b="1" dirty="0">
                <a:solidFill>
                  <a:srgbClr val="1A1A1A"/>
                </a:solidFill>
                <a:latin typeface="Meiryo" pitchFamily="34" charset="0"/>
                <a:ea typeface="Meiryo" pitchFamily="34" charset="-122"/>
                <a:cs typeface="Meiryo" pitchFamily="34" charset="-120"/>
              </a:rPr>
              <a:t>AIグラス8台＋表示付き2台</a:t>
            </a:r>
            <a:endParaRPr lang="en-US" sz="950" dirty="0"/>
          </a:p>
          <a:p>
            <a:pPr algn="l" indent="0" marL="0">
              <a:lnSpc>
                <a:spcPct val="115000"/>
              </a:lnSpc>
              <a:spcAft>
                <a:spcPts val="200"/>
              </a:spcAft>
              <a:buNone/>
            </a:pPr>
            <a:r>
              <a:rPr lang="en-US" sz="950" dirty="0">
                <a:solidFill>
                  <a:srgbClr val="1A1A1A"/>
                </a:solidFill>
                <a:latin typeface="Meiryo" pitchFamily="34" charset="0"/>
                <a:ea typeface="Meiryo" pitchFamily="34" charset="-122"/>
                <a:cs typeface="Meiryo" pitchFamily="34" charset="-120"/>
              </a:rPr>
              <a:t>お客様のリース代 年約32万円（3年リース・料率約3%／月）。グラスは当社の売上に入れず、在庫も持たない</a:t>
            </a:r>
            <a:endParaRPr lang="en-US" sz="950" dirty="0"/>
          </a:p>
        </p:txBody>
      </p:sp>
      <p:sp>
        <p:nvSpPr>
          <p:cNvPr id="64" name="Shape 60"/>
          <p:cNvSpPr/>
          <p:nvPr/>
        </p:nvSpPr>
        <p:spPr>
          <a:xfrm>
            <a:off x="365760" y="4005072"/>
            <a:ext cx="8412480" cy="457200"/>
          </a:xfrm>
          <a:prstGeom prst="rect">
            <a:avLst/>
          </a:prstGeom>
          <a:solidFill>
            <a:srgbClr val="1A1A1A"/>
          </a:solidFill>
          <a:ln/>
        </p:spPr>
      </p:sp>
      <p:sp>
        <p:nvSpPr>
          <p:cNvPr id="65" name="Text 61"/>
          <p:cNvSpPr txBox="1"/>
          <p:nvPr/>
        </p:nvSpPr>
        <p:spPr>
          <a:xfrm>
            <a:off x="502920" y="4005072"/>
            <a:ext cx="8138160" cy="457200"/>
          </a:xfrm>
          <a:prstGeom prst="rect">
            <a:avLst/>
          </a:prstGeom>
          <a:noFill/>
          <a:ln/>
        </p:spPr>
        <p:txBody>
          <a:bodyPr wrap="square" lIns="0" tIns="0" rIns="0" bIns="0" rtlCol="0" anchor="ctr"/>
          <a:lstStyle/>
          <a:p>
            <a:pPr algn="l" indent="0" marL="0">
              <a:lnSpc>
                <a:spcPct val="115000"/>
              </a:lnSpc>
              <a:spcAft>
                <a:spcPts val="200"/>
              </a:spcAft>
              <a:buNone/>
            </a:pPr>
            <a:r>
              <a:rPr lang="en-US" sz="950" b="1" dirty="0">
                <a:solidFill>
                  <a:srgbClr val="E3A774"/>
                </a:solidFill>
                <a:latin typeface="Meiryo" pitchFamily="34" charset="0"/>
                <a:ea typeface="Meiryo" pitchFamily="34" charset="-122"/>
                <a:cs typeface="Meiryo" pitchFamily="34" charset="-120"/>
              </a:rPr>
              <a:t>導入の費用は台数に比例して増える：</a:t>
            </a:r>
            <a:pPr algn="l" indent="0" marL="0">
              <a:lnSpc>
                <a:spcPct val="115000"/>
              </a:lnSpc>
              <a:spcAft>
                <a:spcPts val="200"/>
              </a:spcAft>
              <a:buNone/>
            </a:pPr>
            <a:r>
              <a:rPr lang="en-US" sz="950" dirty="0">
                <a:solidFill>
                  <a:srgbClr val="FFFFFF"/>
                </a:solidFill>
                <a:latin typeface="Meiryo" pitchFamily="34" charset="0"/>
                <a:ea typeface="Meiryo" pitchFamily="34" charset="-122"/>
                <a:cs typeface="Meiryo" pitchFamily="34" charset="-120"/>
              </a:rPr>
              <a:t>だから最初は10台。効果が出た班から増やす（お客様の倍率は台数で変わらない）</a:t>
            </a:r>
            <a:endParaRPr lang="en-US" sz="950" dirty="0"/>
          </a:p>
        </p:txBody>
      </p:sp>
      <p:sp>
        <p:nvSpPr>
          <p:cNvPr id="66" name="Text 62"/>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値段は販売店・メーカーの公表値（p.29）。国内の正規販売・リース料率は販売店とリース会社の見積で確認する</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ext 0"/>
          <p:cNvSpPr txBox="1"/>
          <p:nvPr/>
        </p:nvSpPr>
        <p:spPr>
          <a:xfrm>
            <a:off x="5577840" y="54864"/>
            <a:ext cx="3200400" cy="182880"/>
          </a:xfrm>
          <a:prstGeom prst="rect">
            <a:avLst/>
          </a:prstGeom>
          <a:noFill/>
          <a:ln/>
        </p:spPr>
        <p:txBody>
          <a:bodyPr wrap="square" lIns="0" tIns="0" rIns="0" bIns="0" rtlCol="0" anchor="ctr"/>
          <a:lstStyle/>
          <a:p>
            <a:pPr algn="r" indent="0" marL="0">
              <a:lnSpc>
                <a:spcPct val="115000"/>
              </a:lnSpc>
              <a:buNone/>
            </a:pPr>
            <a:r>
              <a:rPr lang="en-US" sz="800" dirty="0">
                <a:solidFill>
                  <a:srgbClr val="8C8C8C"/>
                </a:solidFill>
                <a:latin typeface="Meiryo" pitchFamily="34" charset="0"/>
                <a:ea typeface="Meiryo" pitchFamily="34" charset="-122"/>
                <a:cs typeface="Meiryo" pitchFamily="34" charset="-120"/>
              </a:rPr>
              <a:t>本編 p.21 の詳細</a:t>
            </a:r>
            <a:endParaRPr lang="en-US" sz="800" dirty="0"/>
          </a:p>
        </p:txBody>
      </p:sp>
      <p:sp>
        <p:nvSpPr>
          <p:cNvPr id="4"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AI・保存の費用 ─ 積み上げると粗利率は72%</a:t>
            </a:r>
            <a:endParaRPr lang="en-US" sz="2000" dirty="0"/>
          </a:p>
        </p:txBody>
      </p:sp>
      <p:sp>
        <p:nvSpPr>
          <p:cNvPr id="5"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端末1台あたりの処理代を、クラウド・AIの公表単価から積み上げた</a:t>
            </a:r>
            <a:endParaRPr lang="en-US" sz="1200" dirty="0"/>
          </a:p>
        </p:txBody>
      </p:sp>
      <p:sp>
        <p:nvSpPr>
          <p:cNvPr id="6" name="Text 3"/>
          <p:cNvSpPr txBox="1"/>
          <p:nvPr/>
        </p:nvSpPr>
        <p:spPr>
          <a:xfrm>
            <a:off x="365760" y="1024128"/>
            <a:ext cx="40690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端末1台あたりのAI・保存費（月）</a:t>
            </a:r>
            <a:endParaRPr lang="en-US" sz="1050" dirty="0"/>
          </a:p>
        </p:txBody>
      </p:sp>
      <p:graphicFrame>
        <p:nvGraphicFramePr>
          <p:cNvPr id="12" name="cloud"/>
          <p:cNvGraphicFramePr>
            <a:graphicFrameLocks noGrp="1"/>
          </p:cNvGraphicFramePr>
          <p:nvPr>
            <p:extLst>
              <p:ext uri="{D42A27DB-BD31-4B8C-83A1-F6EECF244321}">
                <p14:modId xmlns:p14="http://schemas.microsoft.com/office/powerpoint/2010/main" val="1579011935"/>
              </p:ext>
            </p:extLst>
          </p:nvPr>
        </p:nvGraphicFramePr>
        <p:xfrm>
          <a:off x="365760" y="1298448"/>
          <a:ext cx="4069080" cy="914400"/>
        </p:xfrm>
        <a:graphic>
          <a:graphicData uri="http://schemas.openxmlformats.org/drawingml/2006/table">
            <a:tbl>
              <a:tblPr/>
              <a:tblGrid>
                <a:gridCol w="1554480"/>
                <a:gridCol w="1828800"/>
                <a:gridCol w="685800"/>
              </a:tblGrid>
              <a:tr h="274320">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中身</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式</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850" b="1" dirty="0">
                          <a:solidFill>
                            <a:srgbClr val="1A1A1A"/>
                          </a:solidFill>
                          <a:latin typeface="Meiryo" pitchFamily="34" charset="0"/>
                          <a:ea typeface="Meiryo" pitchFamily="34" charset="-122"/>
                          <a:cs typeface="Meiryo" pitchFamily="34" charset="-120"/>
                        </a:rPr>
                        <a:t>円／月</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7432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音声の文字起こし</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1日4時間×20日＝4,800分×$0.003（多めに見た上限）</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2,200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大事な場面の画像解析</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3,000枚×約1,000トークン</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1,000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日報・報告書の文章生成</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20日分</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200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動画の保存</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切り出した月10GBを3年保存</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700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転送・監視・端末管理・余裕</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1,900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合計</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A1A1A"/>
                          </a:solidFill>
                          <a:latin typeface="Meiryo" pitchFamily="34" charset="0"/>
                          <a:ea typeface="Meiryo" pitchFamily="34" charset="-122"/>
                          <a:cs typeface="Meiryo" pitchFamily="34" charset="-120"/>
                        </a:rPr>
                        <a:t>6,000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8" name="Text 4"/>
          <p:cNvSpPr txBox="1"/>
          <p:nvPr/>
        </p:nvSpPr>
        <p:spPr>
          <a:xfrm>
            <a:off x="4709160" y="1024128"/>
            <a:ext cx="40690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1拠点（10台）で見ると（年）</a:t>
            </a:r>
            <a:endParaRPr lang="en-US" sz="1050" dirty="0"/>
          </a:p>
        </p:txBody>
      </p:sp>
      <p:graphicFrame>
        <p:nvGraphicFramePr>
          <p:cNvPr id="23" name="sitecost"/>
          <p:cNvGraphicFramePr>
            <a:graphicFrameLocks noGrp="1"/>
          </p:cNvGraphicFramePr>
          <p:nvPr>
            <p:extLst>
              <p:ext uri="{D42A27DB-BD31-4B8C-83A1-F6EECF244321}">
                <p14:modId xmlns:p14="http://schemas.microsoft.com/office/powerpoint/2010/main" val="1579011935"/>
              </p:ext>
            </p:extLst>
          </p:nvPr>
        </p:nvGraphicFramePr>
        <p:xfrm>
          <a:off x="4709160" y="1298448"/>
          <a:ext cx="4069080" cy="914400"/>
        </p:xfrm>
        <a:graphic>
          <a:graphicData uri="http://schemas.openxmlformats.org/drawingml/2006/table">
            <a:tbl>
              <a:tblPr/>
              <a:tblGrid>
                <a:gridCol w="2926080"/>
                <a:gridCol w="1143000"/>
              </a:tblGrid>
              <a:tr h="274320">
                <a:tc>
                  <a:txBody>
                    <a:bodyPr/>
                    <a:lstStyle/>
                    <a:p>
                      <a:pPr algn="l" indent="0" marL="0">
                        <a:buNone/>
                      </a:pP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万円</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74320">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売上（基盤60＋端末240）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300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データ基盤（会社ごとの保管庫）</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12</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AI・保存（1台7.2万円×10台）</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72</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900" b="1" dirty="0">
                          <a:solidFill>
                            <a:srgbClr val="1A1A1A"/>
                          </a:solidFill>
                          <a:latin typeface="Meiryo" pitchFamily="34" charset="0"/>
                          <a:ea typeface="Meiryo" pitchFamily="34" charset="-122"/>
                          <a:cs typeface="Meiryo" pitchFamily="34" charset="-120"/>
                        </a:rPr>
                        <a:t>粗利</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B8692E"/>
                          </a:solidFill>
                          <a:latin typeface="Meiryo" pitchFamily="34" charset="0"/>
                          <a:ea typeface="Meiryo" pitchFamily="34" charset="-122"/>
                          <a:cs typeface="Meiryo" pitchFamily="34" charset="-120"/>
                        </a:rPr>
                        <a:t>216（72%）</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10" name="Shape 5"/>
          <p:cNvSpPr/>
          <p:nvPr/>
        </p:nvSpPr>
        <p:spPr>
          <a:xfrm>
            <a:off x="4709160" y="2807208"/>
            <a:ext cx="4069080" cy="1051560"/>
          </a:xfrm>
          <a:prstGeom prst="rect">
            <a:avLst/>
          </a:prstGeom>
          <a:solidFill>
            <a:srgbClr val="F2F2F2"/>
          </a:solidFill>
          <a:ln/>
        </p:spPr>
      </p:sp>
      <p:sp>
        <p:nvSpPr>
          <p:cNvPr id="11" name="Text 6"/>
          <p:cNvSpPr txBox="1"/>
          <p:nvPr/>
        </p:nvSpPr>
        <p:spPr>
          <a:xfrm>
            <a:off x="4846320" y="2807208"/>
            <a:ext cx="3794760" cy="1051560"/>
          </a:xfrm>
          <a:prstGeom prst="rect">
            <a:avLst/>
          </a:prstGeom>
          <a:noFill/>
          <a:ln/>
        </p:spPr>
        <p:txBody>
          <a:bodyPr wrap="square" lIns="0" tIns="0" rIns="0" bIns="0" rtlCol="0" anchor="ctr"/>
          <a:lstStyle/>
          <a:p>
            <a:pPr algn="l" indent="0" marL="0">
              <a:lnSpc>
                <a:spcPct val="115000"/>
              </a:lnSpc>
              <a:spcAft>
                <a:spcPts val="200"/>
              </a:spcAft>
              <a:buNone/>
            </a:pPr>
            <a:r>
              <a:rPr lang="en-US" sz="900" b="1" dirty="0">
                <a:solidFill>
                  <a:srgbClr val="B8692E"/>
                </a:solidFill>
                <a:latin typeface="Meiryo" pitchFamily="34" charset="0"/>
                <a:ea typeface="Meiryo" pitchFamily="34" charset="-122"/>
                <a:cs typeface="Meiryo" pitchFamily="34" charset="-120"/>
              </a:rPr>
              <a:t>データ基盤とAI費用の違い</a:t>
            </a:r>
            <a:endParaRPr lang="en-US" sz="900" dirty="0"/>
          </a:p>
          <a:p>
            <a:pPr algn="l" indent="0" marL="0">
              <a:lnSpc>
                <a:spcPct val="115000"/>
              </a:lnSpc>
              <a:spcAft>
                <a:spcPts val="200"/>
              </a:spcAft>
              <a:buNone/>
            </a:pPr>
            <a:r>
              <a:rPr lang="en-US" sz="900" dirty="0">
                <a:solidFill>
                  <a:srgbClr val="1A1A1A"/>
                </a:solidFill>
                <a:latin typeface="Meiryo" pitchFamily="34" charset="0"/>
                <a:ea typeface="Meiryo" pitchFamily="34" charset="-122"/>
                <a:cs typeface="Meiryo" pitchFamily="34" charset="-120"/>
              </a:rPr>
              <a:t>データ基盤：会社ごとに1つ。図面・手順・権限・記録の保管庫</a:t>
            </a:r>
            <a:endParaRPr lang="en-US" sz="900" dirty="0"/>
          </a:p>
          <a:p>
            <a:pPr algn="l" indent="0" marL="0">
              <a:lnSpc>
                <a:spcPct val="115000"/>
              </a:lnSpc>
              <a:spcAft>
                <a:spcPts val="200"/>
              </a:spcAft>
              <a:buNone/>
            </a:pPr>
            <a:r>
              <a:rPr lang="en-US" sz="900" dirty="0">
                <a:solidFill>
                  <a:srgbClr val="1A1A1A"/>
                </a:solidFill>
                <a:latin typeface="Meiryo" pitchFamily="34" charset="0"/>
                <a:ea typeface="Meiryo" pitchFamily="34" charset="-122"/>
                <a:cs typeface="Meiryo" pitchFamily="34" charset="-120"/>
              </a:rPr>
              <a:t>AI費用：端末ごとに増える。録画の文字起こし・解析・保存</a:t>
            </a:r>
            <a:endParaRPr lang="en-US" sz="900" dirty="0"/>
          </a:p>
        </p:txBody>
      </p:sp>
      <p:sp>
        <p:nvSpPr>
          <p:cNvPr id="12" name="Shape 7"/>
          <p:cNvSpPr/>
          <p:nvPr/>
        </p:nvSpPr>
        <p:spPr>
          <a:xfrm>
            <a:off x="365760" y="3886200"/>
            <a:ext cx="8412480" cy="566928"/>
          </a:xfrm>
          <a:prstGeom prst="rect">
            <a:avLst/>
          </a:prstGeom>
          <a:solidFill>
            <a:srgbClr val="1A1A1A"/>
          </a:solidFill>
          <a:ln/>
        </p:spPr>
      </p:sp>
      <p:sp>
        <p:nvSpPr>
          <p:cNvPr id="13" name="Text 8"/>
          <p:cNvSpPr txBox="1"/>
          <p:nvPr/>
        </p:nvSpPr>
        <p:spPr>
          <a:xfrm>
            <a:off x="502920" y="3886200"/>
            <a:ext cx="8138160" cy="566928"/>
          </a:xfrm>
          <a:prstGeom prst="rect">
            <a:avLst/>
          </a:prstGeom>
          <a:noFill/>
          <a:ln/>
        </p:spPr>
        <p:txBody>
          <a:bodyPr wrap="square" lIns="0" tIns="0" rIns="0" bIns="0" rtlCol="0" anchor="ctr"/>
          <a:lstStyle/>
          <a:p>
            <a:pPr algn="l" indent="0" marL="0">
              <a:lnSpc>
                <a:spcPct val="115000"/>
              </a:lnSpc>
              <a:spcAft>
                <a:spcPts val="200"/>
              </a:spcAft>
              <a:buNone/>
            </a:pPr>
            <a:r>
              <a:rPr lang="en-US" sz="950" b="1" dirty="0">
                <a:solidFill>
                  <a:srgbClr val="E3A774"/>
                </a:solidFill>
                <a:latin typeface="Meiryo" pitchFamily="34" charset="0"/>
                <a:ea typeface="Meiryo" pitchFamily="34" charset="-122"/>
                <a:cs typeface="Meiryo" pitchFamily="34" charset="-120"/>
              </a:rPr>
              <a:t>粗利率は妥当か：</a:t>
            </a:r>
            <a:pPr algn="l" indent="0" marL="0">
              <a:lnSpc>
                <a:spcPct val="115000"/>
              </a:lnSpc>
              <a:spcAft>
                <a:spcPts val="200"/>
              </a:spcAft>
              <a:buNone/>
            </a:pPr>
            <a:r>
              <a:rPr lang="en-US" sz="950" dirty="0">
                <a:solidFill>
                  <a:srgbClr val="FFFFFF"/>
                </a:solidFill>
                <a:latin typeface="Meiryo" pitchFamily="34" charset="0"/>
                <a:ea typeface="Meiryo" pitchFamily="34" charset="-122"/>
                <a:cs typeface="Meiryo" pitchFamily="34" charset="-120"/>
              </a:rPr>
              <a:t>一般のSaaSは70〜80%、AIを多く使うサービスはそれより低いと言われる。72%はその範囲。実証で1台あたりの実費を測って更新する</a:t>
            </a:r>
            <a:endParaRPr lang="en-US" sz="950" dirty="0"/>
          </a:p>
        </p:txBody>
      </p:sp>
      <p:sp>
        <p:nvSpPr>
          <p:cNvPr id="14" name="Text 9"/>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単価はクラウド・AIの公表価格（$1＝150円）からの見積。モデル・為替・値下げで変わる</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ext 0"/>
          <p:cNvSpPr txBox="1"/>
          <p:nvPr/>
        </p:nvSpPr>
        <p:spPr>
          <a:xfrm>
            <a:off x="5577840" y="54864"/>
            <a:ext cx="3200400" cy="182880"/>
          </a:xfrm>
          <a:prstGeom prst="rect">
            <a:avLst/>
          </a:prstGeom>
          <a:noFill/>
          <a:ln/>
        </p:spPr>
        <p:txBody>
          <a:bodyPr wrap="square" lIns="0" tIns="0" rIns="0" bIns="0" rtlCol="0" anchor="ctr"/>
          <a:lstStyle/>
          <a:p>
            <a:pPr algn="r" indent="0" marL="0">
              <a:lnSpc>
                <a:spcPct val="115000"/>
              </a:lnSpc>
              <a:buNone/>
            </a:pPr>
            <a:r>
              <a:rPr lang="en-US" sz="800" dirty="0">
                <a:solidFill>
                  <a:srgbClr val="8C8C8C"/>
                </a:solidFill>
                <a:latin typeface="Meiryo" pitchFamily="34" charset="0"/>
                <a:ea typeface="Meiryo" pitchFamily="34" charset="-122"/>
                <a:cs typeface="Meiryo" pitchFamily="34" charset="-120"/>
              </a:rPr>
              <a:t>本編 p.21 の詳細</a:t>
            </a:r>
            <a:endParaRPr lang="en-US" sz="800" dirty="0"/>
          </a:p>
        </p:txBody>
      </p:sp>
      <p:sp>
        <p:nvSpPr>
          <p:cNvPr id="4"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粗利率のトレードオフ ─ 崩れるのは台数より使い方</a:t>
            </a:r>
            <a:endParaRPr lang="en-US" sz="2000" dirty="0"/>
          </a:p>
        </p:txBody>
      </p:sp>
      <p:sp>
        <p:nvSpPr>
          <p:cNvPr id="5"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動画を全部送って毎秒解析すると、1台の原価が値段を超える</a:t>
            </a:r>
            <a:endParaRPr lang="en-US" sz="1200" dirty="0"/>
          </a:p>
        </p:txBody>
      </p:sp>
      <p:sp>
        <p:nvSpPr>
          <p:cNvPr id="6" name="Text 3"/>
          <p:cNvSpPr txBox="1"/>
          <p:nvPr/>
        </p:nvSpPr>
        <p:spPr>
          <a:xfrm>
            <a:off x="365760" y="1024128"/>
            <a:ext cx="40690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1拠点の粗利率（利用料）</a:t>
            </a:r>
            <a:endParaRPr lang="en-US" sz="1050" dirty="0"/>
          </a:p>
        </p:txBody>
      </p:sp>
      <p:graphicFrame>
        <p:nvGraphicFramePr>
          <p:cNvPr id="13" name="tradeoff"/>
          <p:cNvGraphicFramePr>
            <a:graphicFrameLocks noGrp="1"/>
          </p:cNvGraphicFramePr>
          <p:nvPr>
            <p:extLst>
              <p:ext uri="{D42A27DB-BD31-4B8C-83A1-F6EECF244321}">
                <p14:modId xmlns:p14="http://schemas.microsoft.com/office/powerpoint/2010/main" val="1579011935"/>
              </p:ext>
            </p:extLst>
          </p:nvPr>
        </p:nvGraphicFramePr>
        <p:xfrm>
          <a:off x="365760" y="1298448"/>
          <a:ext cx="4069080" cy="914400"/>
        </p:xfrm>
        <a:graphic>
          <a:graphicData uri="http://schemas.openxmlformats.org/drawingml/2006/table">
            <a:tbl>
              <a:tblPr/>
              <a:tblGrid>
                <a:gridCol w="868680"/>
                <a:gridCol w="1600200"/>
                <a:gridCol w="1600200"/>
              </a:tblGrid>
              <a:tr h="457200">
                <a:tc>
                  <a:txBody>
                    <a:bodyPr/>
                    <a:lstStyle/>
                    <a:p>
                      <a:pPr algn="l" indent="0" marL="0">
                        <a:buNone/>
                      </a:pPr>
                      <a:r>
                        <a:rPr lang="en-US" sz="900" b="1" dirty="0">
                          <a:solidFill>
                            <a:srgbClr val="1A1A1A"/>
                          </a:solidFill>
                          <a:latin typeface="Meiryo" pitchFamily="34" charset="0"/>
                          <a:ea typeface="Meiryo" pitchFamily="34" charset="-122"/>
                          <a:cs typeface="Meiryo" pitchFamily="34" charset="-120"/>
                        </a:rPr>
                        <a:t>台数</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900" b="1" dirty="0">
                          <a:solidFill>
                            <a:srgbClr val="1A1A1A"/>
                          </a:solidFill>
                          <a:latin typeface="Meiryo" pitchFamily="34" charset="0"/>
                          <a:ea typeface="Meiryo" pitchFamily="34" charset="-122"/>
                          <a:cs typeface="Meiryo" pitchFamily="34" charset="-120"/>
                        </a:rPr>
                        <a:t>大事な場面だけ</a:t>
                      </a:r>
                      <a:endParaRPr lang="en-US" sz="900" dirty="0">
                        <a:latin typeface="Meiryo" charset="0"/>
                        <a:ea typeface="Meiryo" charset="0"/>
                        <a:cs typeface="Meiryo" charset="0"/>
                      </a:endParaRPr>
                    </a:p>
                    <a:p>
                      <a:pPr algn="ctr" indent="0" marL="0">
                        <a:buNone/>
                      </a:pPr>
                      <a:r>
                        <a:rPr lang="en-US" sz="900" b="1" dirty="0">
                          <a:solidFill>
                            <a:srgbClr val="1A1A1A"/>
                          </a:solidFill>
                          <a:latin typeface="Meiryo" pitchFamily="34" charset="0"/>
                          <a:ea typeface="Meiryo" pitchFamily="34" charset="-122"/>
                          <a:cs typeface="Meiryo" pitchFamily="34" charset="-120"/>
                        </a:rPr>
                        <a:t>（1台 月0.6万円）</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900" b="1" dirty="0">
                          <a:solidFill>
                            <a:srgbClr val="1A1A1A"/>
                          </a:solidFill>
                          <a:latin typeface="Meiryo" pitchFamily="34" charset="0"/>
                          <a:ea typeface="Meiryo" pitchFamily="34" charset="-122"/>
                          <a:cs typeface="Meiryo" pitchFamily="34" charset="-120"/>
                        </a:rPr>
                        <a:t>全編を毎秒解析</a:t>
                      </a:r>
                      <a:endParaRPr lang="en-US" sz="900" dirty="0">
                        <a:latin typeface="Meiryo" charset="0"/>
                        <a:ea typeface="Meiryo" charset="0"/>
                        <a:cs typeface="Meiryo" charset="0"/>
                      </a:endParaRPr>
                    </a:p>
                    <a:p>
                      <a:pPr algn="ctr" indent="0" marL="0">
                        <a:buNone/>
                      </a:pPr>
                      <a:r>
                        <a:rPr lang="en-US" sz="900" b="1" dirty="0">
                          <a:solidFill>
                            <a:srgbClr val="1A1A1A"/>
                          </a:solidFill>
                          <a:latin typeface="Meiryo" pitchFamily="34" charset="0"/>
                          <a:ea typeface="Meiryo" pitchFamily="34" charset="-122"/>
                          <a:cs typeface="Meiryo" pitchFamily="34" charset="-120"/>
                        </a:rPr>
                        <a:t>（1台 月5万円）</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92608">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5台</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A1A1A"/>
                          </a:solidFill>
                          <a:latin typeface="Meiryo" pitchFamily="34" charset="0"/>
                          <a:ea typeface="Meiryo" pitchFamily="34" charset="-122"/>
                          <a:cs typeface="Meiryo" pitchFamily="34" charset="-120"/>
                        </a:rPr>
                        <a:t>73%</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692E"/>
                          </a:solidFill>
                          <a:latin typeface="Meiryo" pitchFamily="34" charset="0"/>
                          <a:ea typeface="Meiryo" pitchFamily="34" charset="-122"/>
                          <a:cs typeface="Meiryo" pitchFamily="34" charset="-120"/>
                        </a:rPr>
                        <a:t>-73%</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92608">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10台</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A1A1A"/>
                          </a:solidFill>
                          <a:latin typeface="Meiryo" pitchFamily="34" charset="0"/>
                          <a:ea typeface="Meiryo" pitchFamily="34" charset="-122"/>
                          <a:cs typeface="Meiryo" pitchFamily="34" charset="-120"/>
                        </a:rPr>
                        <a:t>72%</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692E"/>
                          </a:solidFill>
                          <a:latin typeface="Meiryo" pitchFamily="34" charset="0"/>
                          <a:ea typeface="Meiryo" pitchFamily="34" charset="-122"/>
                          <a:cs typeface="Meiryo" pitchFamily="34" charset="-120"/>
                        </a:rPr>
                        <a:t>-104%</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92608">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25台</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A1A1A"/>
                          </a:solidFill>
                          <a:latin typeface="Meiryo" pitchFamily="34" charset="0"/>
                          <a:ea typeface="Meiryo" pitchFamily="34" charset="-122"/>
                          <a:cs typeface="Meiryo" pitchFamily="34" charset="-120"/>
                        </a:rPr>
                        <a:t>71%</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692E"/>
                          </a:solidFill>
                          <a:latin typeface="Meiryo" pitchFamily="34" charset="0"/>
                          <a:ea typeface="Meiryo" pitchFamily="34" charset="-122"/>
                          <a:cs typeface="Meiryo" pitchFamily="34" charset="-120"/>
                        </a:rPr>
                        <a:t>-129%</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8" name="Text 4"/>
          <p:cNvSpPr txBox="1"/>
          <p:nvPr/>
        </p:nvSpPr>
        <p:spPr>
          <a:xfrm>
            <a:off x="365760" y="2715768"/>
            <a:ext cx="4069080" cy="685800"/>
          </a:xfrm>
          <a:prstGeom prst="rect">
            <a:avLst/>
          </a:prstGeom>
          <a:noFill/>
          <a:ln/>
        </p:spPr>
        <p:txBody>
          <a:bodyPr wrap="square" lIns="0" tIns="0" rIns="0" bIns="0" rtlCol="0" anchor="t"/>
          <a:lstStyle/>
          <a:p>
            <a:pPr algn="l" indent="0" marL="0">
              <a:lnSpc>
                <a:spcPct val="115000"/>
              </a:lnSpc>
              <a:buNone/>
            </a:pPr>
            <a:r>
              <a:rPr lang="en-US" sz="900" dirty="0">
                <a:solidFill>
                  <a:srgbClr val="4D4D4D"/>
                </a:solidFill>
                <a:latin typeface="Meiryo" pitchFamily="34" charset="0"/>
                <a:ea typeface="Meiryo" pitchFamily="34" charset="-122"/>
                <a:cs typeface="Meiryo" pitchFamily="34" charset="-120"/>
              </a:rPr>
              <a:t>1台の値段（月2万円）が1台の原価（月0.6万円）を賄うので、台数を増やしても粗利率はほぼ一定。全編を送ると台数が増えるほど赤字が膨らむ</a:t>
            </a:r>
            <a:endParaRPr lang="en-US" sz="900" dirty="0"/>
          </a:p>
        </p:txBody>
      </p:sp>
      <p:sp>
        <p:nvSpPr>
          <p:cNvPr id="9" name="Text 5"/>
          <p:cNvSpPr txBox="1"/>
          <p:nvPr/>
        </p:nvSpPr>
        <p:spPr>
          <a:xfrm>
            <a:off x="4709160" y="1024128"/>
            <a:ext cx="40690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粗利率を守る4つの仕組み</a:t>
            </a:r>
            <a:endParaRPr lang="en-US" sz="1050" dirty="0"/>
          </a:p>
        </p:txBody>
      </p:sp>
      <p:sp>
        <p:nvSpPr>
          <p:cNvPr id="10" name="Shape 6"/>
          <p:cNvSpPr/>
          <p:nvPr/>
        </p:nvSpPr>
        <p:spPr>
          <a:xfrm>
            <a:off x="4709160" y="1316736"/>
            <a:ext cx="384048" cy="457200"/>
          </a:xfrm>
          <a:prstGeom prst="rect">
            <a:avLst/>
          </a:prstGeom>
          <a:solidFill>
            <a:srgbClr val="B8692E"/>
          </a:solidFill>
          <a:ln/>
        </p:spPr>
      </p:sp>
      <p:sp>
        <p:nvSpPr>
          <p:cNvPr id="11" name="Text 7"/>
          <p:cNvSpPr txBox="1"/>
          <p:nvPr/>
        </p:nvSpPr>
        <p:spPr>
          <a:xfrm>
            <a:off x="4709160" y="1316736"/>
            <a:ext cx="384048" cy="457200"/>
          </a:xfrm>
          <a:prstGeom prst="rect">
            <a:avLst/>
          </a:prstGeom>
          <a:noFill/>
          <a:ln/>
        </p:spPr>
        <p:txBody>
          <a:bodyPr wrap="square" lIns="0" tIns="0" rIns="0" bIns="0" rtlCol="0" anchor="ctr"/>
          <a:lstStyle/>
          <a:p>
            <a:pPr algn="ctr" indent="0" marL="0">
              <a:lnSpc>
                <a:spcPct val="115000"/>
              </a:lnSpc>
              <a:buNone/>
            </a:pPr>
            <a:r>
              <a:rPr lang="en-US" sz="1300" b="1" dirty="0">
                <a:solidFill>
                  <a:srgbClr val="FFFFFF"/>
                </a:solidFill>
                <a:latin typeface="Meiryo" pitchFamily="34" charset="0"/>
                <a:ea typeface="Meiryo" pitchFamily="34" charset="-122"/>
                <a:cs typeface="Meiryo" pitchFamily="34" charset="-120"/>
              </a:rPr>
              <a:t>1</a:t>
            </a:r>
            <a:endParaRPr lang="en-US" sz="1300" dirty="0"/>
          </a:p>
        </p:txBody>
      </p:sp>
      <p:sp>
        <p:nvSpPr>
          <p:cNvPr id="12" name="Text 8"/>
          <p:cNvSpPr txBox="1"/>
          <p:nvPr/>
        </p:nvSpPr>
        <p:spPr>
          <a:xfrm>
            <a:off x="5184648" y="1316736"/>
            <a:ext cx="3593592" cy="475488"/>
          </a:xfrm>
          <a:prstGeom prst="rect">
            <a:avLst/>
          </a:prstGeom>
          <a:noFill/>
          <a:ln/>
        </p:spPr>
        <p:txBody>
          <a:bodyPr wrap="square" lIns="0" tIns="0" rIns="0" bIns="0" rtlCol="0" anchor="ctr"/>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端末で切り出す</a:t>
            </a:r>
            <a:endParaRPr lang="en-US" sz="950" dirty="0"/>
          </a:p>
          <a:p>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録画は端末に全部残し、選んだ場面だけを送る（選び方は p.28）</a:t>
            </a:r>
            <a:endParaRPr lang="en-US" sz="950" dirty="0"/>
          </a:p>
        </p:txBody>
      </p:sp>
      <p:sp>
        <p:nvSpPr>
          <p:cNvPr id="13" name="Shape 9"/>
          <p:cNvSpPr/>
          <p:nvPr/>
        </p:nvSpPr>
        <p:spPr>
          <a:xfrm>
            <a:off x="4709160" y="1865376"/>
            <a:ext cx="384048" cy="457200"/>
          </a:xfrm>
          <a:prstGeom prst="rect">
            <a:avLst/>
          </a:prstGeom>
          <a:solidFill>
            <a:srgbClr val="1A1A1A"/>
          </a:solidFill>
          <a:ln/>
        </p:spPr>
      </p:sp>
      <p:sp>
        <p:nvSpPr>
          <p:cNvPr id="14" name="Text 10"/>
          <p:cNvSpPr txBox="1"/>
          <p:nvPr/>
        </p:nvSpPr>
        <p:spPr>
          <a:xfrm>
            <a:off x="4709160" y="1865376"/>
            <a:ext cx="384048" cy="457200"/>
          </a:xfrm>
          <a:prstGeom prst="rect">
            <a:avLst/>
          </a:prstGeom>
          <a:noFill/>
          <a:ln/>
        </p:spPr>
        <p:txBody>
          <a:bodyPr wrap="square" lIns="0" tIns="0" rIns="0" bIns="0" rtlCol="0" anchor="ctr"/>
          <a:lstStyle/>
          <a:p>
            <a:pPr algn="ctr" indent="0" marL="0">
              <a:lnSpc>
                <a:spcPct val="115000"/>
              </a:lnSpc>
              <a:buNone/>
            </a:pPr>
            <a:r>
              <a:rPr lang="en-US" sz="1300" b="1" dirty="0">
                <a:solidFill>
                  <a:srgbClr val="FFFFFF"/>
                </a:solidFill>
                <a:latin typeface="Meiryo" pitchFamily="34" charset="0"/>
                <a:ea typeface="Meiryo" pitchFamily="34" charset="-122"/>
                <a:cs typeface="Meiryo" pitchFamily="34" charset="-120"/>
              </a:rPr>
              <a:t>2</a:t>
            </a:r>
            <a:endParaRPr lang="en-US" sz="1300" dirty="0"/>
          </a:p>
        </p:txBody>
      </p:sp>
      <p:sp>
        <p:nvSpPr>
          <p:cNvPr id="15" name="Text 11"/>
          <p:cNvSpPr txBox="1"/>
          <p:nvPr/>
        </p:nvSpPr>
        <p:spPr>
          <a:xfrm>
            <a:off x="5184648" y="1865376"/>
            <a:ext cx="3593592" cy="475488"/>
          </a:xfrm>
          <a:prstGeom prst="rect">
            <a:avLst/>
          </a:prstGeom>
          <a:noFill/>
          <a:ln/>
        </p:spPr>
        <p:txBody>
          <a:bodyPr wrap="square" lIns="0" tIns="0" rIns="0" bIns="0" rtlCol="0" anchor="ctr"/>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解析の上限と超過料金</a:t>
            </a:r>
            <a:endParaRPr lang="en-US" sz="950" dirty="0"/>
          </a:p>
          <a:p>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録画は無制限。AIで解析する場面に月の上限、超えたら従量</a:t>
            </a:r>
            <a:endParaRPr lang="en-US" sz="950" dirty="0"/>
          </a:p>
        </p:txBody>
      </p:sp>
      <p:sp>
        <p:nvSpPr>
          <p:cNvPr id="16" name="Shape 12"/>
          <p:cNvSpPr/>
          <p:nvPr/>
        </p:nvSpPr>
        <p:spPr>
          <a:xfrm>
            <a:off x="4709160" y="2414016"/>
            <a:ext cx="384048" cy="457200"/>
          </a:xfrm>
          <a:prstGeom prst="rect">
            <a:avLst/>
          </a:prstGeom>
          <a:solidFill>
            <a:srgbClr val="1A1A1A"/>
          </a:solidFill>
          <a:ln/>
        </p:spPr>
      </p:sp>
      <p:sp>
        <p:nvSpPr>
          <p:cNvPr id="17" name="Text 13"/>
          <p:cNvSpPr txBox="1"/>
          <p:nvPr/>
        </p:nvSpPr>
        <p:spPr>
          <a:xfrm>
            <a:off x="4709160" y="2414016"/>
            <a:ext cx="384048" cy="457200"/>
          </a:xfrm>
          <a:prstGeom prst="rect">
            <a:avLst/>
          </a:prstGeom>
          <a:noFill/>
          <a:ln/>
        </p:spPr>
        <p:txBody>
          <a:bodyPr wrap="square" lIns="0" tIns="0" rIns="0" bIns="0" rtlCol="0" anchor="ctr"/>
          <a:lstStyle/>
          <a:p>
            <a:pPr algn="ctr" indent="0" marL="0">
              <a:lnSpc>
                <a:spcPct val="115000"/>
              </a:lnSpc>
              <a:buNone/>
            </a:pPr>
            <a:r>
              <a:rPr lang="en-US" sz="1300" b="1" dirty="0">
                <a:solidFill>
                  <a:srgbClr val="FFFFFF"/>
                </a:solidFill>
                <a:latin typeface="Meiryo" pitchFamily="34" charset="0"/>
                <a:ea typeface="Meiryo" pitchFamily="34" charset="-122"/>
                <a:cs typeface="Meiryo" pitchFamily="34" charset="-120"/>
              </a:rPr>
              <a:t>3</a:t>
            </a:r>
            <a:endParaRPr lang="en-US" sz="1300" dirty="0"/>
          </a:p>
        </p:txBody>
      </p:sp>
      <p:sp>
        <p:nvSpPr>
          <p:cNvPr id="18" name="Text 14"/>
          <p:cNvSpPr txBox="1"/>
          <p:nvPr/>
        </p:nvSpPr>
        <p:spPr>
          <a:xfrm>
            <a:off x="5184648" y="2414016"/>
            <a:ext cx="3593592" cy="475488"/>
          </a:xfrm>
          <a:prstGeom prst="rect">
            <a:avLst/>
          </a:prstGeom>
          <a:noFill/>
          <a:ln/>
        </p:spPr>
        <p:txBody>
          <a:bodyPr wrap="square" lIns="0" tIns="0" rIns="0" bIns="0" rtlCol="0" anchor="ctr"/>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撮影計画を営業と技術で決める</a:t>
            </a:r>
            <a:endParaRPr lang="en-US" sz="950" dirty="0"/>
          </a:p>
          <a:p>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提案の段階で「何を・誰が・何時間撮るか」を決めて見積に入れる</a:t>
            </a:r>
            <a:endParaRPr lang="en-US" sz="950" dirty="0"/>
          </a:p>
        </p:txBody>
      </p:sp>
      <p:sp>
        <p:nvSpPr>
          <p:cNvPr id="19" name="Shape 15"/>
          <p:cNvSpPr/>
          <p:nvPr/>
        </p:nvSpPr>
        <p:spPr>
          <a:xfrm>
            <a:off x="4709160" y="2962656"/>
            <a:ext cx="384048" cy="457200"/>
          </a:xfrm>
          <a:prstGeom prst="rect">
            <a:avLst/>
          </a:prstGeom>
          <a:solidFill>
            <a:srgbClr val="1A1A1A"/>
          </a:solidFill>
          <a:ln/>
        </p:spPr>
      </p:sp>
      <p:sp>
        <p:nvSpPr>
          <p:cNvPr id="20" name="Text 16"/>
          <p:cNvSpPr txBox="1"/>
          <p:nvPr/>
        </p:nvSpPr>
        <p:spPr>
          <a:xfrm>
            <a:off x="4709160" y="2962656"/>
            <a:ext cx="384048" cy="457200"/>
          </a:xfrm>
          <a:prstGeom prst="rect">
            <a:avLst/>
          </a:prstGeom>
          <a:noFill/>
          <a:ln/>
        </p:spPr>
        <p:txBody>
          <a:bodyPr wrap="square" lIns="0" tIns="0" rIns="0" bIns="0" rtlCol="0" anchor="ctr"/>
          <a:lstStyle/>
          <a:p>
            <a:pPr algn="ctr" indent="0" marL="0">
              <a:lnSpc>
                <a:spcPct val="115000"/>
              </a:lnSpc>
              <a:buNone/>
            </a:pPr>
            <a:r>
              <a:rPr lang="en-US" sz="1300" b="1" dirty="0">
                <a:solidFill>
                  <a:srgbClr val="FFFFFF"/>
                </a:solidFill>
                <a:latin typeface="Meiryo" pitchFamily="34" charset="0"/>
                <a:ea typeface="Meiryo" pitchFamily="34" charset="-122"/>
                <a:cs typeface="Meiryo" pitchFamily="34" charset="-120"/>
              </a:rPr>
              <a:t>4</a:t>
            </a:r>
            <a:endParaRPr lang="en-US" sz="1300" dirty="0"/>
          </a:p>
        </p:txBody>
      </p:sp>
      <p:sp>
        <p:nvSpPr>
          <p:cNvPr id="21" name="Text 17"/>
          <p:cNvSpPr txBox="1"/>
          <p:nvPr/>
        </p:nvSpPr>
        <p:spPr>
          <a:xfrm>
            <a:off x="5184648" y="2962656"/>
            <a:ext cx="3593592" cy="475488"/>
          </a:xfrm>
          <a:prstGeom prst="rect">
            <a:avLst/>
          </a:prstGeom>
          <a:noFill/>
          <a:ln/>
        </p:spPr>
        <p:txBody>
          <a:bodyPr wrap="square" lIns="0" tIns="0" rIns="0" bIns="0" rtlCol="0" anchor="ctr"/>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毎月、台ごとの粗利を見る</a:t>
            </a:r>
            <a:endParaRPr lang="en-US" sz="950" dirty="0"/>
          </a:p>
          <a:p>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処理量が多い台は、使い方の見直しか料金の相談</a:t>
            </a:r>
            <a:endParaRPr lang="en-US" sz="950" dirty="0"/>
          </a:p>
        </p:txBody>
      </p:sp>
      <p:sp>
        <p:nvSpPr>
          <p:cNvPr id="22" name="Shape 18"/>
          <p:cNvSpPr/>
          <p:nvPr/>
        </p:nvSpPr>
        <p:spPr>
          <a:xfrm>
            <a:off x="365760" y="3657600"/>
            <a:ext cx="8412480" cy="795528"/>
          </a:xfrm>
          <a:prstGeom prst="rect">
            <a:avLst/>
          </a:prstGeom>
          <a:solidFill>
            <a:srgbClr val="1A1A1A"/>
          </a:solidFill>
          <a:ln/>
        </p:spPr>
      </p:sp>
      <p:sp>
        <p:nvSpPr>
          <p:cNvPr id="23" name="Text 19"/>
          <p:cNvSpPr txBox="1"/>
          <p:nvPr/>
        </p:nvSpPr>
        <p:spPr>
          <a:xfrm>
            <a:off x="502920" y="3657600"/>
            <a:ext cx="8138160" cy="795528"/>
          </a:xfrm>
          <a:prstGeom prst="rect">
            <a:avLst/>
          </a:prstGeom>
          <a:noFill/>
          <a:ln/>
        </p:spPr>
        <p:txBody>
          <a:bodyPr wrap="square" lIns="0" tIns="0" rIns="0" bIns="0" rtlCol="0" anchor="ctr"/>
          <a:lstStyle/>
          <a:p>
            <a:pPr algn="l" indent="0" marL="0">
              <a:lnSpc>
                <a:spcPct val="115000"/>
              </a:lnSpc>
              <a:spcAft>
                <a:spcPts val="200"/>
              </a:spcAft>
              <a:buNone/>
            </a:pPr>
            <a:r>
              <a:rPr lang="en-US" sz="950" b="1" dirty="0">
                <a:solidFill>
                  <a:srgbClr val="E3A774"/>
                </a:solidFill>
                <a:latin typeface="Meiryo" pitchFamily="34" charset="0"/>
                <a:ea typeface="Meiryo" pitchFamily="34" charset="-122"/>
                <a:cs typeface="Meiryo" pitchFamily="34" charset="-120"/>
              </a:rPr>
              <a:t>営業との連携が要になる：</a:t>
            </a:r>
            <a:pPr algn="l" indent="0" marL="0">
              <a:lnSpc>
                <a:spcPct val="115000"/>
              </a:lnSpc>
              <a:spcAft>
                <a:spcPts val="200"/>
              </a:spcAft>
              <a:buNone/>
            </a:pPr>
            <a:r>
              <a:rPr lang="en-US" sz="950" dirty="0">
                <a:solidFill>
                  <a:srgbClr val="FFFFFF"/>
                </a:solidFill>
                <a:latin typeface="Meiryo" pitchFamily="34" charset="0"/>
                <a:ea typeface="Meiryo" pitchFamily="34" charset="-122"/>
                <a:cs typeface="Meiryo" pitchFamily="34" charset="-120"/>
              </a:rPr>
              <a:t>台数を増やす提案は売上を増やすが、使い方を決めずに増やすと原価も増える。</a:t>
            </a:r>
            <a:endParaRPr lang="en-US" sz="950" dirty="0"/>
          </a:p>
          <a:p>
            <a:pPr algn="l" indent="0" marL="0">
              <a:lnSpc>
                <a:spcPct val="115000"/>
              </a:lnSpc>
              <a:spcAft>
                <a:spcPts val="200"/>
              </a:spcAft>
              <a:buNone/>
            </a:pPr>
            <a:r>
              <a:rPr lang="en-US" sz="950" dirty="0">
                <a:solidFill>
                  <a:srgbClr val="FFFFFF"/>
                </a:solidFill>
                <a:latin typeface="Meiryo" pitchFamily="34" charset="0"/>
                <a:ea typeface="Meiryo" pitchFamily="34" charset="-122"/>
                <a:cs typeface="Meiryo" pitchFamily="34" charset="-120"/>
              </a:rPr>
              <a:t>営業の目標は「拠点数」だけでなく「台ごとの粗利」も見る。事業が大きくなるほど、この最適化が経営の仕事になる</a:t>
            </a:r>
            <a:endParaRPr lang="en-US" sz="950" dirty="0"/>
          </a:p>
        </p:txBody>
      </p:sp>
      <p:sp>
        <p:nvSpPr>
          <p:cNvPr id="24" name="Text 20"/>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全編解析の1台月5万円は、動画1日4時間・毎秒1枚の画像解析と保存を公表単価で見積もった値</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ext 0"/>
          <p:cNvSpPr txBox="1"/>
          <p:nvPr/>
        </p:nvSpPr>
        <p:spPr>
          <a:xfrm>
            <a:off x="5577840" y="54864"/>
            <a:ext cx="3200400" cy="182880"/>
          </a:xfrm>
          <a:prstGeom prst="rect">
            <a:avLst/>
          </a:prstGeom>
          <a:noFill/>
          <a:ln/>
        </p:spPr>
        <p:txBody>
          <a:bodyPr wrap="square" lIns="0" tIns="0" rIns="0" bIns="0" rtlCol="0" anchor="ctr"/>
          <a:lstStyle/>
          <a:p>
            <a:pPr algn="r" indent="0" marL="0">
              <a:lnSpc>
                <a:spcPct val="115000"/>
              </a:lnSpc>
              <a:buNone/>
            </a:pPr>
            <a:r>
              <a:rPr lang="en-US" sz="800" dirty="0">
                <a:solidFill>
                  <a:srgbClr val="8C8C8C"/>
                </a:solidFill>
                <a:latin typeface="Meiryo" pitchFamily="34" charset="0"/>
                <a:ea typeface="Meiryo" pitchFamily="34" charset="-122"/>
                <a:cs typeface="Meiryo" pitchFamily="34" charset="-120"/>
              </a:rPr>
              <a:t>本編 p.20・21 の詳細</a:t>
            </a:r>
            <a:endParaRPr lang="en-US" sz="800" dirty="0"/>
          </a:p>
        </p:txBody>
      </p:sp>
      <p:sp>
        <p:nvSpPr>
          <p:cNvPr id="4"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導入支援200万円の中身 ─ 42人日＋交通費</a:t>
            </a:r>
            <a:endParaRPr lang="en-US" sz="2000" dirty="0"/>
          </a:p>
        </p:txBody>
      </p:sp>
      <p:sp>
        <p:nvSpPr>
          <p:cNvPr id="5"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200万円は作業を積み上げた原価の約1.4倍として置いた（他社の相場は未確認）</a:t>
            </a:r>
            <a:endParaRPr lang="en-US" sz="1200" dirty="0"/>
          </a:p>
        </p:txBody>
      </p:sp>
      <p:graphicFrame>
        <p:nvGraphicFramePr>
          <p:cNvPr id="14" name="tasks"/>
          <p:cNvGraphicFramePr>
            <a:graphicFrameLocks noGrp="1"/>
          </p:cNvGraphicFramePr>
          <p:nvPr>
            <p:extLst>
              <p:ext uri="{D42A27DB-BD31-4B8C-83A1-F6EECF244321}">
                <p14:modId xmlns:p14="http://schemas.microsoft.com/office/powerpoint/2010/main" val="1579011935"/>
              </p:ext>
            </p:extLst>
          </p:nvPr>
        </p:nvGraphicFramePr>
        <p:xfrm>
          <a:off x="365760" y="1024128"/>
          <a:ext cx="4846320" cy="914400"/>
        </p:xfrm>
        <a:graphic>
          <a:graphicData uri="http://schemas.openxmlformats.org/drawingml/2006/table">
            <a:tbl>
              <a:tblPr/>
              <a:tblGrid>
                <a:gridCol w="4023360"/>
                <a:gridCol w="822960"/>
              </a:tblGrid>
              <a:tr h="274320">
                <a:tc>
                  <a:txBody>
                    <a:bodyPr/>
                    <a:lstStyle/>
                    <a:p>
                      <a:pPr algn="l" indent="0" marL="0">
                        <a:buNone/>
                      </a:pPr>
                      <a:r>
                        <a:rPr lang="en-US" sz="900" b="1" dirty="0">
                          <a:solidFill>
                            <a:srgbClr val="1A1A1A"/>
                          </a:solidFill>
                          <a:latin typeface="Meiryo" pitchFamily="34" charset="0"/>
                          <a:ea typeface="Meiryo" pitchFamily="34" charset="-122"/>
                          <a:cs typeface="Meiryo" pitchFamily="34" charset="-120"/>
                        </a:rPr>
                        <a:t>作業</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人日</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74320">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現状調査・業務の流れの整理</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5</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端末の設定・アカウント・端末管理</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3</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図面・手順・報告書の型の登録</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10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職長・施工管理者への研修（2回）</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4</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現場での立ち会い・初期の手直し（週2日×8週）</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16</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導入前後の効果測定レポート</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4</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900" b="1" dirty="0">
                          <a:solidFill>
                            <a:srgbClr val="1A1A1A"/>
                          </a:solidFill>
                          <a:latin typeface="Meiryo" pitchFamily="34" charset="0"/>
                          <a:ea typeface="Meiryo" pitchFamily="34" charset="-122"/>
                          <a:cs typeface="Meiryo" pitchFamily="34" charset="-120"/>
                        </a:rPr>
                        <a:t>合計（約2か月）</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42</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graphicFrame>
        <p:nvGraphicFramePr>
          <p:cNvPr id="27" name="setupcost"/>
          <p:cNvGraphicFramePr>
            <a:graphicFrameLocks noGrp="1"/>
          </p:cNvGraphicFramePr>
          <p:nvPr>
            <p:extLst>
              <p:ext uri="{D42A27DB-BD31-4B8C-83A1-F6EECF244321}">
                <p14:modId xmlns:p14="http://schemas.microsoft.com/office/powerpoint/2010/main" val="1579011935"/>
              </p:ext>
            </p:extLst>
          </p:nvPr>
        </p:nvGraphicFramePr>
        <p:xfrm>
          <a:off x="5486400" y="1024128"/>
          <a:ext cx="3291840" cy="914400"/>
        </p:xfrm>
        <a:graphic>
          <a:graphicData uri="http://schemas.openxmlformats.org/drawingml/2006/table">
            <a:tbl>
              <a:tblPr/>
              <a:tblGrid>
                <a:gridCol w="2377440"/>
                <a:gridCol w="914400"/>
              </a:tblGrid>
              <a:tr h="274320">
                <a:tc>
                  <a:txBody>
                    <a:bodyPr/>
                    <a:lstStyle/>
                    <a:p>
                      <a:pPr algn="l" indent="0" marL="0">
                        <a:buNone/>
                      </a:pP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万円</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74320">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人件費 42人日×約3.0万円</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126</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交通費（16回訪問）</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15</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900" b="1" dirty="0">
                          <a:solidFill>
                            <a:srgbClr val="1A1A1A"/>
                          </a:solidFill>
                          <a:latin typeface="Meiryo" pitchFamily="34" charset="0"/>
                          <a:ea typeface="Meiryo" pitchFamily="34" charset="-122"/>
                          <a:cs typeface="Meiryo" pitchFamily="34" charset="-120"/>
                        </a:rPr>
                        <a:t>原価</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141</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値段</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200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900" b="1" dirty="0">
                          <a:solidFill>
                            <a:srgbClr val="1A1A1A"/>
                          </a:solidFill>
                          <a:latin typeface="Meiryo" pitchFamily="34" charset="0"/>
                          <a:ea typeface="Meiryo" pitchFamily="34" charset="-122"/>
                          <a:cs typeface="Meiryo" pitchFamily="34" charset="-120"/>
                        </a:rPr>
                        <a:t>粗利</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B8692E"/>
                          </a:solidFill>
                          <a:latin typeface="Meiryo" pitchFamily="34" charset="0"/>
                          <a:ea typeface="Meiryo" pitchFamily="34" charset="-122"/>
                          <a:cs typeface="Meiryo" pitchFamily="34" charset="-120"/>
                        </a:rPr>
                        <a:t>59（30%）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8" name="Text 3"/>
          <p:cNvSpPr txBox="1"/>
          <p:nvPr/>
        </p:nvSpPr>
        <p:spPr>
          <a:xfrm>
            <a:off x="5486400" y="2761488"/>
            <a:ext cx="3291840" cy="365760"/>
          </a:xfrm>
          <a:prstGeom prst="rect">
            <a:avLst/>
          </a:prstGeom>
          <a:noFill/>
          <a:ln/>
        </p:spPr>
        <p:txBody>
          <a:bodyPr wrap="square" lIns="0" tIns="0" rIns="0" bIns="0" rtlCol="0" anchor="t"/>
          <a:lstStyle/>
          <a:p>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日額＝導入コンサルタントの年収600万円×1.2÷240日</a:t>
            </a:r>
            <a:endParaRPr lang="en-US" sz="850" dirty="0"/>
          </a:p>
        </p:txBody>
      </p:sp>
      <p:sp>
        <p:nvSpPr>
          <p:cNvPr id="9" name="Shape 4"/>
          <p:cNvSpPr/>
          <p:nvPr/>
        </p:nvSpPr>
        <p:spPr>
          <a:xfrm>
            <a:off x="365760" y="3337560"/>
            <a:ext cx="8412480" cy="1097280"/>
          </a:xfrm>
          <a:prstGeom prst="rect">
            <a:avLst/>
          </a:prstGeom>
          <a:solidFill>
            <a:srgbClr val="1A1A1A"/>
          </a:solidFill>
          <a:ln/>
        </p:spPr>
      </p:sp>
      <p:sp>
        <p:nvSpPr>
          <p:cNvPr id="10" name="Text 5"/>
          <p:cNvSpPr txBox="1"/>
          <p:nvPr/>
        </p:nvSpPr>
        <p:spPr>
          <a:xfrm>
            <a:off x="502920" y="3337560"/>
            <a:ext cx="8138160" cy="1097280"/>
          </a:xfrm>
          <a:prstGeom prst="rect">
            <a:avLst/>
          </a:prstGeom>
          <a:noFill/>
          <a:ln/>
        </p:spPr>
        <p:txBody>
          <a:bodyPr wrap="square" lIns="0" tIns="0" rIns="0" bIns="0" rtlCol="0" anchor="ctr"/>
          <a:lstStyle/>
          <a:p>
            <a:pPr algn="l" indent="0" marL="0">
              <a:lnSpc>
                <a:spcPct val="115000"/>
              </a:lnSpc>
              <a:spcAft>
                <a:spcPts val="200"/>
              </a:spcAft>
              <a:buNone/>
            </a:pPr>
            <a:r>
              <a:rPr lang="en-US" sz="900" b="1" dirty="0">
                <a:solidFill>
                  <a:srgbClr val="E3A774"/>
                </a:solidFill>
                <a:latin typeface="Meiryo" pitchFamily="34" charset="0"/>
                <a:ea typeface="Meiryo" pitchFamily="34" charset="-122"/>
                <a:cs typeface="Meiryo" pitchFamily="34" charset="-120"/>
              </a:rPr>
              <a:t>懸念と対策</a:t>
            </a:r>
            <a:endParaRPr lang="en-US" sz="900" dirty="0"/>
          </a:p>
          <a:p>
            <a:pPr algn="l" indent="0" marL="0">
              <a:lnSpc>
                <a:spcPct val="115000"/>
              </a:lnSpc>
              <a:spcAft>
                <a:spcPts val="200"/>
              </a:spcAft>
              <a:buNone/>
            </a:pPr>
            <a:r>
              <a:rPr lang="en-US" sz="900" dirty="0">
                <a:solidFill>
                  <a:srgbClr val="FFFFFF"/>
                </a:solidFill>
                <a:latin typeface="Meiryo" pitchFamily="34" charset="0"/>
                <a:ea typeface="Meiryo" pitchFamily="34" charset="-122"/>
                <a:cs typeface="Meiryo" pitchFamily="34" charset="-120"/>
              </a:rPr>
              <a:t>・手元AR（3D化）を含めると人日が増える → 手元ARは工種ごとのオプション（初期50万円）に分けた</a:t>
            </a:r>
            <a:endParaRPr lang="en-US" sz="900" dirty="0"/>
          </a:p>
          <a:p>
            <a:pPr algn="l" indent="0" marL="0">
              <a:lnSpc>
                <a:spcPct val="115000"/>
              </a:lnSpc>
              <a:spcAft>
                <a:spcPts val="200"/>
              </a:spcAft>
              <a:buNone/>
            </a:pPr>
            <a:r>
              <a:rPr lang="en-US" sz="900" dirty="0">
                <a:solidFill>
                  <a:srgbClr val="FFFFFF"/>
                </a:solidFill>
                <a:latin typeface="Meiryo" pitchFamily="34" charset="0"/>
                <a:ea typeface="Meiryo" pitchFamily="34" charset="-122"/>
                <a:cs typeface="Meiryo" pitchFamily="34" charset="-120"/>
              </a:rPr>
              <a:t>・1人で年6拠点（2か月で1拠点）が上限 → 新規が増えるほど導入コンサルタントの採用が先に要る（p.17）</a:t>
            </a:r>
            <a:endParaRPr lang="en-US" sz="900" dirty="0"/>
          </a:p>
          <a:p>
            <a:pPr algn="l" indent="0" marL="0">
              <a:lnSpc>
                <a:spcPct val="115000"/>
              </a:lnSpc>
              <a:spcAft>
                <a:spcPts val="200"/>
              </a:spcAft>
              <a:buNone/>
            </a:pPr>
            <a:r>
              <a:rPr lang="en-US" sz="900" dirty="0">
                <a:solidFill>
                  <a:srgbClr val="FFFFFF"/>
                </a:solidFill>
                <a:latin typeface="Meiryo" pitchFamily="34" charset="0"/>
                <a:ea typeface="Meiryo" pitchFamily="34" charset="-122"/>
                <a:cs typeface="Meiryo" pitchFamily="34" charset="-120"/>
              </a:rPr>
              <a:t>・お客様の負担が重い → 着手金50%・試験導入の結果で本契約に切り替える</a:t>
            </a:r>
            <a:endParaRPr lang="en-US" sz="900" dirty="0"/>
          </a:p>
        </p:txBody>
      </p:sp>
      <p:sp>
        <p:nvSpPr>
          <p:cNvPr id="11" name="Text 6"/>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他社の導入支援の相場は未確認。1社目の実績（人日・交通費）で更新する</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ext 0"/>
          <p:cNvSpPr txBox="1"/>
          <p:nvPr/>
        </p:nvSpPr>
        <p:spPr>
          <a:xfrm>
            <a:off x="5577840" y="54864"/>
            <a:ext cx="3200400" cy="182880"/>
          </a:xfrm>
          <a:prstGeom prst="rect">
            <a:avLst/>
          </a:prstGeom>
          <a:noFill/>
          <a:ln/>
        </p:spPr>
        <p:txBody>
          <a:bodyPr wrap="square" lIns="0" tIns="0" rIns="0" bIns="0" rtlCol="0" anchor="ctr"/>
          <a:lstStyle/>
          <a:p>
            <a:pPr algn="r" indent="0" marL="0">
              <a:lnSpc>
                <a:spcPct val="115000"/>
              </a:lnSpc>
              <a:buNone/>
            </a:pPr>
            <a:r>
              <a:rPr lang="en-US" sz="800" dirty="0">
                <a:solidFill>
                  <a:srgbClr val="8C8C8C"/>
                </a:solidFill>
                <a:latin typeface="Meiryo" pitchFamily="34" charset="0"/>
                <a:ea typeface="Meiryo" pitchFamily="34" charset="-122"/>
                <a:cs typeface="Meiryo" pitchFamily="34" charset="-120"/>
              </a:rPr>
              <a:t>本編 p.23 の詳細</a:t>
            </a:r>
            <a:endParaRPr lang="en-US" sz="800" dirty="0"/>
          </a:p>
        </p:txBody>
      </p:sp>
      <p:sp>
        <p:nvSpPr>
          <p:cNvPr id="4"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拠点の積み上げ ─ 既存・新規・解約を分けて見る</a:t>
            </a:r>
            <a:endParaRPr lang="en-US" sz="2000" dirty="0"/>
          </a:p>
        </p:txBody>
      </p:sp>
      <p:sp>
        <p:nvSpPr>
          <p:cNvPr id="5"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解約は年10%（期首の拠点に対して）。既存から入る利用料と、解約で減る利用料を分ける</a:t>
            </a:r>
            <a:endParaRPr lang="en-US" sz="1200" dirty="0"/>
          </a:p>
        </p:txBody>
      </p:sp>
      <p:graphicFrame>
        <p:nvGraphicFramePr>
          <p:cNvPr id="15" name="stock"/>
          <p:cNvGraphicFramePr>
            <a:graphicFrameLocks noGrp="1"/>
          </p:cNvGraphicFramePr>
          <p:nvPr>
            <p:extLst>
              <p:ext uri="{D42A27DB-BD31-4B8C-83A1-F6EECF244321}">
                <p14:modId xmlns:p14="http://schemas.microsoft.com/office/powerpoint/2010/main" val="1579011935"/>
              </p:ext>
            </p:extLst>
          </p:nvPr>
        </p:nvGraphicFramePr>
        <p:xfrm>
          <a:off x="365760" y="1024128"/>
          <a:ext cx="8412480" cy="914400"/>
        </p:xfrm>
        <a:graphic>
          <a:graphicData uri="http://schemas.openxmlformats.org/drawingml/2006/table">
            <a:tbl>
              <a:tblPr/>
              <a:tblGrid>
                <a:gridCol w="2697480"/>
                <a:gridCol w="1143000"/>
                <a:gridCol w="1143000"/>
                <a:gridCol w="1143000"/>
                <a:gridCol w="1143000"/>
                <a:gridCol w="1143000"/>
              </a:tblGrid>
              <a:tr h="274320">
                <a:tc>
                  <a:txBody>
                    <a:bodyPr/>
                    <a:lstStyle/>
                    <a:p>
                      <a:pPr algn="l" indent="0" marL="0">
                        <a:buNone/>
                      </a:pPr>
                      <a:r>
                        <a:rPr lang="en-US" sz="900" b="1" dirty="0">
                          <a:solidFill>
                            <a:srgbClr val="1A1A1A"/>
                          </a:solidFill>
                          <a:latin typeface="Meiryo" pitchFamily="34" charset="0"/>
                          <a:ea typeface="Meiryo" pitchFamily="34" charset="-122"/>
                          <a:cs typeface="Meiryo" pitchFamily="34" charset="-120"/>
                        </a:rPr>
                        <a:t>拠点</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1年目</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2年目</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3年目</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4年目</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5年目</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74320">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期首（既存のお客様）</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3</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12</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29</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53</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 解約</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B8692E"/>
                          </a:solidFill>
                          <a:latin typeface="Meiryo" pitchFamily="34" charset="0"/>
                          <a:ea typeface="Meiryo" pitchFamily="34" charset="-122"/>
                          <a:cs typeface="Meiryo" pitchFamily="34" charset="-120"/>
                        </a:rPr>
                        <a:t>▲1</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B8692E"/>
                          </a:solidFill>
                          <a:latin typeface="Meiryo" pitchFamily="34" charset="0"/>
                          <a:ea typeface="Meiryo" pitchFamily="34" charset="-122"/>
                          <a:cs typeface="Meiryo" pitchFamily="34" charset="-120"/>
                        </a:rPr>
                        <a:t>▲3</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B8692E"/>
                          </a:solidFill>
                          <a:latin typeface="Meiryo" pitchFamily="34" charset="0"/>
                          <a:ea typeface="Meiryo" pitchFamily="34" charset="-122"/>
                          <a:cs typeface="Meiryo" pitchFamily="34" charset="-120"/>
                        </a:rPr>
                        <a:t>▲5</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 新規</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3</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9</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18</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27</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33</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900" b="1" dirty="0">
                          <a:solidFill>
                            <a:srgbClr val="1A1A1A"/>
                          </a:solidFill>
                          <a:latin typeface="Meiryo" pitchFamily="34" charset="0"/>
                          <a:ea typeface="Meiryo" pitchFamily="34" charset="-122"/>
                          <a:cs typeface="Meiryo" pitchFamily="34" charset="-120"/>
                        </a:rPr>
                        <a:t>期末</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3</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12</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29</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53</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81</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既存から入る利用料（万円）</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900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3,300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7,800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14,400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新規から入る利用料（半年分）</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1,350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2,700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4,050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4,950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解約で減った利用料</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B8692E"/>
                          </a:solidFill>
                          <a:latin typeface="Meiryo" pitchFamily="34" charset="0"/>
                          <a:ea typeface="Meiryo" pitchFamily="34" charset="-122"/>
                          <a:cs typeface="Meiryo" pitchFamily="34" charset="-120"/>
                        </a:rPr>
                        <a:t>▲300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B8692E"/>
                          </a:solidFill>
                          <a:latin typeface="Meiryo" pitchFamily="34" charset="0"/>
                          <a:ea typeface="Meiryo" pitchFamily="34" charset="-122"/>
                          <a:cs typeface="Meiryo" pitchFamily="34" charset="-120"/>
                        </a:rPr>
                        <a:t>▲900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B8692E"/>
                          </a:solidFill>
                          <a:latin typeface="Meiryo" pitchFamily="34" charset="0"/>
                          <a:ea typeface="Meiryo" pitchFamily="34" charset="-122"/>
                          <a:cs typeface="Meiryo" pitchFamily="34" charset="-120"/>
                        </a:rPr>
                        <a:t>▲1,500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7" name="Shape 3"/>
          <p:cNvSpPr/>
          <p:nvPr/>
        </p:nvSpPr>
        <p:spPr>
          <a:xfrm>
            <a:off x="365760" y="3337560"/>
            <a:ext cx="4069080" cy="1115568"/>
          </a:xfrm>
          <a:prstGeom prst="rect">
            <a:avLst/>
          </a:prstGeom>
          <a:solidFill>
            <a:srgbClr val="F2F2F2"/>
          </a:solidFill>
          <a:ln/>
        </p:spPr>
      </p:sp>
      <p:sp>
        <p:nvSpPr>
          <p:cNvPr id="8" name="Text 4"/>
          <p:cNvSpPr txBox="1"/>
          <p:nvPr/>
        </p:nvSpPr>
        <p:spPr>
          <a:xfrm>
            <a:off x="502920" y="3337560"/>
            <a:ext cx="3794760" cy="1115568"/>
          </a:xfrm>
          <a:prstGeom prst="rect">
            <a:avLst/>
          </a:prstGeom>
          <a:noFill/>
          <a:ln/>
        </p:spPr>
        <p:txBody>
          <a:bodyPr wrap="square" lIns="0" tIns="0" rIns="0" bIns="0" rtlCol="0" anchor="ctr"/>
          <a:lstStyle/>
          <a:p>
            <a:pPr algn="l" indent="0" marL="0">
              <a:lnSpc>
                <a:spcPct val="115000"/>
              </a:lnSpc>
              <a:spcAft>
                <a:spcPts val="200"/>
              </a:spcAft>
              <a:buNone/>
            </a:pPr>
            <a:r>
              <a:rPr lang="en-US" sz="900" b="1" dirty="0">
                <a:solidFill>
                  <a:srgbClr val="B8692E"/>
                </a:solidFill>
                <a:latin typeface="Meiryo" pitchFamily="34" charset="0"/>
                <a:ea typeface="Meiryo" pitchFamily="34" charset="-122"/>
                <a:cs typeface="Meiryo" pitchFamily="34" charset="-120"/>
              </a:rPr>
              <a:t>年10%の根拠</a:t>
            </a:r>
            <a:endParaRPr lang="en-US" sz="900" dirty="0"/>
          </a:p>
          <a:p>
            <a:pPr algn="l" indent="0" marL="0">
              <a:lnSpc>
                <a:spcPct val="115000"/>
              </a:lnSpc>
              <a:spcAft>
                <a:spcPts val="200"/>
              </a:spcAft>
              <a:buNone/>
            </a:pPr>
            <a:r>
              <a:rPr lang="en-US" sz="900" dirty="0">
                <a:solidFill>
                  <a:srgbClr val="1A1A1A"/>
                </a:solidFill>
                <a:latin typeface="Meiryo" pitchFamily="34" charset="0"/>
                <a:ea typeface="Meiryo" pitchFamily="34" charset="-122"/>
                <a:cs typeface="Meiryo" pitchFamily="34" charset="-120"/>
              </a:rPr>
              <a:t>海外の目安：B2B SaaSの年間の解約は大企業5〜10%、中小30〜50%。記録が貯まるほど乗り換えにくいので、中堅として低めに置いた（日本の調査は見つからず）</a:t>
            </a:r>
            <a:endParaRPr lang="en-US" sz="900" dirty="0"/>
          </a:p>
        </p:txBody>
      </p:sp>
      <p:sp>
        <p:nvSpPr>
          <p:cNvPr id="9" name="Shape 5"/>
          <p:cNvSpPr/>
          <p:nvPr/>
        </p:nvSpPr>
        <p:spPr>
          <a:xfrm>
            <a:off x="4709160" y="3337560"/>
            <a:ext cx="4069080" cy="1115568"/>
          </a:xfrm>
          <a:prstGeom prst="rect">
            <a:avLst/>
          </a:prstGeom>
          <a:solidFill>
            <a:srgbClr val="FFFFFF"/>
          </a:solidFill>
          <a:ln w="19050">
            <a:solidFill>
              <a:srgbClr val="B8692E"/>
            </a:solidFill>
            <a:prstDash val="solid"/>
          </a:ln>
        </p:spPr>
      </p:sp>
      <p:sp>
        <p:nvSpPr>
          <p:cNvPr id="10" name="Text 6"/>
          <p:cNvSpPr txBox="1"/>
          <p:nvPr/>
        </p:nvSpPr>
        <p:spPr>
          <a:xfrm>
            <a:off x="4846320" y="3337560"/>
            <a:ext cx="3794760" cy="1115568"/>
          </a:xfrm>
          <a:prstGeom prst="rect">
            <a:avLst/>
          </a:prstGeom>
          <a:noFill/>
          <a:ln/>
        </p:spPr>
        <p:txBody>
          <a:bodyPr wrap="square" lIns="0" tIns="0" rIns="0" bIns="0" rtlCol="0" anchor="ctr"/>
          <a:lstStyle/>
          <a:p>
            <a:pPr algn="l" indent="0" marL="0">
              <a:lnSpc>
                <a:spcPct val="115000"/>
              </a:lnSpc>
              <a:spcAft>
                <a:spcPts val="200"/>
              </a:spcAft>
              <a:buNone/>
            </a:pPr>
            <a:r>
              <a:rPr lang="en-US" sz="900" b="1" dirty="0">
                <a:solidFill>
                  <a:srgbClr val="B8692E"/>
                </a:solidFill>
                <a:latin typeface="Meiryo" pitchFamily="34" charset="0"/>
                <a:ea typeface="Meiryo" pitchFamily="34" charset="-122"/>
                <a:cs typeface="Meiryo" pitchFamily="34" charset="-120"/>
              </a:rPr>
              <a:t>解約を減らす手</a:t>
            </a:r>
            <a:endParaRPr lang="en-US" sz="900" dirty="0"/>
          </a:p>
          <a:p>
            <a:pPr algn="l" indent="0" marL="0">
              <a:lnSpc>
                <a:spcPct val="115000"/>
              </a:lnSpc>
              <a:spcAft>
                <a:spcPts val="200"/>
              </a:spcAft>
              <a:buNone/>
            </a:pPr>
            <a:r>
              <a:rPr lang="en-US" sz="900" dirty="0">
                <a:solidFill>
                  <a:srgbClr val="1A1A1A"/>
                </a:solidFill>
                <a:latin typeface="Meiryo" pitchFamily="34" charset="0"/>
                <a:ea typeface="Meiryo" pitchFamily="34" charset="-122"/>
                <a:cs typeface="Meiryo" pitchFamily="34" charset="-120"/>
              </a:rPr>
              <a:t>月次の効果レポートで「何分減ったか」を毎月見せる。年額前払いで、更新の3か月前に効果の振り返りをする。解約の理由は必ず聞いて記録する</a:t>
            </a:r>
            <a:endParaRPr lang="en-US" sz="900" dirty="0"/>
          </a:p>
        </p:txBody>
      </p:sp>
      <p:sp>
        <p:nvSpPr>
          <p:cNvPr id="11" name="Text 7"/>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1年目の3拠点は有償の試験導入（利用料なし）。解約は期首に起きると置いた控えめな計算</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ext 0"/>
          <p:cNvSpPr txBox="1"/>
          <p:nvPr/>
        </p:nvSpPr>
        <p:spPr>
          <a:xfrm>
            <a:off x="5577840" y="54864"/>
            <a:ext cx="3200400" cy="182880"/>
          </a:xfrm>
          <a:prstGeom prst="rect">
            <a:avLst/>
          </a:prstGeom>
          <a:noFill/>
          <a:ln/>
        </p:spPr>
        <p:txBody>
          <a:bodyPr wrap="square" lIns="0" tIns="0" rIns="0" bIns="0" rtlCol="0" anchor="ctr"/>
          <a:lstStyle/>
          <a:p>
            <a:pPr algn="r" indent="0" marL="0">
              <a:lnSpc>
                <a:spcPct val="115000"/>
              </a:lnSpc>
              <a:buNone/>
            </a:pPr>
            <a:r>
              <a:rPr lang="en-US" sz="800" dirty="0">
                <a:solidFill>
                  <a:srgbClr val="8C8C8C"/>
                </a:solidFill>
                <a:latin typeface="Meiryo" pitchFamily="34" charset="0"/>
                <a:ea typeface="Meiryo" pitchFamily="34" charset="-122"/>
                <a:cs typeface="Meiryo" pitchFamily="34" charset="-120"/>
              </a:rPr>
              <a:t>本編 p.23 の詳細</a:t>
            </a:r>
            <a:endParaRPr lang="en-US" sz="800" dirty="0"/>
          </a:p>
        </p:txBody>
      </p:sp>
      <p:sp>
        <p:nvSpPr>
          <p:cNvPr id="4"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売上の内訳 ─ 柱は既存の利用料。個社設定は社内で</a:t>
            </a:r>
            <a:endParaRPr lang="en-US" sz="2000" dirty="0"/>
          </a:p>
        </p:txBody>
      </p:sp>
      <p:sp>
        <p:nvSpPr>
          <p:cNvPr id="5"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売上＝既存の利用料＋新規の利用料（半年分）＋導入支援＋個社設定（万円）</a:t>
            </a:r>
            <a:endParaRPr lang="en-US" sz="1200" dirty="0"/>
          </a:p>
        </p:txBody>
      </p:sp>
      <p:graphicFrame>
        <p:nvGraphicFramePr>
          <p:cNvPr id="16" name="sales"/>
          <p:cNvGraphicFramePr>
            <a:graphicFrameLocks noGrp="1"/>
          </p:cNvGraphicFramePr>
          <p:nvPr>
            <p:extLst>
              <p:ext uri="{D42A27DB-BD31-4B8C-83A1-F6EECF244321}">
                <p14:modId xmlns:p14="http://schemas.microsoft.com/office/powerpoint/2010/main" val="1579011935"/>
              </p:ext>
            </p:extLst>
          </p:nvPr>
        </p:nvGraphicFramePr>
        <p:xfrm>
          <a:off x="365760" y="1024128"/>
          <a:ext cx="8412480" cy="914400"/>
        </p:xfrm>
        <a:graphic>
          <a:graphicData uri="http://schemas.openxmlformats.org/drawingml/2006/table">
            <a:tbl>
              <a:tblPr/>
              <a:tblGrid>
                <a:gridCol w="2697480"/>
                <a:gridCol w="1143000"/>
                <a:gridCol w="1143000"/>
                <a:gridCol w="1143000"/>
                <a:gridCol w="1143000"/>
                <a:gridCol w="1143000"/>
              </a:tblGrid>
              <a:tr h="274320">
                <a:tc>
                  <a:txBody>
                    <a:bodyPr/>
                    <a:lstStyle/>
                    <a:p>
                      <a:pPr algn="l" indent="0" marL="0">
                        <a:buNone/>
                      </a:pP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1年目</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2年目</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3年目</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4年目</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5年目</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74320">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既存の利用料</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900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3,300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7,800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14,400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新規の利用料</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1,350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2,700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4,050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4,950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導入支援</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600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1,800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3,600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5,400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6,600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個社設定</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600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750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1,100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550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950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900" b="1" dirty="0">
                          <a:solidFill>
                            <a:srgbClr val="1A1A1A"/>
                          </a:solidFill>
                          <a:latin typeface="Meiryo" pitchFamily="34" charset="0"/>
                          <a:ea typeface="Meiryo" pitchFamily="34" charset="-122"/>
                          <a:cs typeface="Meiryo" pitchFamily="34" charset="-120"/>
                        </a:rPr>
                        <a:t>売上</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1,200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4,800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10,700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17,800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26,900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既存の利用料の割合</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19%</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31%</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44%</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54%</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7" name="Text 3"/>
          <p:cNvSpPr txBox="1"/>
          <p:nvPr/>
        </p:nvSpPr>
        <p:spPr>
          <a:xfrm>
            <a:off x="365760" y="3035808"/>
            <a:ext cx="84124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個社設定の中身（件数×単価の仮置き。当社の導入コンサルタントとエンジニアが行う）</a:t>
            </a:r>
            <a:endParaRPr lang="en-US" sz="1050" dirty="0"/>
          </a:p>
        </p:txBody>
      </p:sp>
      <p:graphicFrame>
        <p:nvGraphicFramePr>
          <p:cNvPr id="31" name="contract"/>
          <p:cNvGraphicFramePr>
            <a:graphicFrameLocks noGrp="1"/>
          </p:cNvGraphicFramePr>
          <p:nvPr>
            <p:extLst>
              <p:ext uri="{D42A27DB-BD31-4B8C-83A1-F6EECF244321}">
                <p14:modId xmlns:p14="http://schemas.microsoft.com/office/powerpoint/2010/main" val="1579011935"/>
              </p:ext>
            </p:extLst>
          </p:nvPr>
        </p:nvGraphicFramePr>
        <p:xfrm>
          <a:off x="365760" y="3310128"/>
          <a:ext cx="8412480" cy="914400"/>
        </p:xfrm>
        <a:graphic>
          <a:graphicData uri="http://schemas.openxmlformats.org/drawingml/2006/table">
            <a:tbl>
              <a:tblPr/>
              <a:tblGrid>
                <a:gridCol w="548640"/>
                <a:gridCol w="1828800"/>
                <a:gridCol w="1417320"/>
                <a:gridCol w="1691640"/>
                <a:gridCol w="1188720"/>
                <a:gridCol w="1737360"/>
              </a:tblGrid>
              <a:tr h="256032">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年</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1年目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2年目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3年目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4年目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5年目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438912">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中身</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試験導入先の施工管理アプリ連携 2件×300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連携・帳票の調整 3件×250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大手の基幹連携600＋2件×250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2件×275</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大手の追加450＋2件×250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9" name="Text 4"/>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報告書の書式を整える工程は利用料に含む。有償は標準の出力で足りない連携だけ。粗利は1/3（人件費を原価に振り替え）。作った型は製品に戻す</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ext 0"/>
          <p:cNvSpPr txBox="1"/>
          <p:nvPr/>
        </p:nvSpPr>
        <p:spPr>
          <a:xfrm>
            <a:off x="5577840" y="54864"/>
            <a:ext cx="3200400" cy="182880"/>
          </a:xfrm>
          <a:prstGeom prst="rect">
            <a:avLst/>
          </a:prstGeom>
          <a:noFill/>
          <a:ln/>
        </p:spPr>
        <p:txBody>
          <a:bodyPr wrap="square" lIns="0" tIns="0" rIns="0" bIns="0" rtlCol="0" anchor="ctr"/>
          <a:lstStyle/>
          <a:p>
            <a:pPr algn="r" indent="0" marL="0">
              <a:lnSpc>
                <a:spcPct val="115000"/>
              </a:lnSpc>
              <a:buNone/>
            </a:pPr>
            <a:r>
              <a:rPr lang="en-US" sz="800" dirty="0">
                <a:solidFill>
                  <a:srgbClr val="8C8C8C"/>
                </a:solidFill>
                <a:latin typeface="Meiryo" pitchFamily="34" charset="0"/>
                <a:ea typeface="Meiryo" pitchFamily="34" charset="-122"/>
                <a:cs typeface="Meiryo" pitchFamily="34" charset="-120"/>
              </a:rPr>
              <a:t>本編 p.23 の詳細</a:t>
            </a:r>
            <a:endParaRPr lang="en-US" sz="800" dirty="0"/>
          </a:p>
        </p:txBody>
      </p:sp>
      <p:sp>
        <p:nvSpPr>
          <p:cNvPr id="4"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オフィスと広告 ─ 何にいくら使い、何件の商談を生むか</a:t>
            </a:r>
            <a:endParaRPr lang="en-US" sz="2000" dirty="0"/>
          </a:p>
        </p:txBody>
      </p:sp>
      <p:sp>
        <p:nvSpPr>
          <p:cNvPr id="5"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家賃＝オフィスの賃料＋共益費。広告は展示会・業界団体・事例動画が中心</a:t>
            </a:r>
            <a:endParaRPr lang="en-US" sz="1200" dirty="0"/>
          </a:p>
        </p:txBody>
      </p:sp>
      <p:graphicFrame>
        <p:nvGraphicFramePr>
          <p:cNvPr id="17" name="other"/>
          <p:cNvGraphicFramePr>
            <a:graphicFrameLocks noGrp="1"/>
          </p:cNvGraphicFramePr>
          <p:nvPr>
            <p:extLst>
              <p:ext uri="{D42A27DB-BD31-4B8C-83A1-F6EECF244321}">
                <p14:modId xmlns:p14="http://schemas.microsoft.com/office/powerpoint/2010/main" val="1579011935"/>
              </p:ext>
            </p:extLst>
          </p:nvPr>
        </p:nvGraphicFramePr>
        <p:xfrm>
          <a:off x="365760" y="1024128"/>
          <a:ext cx="4069080" cy="914400"/>
        </p:xfrm>
        <a:graphic>
          <a:graphicData uri="http://schemas.openxmlformats.org/drawingml/2006/table">
            <a:tbl>
              <a:tblPr/>
              <a:tblGrid>
                <a:gridCol w="2240280"/>
                <a:gridCol w="594360"/>
                <a:gridCol w="594360"/>
                <a:gridCol w="640080"/>
              </a:tblGrid>
              <a:tr h="274320">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その他の経費（万円）</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850" b="1" dirty="0">
                          <a:solidFill>
                            <a:srgbClr val="1A1A1A"/>
                          </a:solidFill>
                          <a:latin typeface="Meiryo" pitchFamily="34" charset="0"/>
                          <a:ea typeface="Meiryo" pitchFamily="34" charset="-122"/>
                          <a:cs typeface="Meiryo" pitchFamily="34" charset="-120"/>
                        </a:rPr>
                        <a:t>1年目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850" b="1" dirty="0">
                          <a:solidFill>
                            <a:srgbClr val="1A1A1A"/>
                          </a:solidFill>
                          <a:latin typeface="Meiryo" pitchFamily="34" charset="0"/>
                          <a:ea typeface="Meiryo" pitchFamily="34" charset="-122"/>
                          <a:cs typeface="Meiryo" pitchFamily="34" charset="-120"/>
                        </a:rPr>
                        <a:t>3年目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850" b="1" dirty="0">
                          <a:solidFill>
                            <a:srgbClr val="1A1A1A"/>
                          </a:solidFill>
                          <a:latin typeface="Meiryo" pitchFamily="34" charset="0"/>
                          <a:ea typeface="Meiryo" pitchFamily="34" charset="-122"/>
                          <a:cs typeface="Meiryo" pitchFamily="34" charset="-120"/>
                        </a:rPr>
                        <a:t>5年目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7432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オフィス（賃料＋共益費）</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240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360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600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広告・展示会</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200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300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500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営業・定着支援の交通費</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150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300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500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検証用の端末・ソフト</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200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300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400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専門家（税理士・弁護士・弁理士・社労士）</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100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150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200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社外顧問（技術・業界）</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180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180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180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雑費</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100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190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200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7" name="Text 3"/>
          <p:cNvSpPr txBox="1"/>
          <p:nvPr/>
        </p:nvSpPr>
        <p:spPr>
          <a:xfrm>
            <a:off x="365760" y="3291840"/>
            <a:ext cx="4069080" cy="365760"/>
          </a:xfrm>
          <a:prstGeom prst="rect">
            <a:avLst/>
          </a:prstGeom>
          <a:noFill/>
          <a:ln/>
        </p:spPr>
        <p:txBody>
          <a:bodyPr wrap="square" lIns="0" tIns="0" rIns="0" bIns="0" rtlCol="0" anchor="t"/>
          <a:lstStyle/>
          <a:p>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オフィス：川崎市。1年目15坪→5年目40坪、坪1.25〜1.3万円（相場は要確認）</a:t>
            </a:r>
            <a:endParaRPr lang="en-US" sz="850" dirty="0"/>
          </a:p>
        </p:txBody>
      </p:sp>
      <p:sp>
        <p:nvSpPr>
          <p:cNvPr id="8" name="Text 4"/>
          <p:cNvSpPr txBox="1"/>
          <p:nvPr/>
        </p:nvSpPr>
        <p:spPr>
          <a:xfrm>
            <a:off x="4709160" y="1024128"/>
            <a:ext cx="40690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5年目の広告500万円の内訳と商談数</a:t>
            </a:r>
            <a:endParaRPr lang="en-US" sz="1050" dirty="0"/>
          </a:p>
        </p:txBody>
      </p:sp>
      <p:graphicFrame>
        <p:nvGraphicFramePr>
          <p:cNvPr id="33" name="ads"/>
          <p:cNvGraphicFramePr>
            <a:graphicFrameLocks noGrp="1"/>
          </p:cNvGraphicFramePr>
          <p:nvPr>
            <p:extLst>
              <p:ext uri="{D42A27DB-BD31-4B8C-83A1-F6EECF244321}">
                <p14:modId xmlns:p14="http://schemas.microsoft.com/office/powerpoint/2010/main" val="1579011935"/>
              </p:ext>
            </p:extLst>
          </p:nvPr>
        </p:nvGraphicFramePr>
        <p:xfrm>
          <a:off x="4709160" y="1298448"/>
          <a:ext cx="4069080" cy="914400"/>
        </p:xfrm>
        <a:graphic>
          <a:graphicData uri="http://schemas.openxmlformats.org/drawingml/2006/table">
            <a:tbl>
              <a:tblPr/>
              <a:tblGrid>
                <a:gridCol w="2743200"/>
                <a:gridCol w="640080"/>
                <a:gridCol w="685800"/>
              </a:tblGrid>
              <a:tr h="256032">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媒体</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850" b="1" dirty="0">
                          <a:solidFill>
                            <a:srgbClr val="1A1A1A"/>
                          </a:solidFill>
                          <a:latin typeface="Meiryo" pitchFamily="34" charset="0"/>
                          <a:ea typeface="Meiryo" pitchFamily="34" charset="-122"/>
                          <a:cs typeface="Meiryo" pitchFamily="34" charset="-120"/>
                        </a:rPr>
                        <a:t>万円</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850" b="1" dirty="0">
                          <a:solidFill>
                            <a:srgbClr val="1A1A1A"/>
                          </a:solidFill>
                          <a:latin typeface="Meiryo" pitchFamily="34" charset="0"/>
                          <a:ea typeface="Meiryo" pitchFamily="34" charset="-122"/>
                          <a:cs typeface="Meiryo" pitchFamily="34" charset="-120"/>
                        </a:rPr>
                        <a:t>商談</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56032">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展示会（電設の展示会など）</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150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15</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56032">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業界団体の勉強会・業界紙</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100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25</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56032">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事例動画・ホームページ（YouTubeに置く）</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150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10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56032">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検索・SNS広告</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60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10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56032">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営業資料・デモ機</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40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56032">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紹介（既存のお客様・協力会社・メーカー）</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40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56032">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合計</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A1A1A"/>
                          </a:solidFill>
                          <a:latin typeface="Meiryo" pitchFamily="34" charset="0"/>
                          <a:ea typeface="Meiryo" pitchFamily="34" charset="-122"/>
                          <a:cs typeface="Meiryo" pitchFamily="34" charset="-120"/>
                        </a:rPr>
                        <a:t>500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A1A1A"/>
                          </a:solidFill>
                          <a:latin typeface="Meiryo" pitchFamily="34" charset="0"/>
                          <a:ea typeface="Meiryo" pitchFamily="34" charset="-122"/>
                          <a:cs typeface="Meiryo" pitchFamily="34" charset="-120"/>
                        </a:rPr>
                        <a:t>100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10" name="Shape 5"/>
          <p:cNvSpPr/>
          <p:nvPr/>
        </p:nvSpPr>
        <p:spPr>
          <a:xfrm>
            <a:off x="365760" y="3749040"/>
            <a:ext cx="8412480" cy="704088"/>
          </a:xfrm>
          <a:prstGeom prst="rect">
            <a:avLst/>
          </a:prstGeom>
          <a:solidFill>
            <a:srgbClr val="1A1A1A"/>
          </a:solidFill>
          <a:ln/>
        </p:spPr>
      </p:sp>
      <p:sp>
        <p:nvSpPr>
          <p:cNvPr id="11" name="Text 6"/>
          <p:cNvSpPr txBox="1"/>
          <p:nvPr/>
        </p:nvSpPr>
        <p:spPr>
          <a:xfrm>
            <a:off x="502920" y="3749040"/>
            <a:ext cx="8138160" cy="704088"/>
          </a:xfrm>
          <a:prstGeom prst="rect">
            <a:avLst/>
          </a:prstGeom>
          <a:noFill/>
          <a:ln/>
        </p:spPr>
        <p:txBody>
          <a:bodyPr wrap="square" lIns="0" tIns="0" rIns="0" bIns="0" rtlCol="0" anchor="ctr"/>
          <a:lstStyle/>
          <a:p>
            <a:pPr algn="l" indent="0" marL="0">
              <a:lnSpc>
                <a:spcPct val="115000"/>
              </a:lnSpc>
              <a:spcAft>
                <a:spcPts val="200"/>
              </a:spcAft>
              <a:buNone/>
            </a:pPr>
            <a:r>
              <a:rPr lang="en-US" sz="900" b="1" dirty="0">
                <a:solidFill>
                  <a:srgbClr val="E3A774"/>
                </a:solidFill>
                <a:latin typeface="Meiryo" pitchFamily="34" charset="0"/>
                <a:ea typeface="Meiryo" pitchFamily="34" charset="-122"/>
                <a:cs typeface="Meiryo" pitchFamily="34" charset="-120"/>
              </a:rPr>
              <a:t>費用対効果：</a:t>
            </a:r>
            <a:pPr algn="l" indent="0" marL="0">
              <a:lnSpc>
                <a:spcPct val="115000"/>
              </a:lnSpc>
              <a:spcAft>
                <a:spcPts val="200"/>
              </a:spcAft>
              <a:buNone/>
            </a:pPr>
            <a:r>
              <a:rPr lang="en-US" sz="900" dirty="0">
                <a:solidFill>
                  <a:srgbClr val="FFFFFF"/>
                </a:solidFill>
                <a:latin typeface="Meiryo" pitchFamily="34" charset="0"/>
                <a:ea typeface="Meiryo" pitchFamily="34" charset="-122"/>
                <a:cs typeface="Meiryo" pitchFamily="34" charset="-120"/>
              </a:rPr>
              <a:t>5年目は新規33拠点≒約25社。成約率25%なら商談約100件。500万円÷100件＝1商談5万円、1拠点約15万円。</a:t>
            </a:r>
            <a:endParaRPr lang="en-US" sz="900" dirty="0"/>
          </a:p>
          <a:p>
            <a:pPr algn="l" indent="0" marL="0">
              <a:lnSpc>
                <a:spcPct val="115000"/>
              </a:lnSpc>
              <a:spcAft>
                <a:spcPts val="200"/>
              </a:spcAft>
              <a:buNone/>
            </a:pPr>
            <a:r>
              <a:rPr lang="en-US" sz="900" dirty="0">
                <a:solidFill>
                  <a:srgbClr val="FFFFFF"/>
                </a:solidFill>
                <a:latin typeface="Meiryo" pitchFamily="34" charset="0"/>
                <a:ea typeface="Meiryo" pitchFamily="34" charset="-122"/>
                <a:cs typeface="Meiryo" pitchFamily="34" charset="-120"/>
              </a:rPr>
              <a:t>媒体ごとの商談数は仮説。最初の1年で媒体ごとに「名刺→商談→成約」を記録し、効かない媒体はやめる</a:t>
            </a:r>
            <a:endParaRPr lang="en-US" sz="900" dirty="0"/>
          </a:p>
        </p:txBody>
      </p:sp>
      <p:sp>
        <p:nvSpPr>
          <p:cNvPr id="12" name="Text 7"/>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YouTubeは単独の広告ではなく、事例動画の置き場所。現場の人が「自分の工事で使えるか」を見て、展示会や勉強会から来てもらう</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ext 0"/>
          <p:cNvSpPr txBox="1"/>
          <p:nvPr/>
        </p:nvSpPr>
        <p:spPr>
          <a:xfrm>
            <a:off x="5577840" y="54864"/>
            <a:ext cx="3200400" cy="182880"/>
          </a:xfrm>
          <a:prstGeom prst="rect">
            <a:avLst/>
          </a:prstGeom>
          <a:noFill/>
          <a:ln/>
        </p:spPr>
        <p:txBody>
          <a:bodyPr wrap="square" lIns="0" tIns="0" rIns="0" bIns="0" rtlCol="0" anchor="ctr"/>
          <a:lstStyle/>
          <a:p>
            <a:pPr algn="r" indent="0" marL="0">
              <a:lnSpc>
                <a:spcPct val="115000"/>
              </a:lnSpc>
              <a:buNone/>
            </a:pPr>
            <a:r>
              <a:rPr lang="en-US" sz="800" dirty="0">
                <a:solidFill>
                  <a:srgbClr val="8C8C8C"/>
                </a:solidFill>
                <a:latin typeface="Meiryo" pitchFamily="34" charset="0"/>
                <a:ea typeface="Meiryo" pitchFamily="34" charset="-122"/>
                <a:cs typeface="Meiryo" pitchFamily="34" charset="-120"/>
              </a:rPr>
              <a:t>本編 p.16 の詳細</a:t>
            </a:r>
            <a:endParaRPr lang="en-US" sz="800" dirty="0"/>
          </a:p>
        </p:txBody>
      </p:sp>
      <p:sp>
        <p:nvSpPr>
          <p:cNvPr id="4"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チームと採用計画 ─ 役割ごとに人数と年収を決める</a:t>
            </a:r>
            <a:endParaRPr lang="en-US" sz="2000" dirty="0"/>
          </a:p>
        </p:txBody>
      </p:sp>
      <p:sp>
        <p:nvSpPr>
          <p:cNvPr id="5"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人件費＝役割別の年収×1.2（会社負担）。これに採用費と社外顧問の費用を足す</a:t>
            </a:r>
            <a:endParaRPr lang="en-US" sz="1200" dirty="0"/>
          </a:p>
        </p:txBody>
      </p:sp>
      <p:graphicFrame>
        <p:nvGraphicFramePr>
          <p:cNvPr id="18" name="team"/>
          <p:cNvGraphicFramePr>
            <a:graphicFrameLocks noGrp="1"/>
          </p:cNvGraphicFramePr>
          <p:nvPr>
            <p:extLst>
              <p:ext uri="{D42A27DB-BD31-4B8C-83A1-F6EECF244321}">
                <p14:modId xmlns:p14="http://schemas.microsoft.com/office/powerpoint/2010/main" val="1579011935"/>
              </p:ext>
            </p:extLst>
          </p:nvPr>
        </p:nvGraphicFramePr>
        <p:xfrm>
          <a:off x="365760" y="1024128"/>
          <a:ext cx="8412480" cy="914400"/>
        </p:xfrm>
        <a:graphic>
          <a:graphicData uri="http://schemas.openxmlformats.org/drawingml/2006/table">
            <a:tbl>
              <a:tblPr/>
              <a:tblGrid>
                <a:gridCol w="2011680"/>
                <a:gridCol w="777240"/>
                <a:gridCol w="457200"/>
                <a:gridCol w="457200"/>
                <a:gridCol w="457200"/>
                <a:gridCol w="457200"/>
                <a:gridCol w="457200"/>
                <a:gridCol w="3337560"/>
              </a:tblGrid>
              <a:tr h="219456">
                <a:tc>
                  <a:txBody>
                    <a:bodyPr/>
                    <a:lstStyle/>
                    <a:p>
                      <a:pPr algn="l" indent="0" marL="0">
                        <a:buNone/>
                      </a:pPr>
                      <a:r>
                        <a:rPr lang="en-US" sz="750" b="1" dirty="0">
                          <a:solidFill>
                            <a:srgbClr val="1A1A1A"/>
                          </a:solidFill>
                          <a:latin typeface="Meiryo" pitchFamily="34" charset="0"/>
                          <a:ea typeface="Meiryo" pitchFamily="34" charset="-122"/>
                          <a:cs typeface="Meiryo" pitchFamily="34" charset="-120"/>
                        </a:rPr>
                        <a:t>役割</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750" b="1" dirty="0">
                          <a:solidFill>
                            <a:srgbClr val="1A1A1A"/>
                          </a:solidFill>
                          <a:latin typeface="Meiryo" pitchFamily="34" charset="0"/>
                          <a:ea typeface="Meiryo" pitchFamily="34" charset="-122"/>
                          <a:cs typeface="Meiryo" pitchFamily="34" charset="-120"/>
                        </a:rPr>
                        <a:t>年収（万円）</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750" b="1" dirty="0">
                          <a:solidFill>
                            <a:srgbClr val="1A1A1A"/>
                          </a:solidFill>
                          <a:latin typeface="Meiryo" pitchFamily="34" charset="0"/>
                          <a:ea typeface="Meiryo" pitchFamily="34" charset="-122"/>
                          <a:cs typeface="Meiryo" pitchFamily="34" charset="-120"/>
                        </a:rPr>
                        <a:t>1年目</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750" b="1" dirty="0">
                          <a:solidFill>
                            <a:srgbClr val="1A1A1A"/>
                          </a:solidFill>
                          <a:latin typeface="Meiryo" pitchFamily="34" charset="0"/>
                          <a:ea typeface="Meiryo" pitchFamily="34" charset="-122"/>
                          <a:cs typeface="Meiryo" pitchFamily="34" charset="-120"/>
                        </a:rPr>
                        <a:t>2年目</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750" b="1" dirty="0">
                          <a:solidFill>
                            <a:srgbClr val="1A1A1A"/>
                          </a:solidFill>
                          <a:latin typeface="Meiryo" pitchFamily="34" charset="0"/>
                          <a:ea typeface="Meiryo" pitchFamily="34" charset="-122"/>
                          <a:cs typeface="Meiryo" pitchFamily="34" charset="-120"/>
                        </a:rPr>
                        <a:t>3年目</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750" b="1" dirty="0">
                          <a:solidFill>
                            <a:srgbClr val="1A1A1A"/>
                          </a:solidFill>
                          <a:latin typeface="Meiryo" pitchFamily="34" charset="0"/>
                          <a:ea typeface="Meiryo" pitchFamily="34" charset="-122"/>
                          <a:cs typeface="Meiryo" pitchFamily="34" charset="-120"/>
                        </a:rPr>
                        <a:t>4年目</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750" b="1" dirty="0">
                          <a:solidFill>
                            <a:srgbClr val="1A1A1A"/>
                          </a:solidFill>
                          <a:latin typeface="Meiryo" pitchFamily="34" charset="0"/>
                          <a:ea typeface="Meiryo" pitchFamily="34" charset="-122"/>
                          <a:cs typeface="Meiryo" pitchFamily="34" charset="-120"/>
                        </a:rPr>
                        <a:t>5年目</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750" b="1" dirty="0">
                          <a:solidFill>
                            <a:srgbClr val="1A1A1A"/>
                          </a:solidFill>
                          <a:latin typeface="Meiryo" pitchFamily="34" charset="0"/>
                          <a:ea typeface="Meiryo" pitchFamily="34" charset="-122"/>
                          <a:cs typeface="Meiryo" pitchFamily="34" charset="-120"/>
                        </a:rPr>
                        <a:t>主な仕事</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19456">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代表（創業者）</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480〜720</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1</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1</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1</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1</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1</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4D4D4D"/>
                          </a:solidFill>
                          <a:latin typeface="Meiryo" pitchFamily="34" charset="0"/>
                          <a:ea typeface="Meiryo" pitchFamily="34" charset="-122"/>
                          <a:cs typeface="Meiryo" pitchFamily="34" charset="-120"/>
                        </a:rPr>
                        <a:t>最初の営業・現場監修の統括・理念と判断の基準づくり</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19456">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CTO</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1000</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1</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1</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1</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1</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1</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4D4D4D"/>
                          </a:solidFill>
                          <a:latin typeface="Meiryo" pitchFamily="34" charset="0"/>
                          <a:ea typeface="Meiryo" pitchFamily="34" charset="-122"/>
                          <a:cs typeface="Meiryo" pitchFamily="34" charset="-120"/>
                        </a:rPr>
                        <a:t>映像AI・データ基盤の設計と開発の責任者</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19456">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エンジニア</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800</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1</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2</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3</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4</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5</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4D4D4D"/>
                          </a:solidFill>
                          <a:latin typeface="Meiryo" pitchFamily="34" charset="0"/>
                          <a:ea typeface="Meiryo" pitchFamily="34" charset="-122"/>
                          <a:cs typeface="Meiryo" pitchFamily="34" charset="-120"/>
                        </a:rPr>
                        <a:t>アプリ・AI処理・クラウド・グラス連携</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19456">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現場監修（施工管理経験者）</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650</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1</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1</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1</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1</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2</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4D4D4D"/>
                          </a:solidFill>
                          <a:latin typeface="Meiryo" pitchFamily="34" charset="0"/>
                          <a:ea typeface="Meiryo" pitchFamily="34" charset="-122"/>
                          <a:cs typeface="Meiryo" pitchFamily="34" charset="-120"/>
                        </a:rPr>
                        <a:t>映像の意味づけ（ラベル付け）・工種の型・品質の確認</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19456">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導入コンサルタント</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600</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1</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2</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4</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6</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8</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4D4D4D"/>
                          </a:solidFill>
                          <a:latin typeface="Meiryo" pitchFamily="34" charset="0"/>
                          <a:ea typeface="Meiryo" pitchFamily="34" charset="-122"/>
                          <a:cs typeface="Meiryo" pitchFamily="34" charset="-120"/>
                        </a:rPr>
                        <a:t>導入支援・各社の帳票と連携の設定・定着支援（当社のコンサル部隊）</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19456">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営業（技術営業）</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650</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0</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1</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1</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3</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3</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4D4D4D"/>
                          </a:solidFill>
                          <a:latin typeface="Meiryo" pitchFamily="34" charset="0"/>
                          <a:ea typeface="Meiryo" pitchFamily="34" charset="-122"/>
                          <a:cs typeface="Meiryo" pitchFamily="34" charset="-120"/>
                        </a:rPr>
                        <a:t>商談・試験導入の提案。年30商談／人</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19456">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管理（人事・経理・総務）</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550</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0</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0</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1</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1</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2</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4D4D4D"/>
                          </a:solidFill>
                          <a:latin typeface="Meiryo" pitchFamily="34" charset="0"/>
                          <a:ea typeface="Meiryo" pitchFamily="34" charset="-122"/>
                          <a:cs typeface="Meiryo" pitchFamily="34" charset="-120"/>
                        </a:rPr>
                        <a:t>採用・労務・経理・契約</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19456">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戦略企画</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700</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0</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0</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0</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1</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1</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4D4D4D"/>
                          </a:solidFill>
                          <a:latin typeface="Meiryo" pitchFamily="34" charset="0"/>
                          <a:ea typeface="Meiryo" pitchFamily="34" charset="-122"/>
                          <a:cs typeface="Meiryo" pitchFamily="34" charset="-120"/>
                        </a:rPr>
                        <a:t>価格・提携・大手顧客の企画</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19456">
                <a:tc>
                  <a:txBody>
                    <a:bodyPr/>
                    <a:lstStyle/>
                    <a:p>
                      <a:pPr algn="l" indent="0" marL="0">
                        <a:buNone/>
                      </a:pPr>
                      <a:r>
                        <a:rPr lang="en-US" sz="750" b="1" dirty="0">
                          <a:solidFill>
                            <a:srgbClr val="1A1A1A"/>
                          </a:solidFill>
                          <a:latin typeface="Meiryo" pitchFamily="34" charset="0"/>
                          <a:ea typeface="Meiryo" pitchFamily="34" charset="-122"/>
                          <a:cs typeface="Meiryo" pitchFamily="34" charset="-120"/>
                        </a:rPr>
                        <a:t>社員数</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1A1A1A"/>
                          </a:solidFill>
                          <a:latin typeface="Meiryo" pitchFamily="34" charset="0"/>
                          <a:ea typeface="Meiryo" pitchFamily="34" charset="-122"/>
                          <a:cs typeface="Meiryo" pitchFamily="34" charset="-120"/>
                        </a:rPr>
                        <a:t>5</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1A1A1A"/>
                          </a:solidFill>
                          <a:latin typeface="Meiryo" pitchFamily="34" charset="0"/>
                          <a:ea typeface="Meiryo" pitchFamily="34" charset="-122"/>
                          <a:cs typeface="Meiryo" pitchFamily="34" charset="-120"/>
                        </a:rPr>
                        <a:t>8</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1A1A1A"/>
                          </a:solidFill>
                          <a:latin typeface="Meiryo" pitchFamily="34" charset="0"/>
                          <a:ea typeface="Meiryo" pitchFamily="34" charset="-122"/>
                          <a:cs typeface="Meiryo" pitchFamily="34" charset="-120"/>
                        </a:rPr>
                        <a:t>12</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1A1A1A"/>
                          </a:solidFill>
                          <a:latin typeface="Meiryo" pitchFamily="34" charset="0"/>
                          <a:ea typeface="Meiryo" pitchFamily="34" charset="-122"/>
                          <a:cs typeface="Meiryo" pitchFamily="34" charset="-120"/>
                        </a:rPr>
                        <a:t>18</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1A1A1A"/>
                          </a:solidFill>
                          <a:latin typeface="Meiryo" pitchFamily="34" charset="0"/>
                          <a:ea typeface="Meiryo" pitchFamily="34" charset="-122"/>
                          <a:cs typeface="Meiryo" pitchFamily="34" charset="-120"/>
                        </a:rPr>
                        <a:t>23</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219456">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人件費（会社負担込み）</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4,236</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6,840</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10,044</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14,844</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18,684</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年収×1.2</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19456">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採用費</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530</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308</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383</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600</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480</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年収の30%×紹介会社経由50%</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7" name="Shape 3"/>
          <p:cNvSpPr/>
          <p:nvPr/>
        </p:nvSpPr>
        <p:spPr>
          <a:xfrm>
            <a:off x="365760" y="3822192"/>
            <a:ext cx="8412480" cy="640080"/>
          </a:xfrm>
          <a:prstGeom prst="rect">
            <a:avLst/>
          </a:prstGeom>
          <a:solidFill>
            <a:srgbClr val="1A1A1A"/>
          </a:solidFill>
          <a:ln/>
        </p:spPr>
      </p:sp>
      <p:sp>
        <p:nvSpPr>
          <p:cNvPr id="8" name="Text 4"/>
          <p:cNvSpPr txBox="1"/>
          <p:nvPr/>
        </p:nvSpPr>
        <p:spPr>
          <a:xfrm>
            <a:off x="502920" y="3822192"/>
            <a:ext cx="8138160" cy="640080"/>
          </a:xfrm>
          <a:prstGeom prst="rect">
            <a:avLst/>
          </a:prstGeom>
          <a:noFill/>
          <a:ln/>
        </p:spPr>
        <p:txBody>
          <a:bodyPr wrap="square" lIns="0" tIns="0" rIns="0" bIns="0" rtlCol="0" anchor="ctr"/>
          <a:lstStyle/>
          <a:p>
            <a:pPr algn="l" indent="0" marL="0">
              <a:lnSpc>
                <a:spcPct val="115000"/>
              </a:lnSpc>
              <a:spcAft>
                <a:spcPts val="200"/>
              </a:spcAft>
              <a:buNone/>
            </a:pPr>
            <a:r>
              <a:rPr lang="en-US" sz="900" b="1" dirty="0">
                <a:solidFill>
                  <a:srgbClr val="E3A774"/>
                </a:solidFill>
                <a:latin typeface="Meiryo" pitchFamily="34" charset="0"/>
                <a:ea typeface="Meiryo" pitchFamily="34" charset="-122"/>
                <a:cs typeface="Meiryo" pitchFamily="34" charset="-120"/>
              </a:rPr>
              <a:t>社外：</a:t>
            </a:r>
            <a:pPr algn="l" indent="0" marL="0">
              <a:lnSpc>
                <a:spcPct val="115000"/>
              </a:lnSpc>
              <a:spcAft>
                <a:spcPts val="200"/>
              </a:spcAft>
              <a:buNone/>
            </a:pPr>
            <a:r>
              <a:rPr lang="en-US" sz="900" dirty="0">
                <a:solidFill>
                  <a:srgbClr val="FFFFFF"/>
                </a:solidFill>
                <a:latin typeface="Meiryo" pitchFamily="34" charset="0"/>
                <a:ea typeface="Meiryo" pitchFamily="34" charset="-122"/>
                <a:cs typeface="Meiryo" pitchFamily="34" charset="-120"/>
              </a:rPr>
              <a:t>技術顧問（大学・映像AI）月10万円、業界顧問（電気工事業のOB）月5万円 ＝ 年180万円。</a:t>
            </a:r>
            <a:endParaRPr lang="en-US" sz="900" dirty="0"/>
          </a:p>
          <a:p>
            <a:pPr algn="l" indent="0" marL="0">
              <a:lnSpc>
                <a:spcPct val="115000"/>
              </a:lnSpc>
              <a:spcAft>
                <a:spcPts val="200"/>
              </a:spcAft>
              <a:buNone/>
            </a:pPr>
            <a:r>
              <a:rPr lang="en-US" sz="900" dirty="0">
                <a:solidFill>
                  <a:srgbClr val="FFFFFF"/>
                </a:solidFill>
                <a:latin typeface="Meiryo" pitchFamily="34" charset="0"/>
                <a:ea typeface="Meiryo" pitchFamily="34" charset="-122"/>
                <a:cs typeface="Meiryo" pitchFamily="34" charset="-120"/>
              </a:rPr>
              <a:t>導入コンサルタントは「その年の新規拠点÷6」で先に採用する。外部に委託せず社内に知見を貯める。採用は拠点数の実績に合わせて遅らせられる（p.22）</a:t>
            </a:r>
            <a:endParaRPr lang="en-US" sz="900" dirty="0"/>
          </a:p>
        </p:txBody>
      </p:sp>
      <p:sp>
        <p:nvSpPr>
          <p:cNvPr id="9" name="Text 5"/>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年収はすべて見積（採用市場の相場は要確認）。代表の年収は1年目480万円から段階的に上げる</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ext 0"/>
          <p:cNvSpPr txBox="1"/>
          <p:nvPr/>
        </p:nvSpPr>
        <p:spPr>
          <a:xfrm>
            <a:off x="5577840" y="54864"/>
            <a:ext cx="3200400" cy="182880"/>
          </a:xfrm>
          <a:prstGeom prst="rect">
            <a:avLst/>
          </a:prstGeom>
          <a:noFill/>
          <a:ln/>
        </p:spPr>
        <p:txBody>
          <a:bodyPr wrap="square" lIns="0" tIns="0" rIns="0" bIns="0" rtlCol="0" anchor="ctr"/>
          <a:lstStyle/>
          <a:p>
            <a:pPr algn="r" indent="0" marL="0">
              <a:lnSpc>
                <a:spcPct val="115000"/>
              </a:lnSpc>
              <a:buNone/>
            </a:pPr>
            <a:r>
              <a:rPr lang="en-US" sz="800" dirty="0">
                <a:solidFill>
                  <a:srgbClr val="8C8C8C"/>
                </a:solidFill>
                <a:latin typeface="Meiryo" pitchFamily="34" charset="0"/>
                <a:ea typeface="Meiryo" pitchFamily="34" charset="-122"/>
                <a:cs typeface="Meiryo" pitchFamily="34" charset="-120"/>
              </a:rPr>
              <a:t>本編 p.23〜24・27 の詳細</a:t>
            </a:r>
            <a:endParaRPr lang="en-US" sz="800" dirty="0"/>
          </a:p>
        </p:txBody>
      </p:sp>
      <p:sp>
        <p:nvSpPr>
          <p:cNvPr id="4"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収支 ─ 10台のままでは5年で黒字にならない。15台なら5年目</a:t>
            </a:r>
            <a:endParaRPr lang="en-US" sz="2000" dirty="0"/>
          </a:p>
        </p:txBody>
      </p:sp>
      <p:sp>
        <p:nvSpPr>
          <p:cNvPr id="5"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ここまでの前提をすべて入れた5年間の損益（万円）</a:t>
            </a:r>
            <a:endParaRPr lang="en-US" sz="1200" dirty="0"/>
          </a:p>
        </p:txBody>
      </p:sp>
      <p:graphicFrame>
        <p:nvGraphicFramePr>
          <p:cNvPr id="19" name="pl"/>
          <p:cNvGraphicFramePr>
            <a:graphicFrameLocks noGrp="1"/>
          </p:cNvGraphicFramePr>
          <p:nvPr>
            <p:extLst>
              <p:ext uri="{D42A27DB-BD31-4B8C-83A1-F6EECF244321}">
                <p14:modId xmlns:p14="http://schemas.microsoft.com/office/powerpoint/2010/main" val="1579011935"/>
              </p:ext>
            </p:extLst>
          </p:nvPr>
        </p:nvGraphicFramePr>
        <p:xfrm>
          <a:off x="365760" y="1024128"/>
          <a:ext cx="8412480" cy="914400"/>
        </p:xfrm>
        <a:graphic>
          <a:graphicData uri="http://schemas.openxmlformats.org/drawingml/2006/table">
            <a:tbl>
              <a:tblPr/>
              <a:tblGrid>
                <a:gridCol w="2697480"/>
                <a:gridCol w="1143000"/>
                <a:gridCol w="1143000"/>
                <a:gridCol w="1143000"/>
                <a:gridCol w="1143000"/>
                <a:gridCol w="1143000"/>
              </a:tblGrid>
              <a:tr h="228600">
                <a:tc>
                  <a:txBody>
                    <a:bodyPr/>
                    <a:lstStyle/>
                    <a:p>
                      <a:pPr algn="l" indent="0" marL="0">
                        <a:buNone/>
                      </a:pP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850" b="1" dirty="0">
                          <a:solidFill>
                            <a:srgbClr val="1A1A1A"/>
                          </a:solidFill>
                          <a:latin typeface="Meiryo" pitchFamily="34" charset="0"/>
                          <a:ea typeface="Meiryo" pitchFamily="34" charset="-122"/>
                          <a:cs typeface="Meiryo" pitchFamily="34" charset="-120"/>
                        </a:rPr>
                        <a:t>1年目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850" b="1" dirty="0">
                          <a:solidFill>
                            <a:srgbClr val="1A1A1A"/>
                          </a:solidFill>
                          <a:latin typeface="Meiryo" pitchFamily="34" charset="0"/>
                          <a:ea typeface="Meiryo" pitchFamily="34" charset="-122"/>
                          <a:cs typeface="Meiryo" pitchFamily="34" charset="-120"/>
                        </a:rPr>
                        <a:t>2年目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850" b="1" dirty="0">
                          <a:solidFill>
                            <a:srgbClr val="1A1A1A"/>
                          </a:solidFill>
                          <a:latin typeface="Meiryo" pitchFamily="34" charset="0"/>
                          <a:ea typeface="Meiryo" pitchFamily="34" charset="-122"/>
                          <a:cs typeface="Meiryo" pitchFamily="34" charset="-120"/>
                        </a:rPr>
                        <a:t>3年目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850" b="1" dirty="0">
                          <a:solidFill>
                            <a:srgbClr val="1A1A1A"/>
                          </a:solidFill>
                          <a:latin typeface="Meiryo" pitchFamily="34" charset="0"/>
                          <a:ea typeface="Meiryo" pitchFamily="34" charset="-122"/>
                          <a:cs typeface="Meiryo" pitchFamily="34" charset="-120"/>
                        </a:rPr>
                        <a:t>4年目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850" b="1" dirty="0">
                          <a:solidFill>
                            <a:srgbClr val="1A1A1A"/>
                          </a:solidFill>
                          <a:latin typeface="Meiryo" pitchFamily="34" charset="0"/>
                          <a:ea typeface="Meiryo" pitchFamily="34" charset="-122"/>
                          <a:cs typeface="Meiryo" pitchFamily="34" charset="-120"/>
                        </a:rPr>
                        <a:t>5年目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2860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売上</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1,200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4,800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10,700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17,800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26,900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2860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粗利</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314</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2,401</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5,749</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10,308</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16,196</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2860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粗利率</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26%</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50%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54%</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58%</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60%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2860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人件費（原価に振り替えた分を除く）</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3,458</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5,206</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7,043</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11,075</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13,893</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2860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採用費</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530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308</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383</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600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480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2860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その他の経費（AIの学習費を含む）</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1,170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1,650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2,020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2,490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2,940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28600">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営業利益</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B8692E"/>
                          </a:solidFill>
                          <a:latin typeface="Meiryo" pitchFamily="34" charset="0"/>
                          <a:ea typeface="Meiryo" pitchFamily="34" charset="-122"/>
                          <a:cs typeface="Meiryo" pitchFamily="34" charset="-120"/>
                        </a:rPr>
                        <a:t>▲4,844</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B8692E"/>
                          </a:solidFill>
                          <a:latin typeface="Meiryo" pitchFamily="34" charset="0"/>
                          <a:ea typeface="Meiryo" pitchFamily="34" charset="-122"/>
                          <a:cs typeface="Meiryo" pitchFamily="34" charset="-120"/>
                        </a:rPr>
                        <a:t>▲4,763</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B8692E"/>
                          </a:solidFill>
                          <a:latin typeface="Meiryo" pitchFamily="34" charset="0"/>
                          <a:ea typeface="Meiryo" pitchFamily="34" charset="-122"/>
                          <a:cs typeface="Meiryo" pitchFamily="34" charset="-120"/>
                        </a:rPr>
                        <a:t>▲3,696</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B8692E"/>
                          </a:solidFill>
                          <a:latin typeface="Meiryo" pitchFamily="34" charset="0"/>
                          <a:ea typeface="Meiryo" pitchFamily="34" charset="-122"/>
                          <a:cs typeface="Meiryo" pitchFamily="34" charset="-120"/>
                        </a:rPr>
                        <a:t>▲3,857</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B8692E"/>
                          </a:solidFill>
                          <a:latin typeface="Meiryo" pitchFamily="34" charset="0"/>
                          <a:ea typeface="Meiryo" pitchFamily="34" charset="-122"/>
                          <a:cs typeface="Meiryo" pitchFamily="34" charset="-120"/>
                        </a:rPr>
                        <a:t>▲1,117</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22860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累積の営業損益</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▲4,844</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▲9,606</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▲13,303</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▲17,160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▲18,277</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graphicFrame>
        <p:nvGraphicFramePr>
          <p:cNvPr id="37" name="whatif"/>
          <p:cNvGraphicFramePr>
            <a:graphicFrameLocks noGrp="1"/>
          </p:cNvGraphicFramePr>
          <p:nvPr>
            <p:extLst>
              <p:ext uri="{D42A27DB-BD31-4B8C-83A1-F6EECF244321}">
                <p14:modId xmlns:p14="http://schemas.microsoft.com/office/powerpoint/2010/main" val="1579011935"/>
              </p:ext>
            </p:extLst>
          </p:nvPr>
        </p:nvGraphicFramePr>
        <p:xfrm>
          <a:off x="365760" y="3456432"/>
          <a:ext cx="8412480" cy="914400"/>
        </p:xfrm>
        <a:graphic>
          <a:graphicData uri="http://schemas.openxmlformats.org/drawingml/2006/table">
            <a:tbl>
              <a:tblPr/>
              <a:tblGrid>
                <a:gridCol w="2926080"/>
                <a:gridCol w="1554480"/>
                <a:gridCol w="1920240"/>
                <a:gridCol w="2011680"/>
              </a:tblGrid>
              <a:tr h="201168">
                <a:tc>
                  <a:txBody>
                    <a:bodyPr/>
                    <a:lstStyle/>
                    <a:p>
                      <a:pPr algn="l" indent="0" marL="0">
                        <a:buNone/>
                      </a:pPr>
                      <a:r>
                        <a:rPr lang="en-US" sz="800" b="1" dirty="0">
                          <a:solidFill>
                            <a:srgbClr val="1A1A1A"/>
                          </a:solidFill>
                          <a:latin typeface="Meiryo" pitchFamily="34" charset="0"/>
                          <a:ea typeface="Meiryo" pitchFamily="34" charset="-122"/>
                          <a:cs typeface="Meiryo" pitchFamily="34" charset="-120"/>
                        </a:rPr>
                        <a:t>もし</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800" b="1" dirty="0">
                          <a:solidFill>
                            <a:srgbClr val="1A1A1A"/>
                          </a:solidFill>
                          <a:latin typeface="Meiryo" pitchFamily="34" charset="0"/>
                          <a:ea typeface="Meiryo" pitchFamily="34" charset="-122"/>
                          <a:cs typeface="Meiryo" pitchFamily="34" charset="-120"/>
                        </a:rPr>
                        <a:t>黒字化</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800" b="1" dirty="0">
                          <a:solidFill>
                            <a:srgbClr val="1A1A1A"/>
                          </a:solidFill>
                          <a:latin typeface="Meiryo" pitchFamily="34" charset="0"/>
                          <a:ea typeface="Meiryo" pitchFamily="34" charset="-122"/>
                          <a:cs typeface="Meiryo" pitchFamily="34" charset="-120"/>
                        </a:rPr>
                        <a:t>5年目の営業利益</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800" b="1" dirty="0">
                          <a:solidFill>
                            <a:srgbClr val="1A1A1A"/>
                          </a:solidFill>
                          <a:latin typeface="Meiryo" pitchFamily="34" charset="0"/>
                          <a:ea typeface="Meiryo" pitchFamily="34" charset="-122"/>
                          <a:cs typeface="Meiryo" pitchFamily="34" charset="-120"/>
                        </a:rPr>
                        <a:t>累積赤字のピーク</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01168">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計画どおり（10台）</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A1A1A"/>
                          </a:solidFill>
                          <a:latin typeface="Meiryo" pitchFamily="34" charset="0"/>
                          <a:ea typeface="Meiryo" pitchFamily="34" charset="-122"/>
                          <a:cs typeface="Meiryo" pitchFamily="34" charset="-120"/>
                        </a:rPr>
                        <a:t>しない</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A1A1A"/>
                          </a:solidFill>
                          <a:latin typeface="Meiryo" pitchFamily="34" charset="0"/>
                          <a:ea typeface="Meiryo" pitchFamily="34" charset="-122"/>
                          <a:cs typeface="Meiryo" pitchFamily="34" charset="-120"/>
                        </a:rPr>
                        <a:t>-1,117</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A1A1A"/>
                          </a:solidFill>
                          <a:latin typeface="Meiryo" pitchFamily="34" charset="0"/>
                          <a:ea typeface="Meiryo" pitchFamily="34" charset="-122"/>
                          <a:cs typeface="Meiryo" pitchFamily="34" charset="-120"/>
                        </a:rPr>
                        <a:t>18,277</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01168">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1拠点15台に増やす</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A1A1A"/>
                          </a:solidFill>
                          <a:latin typeface="Meiryo" pitchFamily="34" charset="0"/>
                          <a:ea typeface="Meiryo" pitchFamily="34" charset="-122"/>
                          <a:cs typeface="Meiryo" pitchFamily="34" charset="-120"/>
                        </a:rPr>
                        <a:t>5年目</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A1A1A"/>
                          </a:solidFill>
                          <a:latin typeface="Meiryo" pitchFamily="34" charset="0"/>
                          <a:ea typeface="Meiryo" pitchFamily="34" charset="-122"/>
                          <a:cs typeface="Meiryo" pitchFamily="34" charset="-120"/>
                        </a:rPr>
                        <a:t>4,301</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A1A1A"/>
                          </a:solidFill>
                          <a:latin typeface="Meiryo" pitchFamily="34" charset="0"/>
                          <a:ea typeface="Meiryo" pitchFamily="34" charset="-122"/>
                          <a:cs typeface="Meiryo" pitchFamily="34" charset="-120"/>
                        </a:rPr>
                        <a:t>11,559</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01168">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解約が年5%</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A1A1A"/>
                          </a:solidFill>
                          <a:latin typeface="Meiryo" pitchFamily="34" charset="0"/>
                          <a:ea typeface="Meiryo" pitchFamily="34" charset="-122"/>
                          <a:cs typeface="Meiryo" pitchFamily="34" charset="-120"/>
                        </a:rPr>
                        <a:t>しない</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A1A1A"/>
                          </a:solidFill>
                          <a:latin typeface="Meiryo" pitchFamily="34" charset="0"/>
                          <a:ea typeface="Meiryo" pitchFamily="34" charset="-122"/>
                          <a:cs typeface="Meiryo" pitchFamily="34" charset="-120"/>
                        </a:rPr>
                        <a:t>-253</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A1A1A"/>
                          </a:solidFill>
                          <a:latin typeface="Meiryo" pitchFamily="34" charset="0"/>
                          <a:ea typeface="Meiryo" pitchFamily="34" charset="-122"/>
                          <a:cs typeface="Meiryo" pitchFamily="34" charset="-120"/>
                        </a:rPr>
                        <a:t>16,981</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01168">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月18万円に値下げ</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00" b="1" dirty="0">
                          <a:solidFill>
                            <a:srgbClr val="B8692E"/>
                          </a:solidFill>
                          <a:latin typeface="Meiryo" pitchFamily="34" charset="0"/>
                          <a:ea typeface="Meiryo" pitchFamily="34" charset="-122"/>
                          <a:cs typeface="Meiryo" pitchFamily="34" charset="-120"/>
                        </a:rPr>
                        <a:t>しない</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A1A1A"/>
                          </a:solidFill>
                          <a:latin typeface="Meiryo" pitchFamily="34" charset="0"/>
                          <a:ea typeface="Meiryo" pitchFamily="34" charset="-122"/>
                          <a:cs typeface="Meiryo" pitchFamily="34" charset="-120"/>
                        </a:rPr>
                        <a:t>▲6,535</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A1A1A"/>
                          </a:solidFill>
                          <a:latin typeface="Meiryo" pitchFamily="34" charset="0"/>
                          <a:ea typeface="Meiryo" pitchFamily="34" charset="-122"/>
                          <a:cs typeface="Meiryo" pitchFamily="34" charset="-120"/>
                        </a:rPr>
                        <a:t>29,323</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8" name="Text 3"/>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累積赤字のピークは約1.83億円。自己資金は1年目2億円＋3年目5,000万円（p.23）</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ext 0"/>
          <p:cNvSpPr txBox="1"/>
          <p:nvPr/>
        </p:nvSpPr>
        <p:spPr>
          <a:xfrm>
            <a:off x="5577840" y="54864"/>
            <a:ext cx="3200400" cy="182880"/>
          </a:xfrm>
          <a:prstGeom prst="rect">
            <a:avLst/>
          </a:prstGeom>
          <a:noFill/>
          <a:ln/>
        </p:spPr>
        <p:txBody>
          <a:bodyPr wrap="square" lIns="0" tIns="0" rIns="0" bIns="0" rtlCol="0" anchor="ctr"/>
          <a:lstStyle/>
          <a:p>
            <a:pPr algn="r" indent="0" marL="0">
              <a:lnSpc>
                <a:spcPct val="115000"/>
              </a:lnSpc>
              <a:buNone/>
            </a:pPr>
            <a:r>
              <a:rPr lang="en-US" sz="800" dirty="0">
                <a:solidFill>
                  <a:srgbClr val="8C8C8C"/>
                </a:solidFill>
                <a:latin typeface="Meiryo" pitchFamily="34" charset="0"/>
                <a:ea typeface="Meiryo" pitchFamily="34" charset="-122"/>
                <a:cs typeface="Meiryo" pitchFamily="34" charset="-120"/>
              </a:rPr>
              <a:t>本編 p.24 の詳細</a:t>
            </a:r>
            <a:endParaRPr lang="en-US" sz="800" dirty="0"/>
          </a:p>
        </p:txBody>
      </p:sp>
      <p:sp>
        <p:nvSpPr>
          <p:cNvPr id="4"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損益分岐点 ─ 5年目は分岐点の約94%。人で見ても届かない</a:t>
            </a:r>
            <a:endParaRPr lang="en-US" sz="2000" dirty="0"/>
          </a:p>
        </p:txBody>
      </p:sp>
      <p:sp>
        <p:nvSpPr>
          <p:cNvPr id="5"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二つの見方が同じ答えになることを確かめる</a:t>
            </a:r>
            <a:endParaRPr lang="en-US" sz="1200" dirty="0"/>
          </a:p>
        </p:txBody>
      </p:sp>
      <p:sp>
        <p:nvSpPr>
          <p:cNvPr id="6" name="Text 3"/>
          <p:cNvSpPr txBox="1"/>
          <p:nvPr/>
        </p:nvSpPr>
        <p:spPr>
          <a:xfrm>
            <a:off x="365760" y="1051560"/>
            <a:ext cx="40690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① 売上で見る：損益分岐点売上＝販管費÷粗利率</a:t>
            </a:r>
            <a:endParaRPr lang="en-US" sz="1050" dirty="0"/>
          </a:p>
        </p:txBody>
      </p:sp>
      <p:graphicFrame>
        <p:nvGraphicFramePr>
          <p:cNvPr id="20" name="bep-sales"/>
          <p:cNvGraphicFramePr>
            <a:graphicFrameLocks noGrp="1"/>
          </p:cNvGraphicFramePr>
          <p:nvPr>
            <p:extLst>
              <p:ext uri="{D42A27DB-BD31-4B8C-83A1-F6EECF244321}">
                <p14:modId xmlns:p14="http://schemas.microsoft.com/office/powerpoint/2010/main" val="1579011935"/>
              </p:ext>
            </p:extLst>
          </p:nvPr>
        </p:nvGraphicFramePr>
        <p:xfrm>
          <a:off x="365760" y="1325880"/>
          <a:ext cx="4069080" cy="914400"/>
        </p:xfrm>
        <a:graphic>
          <a:graphicData uri="http://schemas.openxmlformats.org/drawingml/2006/table">
            <a:tbl>
              <a:tblPr/>
              <a:tblGrid>
                <a:gridCol w="1097280"/>
                <a:gridCol w="594360"/>
                <a:gridCol w="594360"/>
                <a:gridCol w="594360"/>
                <a:gridCol w="594360"/>
                <a:gridCol w="594360"/>
              </a:tblGrid>
              <a:tr h="274320">
                <a:tc>
                  <a:txBody>
                    <a:bodyPr/>
                    <a:lstStyle/>
                    <a:p>
                      <a:pPr algn="l" indent="0" marL="0">
                        <a:buNone/>
                      </a:pPr>
                      <a:r>
                        <a:rPr lang="en-US" sz="900" b="1" dirty="0">
                          <a:solidFill>
                            <a:srgbClr val="1A1A1A"/>
                          </a:solidFill>
                          <a:latin typeface="Meiryo" pitchFamily="34" charset="0"/>
                          <a:ea typeface="Meiryo" pitchFamily="34" charset="-122"/>
                          <a:cs typeface="Meiryo" pitchFamily="34" charset="-120"/>
                        </a:rPr>
                        <a:t>百万円</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1年目</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2年目</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3年目</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4年目</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5年目</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74320">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販管費</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52</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72</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94</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142</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173</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粗利率</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26%</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50%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54%</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58%</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60%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900" b="1" dirty="0">
                          <a:solidFill>
                            <a:srgbClr val="1A1A1A"/>
                          </a:solidFill>
                          <a:latin typeface="Meiryo" pitchFamily="34" charset="0"/>
                          <a:ea typeface="Meiryo" pitchFamily="34" charset="-122"/>
                          <a:cs typeface="Meiryo" pitchFamily="34" charset="-120"/>
                        </a:rPr>
                        <a:t>分岐点売上</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197</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143</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176</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245</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288</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実際の売上</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12</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48</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107</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178</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269</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安全余裕率</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8" name="Text 4"/>
          <p:cNvSpPr txBox="1"/>
          <p:nvPr/>
        </p:nvSpPr>
        <p:spPr>
          <a:xfrm>
            <a:off x="4709160" y="1051560"/>
            <a:ext cx="40690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② 人で見る：社員1人あたりの拠点数</a:t>
            </a:r>
            <a:endParaRPr lang="en-US" sz="1050" dirty="0"/>
          </a:p>
        </p:txBody>
      </p:sp>
      <p:sp>
        <p:nvSpPr>
          <p:cNvPr id="9" name="Shape 5"/>
          <p:cNvSpPr/>
          <p:nvPr/>
        </p:nvSpPr>
        <p:spPr>
          <a:xfrm>
            <a:off x="4709160" y="1325880"/>
            <a:ext cx="4069080" cy="868680"/>
          </a:xfrm>
          <a:prstGeom prst="rect">
            <a:avLst/>
          </a:prstGeom>
          <a:solidFill>
            <a:srgbClr val="1A1A1A"/>
          </a:solidFill>
          <a:ln/>
        </p:spPr>
      </p:sp>
      <p:sp>
        <p:nvSpPr>
          <p:cNvPr id="10" name="Text 6"/>
          <p:cNvSpPr txBox="1"/>
          <p:nvPr/>
        </p:nvSpPr>
        <p:spPr>
          <a:xfrm>
            <a:off x="4846320" y="1344168"/>
            <a:ext cx="3794760" cy="822960"/>
          </a:xfrm>
          <a:prstGeom prst="rect">
            <a:avLst/>
          </a:prstGeom>
          <a:noFill/>
          <a:ln/>
        </p:spPr>
        <p:txBody>
          <a:bodyPr wrap="square" lIns="0" tIns="0" rIns="0" bIns="0" rtlCol="0" anchor="ctr"/>
          <a:lstStyle/>
          <a:p>
            <a:pPr algn="l" indent="0" marL="0">
              <a:lnSpc>
                <a:spcPct val="115000"/>
              </a:lnSpc>
              <a:buNone/>
            </a:pPr>
            <a:r>
              <a:rPr lang="en-US" sz="950" dirty="0">
                <a:solidFill>
                  <a:srgbClr val="FFFFFF"/>
                </a:solidFill>
                <a:latin typeface="Meiryo" pitchFamily="34" charset="0"/>
                <a:ea typeface="Meiryo" pitchFamily="34" charset="-122"/>
                <a:cs typeface="Meiryo" pitchFamily="34" charset="-120"/>
              </a:rPr>
              <a:t>社員1人の販管費 753万円（5年目：17,313万円÷23人）</a:t>
            </a:r>
            <a:endParaRPr lang="en-US" sz="950" dirty="0"/>
          </a:p>
          <a:p>
            <a:pPr algn="l" indent="0" marL="0">
              <a:lnSpc>
                <a:spcPct val="115000"/>
              </a:lnSpc>
              <a:buNone/>
            </a:pPr>
            <a:r>
              <a:rPr lang="en-US" sz="950" dirty="0">
                <a:solidFill>
                  <a:srgbClr val="FFFFFF"/>
                </a:solidFill>
                <a:latin typeface="Meiryo" pitchFamily="34" charset="0"/>
                <a:ea typeface="Meiryo" pitchFamily="34" charset="-122"/>
                <a:cs typeface="Meiryo" pitchFamily="34" charset="-120"/>
              </a:rPr>
              <a:t>÷ 1拠点の粗利 216万円 ＝ 3.5拠点／人</a:t>
            </a:r>
            <a:endParaRPr lang="en-US" sz="950" dirty="0"/>
          </a:p>
          <a:p>
            <a:pPr algn="l" indent="0" marL="0">
              <a:lnSpc>
                <a:spcPct val="115000"/>
              </a:lnSpc>
              <a:buNone/>
            </a:pPr>
            <a:r>
              <a:rPr lang="en-US" sz="1300" b="1" dirty="0">
                <a:solidFill>
                  <a:srgbClr val="E3A774"/>
                </a:solidFill>
                <a:latin typeface="Meiryo" pitchFamily="34" charset="0"/>
                <a:ea typeface="Meiryo" pitchFamily="34" charset="-122"/>
                <a:cs typeface="Meiryo" pitchFamily="34" charset="-120"/>
              </a:rPr>
              <a:t>新規は初年度半額 → 期末で1人約4拠点</a:t>
            </a:r>
            <a:endParaRPr lang="en-US" sz="950" dirty="0"/>
          </a:p>
        </p:txBody>
      </p:sp>
      <p:graphicFrame>
        <p:nvGraphicFramePr>
          <p:cNvPr id="39" name="bep-people"/>
          <p:cNvGraphicFramePr>
            <a:graphicFrameLocks noGrp="1"/>
          </p:cNvGraphicFramePr>
          <p:nvPr>
            <p:extLst>
              <p:ext uri="{D42A27DB-BD31-4B8C-83A1-F6EECF244321}">
                <p14:modId xmlns:p14="http://schemas.microsoft.com/office/powerpoint/2010/main" val="1579011935"/>
              </p:ext>
            </p:extLst>
          </p:nvPr>
        </p:nvGraphicFramePr>
        <p:xfrm>
          <a:off x="4709160" y="2286000"/>
          <a:ext cx="4069080" cy="914400"/>
        </p:xfrm>
        <a:graphic>
          <a:graphicData uri="http://schemas.openxmlformats.org/drawingml/2006/table">
            <a:tbl>
              <a:tblPr/>
              <a:tblGrid>
                <a:gridCol w="1097280"/>
                <a:gridCol w="594360"/>
                <a:gridCol w="594360"/>
                <a:gridCol w="594360"/>
                <a:gridCol w="594360"/>
                <a:gridCol w="594360"/>
              </a:tblGrid>
              <a:tr h="274320">
                <a:tc>
                  <a:txBody>
                    <a:bodyPr/>
                    <a:lstStyle/>
                    <a:p>
                      <a:pPr algn="l" indent="0" marL="0">
                        <a:buNone/>
                      </a:pP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1年目</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2年目</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3年目</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4年目</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5年目</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74320">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拠点÷社員</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0.60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1.50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2.42</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2.94</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3.52</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12" name="Shape 7"/>
          <p:cNvSpPr/>
          <p:nvPr/>
        </p:nvSpPr>
        <p:spPr>
          <a:xfrm>
            <a:off x="365760" y="3154680"/>
            <a:ext cx="8412480" cy="1188720"/>
          </a:xfrm>
          <a:prstGeom prst="rect">
            <a:avLst/>
          </a:prstGeom>
          <a:solidFill>
            <a:srgbClr val="F2F2F2"/>
          </a:solidFill>
          <a:ln/>
        </p:spPr>
      </p:sp>
      <p:sp>
        <p:nvSpPr>
          <p:cNvPr id="13" name="Text 8"/>
          <p:cNvSpPr txBox="1"/>
          <p:nvPr/>
        </p:nvSpPr>
        <p:spPr>
          <a:xfrm>
            <a:off x="502920" y="3154680"/>
            <a:ext cx="8138160" cy="1188720"/>
          </a:xfrm>
          <a:prstGeom prst="rect">
            <a:avLst/>
          </a:prstGeom>
          <a:noFill/>
          <a:ln/>
        </p:spPr>
        <p:txBody>
          <a:bodyPr wrap="square" lIns="0" tIns="0" rIns="0" bIns="0" rtlCol="0" anchor="ctr"/>
          <a:lstStyle/>
          <a:p>
            <a:pPr algn="l" indent="0" marL="0">
              <a:lnSpc>
                <a:spcPct val="115000"/>
              </a:lnSpc>
              <a:spcAft>
                <a:spcPts val="300"/>
              </a:spcAft>
              <a:buNone/>
            </a:pPr>
            <a:r>
              <a:rPr lang="en-US" sz="950" b="1" dirty="0">
                <a:solidFill>
                  <a:srgbClr val="B8692E"/>
                </a:solidFill>
                <a:latin typeface="Meiryo" pitchFamily="34" charset="0"/>
                <a:ea typeface="Meiryo" pitchFamily="34" charset="-122"/>
                <a:cs typeface="Meiryo" pitchFamily="34" charset="-120"/>
              </a:rPr>
              <a:t>なぜ販管費を「固定費」とみなすか：</a:t>
            </a:r>
            <a:pPr algn="l" indent="0" marL="0">
              <a:lnSpc>
                <a:spcPct val="115000"/>
              </a:lnSpc>
              <a:spcAft>
                <a:spcPts val="300"/>
              </a:spcAft>
              <a:buNone/>
            </a:pPr>
            <a:r>
              <a:rPr lang="en-US" sz="950" dirty="0">
                <a:solidFill>
                  <a:srgbClr val="1A1A1A"/>
                </a:solidFill>
                <a:latin typeface="Meiryo" pitchFamily="34" charset="0"/>
                <a:ea typeface="Meiryo" pitchFamily="34" charset="-122"/>
                <a:cs typeface="Meiryo" pitchFamily="34" charset="-120"/>
              </a:rPr>
              <a:t>販管費の大半は人件費と家賃で、売上が増えても1年の中では動かない。変動費（AI・保存の費用、導入支援と個社設定の人件費）は原価に入れてある</a:t>
            </a:r>
            <a:endParaRPr lang="en-US" sz="950" dirty="0"/>
          </a:p>
          <a:p>
            <a:pPr algn="l" indent="0" marL="0">
              <a:lnSpc>
                <a:spcPct val="115000"/>
              </a:lnSpc>
              <a:spcAft>
                <a:spcPts val="300"/>
              </a:spcAft>
              <a:buNone/>
            </a:pPr>
            <a:r>
              <a:rPr lang="en-US" sz="950" b="1" dirty="0">
                <a:solidFill>
                  <a:srgbClr val="B8692E"/>
                </a:solidFill>
                <a:latin typeface="Meiryo" pitchFamily="34" charset="0"/>
                <a:ea typeface="Meiryo" pitchFamily="34" charset="-122"/>
                <a:cs typeface="Meiryo" pitchFamily="34" charset="-120"/>
              </a:rPr>
              <a:t>聞かれたらこう答える：</a:t>
            </a:r>
            <a:pPr algn="l" indent="0" marL="0">
              <a:lnSpc>
                <a:spcPct val="115000"/>
              </a:lnSpc>
              <a:spcAft>
                <a:spcPts val="300"/>
              </a:spcAft>
              <a:buNone/>
            </a:pPr>
            <a:r>
              <a:rPr lang="en-US" sz="950" dirty="0">
                <a:solidFill>
                  <a:srgbClr val="1A1A1A"/>
                </a:solidFill>
                <a:latin typeface="Meiryo" pitchFamily="34" charset="0"/>
                <a:ea typeface="Meiryo" pitchFamily="34" charset="-122"/>
                <a:cs typeface="Meiryo" pitchFamily="34" charset="-120"/>
              </a:rPr>
              <a:t>「5年目は23人で81拠点、1人3.52で約4拠点に届かず赤字です。あと約6拠点分、または1拠点15台で越えます」</a:t>
            </a:r>
            <a:endParaRPr lang="en-US" sz="950" dirty="0"/>
          </a:p>
          <a:p>
            <a:pPr algn="l" indent="0" marL="0">
              <a:lnSpc>
                <a:spcPct val="115000"/>
              </a:lnSpc>
              <a:spcAft>
                <a:spcPts val="300"/>
              </a:spcAft>
              <a:buNone/>
            </a:pPr>
            <a:r>
              <a:rPr lang="en-US" sz="950" b="1" dirty="0">
                <a:solidFill>
                  <a:srgbClr val="B8692E"/>
                </a:solidFill>
                <a:latin typeface="Meiryo" pitchFamily="34" charset="0"/>
                <a:ea typeface="Meiryo" pitchFamily="34" charset="-122"/>
                <a:cs typeface="Meiryo" pitchFamily="34" charset="-120"/>
              </a:rPr>
              <a:t>経営のルール：</a:t>
            </a:r>
            <a:pPr algn="l" indent="0" marL="0">
              <a:lnSpc>
                <a:spcPct val="115000"/>
              </a:lnSpc>
              <a:spcAft>
                <a:spcPts val="300"/>
              </a:spcAft>
              <a:buNone/>
            </a:pPr>
            <a:r>
              <a:rPr lang="en-US" sz="950" dirty="0">
                <a:solidFill>
                  <a:srgbClr val="1A1A1A"/>
                </a:solidFill>
                <a:latin typeface="Meiryo" pitchFamily="34" charset="0"/>
                <a:ea typeface="Meiryo" pitchFamily="34" charset="-122"/>
                <a:cs typeface="Meiryo" pitchFamily="34" charset="-120"/>
              </a:rPr>
              <a:t>採用は「期末で1人約4拠点を超える見込み」が立ってから（p.22）</a:t>
            </a:r>
            <a:endParaRPr lang="en-US" sz="950" dirty="0"/>
          </a:p>
        </p:txBody>
      </p:sp>
      <p:sp>
        <p:nvSpPr>
          <p:cNvPr id="14" name="Text 9"/>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社員1人の販管費は年で動く（1年目1,032万円、5年目753万円）。安全余裕率＝（売上−分岐点売上）÷売上</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ext 0"/>
          <p:cNvSpPr txBox="1"/>
          <p:nvPr/>
        </p:nvSpPr>
        <p:spPr>
          <a:xfrm>
            <a:off x="5577840" y="54864"/>
            <a:ext cx="3200400" cy="182880"/>
          </a:xfrm>
          <a:prstGeom prst="rect">
            <a:avLst/>
          </a:prstGeom>
          <a:noFill/>
          <a:ln/>
        </p:spPr>
        <p:txBody>
          <a:bodyPr wrap="square" lIns="0" tIns="0" rIns="0" bIns="0" rtlCol="0" anchor="ctr"/>
          <a:lstStyle/>
          <a:p>
            <a:pPr algn="r" indent="0" marL="0">
              <a:lnSpc>
                <a:spcPct val="115000"/>
              </a:lnSpc>
              <a:buNone/>
            </a:pPr>
            <a:r>
              <a:rPr lang="en-US" sz="800" dirty="0">
                <a:solidFill>
                  <a:srgbClr val="8C8C8C"/>
                </a:solidFill>
                <a:latin typeface="Meiryo" pitchFamily="34" charset="0"/>
                <a:ea typeface="Meiryo" pitchFamily="34" charset="-122"/>
                <a:cs typeface="Meiryo" pitchFamily="34" charset="-120"/>
              </a:rPr>
              <a:t>本編 p.21 の詳細</a:t>
            </a:r>
            <a:endParaRPr lang="en-US" sz="800" dirty="0"/>
          </a:p>
        </p:txBody>
      </p:sp>
      <p:sp>
        <p:nvSpPr>
          <p:cNvPr id="4"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LTV・CAC ─ 控えめに7年。3年で解約されても8倍</a:t>
            </a:r>
            <a:endParaRPr lang="en-US" sz="2000" dirty="0"/>
          </a:p>
        </p:txBody>
      </p:sp>
      <p:sp>
        <p:nvSpPr>
          <p:cNvPr id="5"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LTV＝1拠点の年の粗利×継続年数＋導入支援の粗利　CAC＝営業・広告費÷新規拠点数</a:t>
            </a:r>
            <a:endParaRPr lang="en-US" sz="1200" dirty="0"/>
          </a:p>
        </p:txBody>
      </p:sp>
      <p:sp>
        <p:nvSpPr>
          <p:cNvPr id="6" name="Shape 3"/>
          <p:cNvSpPr/>
          <p:nvPr/>
        </p:nvSpPr>
        <p:spPr>
          <a:xfrm>
            <a:off x="365760" y="1051560"/>
            <a:ext cx="4069080" cy="1143000"/>
          </a:xfrm>
          <a:prstGeom prst="rect">
            <a:avLst/>
          </a:prstGeom>
          <a:solidFill>
            <a:srgbClr val="F2F2F2"/>
          </a:solidFill>
          <a:ln/>
        </p:spPr>
      </p:sp>
      <p:sp>
        <p:nvSpPr>
          <p:cNvPr id="7" name="Text 4"/>
          <p:cNvSpPr txBox="1"/>
          <p:nvPr/>
        </p:nvSpPr>
        <p:spPr>
          <a:xfrm>
            <a:off x="502920" y="1097280"/>
            <a:ext cx="3794760" cy="1051560"/>
          </a:xfrm>
          <a:prstGeom prst="rect">
            <a:avLst/>
          </a:prstGeom>
          <a:noFill/>
          <a:ln/>
        </p:spPr>
        <p:txBody>
          <a:bodyPr wrap="square" lIns="0" tIns="0" rIns="0" bIns="0" rtlCol="0" anchor="ctr"/>
          <a:lstStyle/>
          <a:p>
            <a:pPr algn="l" indent="0" marL="0">
              <a:lnSpc>
                <a:spcPct val="115000"/>
              </a:lnSpc>
              <a:spcAft>
                <a:spcPts val="300"/>
              </a:spcAft>
              <a:buNone/>
            </a:pPr>
            <a:r>
              <a:rPr lang="en-US" sz="1050" b="1" dirty="0">
                <a:solidFill>
                  <a:srgbClr val="1A1A1A"/>
                </a:solidFill>
                <a:latin typeface="Meiryo" pitchFamily="34" charset="0"/>
                <a:ea typeface="Meiryo" pitchFamily="34" charset="-122"/>
                <a:cs typeface="Meiryo" pitchFamily="34" charset="-120"/>
              </a:rPr>
              <a:t>LTV（1拠点が残す粗利）</a:t>
            </a:r>
            <a:endParaRPr lang="en-US" sz="1050" dirty="0"/>
          </a:p>
          <a:p>
            <a:pPr algn="l" indent="0" marL="0">
              <a:lnSpc>
                <a:spcPct val="115000"/>
              </a:lnSpc>
              <a:spcAft>
                <a:spcPts val="300"/>
              </a:spcAft>
              <a:buNone/>
            </a:pPr>
            <a:r>
              <a:rPr lang="en-US" sz="1050" dirty="0">
                <a:solidFill>
                  <a:srgbClr val="1A1A1A"/>
                </a:solidFill>
                <a:latin typeface="Meiryo" pitchFamily="34" charset="0"/>
                <a:ea typeface="Meiryo" pitchFamily="34" charset="-122"/>
                <a:cs typeface="Meiryo" pitchFamily="34" charset="-120"/>
              </a:rPr>
              <a:t>216万円 × 7年 ＋ 59万円 ＝ </a:t>
            </a:r>
            <a:pPr algn="l" indent="0" marL="0">
              <a:lnSpc>
                <a:spcPct val="115000"/>
              </a:lnSpc>
              <a:spcAft>
                <a:spcPts val="300"/>
              </a:spcAft>
              <a:buNone/>
            </a:pPr>
            <a:r>
              <a:rPr lang="en-US" sz="1600" b="1" dirty="0">
                <a:solidFill>
                  <a:srgbClr val="B8692E"/>
                </a:solidFill>
                <a:latin typeface="Meiryo" pitchFamily="34" charset="0"/>
                <a:ea typeface="Meiryo" pitchFamily="34" charset="-122"/>
                <a:cs typeface="Meiryo" pitchFamily="34" charset="-120"/>
              </a:rPr>
              <a:t>約1,571万円</a:t>
            </a:r>
            <a:endParaRPr lang="en-US" sz="1050" dirty="0"/>
          </a:p>
          <a:p>
            <a:pPr algn="l" indent="0" marL="0">
              <a:lnSpc>
                <a:spcPct val="115000"/>
              </a:lnSpc>
              <a:spcAft>
                <a:spcPts val="300"/>
              </a:spcAft>
              <a:buNone/>
            </a:pPr>
            <a:r>
              <a:rPr lang="en-US" sz="850" dirty="0">
                <a:solidFill>
                  <a:srgbClr val="4D4D4D"/>
                </a:solidFill>
                <a:latin typeface="Meiryo" pitchFamily="34" charset="0"/>
                <a:ea typeface="Meiryo" pitchFamily="34" charset="-122"/>
                <a:cs typeface="Meiryo" pitchFamily="34" charset="-120"/>
              </a:rPr>
              <a:t>216万円＝300万円−AI・保存84万円　59万円＝200万円−141万円</a:t>
            </a:r>
            <a:endParaRPr lang="en-US" sz="1050" dirty="0"/>
          </a:p>
        </p:txBody>
      </p:sp>
      <p:sp>
        <p:nvSpPr>
          <p:cNvPr id="8" name="Shape 5"/>
          <p:cNvSpPr/>
          <p:nvPr/>
        </p:nvSpPr>
        <p:spPr>
          <a:xfrm>
            <a:off x="4709160" y="1051560"/>
            <a:ext cx="4069080" cy="1143000"/>
          </a:xfrm>
          <a:prstGeom prst="rect">
            <a:avLst/>
          </a:prstGeom>
          <a:solidFill>
            <a:srgbClr val="F2F2F2"/>
          </a:solidFill>
          <a:ln/>
        </p:spPr>
      </p:sp>
      <p:sp>
        <p:nvSpPr>
          <p:cNvPr id="9" name="Text 6"/>
          <p:cNvSpPr txBox="1"/>
          <p:nvPr/>
        </p:nvSpPr>
        <p:spPr>
          <a:xfrm>
            <a:off x="4846320" y="1097280"/>
            <a:ext cx="3794760" cy="1051560"/>
          </a:xfrm>
          <a:prstGeom prst="rect">
            <a:avLst/>
          </a:prstGeom>
          <a:noFill/>
          <a:ln/>
        </p:spPr>
        <p:txBody>
          <a:bodyPr wrap="square" lIns="0" tIns="0" rIns="0" bIns="0" rtlCol="0" anchor="ctr"/>
          <a:lstStyle/>
          <a:p>
            <a:pPr algn="l" indent="0" marL="0">
              <a:lnSpc>
                <a:spcPct val="115000"/>
              </a:lnSpc>
              <a:spcAft>
                <a:spcPts val="300"/>
              </a:spcAft>
              <a:buNone/>
            </a:pPr>
            <a:r>
              <a:rPr lang="en-US" sz="1050" b="1" dirty="0">
                <a:solidFill>
                  <a:srgbClr val="1A1A1A"/>
                </a:solidFill>
                <a:latin typeface="Meiryo" pitchFamily="34" charset="0"/>
                <a:ea typeface="Meiryo" pitchFamily="34" charset="-122"/>
                <a:cs typeface="Meiryo" pitchFamily="34" charset="-120"/>
              </a:rPr>
              <a:t>CAC（1拠点を獲得する費用）</a:t>
            </a:r>
            <a:endParaRPr lang="en-US" sz="1050" dirty="0"/>
          </a:p>
          <a:p>
            <a:pPr algn="l" indent="0" marL="0">
              <a:lnSpc>
                <a:spcPct val="115000"/>
              </a:lnSpc>
              <a:spcAft>
                <a:spcPts val="300"/>
              </a:spcAft>
              <a:buNone/>
            </a:pPr>
            <a:r>
              <a:rPr lang="en-US" sz="1050" dirty="0">
                <a:solidFill>
                  <a:srgbClr val="1A1A1A"/>
                </a:solidFill>
                <a:latin typeface="Meiryo" pitchFamily="34" charset="0"/>
                <a:ea typeface="Meiryo" pitchFamily="34" charset="-122"/>
                <a:cs typeface="Meiryo" pitchFamily="34" charset="-120"/>
              </a:rPr>
              <a:t>（2,340万円＋500万円）÷ 33拠点 ＝ </a:t>
            </a:r>
            <a:pPr algn="l" indent="0" marL="0">
              <a:lnSpc>
                <a:spcPct val="115000"/>
              </a:lnSpc>
              <a:spcAft>
                <a:spcPts val="300"/>
              </a:spcAft>
              <a:buNone/>
            </a:pPr>
            <a:r>
              <a:rPr lang="en-US" sz="1600" b="1" dirty="0">
                <a:solidFill>
                  <a:srgbClr val="B8692E"/>
                </a:solidFill>
                <a:latin typeface="Meiryo" pitchFamily="34" charset="0"/>
                <a:ea typeface="Meiryo" pitchFamily="34" charset="-122"/>
                <a:cs typeface="Meiryo" pitchFamily="34" charset="-120"/>
              </a:rPr>
              <a:t>約86万円</a:t>
            </a:r>
            <a:endParaRPr lang="en-US" sz="1050" dirty="0"/>
          </a:p>
          <a:p>
            <a:pPr algn="l" indent="0" marL="0">
              <a:lnSpc>
                <a:spcPct val="115000"/>
              </a:lnSpc>
              <a:spcAft>
                <a:spcPts val="300"/>
              </a:spcAft>
              <a:buNone/>
            </a:pPr>
            <a:r>
              <a:rPr lang="en-US" sz="850" dirty="0">
                <a:solidFill>
                  <a:srgbClr val="4D4D4D"/>
                </a:solidFill>
                <a:latin typeface="Meiryo" pitchFamily="34" charset="0"/>
                <a:ea typeface="Meiryo" pitchFamily="34" charset="-122"/>
                <a:cs typeface="Meiryo" pitchFamily="34" charset="-120"/>
              </a:rPr>
              <a:t>5年目：営業3人（年収650万円×1.2）＋広告・展示会 ÷ 新規拠点</a:t>
            </a:r>
            <a:endParaRPr lang="en-US" sz="1050" dirty="0"/>
          </a:p>
        </p:txBody>
      </p:sp>
      <p:sp>
        <p:nvSpPr>
          <p:cNvPr id="10" name="Text 7"/>
          <p:cNvSpPr txBox="1"/>
          <p:nvPr/>
        </p:nvSpPr>
        <p:spPr>
          <a:xfrm>
            <a:off x="365760" y="2350008"/>
            <a:ext cx="40690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継続年数を変えたら</a:t>
            </a:r>
            <a:endParaRPr lang="en-US" sz="1050" dirty="0"/>
          </a:p>
        </p:txBody>
      </p:sp>
      <p:graphicFrame>
        <p:nvGraphicFramePr>
          <p:cNvPr id="21" name="ltv-years"/>
          <p:cNvGraphicFramePr>
            <a:graphicFrameLocks noGrp="1"/>
          </p:cNvGraphicFramePr>
          <p:nvPr>
            <p:extLst>
              <p:ext uri="{D42A27DB-BD31-4B8C-83A1-F6EECF244321}">
                <p14:modId xmlns:p14="http://schemas.microsoft.com/office/powerpoint/2010/main" val="1579011935"/>
              </p:ext>
            </p:extLst>
          </p:nvPr>
        </p:nvGraphicFramePr>
        <p:xfrm>
          <a:off x="365760" y="2624328"/>
          <a:ext cx="4069080" cy="914400"/>
        </p:xfrm>
        <a:graphic>
          <a:graphicData uri="http://schemas.openxmlformats.org/drawingml/2006/table">
            <a:tbl>
              <a:tblPr/>
              <a:tblGrid>
                <a:gridCol w="1508760"/>
                <a:gridCol w="1280160"/>
                <a:gridCol w="1280160"/>
              </a:tblGrid>
              <a:tr h="246888">
                <a:tc>
                  <a:txBody>
                    <a:bodyPr/>
                    <a:lstStyle/>
                    <a:p>
                      <a:pPr algn="l" indent="0" marL="0">
                        <a:buNone/>
                      </a:pPr>
                      <a:r>
                        <a:rPr lang="en-US" sz="950" b="1" dirty="0">
                          <a:solidFill>
                            <a:srgbClr val="1A1A1A"/>
                          </a:solidFill>
                          <a:latin typeface="Meiryo" pitchFamily="34" charset="0"/>
                          <a:ea typeface="Meiryo" pitchFamily="34" charset="-122"/>
                          <a:cs typeface="Meiryo" pitchFamily="34" charset="-120"/>
                        </a:rPr>
                        <a:t>継続年数</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50" b="1" dirty="0">
                          <a:solidFill>
                            <a:srgbClr val="1A1A1A"/>
                          </a:solidFill>
                          <a:latin typeface="Meiryo" pitchFamily="34" charset="0"/>
                          <a:ea typeface="Meiryo" pitchFamily="34" charset="-122"/>
                          <a:cs typeface="Meiryo" pitchFamily="34" charset="-120"/>
                        </a:rPr>
                        <a:t>LTV</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50" b="1" dirty="0">
                          <a:solidFill>
                            <a:srgbClr val="1A1A1A"/>
                          </a:solidFill>
                          <a:latin typeface="Meiryo" pitchFamily="34" charset="0"/>
                          <a:ea typeface="Meiryo" pitchFamily="34" charset="-122"/>
                          <a:cs typeface="Meiryo" pitchFamily="34" charset="-120"/>
                        </a:rPr>
                        <a:t>LTV÷CAC</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46888">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3年</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707万円</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8倍</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5年</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1,139万円</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13倍</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7年（計画）</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1,571万円</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1A1A1A"/>
                          </a:solidFill>
                          <a:latin typeface="Meiryo" pitchFamily="34" charset="0"/>
                          <a:ea typeface="Meiryo" pitchFamily="34" charset="-122"/>
                          <a:cs typeface="Meiryo" pitchFamily="34" charset="-120"/>
                        </a:rPr>
                        <a:t>18倍</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10年</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2,219万円</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26倍</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12" name="Text 8"/>
          <p:cNvSpPr txBox="1"/>
          <p:nvPr/>
        </p:nvSpPr>
        <p:spPr>
          <a:xfrm>
            <a:off x="4709160" y="2350008"/>
            <a:ext cx="40690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獲得が難しくなったら</a:t>
            </a:r>
            <a:endParaRPr lang="en-US" sz="1050" dirty="0"/>
          </a:p>
        </p:txBody>
      </p:sp>
      <p:graphicFrame>
        <p:nvGraphicFramePr>
          <p:cNvPr id="41" name="cac-stress"/>
          <p:cNvGraphicFramePr>
            <a:graphicFrameLocks noGrp="1"/>
          </p:cNvGraphicFramePr>
          <p:nvPr>
            <p:extLst>
              <p:ext uri="{D42A27DB-BD31-4B8C-83A1-F6EECF244321}">
                <p14:modId xmlns:p14="http://schemas.microsoft.com/office/powerpoint/2010/main" val="1579011935"/>
              </p:ext>
            </p:extLst>
          </p:nvPr>
        </p:nvGraphicFramePr>
        <p:xfrm>
          <a:off x="4709160" y="2624328"/>
          <a:ext cx="4069080" cy="914400"/>
        </p:xfrm>
        <a:graphic>
          <a:graphicData uri="http://schemas.openxmlformats.org/drawingml/2006/table">
            <a:tbl>
              <a:tblPr/>
              <a:tblGrid>
                <a:gridCol w="1600200"/>
                <a:gridCol w="1234440"/>
                <a:gridCol w="1234440"/>
              </a:tblGrid>
              <a:tr h="246888">
                <a:tc>
                  <a:txBody>
                    <a:bodyPr/>
                    <a:lstStyle/>
                    <a:p>
                      <a:pPr algn="l" indent="0" marL="0">
                        <a:buNone/>
                      </a:pPr>
                      <a:r>
                        <a:rPr lang="en-US" sz="950" b="1" dirty="0">
                          <a:solidFill>
                            <a:srgbClr val="1A1A1A"/>
                          </a:solidFill>
                          <a:latin typeface="Meiryo" pitchFamily="34" charset="0"/>
                          <a:ea typeface="Meiryo" pitchFamily="34" charset="-122"/>
                          <a:cs typeface="Meiryo" pitchFamily="34" charset="-120"/>
                        </a:rPr>
                        <a:t>CAC</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50" b="1" dirty="0">
                          <a:solidFill>
                            <a:srgbClr val="1A1A1A"/>
                          </a:solidFill>
                          <a:latin typeface="Meiryo" pitchFamily="34" charset="0"/>
                          <a:ea typeface="Meiryo" pitchFamily="34" charset="-122"/>
                          <a:cs typeface="Meiryo" pitchFamily="34" charset="-120"/>
                        </a:rPr>
                        <a:t>LTV÷CAC（7年）</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50" b="1" dirty="0">
                          <a:solidFill>
                            <a:srgbClr val="1A1A1A"/>
                          </a:solidFill>
                          <a:latin typeface="Meiryo" pitchFamily="34" charset="0"/>
                          <a:ea typeface="Meiryo" pitchFamily="34" charset="-122"/>
                          <a:cs typeface="Meiryo" pitchFamily="34" charset="-120"/>
                        </a:rPr>
                        <a:t>回収期間</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46888">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86万円（計画）</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18倍</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5か月</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172万円（2倍）</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9倍</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10か月</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344万円（4倍）</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5倍</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19か月</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14" name="Shape 9"/>
          <p:cNvSpPr/>
          <p:nvPr/>
        </p:nvSpPr>
        <p:spPr>
          <a:xfrm>
            <a:off x="365760" y="3931920"/>
            <a:ext cx="8412480" cy="585216"/>
          </a:xfrm>
          <a:prstGeom prst="rect">
            <a:avLst/>
          </a:prstGeom>
          <a:solidFill>
            <a:srgbClr val="FFFFFF"/>
          </a:solidFill>
          <a:ln w="19050">
            <a:solidFill>
              <a:srgbClr val="B8692E"/>
            </a:solidFill>
            <a:prstDash val="solid"/>
          </a:ln>
        </p:spPr>
      </p:sp>
      <p:sp>
        <p:nvSpPr>
          <p:cNvPr id="15" name="Text 10"/>
          <p:cNvSpPr txBox="1"/>
          <p:nvPr/>
        </p:nvSpPr>
        <p:spPr>
          <a:xfrm>
            <a:off x="502920" y="3931920"/>
            <a:ext cx="8138160" cy="585216"/>
          </a:xfrm>
          <a:prstGeom prst="rect">
            <a:avLst/>
          </a:prstGeom>
          <a:noFill/>
          <a:ln/>
        </p:spPr>
        <p:txBody>
          <a:bodyPr wrap="square" lIns="0" tIns="0" rIns="0" bIns="0" rtlCol="0" anchor="ctr"/>
          <a:lstStyle/>
          <a:p>
            <a:pPr algn="l" indent="0" marL="0">
              <a:lnSpc>
                <a:spcPct val="115000"/>
              </a:lnSpc>
              <a:spcAft>
                <a:spcPts val="100"/>
              </a:spcAft>
              <a:buNone/>
            </a:pPr>
            <a:r>
              <a:rPr lang="en-US" sz="900" b="1" dirty="0">
                <a:solidFill>
                  <a:srgbClr val="B8692E"/>
                </a:solidFill>
                <a:latin typeface="Meiryo" pitchFamily="34" charset="0"/>
                <a:ea typeface="Meiryo" pitchFamily="34" charset="-122"/>
                <a:cs typeface="Meiryo" pitchFamily="34" charset="-120"/>
              </a:rPr>
              <a:t>7年は控えめ：</a:t>
            </a:r>
            <a:pPr algn="l" indent="0" marL="0">
              <a:lnSpc>
                <a:spcPct val="115000"/>
              </a:lnSpc>
              <a:spcAft>
                <a:spcPts val="100"/>
              </a:spcAft>
              <a:buNone/>
            </a:pPr>
            <a:r>
              <a:rPr lang="en-US" sz="900" dirty="0">
                <a:solidFill>
                  <a:srgbClr val="1A1A1A"/>
                </a:solidFill>
                <a:latin typeface="Meiryo" pitchFamily="34" charset="0"/>
                <a:ea typeface="Meiryo" pitchFamily="34" charset="-122"/>
                <a:cs typeface="Meiryo" pitchFamily="34" charset="-120"/>
              </a:rPr>
              <a:t>解約が年10%なら平均10年続く計算。7年は年約14%の解約に相当</a:t>
            </a:r>
            <a:endParaRPr lang="en-US" sz="900" dirty="0"/>
          </a:p>
          <a:p>
            <a:pPr algn="l" indent="0" marL="0">
              <a:lnSpc>
                <a:spcPct val="115000"/>
              </a:lnSpc>
              <a:spcAft>
                <a:spcPts val="100"/>
              </a:spcAft>
              <a:buNone/>
            </a:pPr>
            <a:r>
              <a:rPr lang="en-US" sz="900" b="1" dirty="0">
                <a:solidFill>
                  <a:srgbClr val="B8692E"/>
                </a:solidFill>
                <a:latin typeface="Meiryo" pitchFamily="34" charset="0"/>
                <a:ea typeface="Meiryo" pitchFamily="34" charset="-122"/>
                <a:cs typeface="Meiryo" pitchFamily="34" charset="-120"/>
              </a:rPr>
              <a:t>目安：</a:t>
            </a:r>
            <a:pPr algn="l" indent="0" marL="0">
              <a:lnSpc>
                <a:spcPct val="115000"/>
              </a:lnSpc>
              <a:spcAft>
                <a:spcPts val="100"/>
              </a:spcAft>
              <a:buNone/>
            </a:pPr>
            <a:r>
              <a:rPr lang="en-US" sz="900" dirty="0">
                <a:solidFill>
                  <a:srgbClr val="1A1A1A"/>
                </a:solidFill>
                <a:latin typeface="Meiryo" pitchFamily="34" charset="0"/>
                <a:ea typeface="Meiryo" pitchFamily="34" charset="-122"/>
                <a:cs typeface="Meiryo" pitchFamily="34" charset="-120"/>
              </a:rPr>
              <a:t>SaaSでよく使われる目安は「LTV÷CACが3倍以上、回収12か月以内」。当社は18倍・約5か月</a:t>
            </a:r>
            <a:endParaRPr lang="en-US" sz="900" dirty="0"/>
          </a:p>
        </p:txBody>
      </p:sp>
      <p:sp>
        <p:nvSpPr>
          <p:cNvPr id="16" name="Text 11"/>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1〜2年目は創業者が営業するため、CACに創業者の人件費は入れていない（聞かれたら正直に言う）</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ext 0"/>
          <p:cNvSpPr txBox="1"/>
          <p:nvPr/>
        </p:nvSpPr>
        <p:spPr>
          <a:xfrm>
            <a:off x="5577840" y="54864"/>
            <a:ext cx="3200400" cy="182880"/>
          </a:xfrm>
          <a:prstGeom prst="rect">
            <a:avLst/>
          </a:prstGeom>
          <a:noFill/>
          <a:ln/>
        </p:spPr>
        <p:txBody>
          <a:bodyPr wrap="square" lIns="0" tIns="0" rIns="0" bIns="0" rtlCol="0" anchor="ctr"/>
          <a:lstStyle/>
          <a:p>
            <a:pPr algn="r" indent="0" marL="0">
              <a:lnSpc>
                <a:spcPct val="115000"/>
              </a:lnSpc>
              <a:buNone/>
            </a:pPr>
            <a:r>
              <a:rPr lang="en-US" sz="800" dirty="0">
                <a:solidFill>
                  <a:srgbClr val="8C8C8C"/>
                </a:solidFill>
                <a:latin typeface="Meiryo" pitchFamily="34" charset="0"/>
                <a:ea typeface="Meiryo" pitchFamily="34" charset="-122"/>
                <a:cs typeface="Meiryo" pitchFamily="34" charset="-120"/>
              </a:rPr>
              <a:t>本編 p.26 の詳細</a:t>
            </a:r>
            <a:endParaRPr lang="en-US" sz="800" dirty="0"/>
          </a:p>
        </p:txBody>
      </p:sp>
      <p:sp>
        <p:nvSpPr>
          <p:cNvPr id="4"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崩れたら ─ 前提を一つずつ崩したストレステスト</a:t>
            </a:r>
            <a:endParaRPr lang="en-US" sz="2000" dirty="0"/>
          </a:p>
        </p:txBody>
      </p:sp>
      <p:sp>
        <p:nvSpPr>
          <p:cNvPr id="5"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同じ計算モデルで1つずつ前提を変えた結果。最低現金のライン＝固定費3か月分</a:t>
            </a:r>
            <a:endParaRPr lang="en-US" sz="1200" dirty="0"/>
          </a:p>
        </p:txBody>
      </p:sp>
      <p:graphicFrame>
        <p:nvGraphicFramePr>
          <p:cNvPr id="22" name="stress"/>
          <p:cNvGraphicFramePr>
            <a:graphicFrameLocks noGrp="1"/>
          </p:cNvGraphicFramePr>
          <p:nvPr>
            <p:extLst>
              <p:ext uri="{D42A27DB-BD31-4B8C-83A1-F6EECF244321}">
                <p14:modId xmlns:p14="http://schemas.microsoft.com/office/powerpoint/2010/main" val="1579011935"/>
              </p:ext>
            </p:extLst>
          </p:nvPr>
        </p:nvGraphicFramePr>
        <p:xfrm>
          <a:off x="365760" y="1024128"/>
          <a:ext cx="8412480" cy="914400"/>
        </p:xfrm>
        <a:graphic>
          <a:graphicData uri="http://schemas.openxmlformats.org/drawingml/2006/table">
            <a:tbl>
              <a:tblPr/>
              <a:tblGrid>
                <a:gridCol w="2651760"/>
                <a:gridCol w="2011680"/>
                <a:gridCol w="1005840"/>
                <a:gridCol w="1325880"/>
                <a:gridCol w="1417320"/>
              </a:tblGrid>
              <a:tr h="265176">
                <a:tc>
                  <a:txBody>
                    <a:bodyPr/>
                    <a:lstStyle/>
                    <a:p>
                      <a:pPr algn="l" indent="0" marL="0">
                        <a:buNone/>
                      </a:pPr>
                      <a:r>
                        <a:rPr lang="en-US" sz="900" b="1" dirty="0">
                          <a:solidFill>
                            <a:srgbClr val="1A1A1A"/>
                          </a:solidFill>
                          <a:latin typeface="Meiryo" pitchFamily="34" charset="0"/>
                          <a:ea typeface="Meiryo" pitchFamily="34" charset="-122"/>
                          <a:cs typeface="Meiryo" pitchFamily="34" charset="-120"/>
                        </a:rPr>
                        <a:t>シナリオ</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900" b="1" dirty="0">
                          <a:solidFill>
                            <a:srgbClr val="1A1A1A"/>
                          </a:solidFill>
                          <a:latin typeface="Meiryo" pitchFamily="34" charset="0"/>
                          <a:ea typeface="Meiryo" pitchFamily="34" charset="-122"/>
                          <a:cs typeface="Meiryo" pitchFamily="34" charset="-120"/>
                        </a:rPr>
                        <a:t>想定する事態</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黒字化</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5年目 営業利益</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最低の現金残高</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65176">
                <a:tc>
                  <a:txBody>
                    <a:bodyPr/>
                    <a:lstStyle/>
                    <a:p>
                      <a:pPr algn="l" indent="0" marL="0">
                        <a:buNone/>
                      </a:pPr>
                      <a:r>
                        <a:rPr lang="en-US" sz="900" b="1" dirty="0">
                          <a:solidFill>
                            <a:srgbClr val="1A1A1A"/>
                          </a:solidFill>
                          <a:latin typeface="Meiryo" pitchFamily="34" charset="0"/>
                          <a:ea typeface="Meiryo" pitchFamily="34" charset="-122"/>
                          <a:cs typeface="Meiryo" pitchFamily="34" charset="-120"/>
                        </a:rPr>
                        <a:t>計画どおり</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00" b="1" dirty="0">
                          <a:solidFill>
                            <a:srgbClr val="4D4D4D"/>
                          </a:solidFill>
                          <a:latin typeface="Meiryo" pitchFamily="34" charset="0"/>
                          <a:ea typeface="Meiryo" pitchFamily="34" charset="-122"/>
                          <a:cs typeface="Meiryo" pitchFamily="34" charset="-120"/>
                        </a:rPr>
                        <a:t>─</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B8692E"/>
                          </a:solidFill>
                          <a:latin typeface="Meiryo" pitchFamily="34" charset="0"/>
                          <a:ea typeface="Meiryo" pitchFamily="34" charset="-122"/>
                          <a:cs typeface="Meiryo" pitchFamily="34" charset="-120"/>
                        </a:rPr>
                        <a:t>5年でしない</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B8692E"/>
                          </a:solidFill>
                          <a:latin typeface="Meiryo" pitchFamily="34" charset="0"/>
                          <a:ea typeface="Meiryo" pitchFamily="34" charset="-122"/>
                          <a:cs typeface="Meiryo" pitchFamily="34" charset="-120"/>
                        </a:rPr>
                        <a:t>▲11百万円</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67百万円</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265176">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単価 −20%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00" dirty="0">
                          <a:solidFill>
                            <a:srgbClr val="4D4D4D"/>
                          </a:solidFill>
                          <a:latin typeface="Meiryo" pitchFamily="34" charset="0"/>
                          <a:ea typeface="Meiryo" pitchFamily="34" charset="-122"/>
                          <a:cs typeface="Meiryo" pitchFamily="34" charset="-120"/>
                        </a:rPr>
                        <a:t>値引きされた</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B8692E"/>
                          </a:solidFill>
                          <a:latin typeface="Meiryo" pitchFamily="34" charset="0"/>
                          <a:ea typeface="Meiryo" pitchFamily="34" charset="-122"/>
                          <a:cs typeface="Meiryo" pitchFamily="34" charset="-120"/>
                        </a:rPr>
                        <a:t>5年でしない</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B8692E"/>
                          </a:solidFill>
                          <a:latin typeface="Meiryo" pitchFamily="34" charset="0"/>
                          <a:ea typeface="Meiryo" pitchFamily="34" charset="-122"/>
                          <a:cs typeface="Meiryo" pitchFamily="34" charset="-120"/>
                        </a:rPr>
                        <a:t>▲50百万円</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B8692E"/>
                          </a:solidFill>
                          <a:latin typeface="Meiryo" pitchFamily="34" charset="0"/>
                          <a:ea typeface="Meiryo" pitchFamily="34" charset="-122"/>
                          <a:cs typeface="Meiryo" pitchFamily="34" charset="-120"/>
                        </a:rPr>
                        <a:t>▲12百万円</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65176">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解約 年20%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00" dirty="0">
                          <a:solidFill>
                            <a:srgbClr val="4D4D4D"/>
                          </a:solidFill>
                          <a:latin typeface="Meiryo" pitchFamily="34" charset="0"/>
                          <a:ea typeface="Meiryo" pitchFamily="34" charset="-122"/>
                          <a:cs typeface="Meiryo" pitchFamily="34" charset="-120"/>
                        </a:rPr>
                        <a:t>定着しなかった</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B8692E"/>
                          </a:solidFill>
                          <a:latin typeface="Meiryo" pitchFamily="34" charset="0"/>
                          <a:ea typeface="Meiryo" pitchFamily="34" charset="-122"/>
                          <a:cs typeface="Meiryo" pitchFamily="34" charset="-120"/>
                        </a:rPr>
                        <a:t>5年でしない</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B8692E"/>
                          </a:solidFill>
                          <a:latin typeface="Meiryo" pitchFamily="34" charset="0"/>
                          <a:ea typeface="Meiryo" pitchFamily="34" charset="-122"/>
                          <a:cs typeface="Meiryo" pitchFamily="34" charset="-120"/>
                        </a:rPr>
                        <a:t>▲31百万円</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B8692E"/>
                          </a:solidFill>
                          <a:latin typeface="Meiryo" pitchFamily="34" charset="0"/>
                          <a:ea typeface="Meiryo" pitchFamily="34" charset="-122"/>
                          <a:cs typeface="Meiryo" pitchFamily="34" charset="-120"/>
                        </a:rPr>
                        <a:t>33百万円</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65176">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AI・保存費が2倍</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00" dirty="0">
                          <a:solidFill>
                            <a:srgbClr val="4D4D4D"/>
                          </a:solidFill>
                          <a:latin typeface="Meiryo" pitchFamily="34" charset="0"/>
                          <a:ea typeface="Meiryo" pitchFamily="34" charset="-122"/>
                          <a:cs typeface="Meiryo" pitchFamily="34" charset="-120"/>
                        </a:rPr>
                        <a:t>処理量が想定より多い</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B8692E"/>
                          </a:solidFill>
                          <a:latin typeface="Meiryo" pitchFamily="34" charset="0"/>
                          <a:ea typeface="Meiryo" pitchFamily="34" charset="-122"/>
                          <a:cs typeface="Meiryo" pitchFamily="34" charset="-120"/>
                        </a:rPr>
                        <a:t>5年でしない</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B8692E"/>
                          </a:solidFill>
                          <a:latin typeface="Meiryo" pitchFamily="34" charset="0"/>
                          <a:ea typeface="Meiryo" pitchFamily="34" charset="-122"/>
                          <a:cs typeface="Meiryo" pitchFamily="34" charset="-120"/>
                        </a:rPr>
                        <a:t>▲58百万円</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B8692E"/>
                          </a:solidFill>
                          <a:latin typeface="Meiryo" pitchFamily="34" charset="0"/>
                          <a:ea typeface="Meiryo" pitchFamily="34" charset="-122"/>
                          <a:cs typeface="Meiryo" pitchFamily="34" charset="-120"/>
                        </a:rPr>
                        <a:t>▲28百万円</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65176">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年収 +100万円／人</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00" dirty="0">
                          <a:solidFill>
                            <a:srgbClr val="4D4D4D"/>
                          </a:solidFill>
                          <a:latin typeface="Meiryo" pitchFamily="34" charset="0"/>
                          <a:ea typeface="Meiryo" pitchFamily="34" charset="-122"/>
                          <a:cs typeface="Meiryo" pitchFamily="34" charset="-120"/>
                        </a:rPr>
                        <a:t>採用市場が厳しい</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B8692E"/>
                          </a:solidFill>
                          <a:latin typeface="Meiryo" pitchFamily="34" charset="0"/>
                          <a:ea typeface="Meiryo" pitchFamily="34" charset="-122"/>
                          <a:cs typeface="Meiryo" pitchFamily="34" charset="-120"/>
                        </a:rPr>
                        <a:t>5年でしない</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B8692E"/>
                          </a:solidFill>
                          <a:latin typeface="Meiryo" pitchFamily="34" charset="0"/>
                          <a:ea typeface="Meiryo" pitchFamily="34" charset="-122"/>
                          <a:cs typeface="Meiryo" pitchFamily="34" charset="-120"/>
                        </a:rPr>
                        <a:t>▲39百万円</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B8692E"/>
                          </a:solidFill>
                          <a:latin typeface="Meiryo" pitchFamily="34" charset="0"/>
                          <a:ea typeface="Meiryo" pitchFamily="34" charset="-122"/>
                          <a:cs typeface="Meiryo" pitchFamily="34" charset="-120"/>
                        </a:rPr>
                        <a:t>▲12百万円</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65176">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新規 −30%（採用も連動）</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00" dirty="0">
                          <a:solidFill>
                            <a:srgbClr val="4D4D4D"/>
                          </a:solidFill>
                          <a:latin typeface="Meiryo" pitchFamily="34" charset="0"/>
                          <a:ea typeface="Meiryo" pitchFamily="34" charset="-122"/>
                          <a:cs typeface="Meiryo" pitchFamily="34" charset="-120"/>
                        </a:rPr>
                        <a:t>営業が想定より遅い</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B8692E"/>
                          </a:solidFill>
                          <a:latin typeface="Meiryo" pitchFamily="34" charset="0"/>
                          <a:ea typeface="Meiryo" pitchFamily="34" charset="-122"/>
                          <a:cs typeface="Meiryo" pitchFamily="34" charset="-120"/>
                        </a:rPr>
                        <a:t>5年でしない</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B8692E"/>
                          </a:solidFill>
                          <a:latin typeface="Meiryo" pitchFamily="34" charset="0"/>
                          <a:ea typeface="Meiryo" pitchFamily="34" charset="-122"/>
                          <a:cs typeface="Meiryo" pitchFamily="34" charset="-120"/>
                        </a:rPr>
                        <a:t>▲26百万円</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B8692E"/>
                          </a:solidFill>
                          <a:latin typeface="Meiryo" pitchFamily="34" charset="0"/>
                          <a:ea typeface="Meiryo" pitchFamily="34" charset="-122"/>
                          <a:cs typeface="Meiryo" pitchFamily="34" charset="-120"/>
                        </a:rPr>
                        <a:t>28百万円</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65176">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1拠点15台に増やせた</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00" dirty="0">
                          <a:solidFill>
                            <a:srgbClr val="4D4D4D"/>
                          </a:solidFill>
                          <a:latin typeface="Meiryo" pitchFamily="34" charset="0"/>
                          <a:ea typeface="Meiryo" pitchFamily="34" charset="-122"/>
                          <a:cs typeface="Meiryo" pitchFamily="34" charset="-120"/>
                        </a:rPr>
                        <a:t>効果が出た班から追加</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5年目</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43百万円</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110百万円</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65176">
                <a:tc>
                  <a:txBody>
                    <a:bodyPr/>
                    <a:lstStyle/>
                    <a:p>
                      <a:pPr algn="l" indent="0" marL="0">
                        <a:buNone/>
                      </a:pPr>
                      <a:r>
                        <a:rPr lang="en-US" sz="900" b="1" dirty="0">
                          <a:solidFill>
                            <a:srgbClr val="B8692E"/>
                          </a:solidFill>
                          <a:latin typeface="Meiryo" pitchFamily="34" charset="0"/>
                          <a:ea typeface="Meiryo" pitchFamily="34" charset="-122"/>
                          <a:cs typeface="Meiryo" pitchFamily="34" charset="-120"/>
                        </a:rPr>
                        <a:t>全編をクラウドで解析</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00" dirty="0">
                          <a:solidFill>
                            <a:srgbClr val="B8692E"/>
                          </a:solidFill>
                          <a:latin typeface="Meiryo" pitchFamily="34" charset="0"/>
                          <a:ea typeface="Meiryo" pitchFamily="34" charset="-122"/>
                          <a:cs typeface="Meiryo" pitchFamily="34" charset="-120"/>
                        </a:rPr>
                        <a:t>やってはいけない例</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B8692E"/>
                          </a:solidFill>
                          <a:latin typeface="Meiryo" pitchFamily="34" charset="0"/>
                          <a:ea typeface="Meiryo" pitchFamily="34" charset="-122"/>
                          <a:cs typeface="Meiryo" pitchFamily="34" charset="-120"/>
                        </a:rPr>
                        <a:t>5年でしない</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B8692E"/>
                          </a:solidFill>
                          <a:latin typeface="Meiryo" pitchFamily="34" charset="0"/>
                          <a:ea typeface="Meiryo" pitchFamily="34" charset="-122"/>
                          <a:cs typeface="Meiryo" pitchFamily="34" charset="-120"/>
                        </a:rPr>
                        <a:t>▲352百万円</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B8692E"/>
                          </a:solidFill>
                          <a:latin typeface="Meiryo" pitchFamily="34" charset="0"/>
                          <a:ea typeface="Meiryo" pitchFamily="34" charset="-122"/>
                          <a:cs typeface="Meiryo" pitchFamily="34" charset="-120"/>
                        </a:rPr>
                        <a:t>▲631百万円</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65176">
                <a:tc>
                  <a:txBody>
                    <a:bodyPr/>
                    <a:lstStyle/>
                    <a:p>
                      <a:pPr algn="l" indent="0" marL="0">
                        <a:buNone/>
                      </a:pPr>
                      <a:r>
                        <a:rPr lang="en-US" sz="900" b="1" dirty="0">
                          <a:solidFill>
                            <a:srgbClr val="B8692E"/>
                          </a:solidFill>
                          <a:latin typeface="Meiryo" pitchFamily="34" charset="0"/>
                          <a:ea typeface="Meiryo" pitchFamily="34" charset="-122"/>
                          <a:cs typeface="Meiryo" pitchFamily="34" charset="-120"/>
                        </a:rPr>
                        <a:t>新規 −30%（採用は計画どおり）</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00" dirty="0">
                          <a:solidFill>
                            <a:srgbClr val="B8692E"/>
                          </a:solidFill>
                          <a:latin typeface="Meiryo" pitchFamily="34" charset="0"/>
                          <a:ea typeface="Meiryo" pitchFamily="34" charset="-122"/>
                          <a:cs typeface="Meiryo" pitchFamily="34" charset="-120"/>
                        </a:rPr>
                        <a:t>やってはいけない例</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B8692E"/>
                          </a:solidFill>
                          <a:latin typeface="Meiryo" pitchFamily="34" charset="0"/>
                          <a:ea typeface="Meiryo" pitchFamily="34" charset="-122"/>
                          <a:cs typeface="Meiryo" pitchFamily="34" charset="-120"/>
                        </a:rPr>
                        <a:t>5年でしない</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B8692E"/>
                          </a:solidFill>
                          <a:latin typeface="Meiryo" pitchFamily="34" charset="0"/>
                          <a:ea typeface="Meiryo" pitchFamily="34" charset="-122"/>
                          <a:cs typeface="Meiryo" pitchFamily="34" charset="-120"/>
                        </a:rPr>
                        <a:t>▲76百万円</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B8692E"/>
                          </a:solidFill>
                          <a:latin typeface="Meiryo" pitchFamily="34" charset="0"/>
                          <a:ea typeface="Meiryo" pitchFamily="34" charset="-122"/>
                          <a:cs typeface="Meiryo" pitchFamily="34" charset="-120"/>
                        </a:rPr>
                        <a:t>▲83百万円</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7" name="Shape 3"/>
          <p:cNvSpPr/>
          <p:nvPr/>
        </p:nvSpPr>
        <p:spPr>
          <a:xfrm>
            <a:off x="365760" y="3840480"/>
            <a:ext cx="8412480" cy="658368"/>
          </a:xfrm>
          <a:prstGeom prst="rect">
            <a:avLst/>
          </a:prstGeom>
          <a:solidFill>
            <a:srgbClr val="1A1A1A"/>
          </a:solidFill>
          <a:ln/>
        </p:spPr>
      </p:sp>
      <p:sp>
        <p:nvSpPr>
          <p:cNvPr id="8" name="Text 4"/>
          <p:cNvSpPr txBox="1"/>
          <p:nvPr/>
        </p:nvSpPr>
        <p:spPr>
          <a:xfrm>
            <a:off x="502920" y="3840480"/>
            <a:ext cx="8138160" cy="658368"/>
          </a:xfrm>
          <a:prstGeom prst="rect">
            <a:avLst/>
          </a:prstGeom>
          <a:noFill/>
          <a:ln/>
        </p:spPr>
        <p:txBody>
          <a:bodyPr wrap="square" lIns="0" tIns="0" rIns="0" bIns="0" rtlCol="0" anchor="ctr"/>
          <a:lstStyle/>
          <a:p>
            <a:pPr algn="l" indent="0" marL="0">
              <a:lnSpc>
                <a:spcPct val="115000"/>
              </a:lnSpc>
              <a:spcAft>
                <a:spcPts val="200"/>
              </a:spcAft>
              <a:buNone/>
            </a:pPr>
            <a:r>
              <a:rPr lang="en-US" sz="900" b="1" dirty="0">
                <a:solidFill>
                  <a:srgbClr val="E3A774"/>
                </a:solidFill>
                <a:latin typeface="Meiryo" pitchFamily="34" charset="0"/>
                <a:ea typeface="Meiryo" pitchFamily="34" charset="-122"/>
                <a:cs typeface="Meiryo" pitchFamily="34" charset="-120"/>
              </a:rPr>
              <a:t>結論：</a:t>
            </a:r>
            <a:pPr algn="l" indent="0" marL="0">
              <a:lnSpc>
                <a:spcPct val="115000"/>
              </a:lnSpc>
              <a:spcAft>
                <a:spcPts val="200"/>
              </a:spcAft>
              <a:buNone/>
            </a:pPr>
            <a:r>
              <a:rPr lang="en-US" sz="900" dirty="0">
                <a:solidFill>
                  <a:srgbClr val="FFFFFF"/>
                </a:solidFill>
                <a:latin typeface="Meiryo" pitchFamily="34" charset="0"/>
                <a:ea typeface="Meiryo" pitchFamily="34" charset="-122"/>
                <a:cs typeface="Meiryo" pitchFamily="34" charset="-120"/>
              </a:rPr>
              <a:t>10台のままでは計画どおりでも5年以内に黒字にならない。値引き・解約・AI費用・年収のどれも赤字を広げる。</a:t>
            </a:r>
            <a:endParaRPr lang="en-US" sz="900" dirty="0"/>
          </a:p>
          <a:p>
            <a:pPr algn="l" indent="0" marL="0">
              <a:lnSpc>
                <a:spcPct val="115000"/>
              </a:lnSpc>
              <a:spcAft>
                <a:spcPts val="200"/>
              </a:spcAft>
              <a:buNone/>
            </a:pPr>
            <a:r>
              <a:rPr lang="en-US" sz="900" dirty="0">
                <a:solidFill>
                  <a:srgbClr val="FFFFFF"/>
                </a:solidFill>
                <a:latin typeface="Meiryo" pitchFamily="34" charset="0"/>
                <a:ea typeface="Meiryo" pitchFamily="34" charset="-122"/>
                <a:cs typeface="Meiryo" pitchFamily="34" charset="-120"/>
              </a:rPr>
              <a:t>守りは2つ。1拠点の台数を増やす（15台で5年目に黒字）と、採用を拠点数に合わせて遅らせる（p.22）</a:t>
            </a:r>
            <a:endParaRPr lang="en-US" sz="900" dirty="0"/>
          </a:p>
        </p:txBody>
      </p:sp>
      <p:sp>
        <p:nvSpPr>
          <p:cNvPr id="9" name="Text 5"/>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最低現金のライン＝4年目の販管費の3か月分（約35百万円）。自己資金は全シナリオで同じ（1年目2億円＋3年目0.5億円）。簡易計算（税・償却・運転資本は含めない）</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ext 0"/>
          <p:cNvSpPr txBox="1"/>
          <p:nvPr/>
        </p:nvSpPr>
        <p:spPr>
          <a:xfrm>
            <a:off x="5577840" y="54864"/>
            <a:ext cx="3200400" cy="182880"/>
          </a:xfrm>
          <a:prstGeom prst="rect">
            <a:avLst/>
          </a:prstGeom>
          <a:noFill/>
          <a:ln/>
        </p:spPr>
        <p:txBody>
          <a:bodyPr wrap="square" lIns="0" tIns="0" rIns="0" bIns="0" rtlCol="0" anchor="ctr"/>
          <a:lstStyle/>
          <a:p>
            <a:pPr algn="r" indent="0" marL="0">
              <a:lnSpc>
                <a:spcPct val="115000"/>
              </a:lnSpc>
              <a:buNone/>
            </a:pPr>
            <a:r>
              <a:rPr lang="en-US" sz="800" dirty="0">
                <a:solidFill>
                  <a:srgbClr val="8C8C8C"/>
                </a:solidFill>
                <a:latin typeface="Meiryo" pitchFamily="34" charset="0"/>
                <a:ea typeface="Meiryo" pitchFamily="34" charset="-122"/>
                <a:cs typeface="Meiryo" pitchFamily="34" charset="-120"/>
              </a:rPr>
              <a:t>本編 p.26・29 の詳細</a:t>
            </a:r>
            <a:endParaRPr lang="en-US" sz="800" dirty="0"/>
          </a:p>
        </p:txBody>
      </p:sp>
      <p:sp>
        <p:nvSpPr>
          <p:cNvPr id="4"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黒字化の条件と撤退ライン ─ 鍵は1拠点の台数</a:t>
            </a:r>
            <a:endParaRPr lang="en-US" sz="2000" dirty="0"/>
          </a:p>
        </p:txBody>
      </p:sp>
      <p:sp>
        <p:nvSpPr>
          <p:cNvPr id="5"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新規が計画に届かないとき、10台のままと15台に増やせた場合を比べる。止まる線を先に引く</a:t>
            </a:r>
            <a:endParaRPr lang="en-US" sz="1200" dirty="0"/>
          </a:p>
        </p:txBody>
      </p:sp>
      <p:sp>
        <p:nvSpPr>
          <p:cNvPr id="6" name="Text 3"/>
          <p:cNvSpPr txBox="1"/>
          <p:nvPr/>
        </p:nvSpPr>
        <p:spPr>
          <a:xfrm>
            <a:off x="365760" y="1024128"/>
            <a:ext cx="8412480" cy="237744"/>
          </a:xfrm>
          <a:prstGeom prst="rect">
            <a:avLst/>
          </a:prstGeom>
          <a:noFill/>
          <a:ln/>
        </p:spPr>
        <p:txBody>
          <a:bodyPr wrap="square" lIns="0" tIns="0" rIns="0" bIns="0" rtlCol="0" anchor="t"/>
          <a:lstStyle/>
          <a:p>
            <a:pPr algn="l" indent="0" marL="0">
              <a:lnSpc>
                <a:spcPct val="115000"/>
              </a:lnSpc>
              <a:buNone/>
            </a:pPr>
            <a:r>
              <a:rPr lang="en-US" sz="1000" b="1" dirty="0">
                <a:solidFill>
                  <a:srgbClr val="1A1A1A"/>
                </a:solidFill>
                <a:latin typeface="Meiryo" pitchFamily="34" charset="0"/>
                <a:ea typeface="Meiryo" pitchFamily="34" charset="-122"/>
                <a:cs typeface="Meiryo" pitchFamily="34" charset="-120"/>
              </a:rPr>
              <a:t>新規拠点が計画に届かなかったら（採用も拠点数に合わせて遅らせる・百万円）</a:t>
            </a:r>
            <a:endParaRPr lang="en-US" sz="1000" dirty="0"/>
          </a:p>
        </p:txBody>
      </p:sp>
      <p:graphicFrame>
        <p:nvGraphicFramePr>
          <p:cNvPr id="23" name="shortfall"/>
          <p:cNvGraphicFramePr>
            <a:graphicFrameLocks noGrp="1"/>
          </p:cNvGraphicFramePr>
          <p:nvPr>
            <p:extLst>
              <p:ext uri="{D42A27DB-BD31-4B8C-83A1-F6EECF244321}">
                <p14:modId xmlns:p14="http://schemas.microsoft.com/office/powerpoint/2010/main" val="1579011935"/>
              </p:ext>
            </p:extLst>
          </p:nvPr>
        </p:nvGraphicFramePr>
        <p:xfrm>
          <a:off x="365760" y="1527048"/>
          <a:ext cx="8412480" cy="914400"/>
        </p:xfrm>
        <a:graphic>
          <a:graphicData uri="http://schemas.openxmlformats.org/drawingml/2006/table">
            <a:tbl>
              <a:tblPr/>
              <a:tblGrid>
                <a:gridCol w="1143000"/>
                <a:gridCol w="1600200"/>
                <a:gridCol w="960120"/>
                <a:gridCol w="960120"/>
                <a:gridCol w="868680"/>
                <a:gridCol w="960120"/>
                <a:gridCol w="1051560"/>
                <a:gridCol w="868680"/>
              </a:tblGrid>
              <a:tr h="228600">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新規の達成度</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850" b="1" dirty="0">
                          <a:solidFill>
                            <a:srgbClr val="1A1A1A"/>
                          </a:solidFill>
                          <a:latin typeface="Meiryo" pitchFamily="34" charset="0"/>
                          <a:ea typeface="Meiryo" pitchFamily="34" charset="-122"/>
                          <a:cs typeface="Meiryo" pitchFamily="34" charset="-120"/>
                        </a:rPr>
                        <a:t>新規拠点（1〜5年目）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850" b="1" dirty="0">
                          <a:solidFill>
                            <a:srgbClr val="1A1A1A"/>
                          </a:solidFill>
                          <a:latin typeface="Meiryo" pitchFamily="34" charset="0"/>
                          <a:ea typeface="Meiryo" pitchFamily="34" charset="-122"/>
                          <a:cs typeface="Meiryo" pitchFamily="34" charset="-120"/>
                        </a:rPr>
                        <a:t>黒字化</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850" b="1" dirty="0">
                          <a:solidFill>
                            <a:srgbClr val="1A1A1A"/>
                          </a:solidFill>
                          <a:latin typeface="Meiryo" pitchFamily="34" charset="0"/>
                          <a:ea typeface="Meiryo" pitchFamily="34" charset="-122"/>
                          <a:cs typeface="Meiryo" pitchFamily="34" charset="-120"/>
                        </a:rPr>
                        <a:t>5年目利益</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850" b="1" dirty="0">
                          <a:solidFill>
                            <a:srgbClr val="1A1A1A"/>
                          </a:solidFill>
                          <a:latin typeface="Meiryo" pitchFamily="34" charset="0"/>
                          <a:ea typeface="Meiryo" pitchFamily="34" charset="-122"/>
                          <a:cs typeface="Meiryo" pitchFamily="34" charset="-120"/>
                        </a:rPr>
                        <a:t>最低現金</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850" b="1" dirty="0">
                          <a:solidFill>
                            <a:srgbClr val="1A1A1A"/>
                          </a:solidFill>
                          <a:latin typeface="Meiryo" pitchFamily="34" charset="0"/>
                          <a:ea typeface="Meiryo" pitchFamily="34" charset="-122"/>
                          <a:cs typeface="Meiryo" pitchFamily="34" charset="-120"/>
                        </a:rPr>
                        <a:t>黒字化</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850" b="1" dirty="0">
                          <a:solidFill>
                            <a:srgbClr val="1A1A1A"/>
                          </a:solidFill>
                          <a:latin typeface="Meiryo" pitchFamily="34" charset="0"/>
                          <a:ea typeface="Meiryo" pitchFamily="34" charset="-122"/>
                          <a:cs typeface="Meiryo" pitchFamily="34" charset="-120"/>
                        </a:rPr>
                        <a:t>5年目利益</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850" b="1" dirty="0">
                          <a:solidFill>
                            <a:srgbClr val="1A1A1A"/>
                          </a:solidFill>
                          <a:latin typeface="Meiryo" pitchFamily="34" charset="0"/>
                          <a:ea typeface="Meiryo" pitchFamily="34" charset="-122"/>
                          <a:cs typeface="Meiryo" pitchFamily="34" charset="-120"/>
                        </a:rPr>
                        <a:t>最低現金</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28600">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計画どおり</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4D4D4D"/>
                          </a:solidFill>
                          <a:latin typeface="Meiryo" pitchFamily="34" charset="0"/>
                          <a:ea typeface="Meiryo" pitchFamily="34" charset="-122"/>
                          <a:cs typeface="Meiryo" pitchFamily="34" charset="-120"/>
                        </a:rPr>
                        <a:t>3・9・18・27・33</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692E"/>
                          </a:solidFill>
                          <a:latin typeface="Meiryo" pitchFamily="34" charset="0"/>
                          <a:ea typeface="Meiryo" pitchFamily="34" charset="-122"/>
                          <a:cs typeface="Meiryo" pitchFamily="34" charset="-120"/>
                        </a:rPr>
                        <a:t>5年でしない</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692E"/>
                          </a:solidFill>
                          <a:latin typeface="Meiryo" pitchFamily="34" charset="0"/>
                          <a:ea typeface="Meiryo" pitchFamily="34" charset="-122"/>
                          <a:cs typeface="Meiryo" pitchFamily="34" charset="-120"/>
                        </a:rPr>
                        <a:t>▲11</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A1A1A"/>
                          </a:solidFill>
                          <a:latin typeface="Meiryo" pitchFamily="34" charset="0"/>
                          <a:ea typeface="Meiryo" pitchFamily="34" charset="-122"/>
                          <a:cs typeface="Meiryo" pitchFamily="34" charset="-120"/>
                        </a:rPr>
                        <a:t>67</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A1A1A"/>
                          </a:solidFill>
                          <a:latin typeface="Meiryo" pitchFamily="34" charset="0"/>
                          <a:ea typeface="Meiryo" pitchFamily="34" charset="-122"/>
                          <a:cs typeface="Meiryo" pitchFamily="34" charset="-120"/>
                        </a:rPr>
                        <a:t>5年目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A1A1A"/>
                          </a:solidFill>
                          <a:latin typeface="Meiryo" pitchFamily="34" charset="0"/>
                          <a:ea typeface="Meiryo" pitchFamily="34" charset="-122"/>
                          <a:cs typeface="Meiryo" pitchFamily="34" charset="-120"/>
                        </a:rPr>
                        <a:t>43</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A1A1A"/>
                          </a:solidFill>
                          <a:latin typeface="Meiryo" pitchFamily="34" charset="0"/>
                          <a:ea typeface="Meiryo" pitchFamily="34" charset="-122"/>
                          <a:cs typeface="Meiryo" pitchFamily="34" charset="-120"/>
                        </a:rPr>
                        <a:t>110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22860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計画の9割</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4D4D4D"/>
                          </a:solidFill>
                          <a:latin typeface="Meiryo" pitchFamily="34" charset="0"/>
                          <a:ea typeface="Meiryo" pitchFamily="34" charset="-122"/>
                          <a:cs typeface="Meiryo" pitchFamily="34" charset="-120"/>
                        </a:rPr>
                        <a:t>3・8・16・24・30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692E"/>
                          </a:solidFill>
                          <a:latin typeface="Meiryo" pitchFamily="34" charset="0"/>
                          <a:ea typeface="Meiryo" pitchFamily="34" charset="-122"/>
                          <a:cs typeface="Meiryo" pitchFamily="34" charset="-120"/>
                        </a:rPr>
                        <a:t>5年でしない</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B8692E"/>
                          </a:solidFill>
                          <a:latin typeface="Meiryo" pitchFamily="34" charset="0"/>
                          <a:ea typeface="Meiryo" pitchFamily="34" charset="-122"/>
                          <a:cs typeface="Meiryo" pitchFamily="34" charset="-120"/>
                        </a:rPr>
                        <a:t>▲17</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49</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5年目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31</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105</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2860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計画の8割</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4D4D4D"/>
                          </a:solidFill>
                          <a:latin typeface="Meiryo" pitchFamily="34" charset="0"/>
                          <a:ea typeface="Meiryo" pitchFamily="34" charset="-122"/>
                          <a:cs typeface="Meiryo" pitchFamily="34" charset="-120"/>
                        </a:rPr>
                        <a:t>2・7・14・22・26</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692E"/>
                          </a:solidFill>
                          <a:latin typeface="Meiryo" pitchFamily="34" charset="0"/>
                          <a:ea typeface="Meiryo" pitchFamily="34" charset="-122"/>
                          <a:cs typeface="Meiryo" pitchFamily="34" charset="-120"/>
                        </a:rPr>
                        <a:t>5年でしない</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B8692E"/>
                          </a:solidFill>
                          <a:latin typeface="Meiryo" pitchFamily="34" charset="0"/>
                          <a:ea typeface="Meiryo" pitchFamily="34" charset="-122"/>
                          <a:cs typeface="Meiryo" pitchFamily="34" charset="-120"/>
                        </a:rPr>
                        <a:t>▲22</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47</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5年目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21</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105</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2860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計画の7割</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4D4D4D"/>
                          </a:solidFill>
                          <a:latin typeface="Meiryo" pitchFamily="34" charset="0"/>
                          <a:ea typeface="Meiryo" pitchFamily="34" charset="-122"/>
                          <a:cs typeface="Meiryo" pitchFamily="34" charset="-120"/>
                        </a:rPr>
                        <a:t>2・6・13・19・23</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692E"/>
                          </a:solidFill>
                          <a:latin typeface="Meiryo" pitchFamily="34" charset="0"/>
                          <a:ea typeface="Meiryo" pitchFamily="34" charset="-122"/>
                          <a:cs typeface="Meiryo" pitchFamily="34" charset="-120"/>
                        </a:rPr>
                        <a:t>5年でしない</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B8692E"/>
                          </a:solidFill>
                          <a:latin typeface="Meiryo" pitchFamily="34" charset="0"/>
                          <a:ea typeface="Meiryo" pitchFamily="34" charset="-122"/>
                          <a:cs typeface="Meiryo" pitchFamily="34" charset="-120"/>
                        </a:rPr>
                        <a:t>▲26</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28</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5年目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12</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92</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2860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計画の6割</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4D4D4D"/>
                          </a:solidFill>
                          <a:latin typeface="Meiryo" pitchFamily="34" charset="0"/>
                          <a:ea typeface="Meiryo" pitchFamily="34" charset="-122"/>
                          <a:cs typeface="Meiryo" pitchFamily="34" charset="-120"/>
                        </a:rPr>
                        <a:t>2・5・11・16・20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692E"/>
                          </a:solidFill>
                          <a:latin typeface="Meiryo" pitchFamily="34" charset="0"/>
                          <a:ea typeface="Meiryo" pitchFamily="34" charset="-122"/>
                          <a:cs typeface="Meiryo" pitchFamily="34" charset="-120"/>
                        </a:rPr>
                        <a:t>5年でしない</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B8692E"/>
                          </a:solidFill>
                          <a:latin typeface="Meiryo" pitchFamily="34" charset="0"/>
                          <a:ea typeface="Meiryo" pitchFamily="34" charset="-122"/>
                          <a:cs typeface="Meiryo" pitchFamily="34" charset="-120"/>
                        </a:rPr>
                        <a:t>▲30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29</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5年目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2</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92</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8" name="Text 4"/>
          <p:cNvSpPr txBox="1"/>
          <p:nvPr/>
        </p:nvSpPr>
        <p:spPr>
          <a:xfrm>
            <a:off x="3108960" y="1298448"/>
            <a:ext cx="2788920" cy="210312"/>
          </a:xfrm>
          <a:prstGeom prst="rect">
            <a:avLst/>
          </a:prstGeom>
          <a:solidFill>
            <a:srgbClr val="F2F2F2"/>
          </a:solidFill>
          <a:ln/>
        </p:spPr>
        <p:txBody>
          <a:bodyPr wrap="square" lIns="0" tIns="0" rIns="0" bIns="0" rtlCol="0" anchor="ctr"/>
          <a:lstStyle/>
          <a:p>
            <a:pPr algn="ctr" indent="0" marL="0">
              <a:lnSpc>
                <a:spcPct val="115000"/>
              </a:lnSpc>
              <a:buNone/>
            </a:pPr>
            <a:r>
              <a:rPr lang="en-US" sz="850" b="1" dirty="0">
                <a:solidFill>
                  <a:srgbClr val="1A1A1A"/>
                </a:solidFill>
                <a:latin typeface="Meiryo" pitchFamily="34" charset="0"/>
                <a:ea typeface="Meiryo" pitchFamily="34" charset="-122"/>
                <a:cs typeface="Meiryo" pitchFamily="34" charset="-120"/>
              </a:rPr>
              <a:t>1拠点10台のまま</a:t>
            </a:r>
            <a:endParaRPr lang="en-US" sz="850" dirty="0"/>
          </a:p>
        </p:txBody>
      </p:sp>
      <p:sp>
        <p:nvSpPr>
          <p:cNvPr id="9" name="Text 5"/>
          <p:cNvSpPr txBox="1"/>
          <p:nvPr/>
        </p:nvSpPr>
        <p:spPr>
          <a:xfrm>
            <a:off x="5897880" y="1298448"/>
            <a:ext cx="2880360" cy="210312"/>
          </a:xfrm>
          <a:prstGeom prst="rect">
            <a:avLst/>
          </a:prstGeom>
          <a:solidFill>
            <a:srgbClr val="F2F2F2"/>
          </a:solidFill>
          <a:ln/>
        </p:spPr>
        <p:txBody>
          <a:bodyPr wrap="square" lIns="0" tIns="0" rIns="0" bIns="0" rtlCol="0" anchor="ctr"/>
          <a:lstStyle/>
          <a:p>
            <a:pPr algn="ctr" indent="0" marL="0">
              <a:lnSpc>
                <a:spcPct val="115000"/>
              </a:lnSpc>
              <a:buNone/>
            </a:pPr>
            <a:r>
              <a:rPr lang="en-US" sz="850" b="1" dirty="0">
                <a:solidFill>
                  <a:srgbClr val="B8692E"/>
                </a:solidFill>
                <a:latin typeface="Meiryo" pitchFamily="34" charset="0"/>
                <a:ea typeface="Meiryo" pitchFamily="34" charset="-122"/>
                <a:cs typeface="Meiryo" pitchFamily="34" charset="-120"/>
              </a:rPr>
              <a:t>1拠点15台に増やせた場合</a:t>
            </a:r>
            <a:endParaRPr lang="en-US" sz="850" dirty="0"/>
          </a:p>
        </p:txBody>
      </p:sp>
      <p:sp>
        <p:nvSpPr>
          <p:cNvPr id="10" name="Text 6"/>
          <p:cNvSpPr txBox="1"/>
          <p:nvPr/>
        </p:nvSpPr>
        <p:spPr>
          <a:xfrm>
            <a:off x="365760" y="2962656"/>
            <a:ext cx="8412480" cy="237744"/>
          </a:xfrm>
          <a:prstGeom prst="rect">
            <a:avLst/>
          </a:prstGeom>
          <a:noFill/>
          <a:ln/>
        </p:spPr>
        <p:txBody>
          <a:bodyPr wrap="square" lIns="0" tIns="0" rIns="0" bIns="0" rtlCol="0" anchor="t"/>
          <a:lstStyle/>
          <a:p>
            <a:pPr algn="l" indent="0" marL="0">
              <a:lnSpc>
                <a:spcPct val="115000"/>
              </a:lnSpc>
              <a:buNone/>
            </a:pPr>
            <a:r>
              <a:rPr lang="en-US" sz="1000" b="1" dirty="0">
                <a:solidFill>
                  <a:srgbClr val="1A1A1A"/>
                </a:solidFill>
                <a:latin typeface="Meiryo" pitchFamily="34" charset="0"/>
                <a:ea typeface="Meiryo" pitchFamily="34" charset="-122"/>
                <a:cs typeface="Meiryo" pitchFamily="34" charset="-120"/>
              </a:rPr>
              <a:t>進む・直す・止まるの線（案）</a:t>
            </a:r>
            <a:endParaRPr lang="en-US" sz="1000" dirty="0"/>
          </a:p>
        </p:txBody>
      </p:sp>
      <p:graphicFrame>
        <p:nvGraphicFramePr>
          <p:cNvPr id="45" name="gates"/>
          <p:cNvGraphicFramePr>
            <a:graphicFrameLocks noGrp="1"/>
          </p:cNvGraphicFramePr>
          <p:nvPr>
            <p:extLst>
              <p:ext uri="{D42A27DB-BD31-4B8C-83A1-F6EECF244321}">
                <p14:modId xmlns:p14="http://schemas.microsoft.com/office/powerpoint/2010/main" val="1579011935"/>
              </p:ext>
            </p:extLst>
          </p:nvPr>
        </p:nvGraphicFramePr>
        <p:xfrm>
          <a:off x="365760" y="3218688"/>
          <a:ext cx="8412480" cy="914400"/>
        </p:xfrm>
        <a:graphic>
          <a:graphicData uri="http://schemas.openxmlformats.org/drawingml/2006/table">
            <a:tbl>
              <a:tblPr/>
              <a:tblGrid>
                <a:gridCol w="1097280"/>
                <a:gridCol w="1737360"/>
                <a:gridCol w="1463040"/>
                <a:gridCol w="2286000"/>
                <a:gridCol w="1828800"/>
              </a:tblGrid>
              <a:tr h="228600">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時期</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測るもの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進む</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直す</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止まる</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2860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実証（準備期）</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1台1日の削減時間</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23分以上</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15〜23分：機能を写真台帳に絞る</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15分未満：撤退</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2860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1年目末</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試験導入3社の本契約</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2社以上</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1社：値段と顧客を見直す</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0社：撤退か方向転換</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2860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2年目末</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新規拠点・1拠点の台数</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5拠点以上・平均12台</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5拠点未満：採用を止める</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2860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3年目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追加の5,000万円を入れるか</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継続率90%以上</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未達：追加額と採用を絞る</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12" name="Text 7"/>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新規拠点・個社設定を同じ割合で減らし、社員数＝4＋（計画−4）×達成度で採用も遅らせた簡易計算。15台はAIグラス12台＋表示付き3台</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3" name="Text 0"/>
          <p:cNvSpPr txBox="1"/>
          <p:nvPr/>
        </p:nvSpPr>
        <p:spPr>
          <a:xfrm>
            <a:off x="5577840" y="54864"/>
            <a:ext cx="3200400" cy="182880"/>
          </a:xfrm>
          <a:prstGeom prst="rect">
            <a:avLst/>
          </a:prstGeom>
          <a:noFill/>
          <a:ln/>
        </p:spPr>
        <p:txBody>
          <a:bodyPr wrap="square" lIns="0" tIns="0" rIns="0" bIns="0" rtlCol="0" anchor="ctr"/>
          <a:lstStyle/>
          <a:p>
            <a:pPr algn="r" indent="0" marL="0">
              <a:lnSpc>
                <a:spcPct val="115000"/>
              </a:lnSpc>
              <a:buNone/>
            </a:pPr>
            <a:r>
              <a:rPr lang="en-US" sz="800" dirty="0">
                <a:solidFill>
                  <a:srgbClr val="8C8C8C"/>
                </a:solidFill>
                <a:latin typeface="Meiryo" pitchFamily="34" charset="0"/>
                <a:ea typeface="Meiryo" pitchFamily="34" charset="-122"/>
                <a:cs typeface="Meiryo" pitchFamily="34" charset="-120"/>
              </a:rPr>
              <a:t>本編 p.25 の詳細</a:t>
            </a:r>
            <a:endParaRPr lang="en-US" sz="800" dirty="0"/>
          </a:p>
        </p:txBody>
      </p:sp>
      <p:sp>
        <p:nvSpPr>
          <p:cNvPr id="4"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資金計画 ─ 自己資金 約2.55億円は積み上げで出した</a:t>
            </a:r>
            <a:endParaRPr lang="en-US" sz="2000" dirty="0"/>
          </a:p>
        </p:txBody>
      </p:sp>
      <p:sp>
        <p:nvSpPr>
          <p:cNvPr id="5"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課題の前提「豊富な資金」。それでも「あるだけ使う」ではなく「必要額を積み、段階に分けて入れる」</a:t>
            </a:r>
            <a:endParaRPr lang="en-US" sz="1200" dirty="0"/>
          </a:p>
        </p:txBody>
      </p:sp>
      <p:sp>
        <p:nvSpPr>
          <p:cNvPr id="6" name="Text 3"/>
          <p:cNvSpPr txBox="1"/>
          <p:nvPr/>
        </p:nvSpPr>
        <p:spPr>
          <a:xfrm>
            <a:off x="365760" y="1051560"/>
            <a:ext cx="40690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必要資金の積み上げ</a:t>
            </a:r>
            <a:endParaRPr lang="en-US" sz="1050" dirty="0"/>
          </a:p>
        </p:txBody>
      </p:sp>
      <p:graphicFrame>
        <p:nvGraphicFramePr>
          <p:cNvPr id="24" name="need"/>
          <p:cNvGraphicFramePr>
            <a:graphicFrameLocks noGrp="1"/>
          </p:cNvGraphicFramePr>
          <p:nvPr>
            <p:extLst>
              <p:ext uri="{D42A27DB-BD31-4B8C-83A1-F6EECF244321}">
                <p14:modId xmlns:p14="http://schemas.microsoft.com/office/powerpoint/2010/main" val="1579011935"/>
              </p:ext>
            </p:extLst>
          </p:nvPr>
        </p:nvGraphicFramePr>
        <p:xfrm>
          <a:off x="365760" y="1325880"/>
          <a:ext cx="4069080" cy="914400"/>
        </p:xfrm>
        <a:graphic>
          <a:graphicData uri="http://schemas.openxmlformats.org/drawingml/2006/table">
            <a:tbl>
              <a:tblPr/>
              <a:tblGrid>
                <a:gridCol w="1325880"/>
                <a:gridCol w="1005840"/>
                <a:gridCol w="1737360"/>
              </a:tblGrid>
              <a:tr h="256032">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項目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850" b="1" dirty="0">
                          <a:solidFill>
                            <a:srgbClr val="1A1A1A"/>
                          </a:solidFill>
                          <a:latin typeface="Meiryo" pitchFamily="34" charset="0"/>
                          <a:ea typeface="Meiryo" pitchFamily="34" charset="-122"/>
                          <a:cs typeface="Meiryo" pitchFamily="34" charset="-120"/>
                        </a:rPr>
                        <a:t>金額</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計算</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56032">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赤字の累計のピーク</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18,280万円</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1〜5年目の赤字の合計</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56032">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最低残高</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3,540万円</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4年目の販管費の3か月分</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56032">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遅れへの備え</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3,180万円</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残り（計画が遅れたときの吸収分）</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56032">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準備期</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500万円</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試作品・実証</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56032">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合計</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A1A1A"/>
                          </a:solidFill>
                          <a:latin typeface="Meiryo" pitchFamily="34" charset="0"/>
                          <a:ea typeface="Meiryo" pitchFamily="34" charset="-122"/>
                          <a:cs typeface="Meiryo" pitchFamily="34" charset="-120"/>
                        </a:rPr>
                        <a:t>2億5,500万円</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すべて自己資金</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8" name="Text 4"/>
          <p:cNvSpPr txBox="1"/>
          <p:nvPr/>
        </p:nvSpPr>
        <p:spPr>
          <a:xfrm>
            <a:off x="365760" y="2953512"/>
            <a:ext cx="40690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入れる順番と条件</a:t>
            </a:r>
            <a:endParaRPr lang="en-US" sz="1050" dirty="0"/>
          </a:p>
        </p:txBody>
      </p:sp>
      <p:graphicFrame>
        <p:nvGraphicFramePr>
          <p:cNvPr id="47" name="raise"/>
          <p:cNvGraphicFramePr>
            <a:graphicFrameLocks noGrp="1"/>
          </p:cNvGraphicFramePr>
          <p:nvPr>
            <p:extLst>
              <p:ext uri="{D42A27DB-BD31-4B8C-83A1-F6EECF244321}">
                <p14:modId xmlns:p14="http://schemas.microsoft.com/office/powerpoint/2010/main" val="1579011935"/>
              </p:ext>
            </p:extLst>
          </p:nvPr>
        </p:nvGraphicFramePr>
        <p:xfrm>
          <a:off x="365760" y="3227832"/>
          <a:ext cx="4069080" cy="914400"/>
        </p:xfrm>
        <a:graphic>
          <a:graphicData uri="http://schemas.openxmlformats.org/drawingml/2006/table">
            <a:tbl>
              <a:tblPr/>
              <a:tblGrid>
                <a:gridCol w="731520"/>
                <a:gridCol w="2194560"/>
                <a:gridCol w="1143000"/>
              </a:tblGrid>
              <a:tr h="246888">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時期</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条件</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850" b="1" dirty="0">
                          <a:solidFill>
                            <a:srgbClr val="1A1A1A"/>
                          </a:solidFill>
                          <a:latin typeface="Meiryo" pitchFamily="34" charset="0"/>
                          <a:ea typeface="Meiryo" pitchFamily="34" charset="-122"/>
                          <a:cs typeface="Meiryo" pitchFamily="34" charset="-120"/>
                        </a:rPr>
                        <a:t>金額</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46888">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準備期</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500万円</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1年目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実証で1台1日23分以上</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2億円</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3年目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継続率90%・平均12台</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5,000万円</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10" name="Text 5"/>
          <p:cNvSpPr txBox="1"/>
          <p:nvPr/>
        </p:nvSpPr>
        <p:spPr>
          <a:xfrm>
            <a:off x="4709160" y="1051560"/>
            <a:ext cx="40690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期末の現金残高（簡易計算・百万円）</a:t>
            </a:r>
            <a:endParaRPr lang="en-US" sz="1050" dirty="0"/>
          </a:p>
        </p:txBody>
      </p:sp>
      <p:graphicFrame>
        <p:nvGraphicFramePr>
          <p:cNvPr id="70" name="cash"/>
          <p:cNvGraphicFramePr>
            <a:graphicFrameLocks noGrp="1"/>
          </p:cNvGraphicFramePr>
          <p:nvPr>
            <p:extLst>
              <p:ext uri="{D42A27DB-BD31-4B8C-83A1-F6EECF244321}">
                <p14:modId xmlns:p14="http://schemas.microsoft.com/office/powerpoint/2010/main" val="1579011935"/>
              </p:ext>
            </p:extLst>
          </p:nvPr>
        </p:nvGraphicFramePr>
        <p:xfrm>
          <a:off x="4709160" y="1325880"/>
          <a:ext cx="4069080" cy="914400"/>
        </p:xfrm>
        <a:graphic>
          <a:graphicData uri="http://schemas.openxmlformats.org/drawingml/2006/table">
            <a:tbl>
              <a:tblPr/>
              <a:tblGrid>
                <a:gridCol w="1097280"/>
                <a:gridCol w="594360"/>
                <a:gridCol w="594360"/>
                <a:gridCol w="594360"/>
                <a:gridCol w="594360"/>
                <a:gridCol w="594360"/>
              </a:tblGrid>
              <a:tr h="274320">
                <a:tc>
                  <a:txBody>
                    <a:bodyPr/>
                    <a:lstStyle/>
                    <a:p>
                      <a:pPr algn="l" indent="0" marL="0">
                        <a:buNone/>
                      </a:pP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1年目</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2年目</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3年目</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4年目</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5年目</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74320">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調達</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200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50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営業損益</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▲48</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▲48</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▲37</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▲39</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▲11</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900" b="1" dirty="0">
                          <a:solidFill>
                            <a:srgbClr val="1A1A1A"/>
                          </a:solidFill>
                          <a:latin typeface="Meiryo" pitchFamily="34" charset="0"/>
                          <a:ea typeface="Meiryo" pitchFamily="34" charset="-122"/>
                          <a:cs typeface="Meiryo" pitchFamily="34" charset="-120"/>
                        </a:rPr>
                        <a:t>期末現金</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152</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104</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117</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78</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67</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12" name="Shape 6"/>
          <p:cNvSpPr/>
          <p:nvPr/>
        </p:nvSpPr>
        <p:spPr>
          <a:xfrm>
            <a:off x="4709160" y="2560320"/>
            <a:ext cx="4069080" cy="1828800"/>
          </a:xfrm>
          <a:prstGeom prst="rect">
            <a:avLst/>
          </a:prstGeom>
          <a:solidFill>
            <a:srgbClr val="1A1A1A"/>
          </a:solidFill>
          <a:ln/>
        </p:spPr>
      </p:sp>
      <p:sp>
        <p:nvSpPr>
          <p:cNvPr id="13" name="Text 7"/>
          <p:cNvSpPr txBox="1"/>
          <p:nvPr/>
        </p:nvSpPr>
        <p:spPr>
          <a:xfrm>
            <a:off x="4846320" y="2606040"/>
            <a:ext cx="3794760" cy="1737360"/>
          </a:xfrm>
          <a:prstGeom prst="rect">
            <a:avLst/>
          </a:prstGeom>
          <a:noFill/>
          <a:ln/>
        </p:spPr>
        <p:txBody>
          <a:bodyPr wrap="square" lIns="0" tIns="0" rIns="0" bIns="0" rtlCol="0" anchor="ctr"/>
          <a:lstStyle/>
          <a:p>
            <a:pPr algn="l" indent="0" marL="0">
              <a:lnSpc>
                <a:spcPct val="115000"/>
              </a:lnSpc>
              <a:spcAft>
                <a:spcPts val="400"/>
              </a:spcAft>
              <a:buNone/>
            </a:pPr>
            <a:r>
              <a:rPr lang="en-US" sz="950" b="1" dirty="0">
                <a:solidFill>
                  <a:srgbClr val="E3A774"/>
                </a:solidFill>
                <a:latin typeface="Meiryo" pitchFamily="34" charset="0"/>
                <a:ea typeface="Meiryo" pitchFamily="34" charset="-122"/>
                <a:cs typeface="Meiryo" pitchFamily="34" charset="-120"/>
              </a:rPr>
              <a:t>黒字倒産を防ぐ4つのルール</a:t>
            </a:r>
            <a:endParaRPr lang="en-US" sz="950" dirty="0"/>
          </a:p>
          <a:p>
            <a:pPr algn="l" indent="0" marL="0">
              <a:lnSpc>
                <a:spcPct val="115000"/>
              </a:lnSpc>
              <a:spcAft>
                <a:spcPts val="400"/>
              </a:spcAft>
              <a:buNone/>
            </a:pPr>
            <a:r>
              <a:rPr lang="en-US" sz="950" dirty="0">
                <a:solidFill>
                  <a:srgbClr val="FFFFFF"/>
                </a:solidFill>
                <a:latin typeface="Meiryo" pitchFamily="34" charset="0"/>
                <a:ea typeface="Meiryo" pitchFamily="34" charset="-122"/>
                <a:cs typeface="Meiryo" pitchFamily="34" charset="-120"/>
              </a:rPr>
              <a:t>① 利用料は年額前払い。導入支援は着手金50%</a:t>
            </a:r>
            <a:endParaRPr lang="en-US" sz="950" dirty="0"/>
          </a:p>
          <a:p>
            <a:pPr algn="l" indent="0" marL="0">
              <a:lnSpc>
                <a:spcPct val="115000"/>
              </a:lnSpc>
              <a:spcAft>
                <a:spcPts val="400"/>
              </a:spcAft>
              <a:buNone/>
            </a:pPr>
            <a:r>
              <a:rPr lang="en-US" sz="950" dirty="0">
                <a:solidFill>
                  <a:srgbClr val="FFFFFF"/>
                </a:solidFill>
                <a:latin typeface="Meiryo" pitchFamily="34" charset="0"/>
                <a:ea typeface="Meiryo" pitchFamily="34" charset="-122"/>
                <a:cs typeface="Meiryo" pitchFamily="34" charset="-120"/>
              </a:rPr>
              <a:t>② 現金が固定費3か月分を割りそうなら、先に採用を止める</a:t>
            </a:r>
            <a:endParaRPr lang="en-US" sz="950" dirty="0"/>
          </a:p>
          <a:p>
            <a:pPr algn="l" indent="0" marL="0">
              <a:lnSpc>
                <a:spcPct val="115000"/>
              </a:lnSpc>
              <a:spcAft>
                <a:spcPts val="400"/>
              </a:spcAft>
              <a:buNone/>
            </a:pPr>
            <a:r>
              <a:rPr lang="en-US" sz="950" dirty="0">
                <a:solidFill>
                  <a:srgbClr val="FFFFFF"/>
                </a:solidFill>
                <a:latin typeface="Meiryo" pitchFamily="34" charset="0"/>
                <a:ea typeface="Meiryo" pitchFamily="34" charset="-122"/>
                <a:cs typeface="Meiryo" pitchFamily="34" charset="-120"/>
              </a:rPr>
              <a:t>③ 資金繰り表で12か月先までの入出金を管理</a:t>
            </a:r>
            <a:endParaRPr lang="en-US" sz="950" dirty="0"/>
          </a:p>
          <a:p>
            <a:pPr algn="l" indent="0" marL="0">
              <a:lnSpc>
                <a:spcPct val="115000"/>
              </a:lnSpc>
              <a:spcAft>
                <a:spcPts val="400"/>
              </a:spcAft>
              <a:buNone/>
            </a:pPr>
            <a:r>
              <a:rPr lang="en-US" sz="950" dirty="0">
                <a:solidFill>
                  <a:srgbClr val="FFFFFF"/>
                </a:solidFill>
                <a:latin typeface="Meiryo" pitchFamily="34" charset="0"/>
                <a:ea typeface="Meiryo" pitchFamily="34" charset="-122"/>
                <a:cs typeface="Meiryo" pitchFamily="34" charset="-120"/>
              </a:rPr>
              <a:t>④ 採用は期末で社員1人約4拠点の見込みが立ってから</a:t>
            </a:r>
            <a:endParaRPr lang="en-US" sz="950" dirty="0"/>
          </a:p>
        </p:txBody>
      </p:sp>
      <p:sp>
        <p:nvSpPr>
          <p:cNvPr id="14" name="Text 8"/>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融資・出資は使わないので返済・利息はない。外の資金を入れるなら成熟期（上場）。簡易計算（税・償却・運転資本を除く）</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3" name="Text 0"/>
          <p:cNvSpPr txBox="1"/>
          <p:nvPr/>
        </p:nvSpPr>
        <p:spPr>
          <a:xfrm>
            <a:off x="5577840" y="54864"/>
            <a:ext cx="3200400" cy="182880"/>
          </a:xfrm>
          <a:prstGeom prst="rect">
            <a:avLst/>
          </a:prstGeom>
          <a:noFill/>
          <a:ln/>
        </p:spPr>
        <p:txBody>
          <a:bodyPr wrap="square" lIns="0" tIns="0" rIns="0" bIns="0" rtlCol="0" anchor="ctr"/>
          <a:lstStyle/>
          <a:p>
            <a:pPr algn="r" indent="0" marL="0">
              <a:lnSpc>
                <a:spcPct val="115000"/>
              </a:lnSpc>
              <a:buNone/>
            </a:pPr>
            <a:r>
              <a:rPr lang="en-US" sz="800" dirty="0">
                <a:solidFill>
                  <a:srgbClr val="8C8C8C"/>
                </a:solidFill>
                <a:latin typeface="Meiryo" pitchFamily="34" charset="0"/>
                <a:ea typeface="Meiryo" pitchFamily="34" charset="-122"/>
                <a:cs typeface="Meiryo" pitchFamily="34" charset="-120"/>
              </a:rPr>
              <a:t>本編 p.18 の詳細</a:t>
            </a:r>
            <a:endParaRPr lang="en-US" sz="800" dirty="0"/>
          </a:p>
        </p:txBody>
      </p:sp>
      <p:sp>
        <p:nvSpPr>
          <p:cNvPr id="4"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市場規模の計算 ─ 業種×規模で数えて約141億円</a:t>
            </a:r>
            <a:endParaRPr lang="en-US" sz="2000" dirty="0"/>
          </a:p>
        </p:txBody>
      </p:sp>
      <p:sp>
        <p:nvSpPr>
          <p:cNvPr id="5"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全体市場は第三者の調査、ターゲット市場は「顧客数×年額×年1回」を足し上げる</a:t>
            </a:r>
            <a:endParaRPr lang="en-US" sz="1200" dirty="0"/>
          </a:p>
        </p:txBody>
      </p:sp>
      <p:graphicFrame>
        <p:nvGraphicFramePr>
          <p:cNvPr id="25" name="seg-matrix"/>
          <p:cNvGraphicFramePr>
            <a:graphicFrameLocks noGrp="1"/>
          </p:cNvGraphicFramePr>
          <p:nvPr>
            <p:extLst>
              <p:ext uri="{D42A27DB-BD31-4B8C-83A1-F6EECF244321}">
                <p14:modId xmlns:p14="http://schemas.microsoft.com/office/powerpoint/2010/main" val="1579011935"/>
              </p:ext>
            </p:extLst>
          </p:nvPr>
        </p:nvGraphicFramePr>
        <p:xfrm>
          <a:off x="365760" y="1051560"/>
          <a:ext cx="5577840" cy="914400"/>
        </p:xfrm>
        <a:graphic>
          <a:graphicData uri="http://schemas.openxmlformats.org/drawingml/2006/table">
            <a:tbl>
              <a:tblPr/>
              <a:tblGrid>
                <a:gridCol w="1325880"/>
                <a:gridCol w="1463040"/>
                <a:gridCol w="1508760"/>
                <a:gridCol w="1280160"/>
              </a:tblGrid>
              <a:tr h="347472">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業種＼規模</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850" b="1" dirty="0">
                          <a:solidFill>
                            <a:srgbClr val="1A1A1A"/>
                          </a:solidFill>
                          <a:latin typeface="Meiryo" pitchFamily="34" charset="0"/>
                          <a:ea typeface="Meiryo" pitchFamily="34" charset="-122"/>
                          <a:cs typeface="Meiryo" pitchFamily="34" charset="-120"/>
                        </a:rPr>
                        <a:t>大（300人以上）</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850" b="1" dirty="0">
                          <a:solidFill>
                            <a:srgbClr val="1A1A1A"/>
                          </a:solidFill>
                          <a:latin typeface="Meiryo" pitchFamily="34" charset="0"/>
                          <a:ea typeface="Meiryo" pitchFamily="34" charset="-122"/>
                          <a:cs typeface="Meiryo" pitchFamily="34" charset="-120"/>
                        </a:rPr>
                        <a:t>中（30〜299人）</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850" b="1" dirty="0">
                          <a:solidFill>
                            <a:srgbClr val="1A1A1A"/>
                          </a:solidFill>
                          <a:latin typeface="Meiryo" pitchFamily="34" charset="0"/>
                          <a:ea typeface="Meiryo" pitchFamily="34" charset="-122"/>
                          <a:cs typeface="Meiryo" pitchFamily="34" charset="-120"/>
                        </a:rPr>
                        <a:t>小（30人未満）</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347472">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電気工事会社</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300社×1,500万＝45億</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A1A1A"/>
                          </a:solidFill>
                          <a:latin typeface="Meiryo" pitchFamily="34" charset="0"/>
                          <a:ea typeface="Meiryo" pitchFamily="34" charset="-122"/>
                          <a:cs typeface="Meiryo" pitchFamily="34" charset="-120"/>
                        </a:rPr>
                        <a:t>2,100社×300万＝63億</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6E7DA"/>
                    </a:solidFill>
                  </a:tcPr>
                </a:tc>
                <a:tc>
                  <a:txBody>
                    <a:bodyPr/>
                    <a:lstStyle/>
                    <a:p>
                      <a:pPr algn="ctr" indent="0" marL="0">
                        <a:buNone/>
                      </a:pPr>
                      <a:r>
                        <a:rPr lang="en-US" sz="850" dirty="0">
                          <a:solidFill>
                            <a:srgbClr val="8C8C8C"/>
                          </a:solidFill>
                          <a:latin typeface="Meiryo" pitchFamily="34" charset="0"/>
                          <a:ea typeface="Meiryo" pitchFamily="34" charset="-122"/>
                          <a:cs typeface="Meiryo" pitchFamily="34" charset="-120"/>
                        </a:rPr>
                        <a:t>対象外</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347472">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電気通信工事会社</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100社×1,500万＝15億</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600社×300万＝18億</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8C8C8C"/>
                          </a:solidFill>
                          <a:latin typeface="Meiryo" pitchFamily="34" charset="0"/>
                          <a:ea typeface="Meiryo" pitchFamily="34" charset="-122"/>
                          <a:cs typeface="Meiryo" pitchFamily="34" charset="-120"/>
                        </a:rPr>
                        <a:t>─</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347472">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電線・ケーブル工場</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8C8C8C"/>
                          </a:solidFill>
                          <a:latin typeface="Meiryo" pitchFamily="34" charset="0"/>
                          <a:ea typeface="Meiryo" pitchFamily="34" charset="-122"/>
                          <a:cs typeface="Meiryo" pitchFamily="34" charset="-120"/>
                        </a:rPr>
                        <a:t>隣接市場</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8C8C8C"/>
                          </a:solidFill>
                          <a:latin typeface="Meiryo" pitchFamily="34" charset="0"/>
                          <a:ea typeface="Meiryo" pitchFamily="34" charset="-122"/>
                          <a:cs typeface="Meiryo" pitchFamily="34" charset="-120"/>
                        </a:rPr>
                        <a:t>隣接市場</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8C8C8C"/>
                          </a:solidFill>
                          <a:latin typeface="Meiryo" pitchFamily="34" charset="0"/>
                          <a:ea typeface="Meiryo" pitchFamily="34" charset="-122"/>
                          <a:cs typeface="Meiryo" pitchFamily="34" charset="-120"/>
                        </a:rPr>
                        <a:t>隣接市場</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graphicFrame>
        <p:nvGraphicFramePr>
          <p:cNvPr id="49" name="market-assump"/>
          <p:cNvGraphicFramePr>
            <a:graphicFrameLocks noGrp="1"/>
          </p:cNvGraphicFramePr>
          <p:nvPr>
            <p:extLst>
              <p:ext uri="{D42A27DB-BD31-4B8C-83A1-F6EECF244321}">
                <p14:modId xmlns:p14="http://schemas.microsoft.com/office/powerpoint/2010/main" val="1579011935"/>
              </p:ext>
            </p:extLst>
          </p:nvPr>
        </p:nvGraphicFramePr>
        <p:xfrm>
          <a:off x="365760" y="2560320"/>
          <a:ext cx="5577840" cy="914400"/>
        </p:xfrm>
        <a:graphic>
          <a:graphicData uri="http://schemas.openxmlformats.org/drawingml/2006/table">
            <a:tbl>
              <a:tblPr/>
              <a:tblGrid>
                <a:gridCol w="2011680"/>
                <a:gridCol w="3017520"/>
                <a:gridCol w="548640"/>
              </a:tblGrid>
              <a:tr h="246888">
                <a:tc>
                  <a:txBody>
                    <a:bodyPr/>
                    <a:lstStyle/>
                    <a:p>
                      <a:pPr algn="l" indent="0" marL="0">
                        <a:buNone/>
                      </a:pPr>
                      <a:r>
                        <a:rPr lang="en-US" sz="800" b="1" dirty="0">
                          <a:solidFill>
                            <a:srgbClr val="1A1A1A"/>
                          </a:solidFill>
                          <a:latin typeface="Meiryo" pitchFamily="34" charset="0"/>
                          <a:ea typeface="Meiryo" pitchFamily="34" charset="-122"/>
                          <a:cs typeface="Meiryo" pitchFamily="34" charset="-120"/>
                        </a:rPr>
                        <a:t>前提</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00" b="1" dirty="0">
                          <a:solidFill>
                            <a:srgbClr val="1A1A1A"/>
                          </a:solidFill>
                          <a:latin typeface="Meiryo" pitchFamily="34" charset="0"/>
                          <a:ea typeface="Meiryo" pitchFamily="34" charset="-122"/>
                          <a:cs typeface="Meiryo" pitchFamily="34" charset="-120"/>
                        </a:rPr>
                        <a:t>値</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800" b="1" dirty="0">
                          <a:solidFill>
                            <a:srgbClr val="1A1A1A"/>
                          </a:solidFill>
                          <a:latin typeface="Meiryo" pitchFamily="34" charset="0"/>
                          <a:ea typeface="Meiryo" pitchFamily="34" charset="-122"/>
                          <a:cs typeface="Meiryo" pitchFamily="34" charset="-120"/>
                        </a:rPr>
                        <a:t>確度</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46888">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電気工事業の許可業者</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65,497社（令和7年3月末）</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A1A1A"/>
                          </a:solidFill>
                          <a:latin typeface="Meiryo" pitchFamily="34" charset="0"/>
                          <a:ea typeface="Meiryo" pitchFamily="34" charset="-122"/>
                          <a:cs typeface="Meiryo" pitchFamily="34" charset="-120"/>
                        </a:rPr>
                        <a:t>統計</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規模別の内訳（大300・中2,100）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資本金5,000万円以上 約2,400社を分けた</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A1A1A"/>
                          </a:solidFill>
                          <a:latin typeface="Meiryo" pitchFamily="34" charset="0"/>
                          <a:ea typeface="Meiryo" pitchFamily="34" charset="-122"/>
                          <a:cs typeface="Meiryo" pitchFamily="34" charset="-120"/>
                        </a:rPr>
                        <a:t>仮説</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電気通信工事の中堅以上</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約700社（完成工事高の比率から）</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A1A1A"/>
                          </a:solidFill>
                          <a:latin typeface="Meiryo" pitchFamily="34" charset="0"/>
                          <a:ea typeface="Meiryo" pitchFamily="34" charset="-122"/>
                          <a:cs typeface="Meiryo" pitchFamily="34" charset="-120"/>
                        </a:rPr>
                        <a:t>仮説</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1拠点の年額</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標準10台で300万円。大手は支店5拠点</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A1A1A"/>
                          </a:solidFill>
                          <a:latin typeface="Meiryo" pitchFamily="34" charset="0"/>
                          <a:ea typeface="Meiryo" pitchFamily="34" charset="-122"/>
                          <a:cs typeface="Meiryo" pitchFamily="34" charset="-120"/>
                        </a:rPr>
                        <a:t>見積</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小規模を外す理由</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書類の量が少なく、1台1日23分を満たしにくい</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A1A1A"/>
                          </a:solidFill>
                          <a:latin typeface="Meiryo" pitchFamily="34" charset="0"/>
                          <a:ea typeface="Meiryo" pitchFamily="34" charset="-122"/>
                          <a:cs typeface="Meiryo" pitchFamily="34" charset="-120"/>
                        </a:rPr>
                        <a:t>見積</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8" name="Shape 3"/>
          <p:cNvSpPr/>
          <p:nvPr/>
        </p:nvSpPr>
        <p:spPr>
          <a:xfrm>
            <a:off x="6126480" y="1051560"/>
            <a:ext cx="2651760" cy="1371600"/>
          </a:xfrm>
          <a:prstGeom prst="rect">
            <a:avLst/>
          </a:prstGeom>
          <a:solidFill>
            <a:srgbClr val="1A1A1A"/>
          </a:solidFill>
          <a:ln/>
        </p:spPr>
      </p:sp>
      <p:sp>
        <p:nvSpPr>
          <p:cNvPr id="9" name="Text 4"/>
          <p:cNvSpPr txBox="1"/>
          <p:nvPr/>
        </p:nvSpPr>
        <p:spPr>
          <a:xfrm>
            <a:off x="6236208" y="1097280"/>
            <a:ext cx="2432304" cy="1280160"/>
          </a:xfrm>
          <a:prstGeom prst="rect">
            <a:avLst/>
          </a:prstGeom>
          <a:noFill/>
          <a:ln/>
        </p:spPr>
        <p:txBody>
          <a:bodyPr wrap="square" lIns="0" tIns="0" rIns="0" bIns="0" rtlCol="0" anchor="ctr"/>
          <a:lstStyle/>
          <a:p>
            <a:pPr algn="l" indent="0" marL="0">
              <a:lnSpc>
                <a:spcPct val="115000"/>
              </a:lnSpc>
              <a:spcAft>
                <a:spcPts val="200"/>
              </a:spcAft>
              <a:buNone/>
            </a:pPr>
            <a:r>
              <a:rPr lang="en-US" sz="1000" b="1" dirty="0">
                <a:solidFill>
                  <a:srgbClr val="E3A774"/>
                </a:solidFill>
                <a:latin typeface="Meiryo" pitchFamily="34" charset="0"/>
                <a:ea typeface="Meiryo" pitchFamily="34" charset="-122"/>
                <a:cs typeface="Meiryo" pitchFamily="34" charset="-120"/>
              </a:rPr>
              <a:t>ターゲット市場</a:t>
            </a:r>
            <a:endParaRPr lang="en-US" sz="1000" dirty="0"/>
          </a:p>
          <a:p>
            <a:pPr algn="l" indent="0" marL="0">
              <a:lnSpc>
                <a:spcPct val="115000"/>
              </a:lnSpc>
              <a:spcAft>
                <a:spcPts val="200"/>
              </a:spcAft>
              <a:buNone/>
            </a:pPr>
            <a:r>
              <a:rPr lang="en-US" sz="2000" b="1" dirty="0">
                <a:solidFill>
                  <a:srgbClr val="FFFFFF"/>
                </a:solidFill>
                <a:latin typeface="Meiryo" pitchFamily="34" charset="0"/>
                <a:ea typeface="Meiryo" pitchFamily="34" charset="-122"/>
                <a:cs typeface="Meiryo" pitchFamily="34" charset="-120"/>
              </a:rPr>
              <a:t>約141億円</a:t>
            </a:r>
            <a:endParaRPr lang="en-US" sz="1000" dirty="0"/>
          </a:p>
          <a:p>
            <a:pPr algn="l" indent="0" marL="0">
              <a:lnSpc>
                <a:spcPct val="115000"/>
              </a:lnSpc>
              <a:spcAft>
                <a:spcPts val="200"/>
              </a:spcAft>
              <a:buNone/>
            </a:pPr>
            <a:r>
              <a:rPr lang="en-US" sz="900" dirty="0">
                <a:solidFill>
                  <a:srgbClr val="FFFFFF"/>
                </a:solidFill>
                <a:latin typeface="Meiryo" pitchFamily="34" charset="0"/>
                <a:ea typeface="Meiryo" pitchFamily="34" charset="-122"/>
                <a:cs typeface="Meiryo" pitchFamily="34" charset="-120"/>
              </a:rPr>
              <a:t>中堅以上 約3,100社</a:t>
            </a:r>
            <a:endParaRPr lang="en-US" sz="1000" dirty="0"/>
          </a:p>
        </p:txBody>
      </p:sp>
      <p:sp>
        <p:nvSpPr>
          <p:cNvPr id="10" name="Shape 5"/>
          <p:cNvSpPr/>
          <p:nvPr/>
        </p:nvSpPr>
        <p:spPr>
          <a:xfrm>
            <a:off x="6126480" y="2514600"/>
            <a:ext cx="2651760" cy="1325880"/>
          </a:xfrm>
          <a:prstGeom prst="rect">
            <a:avLst/>
          </a:prstGeom>
          <a:solidFill>
            <a:srgbClr val="F2F2F2"/>
          </a:solidFill>
          <a:ln/>
        </p:spPr>
      </p:sp>
      <p:sp>
        <p:nvSpPr>
          <p:cNvPr id="11" name="Text 6"/>
          <p:cNvSpPr txBox="1"/>
          <p:nvPr/>
        </p:nvSpPr>
        <p:spPr>
          <a:xfrm>
            <a:off x="6236208" y="2560320"/>
            <a:ext cx="2432304" cy="1234440"/>
          </a:xfrm>
          <a:prstGeom prst="rect">
            <a:avLst/>
          </a:prstGeom>
          <a:noFill/>
          <a:ln/>
        </p:spPr>
        <p:txBody>
          <a:bodyPr wrap="square" lIns="0" tIns="0" rIns="0" bIns="0" rtlCol="0" anchor="ctr"/>
          <a:lstStyle/>
          <a:p>
            <a:pPr algn="l" indent="0" marL="0">
              <a:lnSpc>
                <a:spcPct val="115000"/>
              </a:lnSpc>
              <a:spcAft>
                <a:spcPts val="100"/>
              </a:spcAft>
              <a:buNone/>
            </a:pPr>
            <a:r>
              <a:rPr lang="en-US" sz="850" b="1" dirty="0">
                <a:solidFill>
                  <a:srgbClr val="1A1A1A"/>
                </a:solidFill>
                <a:latin typeface="Meiryo" pitchFamily="34" charset="0"/>
                <a:ea typeface="Meiryo" pitchFamily="34" charset="-122"/>
                <a:cs typeface="Meiryo" pitchFamily="34" charset="-120"/>
              </a:rPr>
              <a:t>全体市場（第三者の調査）</a:t>
            </a:r>
            <a:endParaRPr lang="en-US" sz="850" dirty="0"/>
          </a:p>
          <a:p>
            <a:pPr algn="l" indent="0" marL="0">
              <a:lnSpc>
                <a:spcPct val="115000"/>
              </a:lnSpc>
              <a:spcAft>
                <a:spcPts val="100"/>
              </a:spcAft>
              <a:buNone/>
            </a:pPr>
            <a:r>
              <a:rPr lang="en-US" sz="850" dirty="0">
                <a:solidFill>
                  <a:srgbClr val="1A1A1A"/>
                </a:solidFill>
                <a:latin typeface="Meiryo" pitchFamily="34" charset="0"/>
                <a:ea typeface="Meiryo" pitchFamily="34" charset="-122"/>
                <a:cs typeface="Meiryo" pitchFamily="34" charset="-120"/>
              </a:rPr>
              <a:t>建設テック（建築分野）</a:t>
            </a:r>
            <a:endParaRPr lang="en-US" sz="850" dirty="0"/>
          </a:p>
          <a:p>
            <a:pPr algn="l" indent="0" marL="0">
              <a:lnSpc>
                <a:spcPct val="115000"/>
              </a:lnSpc>
              <a:spcAft>
                <a:spcPts val="100"/>
              </a:spcAft>
              <a:buNone/>
            </a:pPr>
            <a:r>
              <a:rPr lang="en-US" sz="850" b="1" dirty="0">
                <a:solidFill>
                  <a:srgbClr val="1A1A1A"/>
                </a:solidFill>
                <a:latin typeface="Meiryo" pitchFamily="34" charset="0"/>
                <a:ea typeface="Meiryo" pitchFamily="34" charset="-122"/>
                <a:cs typeface="Meiryo" pitchFamily="34" charset="-120"/>
              </a:rPr>
              <a:t>1,845億→3,043億円、年7.4%</a:t>
            </a:r>
            <a:endParaRPr lang="en-US" sz="850" dirty="0"/>
          </a:p>
          <a:p>
            <a:pPr algn="l" indent="0" marL="0">
              <a:lnSpc>
                <a:spcPct val="115000"/>
              </a:lnSpc>
              <a:spcAft>
                <a:spcPts val="100"/>
              </a:spcAft>
              <a:buNone/>
            </a:pPr>
            <a:r>
              <a:rPr lang="en-US" sz="850" dirty="0">
                <a:solidFill>
                  <a:srgbClr val="1A1A1A"/>
                </a:solidFill>
                <a:latin typeface="Meiryo" pitchFamily="34" charset="0"/>
                <a:ea typeface="Meiryo" pitchFamily="34" charset="-122"/>
                <a:cs typeface="Meiryo" pitchFamily="34" charset="-120"/>
              </a:rPr>
              <a:t>スマートファクトリー（国内）</a:t>
            </a:r>
            <a:endParaRPr lang="en-US" sz="850" dirty="0"/>
          </a:p>
          <a:p>
            <a:pPr algn="l" indent="0" marL="0">
              <a:lnSpc>
                <a:spcPct val="115000"/>
              </a:lnSpc>
              <a:spcAft>
                <a:spcPts val="100"/>
              </a:spcAft>
              <a:buNone/>
            </a:pPr>
            <a:r>
              <a:rPr lang="en-US" sz="850" b="1" dirty="0">
                <a:solidFill>
                  <a:srgbClr val="1A1A1A"/>
                </a:solidFill>
                <a:latin typeface="Meiryo" pitchFamily="34" charset="0"/>
                <a:ea typeface="Meiryo" pitchFamily="34" charset="-122"/>
                <a:cs typeface="Meiryo" pitchFamily="34" charset="-120"/>
              </a:rPr>
              <a:t>42億→92億米ドル、年9.03%</a:t>
            </a:r>
            <a:endParaRPr lang="en-US" sz="850" dirty="0"/>
          </a:p>
        </p:txBody>
      </p:sp>
      <p:sp>
        <p:nvSpPr>
          <p:cNvPr id="12" name="Shape 7"/>
          <p:cNvSpPr/>
          <p:nvPr/>
        </p:nvSpPr>
        <p:spPr>
          <a:xfrm>
            <a:off x="365760" y="4069080"/>
            <a:ext cx="8412480" cy="438912"/>
          </a:xfrm>
          <a:prstGeom prst="rect">
            <a:avLst/>
          </a:prstGeom>
          <a:solidFill>
            <a:srgbClr val="FFFFFF"/>
          </a:solidFill>
          <a:ln w="19050">
            <a:solidFill>
              <a:srgbClr val="B8692E"/>
            </a:solidFill>
            <a:prstDash val="solid"/>
          </a:ln>
        </p:spPr>
      </p:sp>
      <p:sp>
        <p:nvSpPr>
          <p:cNvPr id="13" name="Text 8"/>
          <p:cNvSpPr txBox="1"/>
          <p:nvPr/>
        </p:nvSpPr>
        <p:spPr>
          <a:xfrm>
            <a:off x="502920" y="4069080"/>
            <a:ext cx="8138160" cy="438912"/>
          </a:xfrm>
          <a:prstGeom prst="rect">
            <a:avLst/>
          </a:prstGeom>
          <a:noFill/>
          <a:ln/>
        </p:spPr>
        <p:txBody>
          <a:bodyPr wrap="square" lIns="0" tIns="0" rIns="0" bIns="0" rtlCol="0" anchor="ctr"/>
          <a:lstStyle/>
          <a:p>
            <a:pPr algn="l" indent="0" marL="0">
              <a:lnSpc>
                <a:spcPct val="115000"/>
              </a:lnSpc>
              <a:buNone/>
            </a:pPr>
            <a:r>
              <a:rPr lang="en-US" sz="850" b="1" dirty="0">
                <a:solidFill>
                  <a:srgbClr val="B8692E"/>
                </a:solidFill>
                <a:latin typeface="Meiryo" pitchFamily="34" charset="0"/>
                <a:ea typeface="Meiryo" pitchFamily="34" charset="-122"/>
                <a:cs typeface="Meiryo" pitchFamily="34" charset="-120"/>
              </a:rPr>
              <a:t>聞かれたら：</a:t>
            </a:r>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「土台の65,497社は国の統計、規模別の内訳は推計です。業界団体の名簿と経済センサスで数え直します」。5年目の売上は約2.43億円で、ターゲット市場の約1.7%</a:t>
            </a:r>
            <a:endParaRPr lang="en-US" sz="850" dirty="0"/>
          </a:p>
        </p:txBody>
      </p:sp>
      <p:sp>
        <p:nvSpPr>
          <p:cNvPr id="14" name="Text 9"/>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計算は tora_market.js。差し替える統計：国交省「建設業許可業者数調査」業種別・資本金階層別、経済センサス（設備工事業の従業者規模別）</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3" name="Text 0"/>
          <p:cNvSpPr txBox="1"/>
          <p:nvPr/>
        </p:nvSpPr>
        <p:spPr>
          <a:xfrm>
            <a:off x="5577840" y="54864"/>
            <a:ext cx="3200400" cy="182880"/>
          </a:xfrm>
          <a:prstGeom prst="rect">
            <a:avLst/>
          </a:prstGeom>
          <a:noFill/>
          <a:ln/>
        </p:spPr>
        <p:txBody>
          <a:bodyPr wrap="square" lIns="0" tIns="0" rIns="0" bIns="0" rtlCol="0" anchor="ctr"/>
          <a:lstStyle/>
          <a:p>
            <a:pPr algn="r" indent="0" marL="0">
              <a:lnSpc>
                <a:spcPct val="115000"/>
              </a:lnSpc>
              <a:buNone/>
            </a:pPr>
            <a:r>
              <a:rPr lang="en-US" sz="800" dirty="0">
                <a:solidFill>
                  <a:srgbClr val="8C8C8C"/>
                </a:solidFill>
                <a:latin typeface="Meiryo" pitchFamily="34" charset="0"/>
                <a:ea typeface="Meiryo" pitchFamily="34" charset="-122"/>
                <a:cs typeface="Meiryo" pitchFamily="34" charset="-120"/>
              </a:rPr>
              <a:t>本編 p.19・22 の詳細</a:t>
            </a:r>
            <a:endParaRPr lang="en-US" sz="800" dirty="0"/>
          </a:p>
        </p:txBody>
      </p:sp>
      <p:sp>
        <p:nvSpPr>
          <p:cNvPr id="4"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ターゲットと営業 ─ 規模ではなく条件で絞る</a:t>
            </a:r>
            <a:endParaRPr lang="en-US" sz="2000" dirty="0"/>
          </a:p>
        </p:txBody>
      </p:sp>
      <p:sp>
        <p:nvSpPr>
          <p:cNvPr id="5"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中堅2,100社を規模だけで追うと会えない。4つの条件で一次ターゲットを決める</a:t>
            </a:r>
            <a:endParaRPr lang="en-US" sz="1200" dirty="0"/>
          </a:p>
        </p:txBody>
      </p:sp>
      <p:sp>
        <p:nvSpPr>
          <p:cNvPr id="6" name="Text 3"/>
          <p:cNvSpPr txBox="1"/>
          <p:nvPr/>
        </p:nvSpPr>
        <p:spPr>
          <a:xfrm>
            <a:off x="365760" y="1024128"/>
            <a:ext cx="40690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一次ターゲットの4条件（ペルソナ）</a:t>
            </a:r>
            <a:endParaRPr lang="en-US" sz="1050" dirty="0"/>
          </a:p>
        </p:txBody>
      </p:sp>
      <p:sp>
        <p:nvSpPr>
          <p:cNvPr id="7" name="Shape 4"/>
          <p:cNvSpPr/>
          <p:nvPr/>
        </p:nvSpPr>
        <p:spPr>
          <a:xfrm>
            <a:off x="365760" y="1316736"/>
            <a:ext cx="1051560" cy="384048"/>
          </a:xfrm>
          <a:prstGeom prst="rect">
            <a:avLst/>
          </a:prstGeom>
          <a:solidFill>
            <a:srgbClr val="1A1A1A"/>
          </a:solidFill>
          <a:ln/>
        </p:spPr>
      </p:sp>
      <p:sp>
        <p:nvSpPr>
          <p:cNvPr id="8" name="Text 5"/>
          <p:cNvSpPr txBox="1"/>
          <p:nvPr/>
        </p:nvSpPr>
        <p:spPr>
          <a:xfrm>
            <a:off x="365760" y="1316736"/>
            <a:ext cx="1051560" cy="384048"/>
          </a:xfrm>
          <a:prstGeom prst="rect">
            <a:avLst/>
          </a:prstGeom>
          <a:noFill/>
          <a:ln/>
        </p:spPr>
        <p:txBody>
          <a:bodyPr wrap="square" lIns="0" tIns="0" rIns="0" bIns="0" rtlCol="0" anchor="ctr"/>
          <a:lstStyle/>
          <a:p>
            <a:pPr algn="ctr" indent="0" marL="0">
              <a:lnSpc>
                <a:spcPct val="115000"/>
              </a:lnSpc>
              <a:buNone/>
            </a:pPr>
            <a:r>
              <a:rPr lang="en-US" sz="900" b="1" dirty="0">
                <a:solidFill>
                  <a:srgbClr val="FFFFFF"/>
                </a:solidFill>
                <a:latin typeface="Meiryo" pitchFamily="34" charset="0"/>
                <a:ea typeface="Meiryo" pitchFamily="34" charset="-122"/>
                <a:cs typeface="Meiryo" pitchFamily="34" charset="-120"/>
              </a:rPr>
              <a:t>規模</a:t>
            </a:r>
            <a:endParaRPr lang="en-US" sz="900" dirty="0"/>
          </a:p>
        </p:txBody>
      </p:sp>
      <p:sp>
        <p:nvSpPr>
          <p:cNvPr id="9" name="Text 6"/>
          <p:cNvSpPr txBox="1"/>
          <p:nvPr/>
        </p:nvSpPr>
        <p:spPr>
          <a:xfrm>
            <a:off x="1508760" y="1316736"/>
            <a:ext cx="2926080" cy="384048"/>
          </a:xfrm>
          <a:prstGeom prst="rect">
            <a:avLst/>
          </a:prstGeom>
          <a:noFill/>
          <a:ln/>
        </p:spPr>
        <p:txBody>
          <a:bodyPr wrap="square" lIns="0" tIns="0" rIns="0" bIns="0" rtlCol="0" anchor="ctr"/>
          <a:lstStyle/>
          <a:p>
            <a:pPr algn="l" indent="0" marL="0">
              <a:lnSpc>
                <a:spcPct val="115000"/>
              </a:lnSpc>
              <a:buNone/>
            </a:pPr>
            <a:r>
              <a:rPr lang="en-US" sz="900" dirty="0">
                <a:solidFill>
                  <a:srgbClr val="1A1A1A"/>
                </a:solidFill>
                <a:latin typeface="Meiryo" pitchFamily="34" charset="0"/>
                <a:ea typeface="Meiryo" pitchFamily="34" charset="-122"/>
                <a:cs typeface="Meiryo" pitchFamily="34" charset="-120"/>
              </a:rPr>
              <a:t>施工管理者30人以上、拠点（支店）が1〜3つ</a:t>
            </a:r>
            <a:endParaRPr lang="en-US" sz="900" dirty="0"/>
          </a:p>
        </p:txBody>
      </p:sp>
      <p:sp>
        <p:nvSpPr>
          <p:cNvPr id="10" name="Shape 7"/>
          <p:cNvSpPr/>
          <p:nvPr/>
        </p:nvSpPr>
        <p:spPr>
          <a:xfrm>
            <a:off x="365760" y="1773936"/>
            <a:ext cx="1051560" cy="384048"/>
          </a:xfrm>
          <a:prstGeom prst="rect">
            <a:avLst/>
          </a:prstGeom>
          <a:solidFill>
            <a:srgbClr val="1A1A1A"/>
          </a:solidFill>
          <a:ln/>
        </p:spPr>
      </p:sp>
      <p:sp>
        <p:nvSpPr>
          <p:cNvPr id="11" name="Text 8"/>
          <p:cNvSpPr txBox="1"/>
          <p:nvPr/>
        </p:nvSpPr>
        <p:spPr>
          <a:xfrm>
            <a:off x="365760" y="1773936"/>
            <a:ext cx="1051560" cy="384048"/>
          </a:xfrm>
          <a:prstGeom prst="rect">
            <a:avLst/>
          </a:prstGeom>
          <a:noFill/>
          <a:ln/>
        </p:spPr>
        <p:txBody>
          <a:bodyPr wrap="square" lIns="0" tIns="0" rIns="0" bIns="0" rtlCol="0" anchor="ctr"/>
          <a:lstStyle/>
          <a:p>
            <a:pPr algn="ctr" indent="0" marL="0">
              <a:lnSpc>
                <a:spcPct val="115000"/>
              </a:lnSpc>
              <a:buNone/>
            </a:pPr>
            <a:r>
              <a:rPr lang="en-US" sz="900" b="1" dirty="0">
                <a:solidFill>
                  <a:srgbClr val="FFFFFF"/>
                </a:solidFill>
                <a:latin typeface="Meiryo" pitchFamily="34" charset="0"/>
                <a:ea typeface="Meiryo" pitchFamily="34" charset="-122"/>
                <a:cs typeface="Meiryo" pitchFamily="34" charset="-120"/>
              </a:rPr>
              <a:t>書類の重さ</a:t>
            </a:r>
            <a:endParaRPr lang="en-US" sz="900" dirty="0"/>
          </a:p>
        </p:txBody>
      </p:sp>
      <p:sp>
        <p:nvSpPr>
          <p:cNvPr id="12" name="Text 9"/>
          <p:cNvSpPr txBox="1"/>
          <p:nvPr/>
        </p:nvSpPr>
        <p:spPr>
          <a:xfrm>
            <a:off x="1508760" y="1773936"/>
            <a:ext cx="2926080" cy="384048"/>
          </a:xfrm>
          <a:prstGeom prst="rect">
            <a:avLst/>
          </a:prstGeom>
          <a:noFill/>
          <a:ln/>
        </p:spPr>
        <p:txBody>
          <a:bodyPr wrap="square" lIns="0" tIns="0" rIns="0" bIns="0" rtlCol="0" anchor="ctr"/>
          <a:lstStyle/>
          <a:p>
            <a:pPr algn="l" indent="0" marL="0">
              <a:lnSpc>
                <a:spcPct val="115000"/>
              </a:lnSpc>
              <a:buNone/>
            </a:pPr>
            <a:r>
              <a:rPr lang="en-US" sz="900" dirty="0">
                <a:solidFill>
                  <a:srgbClr val="1A1A1A"/>
                </a:solidFill>
                <a:latin typeface="Meiryo" pitchFamily="34" charset="0"/>
                <a:ea typeface="Meiryo" pitchFamily="34" charset="-122"/>
                <a:cs typeface="Meiryo" pitchFamily="34" charset="-120"/>
              </a:rPr>
              <a:t>電力会社・官公庁の工事が多く、写真台帳と報告書の提出が多い</a:t>
            </a:r>
            <a:endParaRPr lang="en-US" sz="900" dirty="0"/>
          </a:p>
        </p:txBody>
      </p:sp>
      <p:sp>
        <p:nvSpPr>
          <p:cNvPr id="13" name="Shape 10"/>
          <p:cNvSpPr/>
          <p:nvPr/>
        </p:nvSpPr>
        <p:spPr>
          <a:xfrm>
            <a:off x="365760" y="2231136"/>
            <a:ext cx="1051560" cy="384048"/>
          </a:xfrm>
          <a:prstGeom prst="rect">
            <a:avLst/>
          </a:prstGeom>
          <a:solidFill>
            <a:srgbClr val="1A1A1A"/>
          </a:solidFill>
          <a:ln/>
        </p:spPr>
      </p:sp>
      <p:sp>
        <p:nvSpPr>
          <p:cNvPr id="14" name="Text 11"/>
          <p:cNvSpPr txBox="1"/>
          <p:nvPr/>
        </p:nvSpPr>
        <p:spPr>
          <a:xfrm>
            <a:off x="365760" y="2231136"/>
            <a:ext cx="1051560" cy="384048"/>
          </a:xfrm>
          <a:prstGeom prst="rect">
            <a:avLst/>
          </a:prstGeom>
          <a:noFill/>
          <a:ln/>
        </p:spPr>
        <p:txBody>
          <a:bodyPr wrap="square" lIns="0" tIns="0" rIns="0" bIns="0" rtlCol="0" anchor="ctr"/>
          <a:lstStyle/>
          <a:p>
            <a:pPr algn="ctr" indent="0" marL="0">
              <a:lnSpc>
                <a:spcPct val="115000"/>
              </a:lnSpc>
              <a:buNone/>
            </a:pPr>
            <a:r>
              <a:rPr lang="en-US" sz="900" b="1" dirty="0">
                <a:solidFill>
                  <a:srgbClr val="FFFFFF"/>
                </a:solidFill>
                <a:latin typeface="Meiryo" pitchFamily="34" charset="0"/>
                <a:ea typeface="Meiryo" pitchFamily="34" charset="-122"/>
                <a:cs typeface="Meiryo" pitchFamily="34" charset="-120"/>
              </a:rPr>
              <a:t>手戻りの痛さ</a:t>
            </a:r>
            <a:endParaRPr lang="en-US" sz="900" dirty="0"/>
          </a:p>
        </p:txBody>
      </p:sp>
      <p:sp>
        <p:nvSpPr>
          <p:cNvPr id="15" name="Text 12"/>
          <p:cNvSpPr txBox="1"/>
          <p:nvPr/>
        </p:nvSpPr>
        <p:spPr>
          <a:xfrm>
            <a:off x="1508760" y="2231136"/>
            <a:ext cx="2926080" cy="384048"/>
          </a:xfrm>
          <a:prstGeom prst="rect">
            <a:avLst/>
          </a:prstGeom>
          <a:noFill/>
          <a:ln/>
        </p:spPr>
        <p:txBody>
          <a:bodyPr wrap="square" lIns="0" tIns="0" rIns="0" bIns="0" rtlCol="0" anchor="ctr"/>
          <a:lstStyle/>
          <a:p>
            <a:pPr algn="l" indent="0" marL="0">
              <a:lnSpc>
                <a:spcPct val="115000"/>
              </a:lnSpc>
              <a:buNone/>
            </a:pPr>
            <a:r>
              <a:rPr lang="en-US" sz="900" dirty="0">
                <a:solidFill>
                  <a:srgbClr val="1A1A1A"/>
                </a:solidFill>
                <a:latin typeface="Meiryo" pitchFamily="34" charset="0"/>
                <a:ea typeface="Meiryo" pitchFamily="34" charset="-122"/>
                <a:cs typeface="Meiryo" pitchFamily="34" charset="-120"/>
              </a:rPr>
              <a:t>ケーブル接続・端末処理など、やり直しが高くつく工種がある</a:t>
            </a:r>
            <a:endParaRPr lang="en-US" sz="900" dirty="0"/>
          </a:p>
        </p:txBody>
      </p:sp>
      <p:sp>
        <p:nvSpPr>
          <p:cNvPr id="16" name="Shape 13"/>
          <p:cNvSpPr/>
          <p:nvPr/>
        </p:nvSpPr>
        <p:spPr>
          <a:xfrm>
            <a:off x="365760" y="2688336"/>
            <a:ext cx="1051560" cy="384048"/>
          </a:xfrm>
          <a:prstGeom prst="rect">
            <a:avLst/>
          </a:prstGeom>
          <a:solidFill>
            <a:srgbClr val="1A1A1A"/>
          </a:solidFill>
          <a:ln/>
        </p:spPr>
      </p:sp>
      <p:sp>
        <p:nvSpPr>
          <p:cNvPr id="17" name="Text 14"/>
          <p:cNvSpPr txBox="1"/>
          <p:nvPr/>
        </p:nvSpPr>
        <p:spPr>
          <a:xfrm>
            <a:off x="365760" y="2688336"/>
            <a:ext cx="1051560" cy="384048"/>
          </a:xfrm>
          <a:prstGeom prst="rect">
            <a:avLst/>
          </a:prstGeom>
          <a:noFill/>
          <a:ln/>
        </p:spPr>
        <p:txBody>
          <a:bodyPr wrap="square" lIns="0" tIns="0" rIns="0" bIns="0" rtlCol="0" anchor="ctr"/>
          <a:lstStyle/>
          <a:p>
            <a:pPr algn="ctr" indent="0" marL="0">
              <a:lnSpc>
                <a:spcPct val="115000"/>
              </a:lnSpc>
              <a:buNone/>
            </a:pPr>
            <a:r>
              <a:rPr lang="en-US" sz="900" b="1" dirty="0">
                <a:solidFill>
                  <a:srgbClr val="FFFFFF"/>
                </a:solidFill>
                <a:latin typeface="Meiryo" pitchFamily="34" charset="0"/>
                <a:ea typeface="Meiryo" pitchFamily="34" charset="-122"/>
                <a:cs typeface="Meiryo" pitchFamily="34" charset="-120"/>
              </a:rPr>
              <a:t>デジタルの素地</a:t>
            </a:r>
            <a:endParaRPr lang="en-US" sz="900" dirty="0"/>
          </a:p>
        </p:txBody>
      </p:sp>
      <p:sp>
        <p:nvSpPr>
          <p:cNvPr id="18" name="Text 15"/>
          <p:cNvSpPr txBox="1"/>
          <p:nvPr/>
        </p:nvSpPr>
        <p:spPr>
          <a:xfrm>
            <a:off x="1508760" y="2688336"/>
            <a:ext cx="2926080" cy="384048"/>
          </a:xfrm>
          <a:prstGeom prst="rect">
            <a:avLst/>
          </a:prstGeom>
          <a:noFill/>
          <a:ln/>
        </p:spPr>
        <p:txBody>
          <a:bodyPr wrap="square" lIns="0" tIns="0" rIns="0" bIns="0" rtlCol="0" anchor="ctr"/>
          <a:lstStyle/>
          <a:p>
            <a:pPr algn="l" indent="0" marL="0">
              <a:lnSpc>
                <a:spcPct val="115000"/>
              </a:lnSpc>
              <a:buNone/>
            </a:pPr>
            <a:r>
              <a:rPr lang="en-US" sz="900" dirty="0">
                <a:solidFill>
                  <a:srgbClr val="1A1A1A"/>
                </a:solidFill>
                <a:latin typeface="Meiryo" pitchFamily="34" charset="0"/>
                <a:ea typeface="Meiryo" pitchFamily="34" charset="-122"/>
                <a:cs typeface="Meiryo" pitchFamily="34" charset="-120"/>
              </a:rPr>
              <a:t>施工管理アプリを使っている、またはDX担当がいる</a:t>
            </a:r>
            <a:endParaRPr lang="en-US" sz="900" dirty="0"/>
          </a:p>
        </p:txBody>
      </p:sp>
      <p:sp>
        <p:nvSpPr>
          <p:cNvPr id="19" name="Text 16"/>
          <p:cNvSpPr txBox="1"/>
          <p:nvPr/>
        </p:nvSpPr>
        <p:spPr>
          <a:xfrm>
            <a:off x="365760" y="3172968"/>
            <a:ext cx="4069080" cy="274320"/>
          </a:xfrm>
          <a:prstGeom prst="rect">
            <a:avLst/>
          </a:prstGeom>
          <a:noFill/>
          <a:ln/>
        </p:spPr>
        <p:txBody>
          <a:bodyPr wrap="square" lIns="0" tIns="0" rIns="0" bIns="0" rtlCol="0" anchor="t"/>
          <a:lstStyle/>
          <a:p>
            <a:pPr algn="l" indent="0" marL="0">
              <a:lnSpc>
                <a:spcPct val="115000"/>
              </a:lnSpc>
              <a:buNone/>
            </a:pPr>
            <a:r>
              <a:rPr lang="en-US" sz="900" dirty="0">
                <a:solidFill>
                  <a:srgbClr val="4D4D4D"/>
                </a:solidFill>
                <a:latin typeface="Meiryo" pitchFamily="34" charset="0"/>
                <a:ea typeface="Meiryo" pitchFamily="34" charset="-122"/>
                <a:cs typeface="Meiryo" pitchFamily="34" charset="-120"/>
              </a:rPr>
              <a:t>決裁は社長・工事部長、使うのは職長と施工管理者、推進はDX担当</a:t>
            </a:r>
            <a:endParaRPr lang="en-US" sz="900" dirty="0"/>
          </a:p>
        </p:txBody>
      </p:sp>
      <p:sp>
        <p:nvSpPr>
          <p:cNvPr id="20" name="Text 17"/>
          <p:cNvSpPr txBox="1"/>
          <p:nvPr/>
        </p:nvSpPr>
        <p:spPr>
          <a:xfrm>
            <a:off x="4709160" y="1024128"/>
            <a:ext cx="40690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5年間の積み上げ（仮説）</a:t>
            </a:r>
            <a:endParaRPr lang="en-US" sz="1050" dirty="0"/>
          </a:p>
        </p:txBody>
      </p:sp>
      <p:graphicFrame>
        <p:nvGraphicFramePr>
          <p:cNvPr id="26" name="funnel"/>
          <p:cNvGraphicFramePr>
            <a:graphicFrameLocks noGrp="1"/>
          </p:cNvGraphicFramePr>
          <p:nvPr>
            <p:extLst>
              <p:ext uri="{D42A27DB-BD31-4B8C-83A1-F6EECF244321}">
                <p14:modId xmlns:p14="http://schemas.microsoft.com/office/powerpoint/2010/main" val="1579011935"/>
              </p:ext>
            </p:extLst>
          </p:nvPr>
        </p:nvGraphicFramePr>
        <p:xfrm>
          <a:off x="4709160" y="1298448"/>
          <a:ext cx="4069080" cy="914400"/>
        </p:xfrm>
        <a:graphic>
          <a:graphicData uri="http://schemas.openxmlformats.org/drawingml/2006/table">
            <a:tbl>
              <a:tblPr/>
              <a:tblGrid>
                <a:gridCol w="1600200"/>
                <a:gridCol w="548640"/>
                <a:gridCol w="640080"/>
                <a:gridCol w="594360"/>
                <a:gridCol w="685800"/>
              </a:tblGrid>
              <a:tr h="274320">
                <a:tc>
                  <a:txBody>
                    <a:bodyPr/>
                    <a:lstStyle/>
                    <a:p>
                      <a:pPr algn="l" indent="0" marL="0">
                        <a:buNone/>
                      </a:pP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850" b="1" dirty="0">
                          <a:solidFill>
                            <a:srgbClr val="1A1A1A"/>
                          </a:solidFill>
                          <a:latin typeface="Meiryo" pitchFamily="34" charset="0"/>
                          <a:ea typeface="Meiryo" pitchFamily="34" charset="-122"/>
                          <a:cs typeface="Meiryo" pitchFamily="34" charset="-120"/>
                        </a:rPr>
                        <a:t>社数</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850" b="1" dirty="0">
                          <a:solidFill>
                            <a:srgbClr val="1A1A1A"/>
                          </a:solidFill>
                          <a:latin typeface="Meiryo" pitchFamily="34" charset="0"/>
                          <a:ea typeface="Meiryo" pitchFamily="34" charset="-122"/>
                          <a:cs typeface="Meiryo" pitchFamily="34" charset="-120"/>
                        </a:rPr>
                        <a:t>会える率</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850" b="1" dirty="0">
                          <a:solidFill>
                            <a:srgbClr val="1A1A1A"/>
                          </a:solidFill>
                          <a:latin typeface="Meiryo" pitchFamily="34" charset="0"/>
                          <a:ea typeface="Meiryo" pitchFamily="34" charset="-122"/>
                          <a:cs typeface="Meiryo" pitchFamily="34" charset="-120"/>
                        </a:rPr>
                        <a:t>成約率</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850" b="1" dirty="0">
                          <a:solidFill>
                            <a:srgbClr val="1A1A1A"/>
                          </a:solidFill>
                          <a:latin typeface="Meiryo" pitchFamily="34" charset="0"/>
                          <a:ea typeface="Meiryo" pitchFamily="34" charset="-122"/>
                          <a:cs typeface="Meiryo" pitchFamily="34" charset="-120"/>
                        </a:rPr>
                        <a:t>成約</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7432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関東の中堅</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735</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条件に合う（約25%）</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180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60%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30%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32</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それ以外</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555</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35%</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15%</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29</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合計×1社1.3拠点＋大手5</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692E"/>
                          </a:solidFill>
                          <a:latin typeface="Meiryo" pitchFamily="34" charset="0"/>
                          <a:ea typeface="Meiryo" pitchFamily="34" charset="-122"/>
                          <a:cs typeface="Meiryo" pitchFamily="34" charset="-120"/>
                        </a:rPr>
                        <a:t>約85拠点</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22" name="Shape 18"/>
          <p:cNvSpPr/>
          <p:nvPr/>
        </p:nvSpPr>
        <p:spPr>
          <a:xfrm>
            <a:off x="4709160" y="2807208"/>
            <a:ext cx="4069080" cy="685800"/>
          </a:xfrm>
          <a:prstGeom prst="rect">
            <a:avLst/>
          </a:prstGeom>
          <a:solidFill>
            <a:srgbClr val="F2F2F2"/>
          </a:solidFill>
          <a:ln/>
        </p:spPr>
      </p:sp>
      <p:sp>
        <p:nvSpPr>
          <p:cNvPr id="23" name="Text 19"/>
          <p:cNvSpPr txBox="1"/>
          <p:nvPr/>
        </p:nvSpPr>
        <p:spPr>
          <a:xfrm>
            <a:off x="4846320" y="2807208"/>
            <a:ext cx="3794760" cy="685800"/>
          </a:xfrm>
          <a:prstGeom prst="rect">
            <a:avLst/>
          </a:prstGeom>
          <a:noFill/>
          <a:ln/>
        </p:spPr>
        <p:txBody>
          <a:bodyPr wrap="square" lIns="0" tIns="0" rIns="0" bIns="0" rtlCol="0" anchor="ctr"/>
          <a:lstStyle/>
          <a:p>
            <a:pPr algn="l" indent="0" marL="0">
              <a:lnSpc>
                <a:spcPct val="115000"/>
              </a:lnSpc>
              <a:buNone/>
            </a:pPr>
            <a:r>
              <a:rPr lang="en-US" sz="900" b="1" dirty="0">
                <a:solidFill>
                  <a:srgbClr val="B8692E"/>
                </a:solidFill>
                <a:latin typeface="Meiryo" pitchFamily="34" charset="0"/>
                <a:ea typeface="Meiryo" pitchFamily="34" charset="-122"/>
                <a:cs typeface="Meiryo" pitchFamily="34" charset="-120"/>
              </a:rPr>
              <a:t>営業1人の量：</a:t>
            </a:r>
            <a:pPr algn="l" indent="0" marL="0">
              <a:lnSpc>
                <a:spcPct val="115000"/>
              </a:lnSpc>
              <a:buNone/>
            </a:pPr>
            <a:r>
              <a:rPr lang="en-US" sz="900" dirty="0">
                <a:solidFill>
                  <a:srgbClr val="1A1A1A"/>
                </a:solidFill>
                <a:latin typeface="Meiryo" pitchFamily="34" charset="0"/>
                <a:ea typeface="Meiryo" pitchFamily="34" charset="-122"/>
                <a:cs typeface="Meiryo" pitchFamily="34" charset="-120"/>
              </a:rPr>
              <a:t>5年目の商談約100件÷3人＝1人月約3件。商談は4〜6か月かかるので、常に10〜15件を同時に追う</a:t>
            </a:r>
            <a:endParaRPr lang="en-US" sz="900" dirty="0"/>
          </a:p>
        </p:txBody>
      </p:sp>
      <p:sp>
        <p:nvSpPr>
          <p:cNvPr id="24" name="Shape 20"/>
          <p:cNvSpPr/>
          <p:nvPr/>
        </p:nvSpPr>
        <p:spPr>
          <a:xfrm>
            <a:off x="365760" y="3611880"/>
            <a:ext cx="8412480" cy="841248"/>
          </a:xfrm>
          <a:prstGeom prst="rect">
            <a:avLst/>
          </a:prstGeom>
          <a:solidFill>
            <a:srgbClr val="1A1A1A"/>
          </a:solidFill>
          <a:ln/>
        </p:spPr>
      </p:sp>
      <p:sp>
        <p:nvSpPr>
          <p:cNvPr id="25" name="Text 21"/>
          <p:cNvSpPr txBox="1"/>
          <p:nvPr/>
        </p:nvSpPr>
        <p:spPr>
          <a:xfrm>
            <a:off x="502920" y="3611880"/>
            <a:ext cx="8138160" cy="841248"/>
          </a:xfrm>
          <a:prstGeom prst="rect">
            <a:avLst/>
          </a:prstGeom>
          <a:noFill/>
          <a:ln/>
        </p:spPr>
        <p:txBody>
          <a:bodyPr wrap="square" lIns="0" tIns="0" rIns="0" bIns="0" rtlCol="0" anchor="ctr"/>
          <a:lstStyle/>
          <a:p>
            <a:pPr algn="l" indent="0" marL="0">
              <a:lnSpc>
                <a:spcPct val="115000"/>
              </a:lnSpc>
              <a:spcAft>
                <a:spcPts val="200"/>
              </a:spcAft>
              <a:buNone/>
            </a:pPr>
            <a:r>
              <a:rPr lang="en-US" sz="900" b="1" dirty="0">
                <a:solidFill>
                  <a:srgbClr val="E3A774"/>
                </a:solidFill>
                <a:latin typeface="Meiryo" pitchFamily="34" charset="0"/>
                <a:ea typeface="Meiryo" pitchFamily="34" charset="-122"/>
                <a:cs typeface="Meiryo" pitchFamily="34" charset="-120"/>
              </a:rPr>
              <a:t>「1人が毎年4件取る」ではない：</a:t>
            </a:r>
            <a:pPr algn="l" indent="0" marL="0">
              <a:lnSpc>
                <a:spcPct val="115000"/>
              </a:lnSpc>
              <a:spcAft>
                <a:spcPts val="200"/>
              </a:spcAft>
              <a:buNone/>
            </a:pPr>
            <a:r>
              <a:rPr lang="en-US" sz="900" dirty="0">
                <a:solidFill>
                  <a:srgbClr val="FFFFFF"/>
                </a:solidFill>
                <a:latin typeface="Meiryo" pitchFamily="34" charset="0"/>
                <a:ea typeface="Meiryo" pitchFamily="34" charset="-122"/>
                <a:cs typeface="Meiryo" pitchFamily="34" charset="-120"/>
              </a:rPr>
              <a:t>黒字の目安「社員1人約4拠点」は、続いている拠点の累計÷全社員。新規は全社で年3→33拠点。</a:t>
            </a:r>
            <a:endParaRPr lang="en-US" sz="900" dirty="0"/>
          </a:p>
          <a:p>
            <a:pPr algn="l" indent="0" marL="0">
              <a:lnSpc>
                <a:spcPct val="115000"/>
              </a:lnSpc>
              <a:spcAft>
                <a:spcPts val="200"/>
              </a:spcAft>
              <a:buNone/>
            </a:pPr>
            <a:r>
              <a:rPr lang="en-US" sz="900" dirty="0">
                <a:solidFill>
                  <a:srgbClr val="FFFFFF"/>
                </a:solidFill>
                <a:latin typeface="Meiryo" pitchFamily="34" charset="0"/>
                <a:ea typeface="Meiryo" pitchFamily="34" charset="-122"/>
                <a:cs typeface="Meiryo" pitchFamily="34" charset="-120"/>
              </a:rPr>
              <a:t>未知数なのは会える率・成約率・商談期間。最初の3社で実測し、届かなければ撤退ライン（p.22）で判断する</a:t>
            </a:r>
            <a:endParaRPr lang="en-US" sz="900" dirty="0"/>
          </a:p>
        </p:txBody>
      </p:sp>
      <p:sp>
        <p:nvSpPr>
          <p:cNvPr id="26" name="Text 22"/>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条件に合う割合・会える率・成約率・1社あたりの拠点数はすべて仮説。業界団体の名簿と経済センサスで数え直す</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3" name="Text 0"/>
          <p:cNvSpPr txBox="1"/>
          <p:nvPr/>
        </p:nvSpPr>
        <p:spPr>
          <a:xfrm>
            <a:off x="5577840" y="54864"/>
            <a:ext cx="3200400" cy="182880"/>
          </a:xfrm>
          <a:prstGeom prst="rect">
            <a:avLst/>
          </a:prstGeom>
          <a:noFill/>
          <a:ln/>
        </p:spPr>
        <p:txBody>
          <a:bodyPr wrap="square" lIns="0" tIns="0" rIns="0" bIns="0" rtlCol="0" anchor="ctr"/>
          <a:lstStyle/>
          <a:p>
            <a:pPr algn="r" indent="0" marL="0">
              <a:lnSpc>
                <a:spcPct val="115000"/>
              </a:lnSpc>
              <a:buNone/>
            </a:pPr>
            <a:r>
              <a:rPr lang="en-US" sz="800" dirty="0">
                <a:solidFill>
                  <a:srgbClr val="8C8C8C"/>
                </a:solidFill>
                <a:latin typeface="Meiryo" pitchFamily="34" charset="0"/>
                <a:ea typeface="Meiryo" pitchFamily="34" charset="-122"/>
                <a:cs typeface="Meiryo" pitchFamily="34" charset="-120"/>
              </a:rPr>
              <a:t>本編 p.13・30 の詳細</a:t>
            </a:r>
            <a:endParaRPr lang="en-US" sz="800" dirty="0"/>
          </a:p>
        </p:txBody>
      </p:sp>
      <p:sp>
        <p:nvSpPr>
          <p:cNvPr id="4"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グラスの条件と実証 ─ 足りるかを実機で確かめる</a:t>
            </a:r>
            <a:endParaRPr lang="en-US" sz="2000" dirty="0"/>
          </a:p>
        </p:txBody>
      </p:sp>
      <p:sp>
        <p:nvSpPr>
          <p:cNvPr id="5"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現場の条件と、候補のグラスの公表値。足りない所は記録の仕方と端末の選び方で補う</a:t>
            </a:r>
            <a:endParaRPr lang="en-US" sz="1200" dirty="0"/>
          </a:p>
        </p:txBody>
      </p:sp>
      <p:graphicFrame>
        <p:nvGraphicFramePr>
          <p:cNvPr id="27" name="device-spec"/>
          <p:cNvGraphicFramePr>
            <a:graphicFrameLocks noGrp="1"/>
          </p:cNvGraphicFramePr>
          <p:nvPr>
            <p:extLst>
              <p:ext uri="{D42A27DB-BD31-4B8C-83A1-F6EECF244321}">
                <p14:modId xmlns:p14="http://schemas.microsoft.com/office/powerpoint/2010/main" val="1579011935"/>
              </p:ext>
            </p:extLst>
          </p:nvPr>
        </p:nvGraphicFramePr>
        <p:xfrm>
          <a:off x="365760" y="1051560"/>
          <a:ext cx="5257800" cy="914400"/>
        </p:xfrm>
        <a:graphic>
          <a:graphicData uri="http://schemas.openxmlformats.org/drawingml/2006/table">
            <a:tbl>
              <a:tblPr/>
              <a:tblGrid>
                <a:gridCol w="960120"/>
                <a:gridCol w="1463040"/>
                <a:gridCol w="1417320"/>
                <a:gridCol w="1417320"/>
              </a:tblGrid>
              <a:tr h="265176">
                <a:tc>
                  <a:txBody>
                    <a:bodyPr/>
                    <a:lstStyle/>
                    <a:p>
                      <a:pPr algn="l" indent="0" marL="0">
                        <a:buNone/>
                      </a:pPr>
                      <a:r>
                        <a:rPr lang="en-US" sz="750" b="1" dirty="0">
                          <a:solidFill>
                            <a:srgbClr val="1A1A1A"/>
                          </a:solidFill>
                          <a:latin typeface="Meiryo" pitchFamily="34" charset="0"/>
                          <a:ea typeface="Meiryo" pitchFamily="34" charset="-122"/>
                          <a:cs typeface="Meiryo" pitchFamily="34" charset="-120"/>
                        </a:rPr>
                        <a:t>現場の条件</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750" b="1" dirty="0">
                          <a:solidFill>
                            <a:srgbClr val="1A1A1A"/>
                          </a:solidFill>
                          <a:latin typeface="Meiryo" pitchFamily="34" charset="0"/>
                          <a:ea typeface="Meiryo" pitchFamily="34" charset="-122"/>
                          <a:cs typeface="Meiryo" pitchFamily="34" charset="-120"/>
                        </a:rPr>
                        <a:t>AIグラス（Ray-Ban Meta 第2世代）</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750" b="1" dirty="0">
                          <a:solidFill>
                            <a:srgbClr val="1A1A1A"/>
                          </a:solidFill>
                          <a:latin typeface="Meiryo" pitchFamily="34" charset="0"/>
                          <a:ea typeface="Meiryo" pitchFamily="34" charset="-122"/>
                          <a:cs typeface="Meiryo" pitchFamily="34" charset="-120"/>
                        </a:rPr>
                        <a:t>表示付き（Meta Ray-Ban Display）</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750" b="1" dirty="0">
                          <a:solidFill>
                            <a:srgbClr val="1A1A1A"/>
                          </a:solidFill>
                          <a:latin typeface="Meiryo" pitchFamily="34" charset="0"/>
                          <a:ea typeface="Meiryo" pitchFamily="34" charset="-122"/>
                          <a:cs typeface="Meiryo" pitchFamily="34" charset="-120"/>
                        </a:rPr>
                        <a:t>産業用（RealWear）</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65176">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重さ</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約50g</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約69g</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約180g〜</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65176">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録画</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1回3分程度まで（報道）</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カメラあり</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長時間・4K（Arc 3）</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65176">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開発者向けの映像</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720p・30fps（スマホ経由）</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同左</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Android（自由度が高い）</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65176">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電池</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連続撮影では短い</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約6時間（公表）</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交換式</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65176">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落下・粉じん</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一般向け</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一般向け</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IP66・2m落下（520）</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65176">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保護めがね</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要確認</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要確認</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保護めがねと併用</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65176">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値段</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約8万円</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約12万円（$799）</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約37万円〜</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7" name="Shape 3"/>
          <p:cNvSpPr/>
          <p:nvPr/>
        </p:nvSpPr>
        <p:spPr>
          <a:xfrm>
            <a:off x="5806440" y="1051560"/>
            <a:ext cx="2971800" cy="2377440"/>
          </a:xfrm>
          <a:prstGeom prst="rect">
            <a:avLst/>
          </a:prstGeom>
          <a:solidFill>
            <a:srgbClr val="F2F2F2"/>
          </a:solidFill>
          <a:ln/>
        </p:spPr>
      </p:sp>
      <p:sp>
        <p:nvSpPr>
          <p:cNvPr id="8" name="Text 4"/>
          <p:cNvSpPr txBox="1"/>
          <p:nvPr/>
        </p:nvSpPr>
        <p:spPr>
          <a:xfrm>
            <a:off x="5943600" y="1097280"/>
            <a:ext cx="2697480" cy="2286000"/>
          </a:xfrm>
          <a:prstGeom prst="rect">
            <a:avLst/>
          </a:prstGeom>
          <a:noFill/>
          <a:ln/>
        </p:spPr>
        <p:txBody>
          <a:bodyPr wrap="square" lIns="0" tIns="0" rIns="0" bIns="0" rtlCol="0" anchor="ctr"/>
          <a:lstStyle/>
          <a:p>
            <a:pPr algn="l" indent="0" marL="0">
              <a:lnSpc>
                <a:spcPct val="115000"/>
              </a:lnSpc>
              <a:spcAft>
                <a:spcPts val="200"/>
              </a:spcAft>
              <a:buNone/>
            </a:pPr>
            <a:r>
              <a:rPr lang="en-US" sz="900" b="1" dirty="0">
                <a:solidFill>
                  <a:srgbClr val="B8692E"/>
                </a:solidFill>
                <a:latin typeface="Meiryo" pitchFamily="34" charset="0"/>
                <a:ea typeface="Meiryo" pitchFamily="34" charset="-122"/>
                <a:cs typeface="Meiryo" pitchFamily="34" charset="-120"/>
              </a:rPr>
              <a:t>実証（準備期の3か月）</a:t>
            </a:r>
            <a:endParaRPr lang="en-US" sz="900" dirty="0"/>
          </a:p>
          <a:p>
            <a:pPr algn="l" indent="0" marL="0">
              <a:lnSpc>
                <a:spcPct val="115000"/>
              </a:lnSpc>
              <a:spcAft>
                <a:spcPts val="200"/>
              </a:spcAft>
              <a:buNone/>
            </a:pPr>
            <a:r>
              <a:rPr lang="en-US" sz="900" dirty="0">
                <a:solidFill>
                  <a:srgbClr val="1A1A1A"/>
                </a:solidFill>
                <a:latin typeface="Meiryo" pitchFamily="34" charset="0"/>
                <a:ea typeface="Meiryo" pitchFamily="34" charset="-122"/>
                <a:cs typeface="Meiryo" pitchFamily="34" charset="-120"/>
              </a:rPr>
              <a:t>グラスで1日記録できるかも測る</a:t>
            </a:r>
            <a:endParaRPr lang="en-US" sz="900" dirty="0"/>
          </a:p>
          <a:p>
            <a:pPr algn="l" indent="0" marL="0">
              <a:lnSpc>
                <a:spcPct val="115000"/>
              </a:lnSpc>
              <a:spcAft>
                <a:spcPts val="200"/>
              </a:spcAft>
              <a:buNone/>
            </a:pPr>
            <a:r>
              <a:rPr lang="en-US" sz="900" dirty="0">
                <a:solidFill>
                  <a:srgbClr val="1A1A1A"/>
                </a:solidFill>
                <a:latin typeface="Meiryo" pitchFamily="34" charset="0"/>
                <a:ea typeface="Meiryo" pitchFamily="34" charset="-122"/>
                <a:cs typeface="Meiryo" pitchFamily="34" charset="-120"/>
              </a:rPr>
              <a:t>対象：1拠点・2〜3班</a:t>
            </a:r>
            <a:endParaRPr lang="en-US" sz="900" dirty="0"/>
          </a:p>
          <a:p>
            <a:pPr algn="l" indent="0" marL="0">
              <a:lnSpc>
                <a:spcPct val="115000"/>
              </a:lnSpc>
              <a:spcAft>
                <a:spcPts val="200"/>
              </a:spcAft>
              <a:buNone/>
            </a:pPr>
            <a:r>
              <a:rPr lang="en-US" sz="900" dirty="0">
                <a:solidFill>
                  <a:srgbClr val="1A1A1A"/>
                </a:solidFill>
                <a:latin typeface="Meiryo" pitchFamily="34" charset="0"/>
                <a:ea typeface="Meiryo" pitchFamily="34" charset="-122"/>
                <a:cs typeface="Meiryo" pitchFamily="34" charset="-120"/>
              </a:rPr>
              <a:t>導入前2週間と導入後4週間を比べる</a:t>
            </a:r>
            <a:endParaRPr lang="en-US" sz="900" dirty="0"/>
          </a:p>
          <a:p>
            <a:pPr algn="l" indent="0" marL="0">
              <a:lnSpc>
                <a:spcPct val="115000"/>
              </a:lnSpc>
              <a:spcAft>
                <a:spcPts val="200"/>
              </a:spcAft>
              <a:buNone/>
            </a:pPr>
            <a:r>
              <a:rPr lang="en-US" sz="900" b="1" dirty="0">
                <a:solidFill>
                  <a:srgbClr val="1A1A1A"/>
                </a:solidFill>
                <a:latin typeface="Meiryo" pitchFamily="34" charset="0"/>
                <a:ea typeface="Meiryo" pitchFamily="34" charset="-122"/>
                <a:cs typeface="Meiryo" pitchFamily="34" charset="-120"/>
              </a:rPr>
              <a:t>測る数字</a:t>
            </a:r>
            <a:endParaRPr lang="en-US" sz="900" dirty="0"/>
          </a:p>
          <a:p>
            <a:pPr algn="l" indent="0" marL="0">
              <a:lnSpc>
                <a:spcPct val="115000"/>
              </a:lnSpc>
              <a:spcAft>
                <a:spcPts val="200"/>
              </a:spcAft>
              <a:buNone/>
            </a:pPr>
            <a:r>
              <a:rPr lang="en-US" sz="900" dirty="0">
                <a:solidFill>
                  <a:srgbClr val="1A1A1A"/>
                </a:solidFill>
                <a:latin typeface="Meiryo" pitchFamily="34" charset="0"/>
                <a:ea typeface="Meiryo" pitchFamily="34" charset="-122"/>
                <a:cs typeface="Meiryo" pitchFamily="34" charset="-120"/>
              </a:rPr>
              <a:t>① 1台1日の削減時間（合格 23分以上）</a:t>
            </a:r>
            <a:endParaRPr lang="en-US" sz="900" dirty="0"/>
          </a:p>
          <a:p>
            <a:pPr algn="l" indent="0" marL="0">
              <a:lnSpc>
                <a:spcPct val="115000"/>
              </a:lnSpc>
              <a:spcAft>
                <a:spcPts val="200"/>
              </a:spcAft>
              <a:buNone/>
            </a:pPr>
            <a:r>
              <a:rPr lang="en-US" sz="900" dirty="0">
                <a:solidFill>
                  <a:srgbClr val="1A1A1A"/>
                </a:solidFill>
                <a:latin typeface="Meiryo" pitchFamily="34" charset="0"/>
                <a:ea typeface="Meiryo" pitchFamily="34" charset="-122"/>
                <a:cs typeface="Meiryo" pitchFamily="34" charset="-120"/>
              </a:rPr>
              <a:t>② 手戻り・施工ミスの件数</a:t>
            </a:r>
            <a:endParaRPr lang="en-US" sz="900" dirty="0"/>
          </a:p>
          <a:p>
            <a:pPr algn="l" indent="0" marL="0">
              <a:lnSpc>
                <a:spcPct val="115000"/>
              </a:lnSpc>
              <a:spcAft>
                <a:spcPts val="200"/>
              </a:spcAft>
              <a:buNone/>
            </a:pPr>
            <a:r>
              <a:rPr lang="en-US" sz="900" dirty="0">
                <a:solidFill>
                  <a:srgbClr val="1A1A1A"/>
                </a:solidFill>
                <a:latin typeface="Meiryo" pitchFamily="34" charset="0"/>
                <a:ea typeface="Meiryo" pitchFamily="34" charset="-122"/>
                <a:cs typeface="Meiryo" pitchFamily="34" charset="-120"/>
              </a:rPr>
              <a:t>③ 1台あたりのAI・保存の実費</a:t>
            </a:r>
            <a:endParaRPr lang="en-US" sz="900" dirty="0"/>
          </a:p>
          <a:p>
            <a:pPr algn="l" indent="0" marL="0">
              <a:lnSpc>
                <a:spcPct val="115000"/>
              </a:lnSpc>
              <a:spcAft>
                <a:spcPts val="200"/>
              </a:spcAft>
              <a:buNone/>
            </a:pPr>
            <a:r>
              <a:rPr lang="en-US" sz="900" dirty="0">
                <a:solidFill>
                  <a:srgbClr val="1A1A1A"/>
                </a:solidFill>
                <a:latin typeface="Meiryo" pitchFamily="34" charset="0"/>
                <a:ea typeface="Meiryo" pitchFamily="34" charset="-122"/>
                <a:cs typeface="Meiryo" pitchFamily="34" charset="-120"/>
              </a:rPr>
              <a:t>④ 新人が独り立ちするまでの期間</a:t>
            </a:r>
            <a:endParaRPr lang="en-US" sz="900" dirty="0"/>
          </a:p>
        </p:txBody>
      </p:sp>
      <p:sp>
        <p:nvSpPr>
          <p:cNvPr id="9" name="Shape 5"/>
          <p:cNvSpPr/>
          <p:nvPr/>
        </p:nvSpPr>
        <p:spPr>
          <a:xfrm>
            <a:off x="365760" y="3657600"/>
            <a:ext cx="8412480" cy="777240"/>
          </a:xfrm>
          <a:prstGeom prst="rect">
            <a:avLst/>
          </a:prstGeom>
          <a:solidFill>
            <a:srgbClr val="1A1A1A"/>
          </a:solidFill>
          <a:ln/>
        </p:spPr>
      </p:sp>
      <p:sp>
        <p:nvSpPr>
          <p:cNvPr id="10" name="Text 6"/>
          <p:cNvSpPr txBox="1"/>
          <p:nvPr/>
        </p:nvSpPr>
        <p:spPr>
          <a:xfrm>
            <a:off x="502920" y="3657600"/>
            <a:ext cx="8138160" cy="777240"/>
          </a:xfrm>
          <a:prstGeom prst="rect">
            <a:avLst/>
          </a:prstGeom>
          <a:noFill/>
          <a:ln/>
        </p:spPr>
        <p:txBody>
          <a:bodyPr wrap="square" lIns="0" tIns="0" rIns="0" bIns="0" rtlCol="0" anchor="ctr"/>
          <a:lstStyle/>
          <a:p>
            <a:pPr algn="l" indent="0" marL="0">
              <a:lnSpc>
                <a:spcPct val="115000"/>
              </a:lnSpc>
              <a:spcAft>
                <a:spcPts val="200"/>
              </a:spcAft>
              <a:buNone/>
            </a:pPr>
            <a:r>
              <a:rPr lang="en-US" sz="900" b="1" dirty="0">
                <a:solidFill>
                  <a:srgbClr val="E3A774"/>
                </a:solidFill>
                <a:latin typeface="Meiryo" pitchFamily="34" charset="0"/>
                <a:ea typeface="Meiryo" pitchFamily="34" charset="-122"/>
                <a:cs typeface="Meiryo" pitchFamily="34" charset="-120"/>
              </a:rPr>
              <a:t>聞かれたら：</a:t>
            </a:r>
            <a:pPr algn="l" indent="0" marL="0">
              <a:lnSpc>
                <a:spcPct val="115000"/>
              </a:lnSpc>
              <a:spcAft>
                <a:spcPts val="200"/>
              </a:spcAft>
              <a:buNone/>
            </a:pPr>
            <a:r>
              <a:rPr lang="en-US" sz="900" dirty="0">
                <a:solidFill>
                  <a:srgbClr val="FFFFFF"/>
                </a:solidFill>
                <a:latin typeface="Meiryo" pitchFamily="34" charset="0"/>
                <a:ea typeface="Meiryo" pitchFamily="34" charset="-122"/>
                <a:cs typeface="Meiryo" pitchFamily="34" charset="-120"/>
              </a:rPr>
              <a:t>「グラスは作りません。標準は普段使いのAIグラスで、要所だけを記録します。厳しい現場は産業用も選べます。端末が進化したら乗り換えます」</a:t>
            </a:r>
            <a:endParaRPr lang="en-US" sz="900" dirty="0"/>
          </a:p>
          <a:p>
            <a:pPr algn="l" indent="0" marL="0">
              <a:lnSpc>
                <a:spcPct val="115000"/>
              </a:lnSpc>
              <a:spcAft>
                <a:spcPts val="200"/>
              </a:spcAft>
              <a:buNone/>
            </a:pPr>
            <a:r>
              <a:rPr lang="en-US" sz="900" b="1" dirty="0">
                <a:solidFill>
                  <a:srgbClr val="E3A774"/>
                </a:solidFill>
                <a:latin typeface="Meiryo" pitchFamily="34" charset="0"/>
                <a:ea typeface="Meiryo" pitchFamily="34" charset="-122"/>
                <a:cs typeface="Meiryo" pitchFamily="34" charset="-120"/>
              </a:rPr>
              <a:t>手元ARの初期コスト：</a:t>
            </a:r>
            <a:pPr algn="l" indent="0" marL="0">
              <a:lnSpc>
                <a:spcPct val="115000"/>
              </a:lnSpc>
              <a:spcAft>
                <a:spcPts val="200"/>
              </a:spcAft>
              <a:buNone/>
            </a:pPr>
            <a:r>
              <a:rPr lang="en-US" sz="900" dirty="0">
                <a:solidFill>
                  <a:srgbClr val="FFFFFF"/>
                </a:solidFill>
                <a:latin typeface="Meiryo" pitchFamily="34" charset="0"/>
                <a:ea typeface="Meiryo" pitchFamily="34" charset="-122"/>
                <a:cs typeface="Meiryo" pitchFamily="34" charset="-120"/>
              </a:rPr>
              <a:t>組立図の3D化が必要。工種ごとのオプション（初期50万円）にして、1種類から始める</a:t>
            </a:r>
            <a:endParaRPr lang="en-US" sz="900" dirty="0"/>
          </a:p>
        </p:txBody>
      </p:sp>
      <p:sp>
        <p:nvSpPr>
          <p:cNvPr id="11" name="Text 7"/>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公表値・報道（2024〜2025年）。国内の正規販売・技適・保護めがねの規格・開発キットの国内提供は要確認</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3" name="Text 0"/>
          <p:cNvSpPr txBox="1"/>
          <p:nvPr/>
        </p:nvSpPr>
        <p:spPr>
          <a:xfrm>
            <a:off x="5577840" y="54864"/>
            <a:ext cx="3200400" cy="182880"/>
          </a:xfrm>
          <a:prstGeom prst="rect">
            <a:avLst/>
          </a:prstGeom>
          <a:noFill/>
          <a:ln/>
        </p:spPr>
        <p:txBody>
          <a:bodyPr wrap="square" lIns="0" tIns="0" rIns="0" bIns="0" rtlCol="0" anchor="ctr"/>
          <a:lstStyle/>
          <a:p>
            <a:pPr algn="r" indent="0" marL="0">
              <a:lnSpc>
                <a:spcPct val="115000"/>
              </a:lnSpc>
              <a:buNone/>
            </a:pPr>
            <a:r>
              <a:rPr lang="en-US" sz="800" dirty="0">
                <a:solidFill>
                  <a:srgbClr val="8C8C8C"/>
                </a:solidFill>
                <a:latin typeface="Meiryo" pitchFamily="34" charset="0"/>
                <a:ea typeface="Meiryo" pitchFamily="34" charset="-122"/>
                <a:cs typeface="Meiryo" pitchFamily="34" charset="-120"/>
              </a:rPr>
              <a:t>本編 p.21 の詳細</a:t>
            </a:r>
            <a:endParaRPr lang="en-US" sz="800" dirty="0"/>
          </a:p>
        </p:txBody>
      </p:sp>
      <p:sp>
        <p:nvSpPr>
          <p:cNvPr id="4"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データ基盤の中身 ─ 会社ごとに1つ、月5万円で何を持つか</a:t>
            </a:r>
            <a:endParaRPr lang="en-US" sz="2000" dirty="0"/>
          </a:p>
        </p:txBody>
      </p:sp>
      <p:sp>
        <p:nvSpPr>
          <p:cNvPr id="5"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基盤は「会社の記録の置き場」と「各社の型」。原価は月1万円、残りは設定と運用の人の時間で回収する</a:t>
            </a:r>
            <a:endParaRPr lang="en-US" sz="1200" dirty="0"/>
          </a:p>
        </p:txBody>
      </p:sp>
      <p:graphicFrame>
        <p:nvGraphicFramePr>
          <p:cNvPr id="28" name="platform"/>
          <p:cNvGraphicFramePr>
            <a:graphicFrameLocks noGrp="1"/>
          </p:cNvGraphicFramePr>
          <p:nvPr>
            <p:extLst>
              <p:ext uri="{D42A27DB-BD31-4B8C-83A1-F6EECF244321}">
                <p14:modId xmlns:p14="http://schemas.microsoft.com/office/powerpoint/2010/main" val="1579011935"/>
              </p:ext>
            </p:extLst>
          </p:nvPr>
        </p:nvGraphicFramePr>
        <p:xfrm>
          <a:off x="365760" y="1024128"/>
          <a:ext cx="8412480" cy="914400"/>
        </p:xfrm>
        <a:graphic>
          <a:graphicData uri="http://schemas.openxmlformats.org/drawingml/2006/table">
            <a:tbl>
              <a:tblPr/>
              <a:tblGrid>
                <a:gridCol w="1463040"/>
                <a:gridCol w="5029200"/>
                <a:gridCol w="1920240"/>
              </a:tblGrid>
              <a:tr h="283464">
                <a:tc>
                  <a:txBody>
                    <a:bodyPr/>
                    <a:lstStyle/>
                    <a:p>
                      <a:pPr algn="l" indent="0" marL="0">
                        <a:buNone/>
                      </a:pP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中身</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誰が作る・整える</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83464">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1 記録の保管庫</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動画クリップ・音声・写真・日報を現場と工種ごとに保存（3年）</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自動</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83464">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2 図面と手順</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図面・施工要領・チェックリストを登録し、照合に使う</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導入コンサルタント</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83464">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3 報告書の型</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各社の写真台帳・日報・検査帳票の書式（AIの出力をこの形に整える）</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導入コンサルタント</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83464">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4 工種の型</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電気工事の工種ごとの手順と、大事な場面の定義（業界共通）</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現場監修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83464">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5 権限と同意</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誰が何を見られるか、記録の本人同意、削除の依頼</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自動＋管理画面</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83464">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6 管理画面</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台ごとの利用時間・解析した場面の数・粗利の目安</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自動</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83464">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7 効果レポート</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毎月「何分減ったか」を班ごとに</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自動＋コンサルが説明</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83464">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8 連携の口</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施工管理アプリ・基幹システムへの出力（標準の形式）</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エンジニア</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7" name="Shape 3"/>
          <p:cNvSpPr/>
          <p:nvPr/>
        </p:nvSpPr>
        <p:spPr>
          <a:xfrm>
            <a:off x="365760" y="3657600"/>
            <a:ext cx="8412480" cy="795528"/>
          </a:xfrm>
          <a:prstGeom prst="rect">
            <a:avLst/>
          </a:prstGeom>
          <a:solidFill>
            <a:srgbClr val="1A1A1A"/>
          </a:solidFill>
          <a:ln/>
        </p:spPr>
      </p:sp>
      <p:sp>
        <p:nvSpPr>
          <p:cNvPr id="8" name="Text 4"/>
          <p:cNvSpPr txBox="1"/>
          <p:nvPr/>
        </p:nvSpPr>
        <p:spPr>
          <a:xfrm>
            <a:off x="502920" y="3657600"/>
            <a:ext cx="8138160" cy="795528"/>
          </a:xfrm>
          <a:prstGeom prst="rect">
            <a:avLst/>
          </a:prstGeom>
          <a:noFill/>
          <a:ln/>
        </p:spPr>
        <p:txBody>
          <a:bodyPr wrap="square" lIns="0" tIns="0" rIns="0" bIns="0" rtlCol="0" anchor="ctr"/>
          <a:lstStyle/>
          <a:p>
            <a:pPr algn="l" indent="0" marL="0">
              <a:lnSpc>
                <a:spcPct val="115000"/>
              </a:lnSpc>
              <a:spcAft>
                <a:spcPts val="200"/>
              </a:spcAft>
              <a:buNone/>
            </a:pPr>
            <a:r>
              <a:rPr lang="en-US" sz="900" b="1" dirty="0">
                <a:solidFill>
                  <a:srgbClr val="E3A774"/>
                </a:solidFill>
                <a:latin typeface="Meiryo" pitchFamily="34" charset="0"/>
                <a:ea typeface="Meiryo" pitchFamily="34" charset="-122"/>
                <a:cs typeface="Meiryo" pitchFamily="34" charset="-120"/>
              </a:rPr>
              <a:t>原価と値段：</a:t>
            </a:r>
            <a:pPr algn="l" indent="0" marL="0">
              <a:lnSpc>
                <a:spcPct val="115000"/>
              </a:lnSpc>
              <a:spcAft>
                <a:spcPts val="200"/>
              </a:spcAft>
              <a:buNone/>
            </a:pPr>
            <a:r>
              <a:rPr lang="en-US" sz="900" dirty="0">
                <a:solidFill>
                  <a:srgbClr val="FFFFFF"/>
                </a:solidFill>
                <a:latin typeface="Meiryo" pitchFamily="34" charset="0"/>
                <a:ea typeface="Meiryo" pitchFamily="34" charset="-122"/>
                <a:cs typeface="Meiryo" pitchFamily="34" charset="-120"/>
              </a:rPr>
              <a:t>基盤の原価は月1万円（年12万円：保管・データベース・監視）。値段は月5万円で、差の月4万円が設定・定着支援の人の時間と開発を回収する。</a:t>
            </a:r>
            <a:endParaRPr lang="en-US" sz="900" dirty="0"/>
          </a:p>
          <a:p>
            <a:pPr algn="l" indent="0" marL="0">
              <a:lnSpc>
                <a:spcPct val="115000"/>
              </a:lnSpc>
              <a:spcAft>
                <a:spcPts val="200"/>
              </a:spcAft>
              <a:buNone/>
            </a:pPr>
            <a:r>
              <a:rPr lang="en-US" sz="900" dirty="0">
                <a:solidFill>
                  <a:srgbClr val="FFFFFF"/>
                </a:solidFill>
                <a:latin typeface="Meiryo" pitchFamily="34" charset="0"/>
                <a:ea typeface="Meiryo" pitchFamily="34" charset="-122"/>
                <a:cs typeface="Meiryo" pitchFamily="34" charset="-120"/>
              </a:rPr>
              <a:t>3と4は外部に委託せず社内で作る。各社の型が増えるほど、次のお客様の設定が速くなる（知見が貯まる）</a:t>
            </a:r>
            <a:endParaRPr lang="en-US" sz="900" dirty="0"/>
          </a:p>
        </p:txBody>
      </p:sp>
      <p:sp>
        <p:nvSpPr>
          <p:cNvPr id="9" name="Text 5"/>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保存期間・解析の上限は実証で決める。報告書の書式を整える工程は利用料に含み、個社の基幹連携だけを有償の個社設定にする（p.15）</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3" name="Text 0"/>
          <p:cNvSpPr txBox="1"/>
          <p:nvPr/>
        </p:nvSpPr>
        <p:spPr>
          <a:xfrm>
            <a:off x="5577840" y="54864"/>
            <a:ext cx="3200400" cy="182880"/>
          </a:xfrm>
          <a:prstGeom prst="rect">
            <a:avLst/>
          </a:prstGeom>
          <a:noFill/>
          <a:ln/>
        </p:spPr>
        <p:txBody>
          <a:bodyPr wrap="square" lIns="0" tIns="0" rIns="0" bIns="0" rtlCol="0" anchor="ctr"/>
          <a:lstStyle/>
          <a:p>
            <a:pPr algn="r" indent="0" marL="0">
              <a:lnSpc>
                <a:spcPct val="115000"/>
              </a:lnSpc>
              <a:buNone/>
            </a:pPr>
            <a:r>
              <a:rPr lang="en-US" sz="800" dirty="0">
                <a:solidFill>
                  <a:srgbClr val="8C8C8C"/>
                </a:solidFill>
                <a:latin typeface="Meiryo" pitchFamily="34" charset="0"/>
                <a:ea typeface="Meiryo" pitchFamily="34" charset="-122"/>
                <a:cs typeface="Meiryo" pitchFamily="34" charset="-120"/>
              </a:rPr>
              <a:t>本編 p.11・30 の詳細</a:t>
            </a:r>
            <a:endParaRPr lang="en-US" sz="800" dirty="0"/>
          </a:p>
        </p:txBody>
      </p:sp>
      <p:sp>
        <p:nvSpPr>
          <p:cNvPr id="4"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場面の選び方とAIの学習 ─ 全部は送らず、3段階で賢くする</a:t>
            </a:r>
            <a:endParaRPr lang="en-US" sz="2000" dirty="0"/>
          </a:p>
        </p:txBody>
      </p:sp>
      <p:sp>
        <p:nvSpPr>
          <p:cNvPr id="5"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録画は端末に全部残す。クラウドで解析するのは選んだ場面だけ。選び方を段階的に自社のAIへ置き換える</a:t>
            </a:r>
            <a:endParaRPr lang="en-US" sz="1200" dirty="0"/>
          </a:p>
        </p:txBody>
      </p:sp>
      <p:sp>
        <p:nvSpPr>
          <p:cNvPr id="6" name="Shape 3"/>
          <p:cNvSpPr/>
          <p:nvPr/>
        </p:nvSpPr>
        <p:spPr>
          <a:xfrm>
            <a:off x="365760" y="1024128"/>
            <a:ext cx="2724912" cy="475488"/>
          </a:xfrm>
          <a:prstGeom prst="rect">
            <a:avLst/>
          </a:prstGeom>
          <a:solidFill>
            <a:srgbClr val="1A1A1A"/>
          </a:solidFill>
          <a:ln/>
        </p:spPr>
      </p:sp>
      <p:sp>
        <p:nvSpPr>
          <p:cNvPr id="7" name="Text 4"/>
          <p:cNvSpPr txBox="1"/>
          <p:nvPr/>
        </p:nvSpPr>
        <p:spPr>
          <a:xfrm>
            <a:off x="457200" y="1024128"/>
            <a:ext cx="2542032" cy="475488"/>
          </a:xfrm>
          <a:prstGeom prst="rect">
            <a:avLst/>
          </a:prstGeom>
          <a:noFill/>
          <a:ln/>
        </p:spPr>
        <p:txBody>
          <a:bodyPr wrap="square" lIns="0" tIns="0" rIns="0" bIns="0" rtlCol="0" anchor="ctr"/>
          <a:lstStyle/>
          <a:p>
            <a:pPr algn="l" indent="0" marL="0">
              <a:lnSpc>
                <a:spcPct val="115000"/>
              </a:lnSpc>
              <a:buNone/>
            </a:pPr>
            <a:r>
              <a:rPr lang="en-US" sz="1100" b="1" dirty="0">
                <a:solidFill>
                  <a:srgbClr val="FFFFFF"/>
                </a:solidFill>
                <a:latin typeface="Meiryo" pitchFamily="34" charset="0"/>
                <a:ea typeface="Meiryo" pitchFamily="34" charset="-122"/>
                <a:cs typeface="Meiryo" pitchFamily="34" charset="-120"/>
              </a:rPr>
              <a:t>1 決まりで選ぶ</a:t>
            </a:r>
            <a:pPr algn="l" indent="0" marL="0">
              <a:lnSpc>
                <a:spcPct val="115000"/>
              </a:lnSpc>
              <a:buNone/>
            </a:pPr>
            <a:r>
              <a:rPr lang="en-US" sz="850" dirty="0">
                <a:solidFill>
                  <a:srgbClr val="FFFFFF"/>
                </a:solidFill>
                <a:latin typeface="Meiryo" pitchFamily="34" charset="0"/>
                <a:ea typeface="Meiryo" pitchFamily="34" charset="-122"/>
                <a:cs typeface="Meiryo" pitchFamily="34" charset="-120"/>
              </a:rPr>
              <a:t>　準備期〜1年目</a:t>
            </a:r>
            <a:endParaRPr lang="en-US" sz="1400" dirty="0"/>
          </a:p>
        </p:txBody>
      </p:sp>
      <p:sp>
        <p:nvSpPr>
          <p:cNvPr id="8" name="Shape 5"/>
          <p:cNvSpPr/>
          <p:nvPr/>
        </p:nvSpPr>
        <p:spPr>
          <a:xfrm>
            <a:off x="365760" y="1536192"/>
            <a:ext cx="2724912" cy="960120"/>
          </a:xfrm>
          <a:prstGeom prst="rect">
            <a:avLst/>
          </a:prstGeom>
          <a:solidFill>
            <a:srgbClr val="F2F2F2"/>
          </a:solidFill>
          <a:ln/>
        </p:spPr>
      </p:sp>
      <p:sp>
        <p:nvSpPr>
          <p:cNvPr id="9" name="Text 6"/>
          <p:cNvSpPr txBox="1"/>
          <p:nvPr/>
        </p:nvSpPr>
        <p:spPr>
          <a:xfrm>
            <a:off x="457200" y="1554480"/>
            <a:ext cx="2542032" cy="914400"/>
          </a:xfrm>
          <a:prstGeom prst="rect">
            <a:avLst/>
          </a:prstGeom>
          <a:noFill/>
          <a:ln/>
        </p:spPr>
        <p:txBody>
          <a:bodyPr wrap="square" lIns="0" tIns="0" rIns="0" bIns="0" rtlCol="0" anchor="ctr"/>
          <a:lstStyle/>
          <a:p>
            <a:pPr algn="l" indent="0" marL="0">
              <a:lnSpc>
                <a:spcPct val="115000"/>
              </a:lnSpc>
              <a:spcAft>
                <a:spcPts val="300"/>
              </a:spcAft>
              <a:buNone/>
            </a:pPr>
            <a:r>
              <a:rPr lang="en-US" sz="850" dirty="0">
                <a:solidFill>
                  <a:srgbClr val="1A1A1A"/>
                </a:solidFill>
                <a:latin typeface="Meiryo" pitchFamily="34" charset="0"/>
                <a:ea typeface="Meiryo" pitchFamily="34" charset="-122"/>
                <a:cs typeface="Meiryo" pitchFamily="34" charset="-120"/>
              </a:rPr>
              <a:t>作業の区切り・「ここ撮って」の声・検査の前後など、決まりで切り出す</a:t>
            </a:r>
            <a:endParaRPr lang="en-US" sz="850" dirty="0"/>
          </a:p>
          <a:p>
            <a:pPr algn="l" indent="0" marL="0">
              <a:lnSpc>
                <a:spcPct val="115000"/>
              </a:lnSpc>
              <a:spcAft>
                <a:spcPts val="300"/>
              </a:spcAft>
              <a:buNone/>
            </a:pPr>
            <a:r>
              <a:rPr lang="en-US" sz="800" dirty="0">
                <a:solidFill>
                  <a:srgbClr val="4D4D4D"/>
                </a:solidFill>
                <a:latin typeface="Meiryo" pitchFamily="34" charset="0"/>
                <a:ea typeface="Meiryo" pitchFamily="34" charset="-122"/>
                <a:cs typeface="Meiryo" pitchFamily="34" charset="-120"/>
              </a:rPr>
              <a:t>原価が読める。取りこぼしがある</a:t>
            </a:r>
            <a:endParaRPr lang="en-US" sz="850" dirty="0"/>
          </a:p>
        </p:txBody>
      </p:sp>
      <p:sp>
        <p:nvSpPr>
          <p:cNvPr id="10" name="Shape 7"/>
          <p:cNvSpPr/>
          <p:nvPr/>
        </p:nvSpPr>
        <p:spPr>
          <a:xfrm>
            <a:off x="3090672" y="1261872"/>
            <a:ext cx="91440" cy="0"/>
          </a:xfrm>
          <a:prstGeom prst="line">
            <a:avLst/>
          </a:prstGeom>
          <a:noFill/>
          <a:ln w="25400">
            <a:solidFill>
              <a:srgbClr val="B8692E"/>
            </a:solidFill>
            <a:prstDash val="solid"/>
            <a:tailEnd type="triangle"/>
          </a:ln>
        </p:spPr>
      </p:sp>
      <p:sp>
        <p:nvSpPr>
          <p:cNvPr id="11" name="Shape 8"/>
          <p:cNvSpPr/>
          <p:nvPr/>
        </p:nvSpPr>
        <p:spPr>
          <a:xfrm>
            <a:off x="3182112" y="1024128"/>
            <a:ext cx="2724912" cy="475488"/>
          </a:xfrm>
          <a:prstGeom prst="rect">
            <a:avLst/>
          </a:prstGeom>
          <a:solidFill>
            <a:srgbClr val="1A1A1A"/>
          </a:solidFill>
          <a:ln/>
        </p:spPr>
      </p:sp>
      <p:sp>
        <p:nvSpPr>
          <p:cNvPr id="12" name="Text 9"/>
          <p:cNvSpPr txBox="1"/>
          <p:nvPr/>
        </p:nvSpPr>
        <p:spPr>
          <a:xfrm>
            <a:off x="3273552" y="1024128"/>
            <a:ext cx="2542032" cy="475488"/>
          </a:xfrm>
          <a:prstGeom prst="rect">
            <a:avLst/>
          </a:prstGeom>
          <a:noFill/>
          <a:ln/>
        </p:spPr>
        <p:txBody>
          <a:bodyPr wrap="square" lIns="0" tIns="0" rIns="0" bIns="0" rtlCol="0" anchor="ctr"/>
          <a:lstStyle/>
          <a:p>
            <a:pPr algn="l" indent="0" marL="0">
              <a:lnSpc>
                <a:spcPct val="115000"/>
              </a:lnSpc>
              <a:buNone/>
            </a:pPr>
            <a:r>
              <a:rPr lang="en-US" sz="1100" b="1" dirty="0">
                <a:solidFill>
                  <a:srgbClr val="FFFFFF"/>
                </a:solidFill>
                <a:latin typeface="Meiryo" pitchFamily="34" charset="0"/>
                <a:ea typeface="Meiryo" pitchFamily="34" charset="-122"/>
                <a:cs typeface="Meiryo" pitchFamily="34" charset="-120"/>
              </a:rPr>
              <a:t>2 汎用のAIで選ぶ</a:t>
            </a:r>
            <a:pPr algn="l" indent="0" marL="0">
              <a:lnSpc>
                <a:spcPct val="115000"/>
              </a:lnSpc>
              <a:buNone/>
            </a:pPr>
            <a:r>
              <a:rPr lang="en-US" sz="850" dirty="0">
                <a:solidFill>
                  <a:srgbClr val="FFFFFF"/>
                </a:solidFill>
                <a:latin typeface="Meiryo" pitchFamily="34" charset="0"/>
                <a:ea typeface="Meiryo" pitchFamily="34" charset="-122"/>
                <a:cs typeface="Meiryo" pitchFamily="34" charset="-120"/>
              </a:rPr>
              <a:t>　1〜2年目</a:t>
            </a:r>
            <a:endParaRPr lang="en-US" sz="1400" dirty="0"/>
          </a:p>
        </p:txBody>
      </p:sp>
      <p:sp>
        <p:nvSpPr>
          <p:cNvPr id="13" name="Shape 10"/>
          <p:cNvSpPr/>
          <p:nvPr/>
        </p:nvSpPr>
        <p:spPr>
          <a:xfrm>
            <a:off x="3182112" y="1536192"/>
            <a:ext cx="2724912" cy="960120"/>
          </a:xfrm>
          <a:prstGeom prst="rect">
            <a:avLst/>
          </a:prstGeom>
          <a:solidFill>
            <a:srgbClr val="F2F2F2"/>
          </a:solidFill>
          <a:ln/>
        </p:spPr>
      </p:sp>
      <p:sp>
        <p:nvSpPr>
          <p:cNvPr id="14" name="Text 11"/>
          <p:cNvSpPr txBox="1"/>
          <p:nvPr/>
        </p:nvSpPr>
        <p:spPr>
          <a:xfrm>
            <a:off x="3273552" y="1554480"/>
            <a:ext cx="2542032" cy="914400"/>
          </a:xfrm>
          <a:prstGeom prst="rect">
            <a:avLst/>
          </a:prstGeom>
          <a:noFill/>
          <a:ln/>
        </p:spPr>
        <p:txBody>
          <a:bodyPr wrap="square" lIns="0" tIns="0" rIns="0" bIns="0" rtlCol="0" anchor="ctr"/>
          <a:lstStyle/>
          <a:p>
            <a:pPr algn="l" indent="0" marL="0">
              <a:lnSpc>
                <a:spcPct val="115000"/>
              </a:lnSpc>
              <a:spcAft>
                <a:spcPts val="300"/>
              </a:spcAft>
              <a:buNone/>
            </a:pPr>
            <a:r>
              <a:rPr lang="en-US" sz="850" dirty="0">
                <a:solidFill>
                  <a:srgbClr val="1A1A1A"/>
                </a:solidFill>
                <a:latin typeface="Meiryo" pitchFamily="34" charset="0"/>
                <a:ea typeface="Meiryo" pitchFamily="34" charset="-122"/>
                <a:cs typeface="Meiryo" pitchFamily="34" charset="-120"/>
              </a:rPr>
              <a:t>Claudeなどの汎用AIに、文字起こしと間引いた静止画を渡して「大事な場面か」を判定</a:t>
            </a:r>
            <a:endParaRPr lang="en-US" sz="850" dirty="0"/>
          </a:p>
          <a:p>
            <a:pPr algn="l" indent="0" marL="0">
              <a:lnSpc>
                <a:spcPct val="115000"/>
              </a:lnSpc>
              <a:spcAft>
                <a:spcPts val="300"/>
              </a:spcAft>
              <a:buNone/>
            </a:pPr>
            <a:r>
              <a:rPr lang="en-US" sz="800" dirty="0">
                <a:solidFill>
                  <a:srgbClr val="4D4D4D"/>
                </a:solidFill>
                <a:latin typeface="Meiryo" pitchFamily="34" charset="0"/>
                <a:ea typeface="Meiryo" pitchFamily="34" charset="-122"/>
                <a:cs typeface="Meiryo" pitchFamily="34" charset="-120"/>
              </a:rPr>
              <a:t>賢いが、1件ごとに費用がかかる</a:t>
            </a:r>
            <a:endParaRPr lang="en-US" sz="850" dirty="0"/>
          </a:p>
        </p:txBody>
      </p:sp>
      <p:sp>
        <p:nvSpPr>
          <p:cNvPr id="15" name="Shape 12"/>
          <p:cNvSpPr/>
          <p:nvPr/>
        </p:nvSpPr>
        <p:spPr>
          <a:xfrm>
            <a:off x="5907024" y="1261872"/>
            <a:ext cx="91440" cy="0"/>
          </a:xfrm>
          <a:prstGeom prst="line">
            <a:avLst/>
          </a:prstGeom>
          <a:noFill/>
          <a:ln w="25400">
            <a:solidFill>
              <a:srgbClr val="B8692E"/>
            </a:solidFill>
            <a:prstDash val="solid"/>
            <a:tailEnd type="triangle"/>
          </a:ln>
        </p:spPr>
      </p:sp>
      <p:sp>
        <p:nvSpPr>
          <p:cNvPr id="16" name="Shape 13"/>
          <p:cNvSpPr/>
          <p:nvPr/>
        </p:nvSpPr>
        <p:spPr>
          <a:xfrm>
            <a:off x="5998464" y="1024128"/>
            <a:ext cx="2724912" cy="475488"/>
          </a:xfrm>
          <a:prstGeom prst="rect">
            <a:avLst/>
          </a:prstGeom>
          <a:solidFill>
            <a:srgbClr val="B8692E"/>
          </a:solidFill>
          <a:ln/>
        </p:spPr>
      </p:sp>
      <p:sp>
        <p:nvSpPr>
          <p:cNvPr id="17" name="Text 14"/>
          <p:cNvSpPr txBox="1"/>
          <p:nvPr/>
        </p:nvSpPr>
        <p:spPr>
          <a:xfrm>
            <a:off x="6089904" y="1024128"/>
            <a:ext cx="2542032" cy="475488"/>
          </a:xfrm>
          <a:prstGeom prst="rect">
            <a:avLst/>
          </a:prstGeom>
          <a:noFill/>
          <a:ln/>
        </p:spPr>
        <p:txBody>
          <a:bodyPr wrap="square" lIns="0" tIns="0" rIns="0" bIns="0" rtlCol="0" anchor="ctr"/>
          <a:lstStyle/>
          <a:p>
            <a:pPr algn="l" indent="0" marL="0">
              <a:lnSpc>
                <a:spcPct val="115000"/>
              </a:lnSpc>
              <a:buNone/>
            </a:pPr>
            <a:r>
              <a:rPr lang="en-US" sz="1100" b="1" dirty="0">
                <a:solidFill>
                  <a:srgbClr val="FFFFFF"/>
                </a:solidFill>
                <a:latin typeface="Meiryo" pitchFamily="34" charset="0"/>
                <a:ea typeface="Meiryo" pitchFamily="34" charset="-122"/>
                <a:cs typeface="Meiryo" pitchFamily="34" charset="-120"/>
              </a:rPr>
              <a:t>3 自社のAIで選ぶ</a:t>
            </a:r>
            <a:pPr algn="l" indent="0" marL="0">
              <a:lnSpc>
                <a:spcPct val="115000"/>
              </a:lnSpc>
              <a:buNone/>
            </a:pPr>
            <a:r>
              <a:rPr lang="en-US" sz="850" dirty="0">
                <a:solidFill>
                  <a:srgbClr val="FFFFFF"/>
                </a:solidFill>
                <a:latin typeface="Meiryo" pitchFamily="34" charset="0"/>
                <a:ea typeface="Meiryo" pitchFamily="34" charset="-122"/>
                <a:cs typeface="Meiryo" pitchFamily="34" charset="-120"/>
              </a:rPr>
              <a:t>　3年目〜</a:t>
            </a:r>
            <a:endParaRPr lang="en-US" sz="1400" dirty="0"/>
          </a:p>
        </p:txBody>
      </p:sp>
      <p:sp>
        <p:nvSpPr>
          <p:cNvPr id="18" name="Shape 15"/>
          <p:cNvSpPr/>
          <p:nvPr/>
        </p:nvSpPr>
        <p:spPr>
          <a:xfrm>
            <a:off x="5998464" y="1536192"/>
            <a:ext cx="2724912" cy="960120"/>
          </a:xfrm>
          <a:prstGeom prst="rect">
            <a:avLst/>
          </a:prstGeom>
          <a:solidFill>
            <a:srgbClr val="F2F2F2"/>
          </a:solidFill>
          <a:ln/>
        </p:spPr>
      </p:sp>
      <p:sp>
        <p:nvSpPr>
          <p:cNvPr id="19" name="Text 16"/>
          <p:cNvSpPr txBox="1"/>
          <p:nvPr/>
        </p:nvSpPr>
        <p:spPr>
          <a:xfrm>
            <a:off x="6089904" y="1554480"/>
            <a:ext cx="2542032" cy="914400"/>
          </a:xfrm>
          <a:prstGeom prst="rect">
            <a:avLst/>
          </a:prstGeom>
          <a:noFill/>
          <a:ln/>
        </p:spPr>
        <p:txBody>
          <a:bodyPr wrap="square" lIns="0" tIns="0" rIns="0" bIns="0" rtlCol="0" anchor="ctr"/>
          <a:lstStyle/>
          <a:p>
            <a:pPr algn="l" indent="0" marL="0">
              <a:lnSpc>
                <a:spcPct val="115000"/>
              </a:lnSpc>
              <a:spcAft>
                <a:spcPts val="300"/>
              </a:spcAft>
              <a:buNone/>
            </a:pPr>
            <a:r>
              <a:rPr lang="en-US" sz="850" dirty="0">
                <a:solidFill>
                  <a:srgbClr val="1A1A1A"/>
                </a:solidFill>
                <a:latin typeface="Meiryo" pitchFamily="34" charset="0"/>
                <a:ea typeface="Meiryo" pitchFamily="34" charset="-122"/>
                <a:cs typeface="Meiryo" pitchFamily="34" charset="-120"/>
              </a:rPr>
              <a:t>現場監修が付けた「大事／不要」の印で、自社の小さな判定AIを学習させる</a:t>
            </a:r>
            <a:endParaRPr lang="en-US" sz="850" dirty="0"/>
          </a:p>
          <a:p>
            <a:pPr algn="l" indent="0" marL="0">
              <a:lnSpc>
                <a:spcPct val="115000"/>
              </a:lnSpc>
              <a:spcAft>
                <a:spcPts val="300"/>
              </a:spcAft>
              <a:buNone/>
            </a:pPr>
            <a:r>
              <a:rPr lang="en-US" sz="800" dirty="0">
                <a:solidFill>
                  <a:srgbClr val="4D4D4D"/>
                </a:solidFill>
                <a:latin typeface="Meiryo" pitchFamily="34" charset="0"/>
                <a:ea typeface="Meiryo" pitchFamily="34" charset="-122"/>
                <a:cs typeface="Meiryo" pitchFamily="34" charset="-120"/>
              </a:rPr>
              <a:t>安く速い。真似されにくさの源</a:t>
            </a:r>
            <a:endParaRPr lang="en-US" sz="850" dirty="0"/>
          </a:p>
        </p:txBody>
      </p:sp>
      <p:graphicFrame>
        <p:nvGraphicFramePr>
          <p:cNvPr id="29" name="label"/>
          <p:cNvGraphicFramePr>
            <a:graphicFrameLocks noGrp="1"/>
          </p:cNvGraphicFramePr>
          <p:nvPr>
            <p:extLst>
              <p:ext uri="{D42A27DB-BD31-4B8C-83A1-F6EECF244321}">
                <p14:modId xmlns:p14="http://schemas.microsoft.com/office/powerpoint/2010/main" val="1579011935"/>
              </p:ext>
            </p:extLst>
          </p:nvPr>
        </p:nvGraphicFramePr>
        <p:xfrm>
          <a:off x="365760" y="2624328"/>
          <a:ext cx="5120640" cy="914400"/>
        </p:xfrm>
        <a:graphic>
          <a:graphicData uri="http://schemas.openxmlformats.org/drawingml/2006/table">
            <a:tbl>
              <a:tblPr/>
              <a:tblGrid>
                <a:gridCol w="1463040"/>
                <a:gridCol w="2194560"/>
                <a:gridCol w="1463040"/>
              </a:tblGrid>
              <a:tr h="228600">
                <a:tc>
                  <a:txBody>
                    <a:bodyPr/>
                    <a:lstStyle/>
                    <a:p>
                      <a:pPr algn="l" indent="0" marL="0">
                        <a:buNone/>
                      </a:pPr>
                      <a:r>
                        <a:rPr lang="en-US" sz="800" b="1" dirty="0">
                          <a:solidFill>
                            <a:srgbClr val="1A1A1A"/>
                          </a:solidFill>
                          <a:latin typeface="Meiryo" pitchFamily="34" charset="0"/>
                          <a:ea typeface="Meiryo" pitchFamily="34" charset="-122"/>
                          <a:cs typeface="Meiryo" pitchFamily="34" charset="-120"/>
                        </a:rPr>
                        <a:t>ラベル付け（印付け）の手間</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00" b="1" dirty="0">
                          <a:solidFill>
                            <a:srgbClr val="1A1A1A"/>
                          </a:solidFill>
                          <a:latin typeface="Meiryo" pitchFamily="34" charset="0"/>
                          <a:ea typeface="Meiryo" pitchFamily="34" charset="-122"/>
                          <a:cs typeface="Meiryo" pitchFamily="34" charset="-120"/>
                        </a:rPr>
                        <a:t>式</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00" b="1" dirty="0">
                          <a:solidFill>
                            <a:srgbClr val="1A1A1A"/>
                          </a:solidFill>
                          <a:latin typeface="Meiryo" pitchFamily="34" charset="0"/>
                          <a:ea typeface="Meiryo" pitchFamily="34" charset="-122"/>
                          <a:cs typeface="Meiryo" pitchFamily="34" charset="-120"/>
                        </a:rPr>
                        <a:t>量</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28600">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送られる場面</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1台1日4時間の作業から約20場面</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1拠点 月約4,000場面</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28600">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人が印を付ける割合</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AIが迷った場面だけ・約5%</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1拠点 月約200場面</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28600">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1場面あたり</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約45秒（見る・印を付ける）</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1拠点 月約2.5時間</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28600">
                <a:tc>
                  <a:txBody>
                    <a:bodyPr/>
                    <a:lstStyle/>
                    <a:p>
                      <a:pPr algn="l" indent="0" marL="0">
                        <a:buNone/>
                      </a:pPr>
                      <a:r>
                        <a:rPr lang="en-US" sz="800" b="1" dirty="0">
                          <a:solidFill>
                            <a:srgbClr val="1A1A1A"/>
                          </a:solidFill>
                          <a:latin typeface="Meiryo" pitchFamily="34" charset="0"/>
                          <a:ea typeface="Meiryo" pitchFamily="34" charset="-122"/>
                          <a:cs typeface="Meiryo" pitchFamily="34" charset="-120"/>
                        </a:rPr>
                        <a:t>5年目（81拠点）</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b="1" dirty="0">
                          <a:solidFill>
                            <a:srgbClr val="1A1A1A"/>
                          </a:solidFill>
                          <a:latin typeface="Meiryo" pitchFamily="34" charset="0"/>
                          <a:ea typeface="Meiryo" pitchFamily="34" charset="-122"/>
                          <a:cs typeface="Meiryo" pitchFamily="34" charset="-120"/>
                        </a:rPr>
                        <a:t>81拠点×月2.5時間×12か月</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b="1" dirty="0">
                          <a:solidFill>
                            <a:srgbClr val="B8692E"/>
                          </a:solidFill>
                          <a:latin typeface="Meiryo" pitchFamily="34" charset="0"/>
                          <a:ea typeface="Meiryo" pitchFamily="34" charset="-122"/>
                          <a:cs typeface="Meiryo" pitchFamily="34" charset="-120"/>
                        </a:rPr>
                        <a:t>年約2,400時間＝約1.3人分</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21" name="Shape 17"/>
          <p:cNvSpPr/>
          <p:nvPr/>
        </p:nvSpPr>
        <p:spPr>
          <a:xfrm>
            <a:off x="5623560" y="2624328"/>
            <a:ext cx="3154680" cy="1188720"/>
          </a:xfrm>
          <a:prstGeom prst="rect">
            <a:avLst/>
          </a:prstGeom>
          <a:solidFill>
            <a:srgbClr val="1A1A1A"/>
          </a:solidFill>
          <a:ln/>
        </p:spPr>
      </p:sp>
      <p:sp>
        <p:nvSpPr>
          <p:cNvPr id="22" name="Text 18"/>
          <p:cNvSpPr txBox="1"/>
          <p:nvPr/>
        </p:nvSpPr>
        <p:spPr>
          <a:xfrm>
            <a:off x="5760720" y="2624328"/>
            <a:ext cx="2880360" cy="1188720"/>
          </a:xfrm>
          <a:prstGeom prst="rect">
            <a:avLst/>
          </a:prstGeom>
          <a:noFill/>
          <a:ln/>
        </p:spPr>
        <p:txBody>
          <a:bodyPr wrap="square" lIns="0" tIns="0" rIns="0" bIns="0" rtlCol="0" anchor="ctr"/>
          <a:lstStyle/>
          <a:p>
            <a:pPr algn="l" indent="0" marL="0">
              <a:lnSpc>
                <a:spcPct val="115000"/>
              </a:lnSpc>
              <a:spcAft>
                <a:spcPts val="300"/>
              </a:spcAft>
              <a:buNone/>
            </a:pPr>
            <a:r>
              <a:rPr lang="en-US" sz="900" b="1" dirty="0">
                <a:solidFill>
                  <a:srgbClr val="E3A774"/>
                </a:solidFill>
                <a:latin typeface="Meiryo" pitchFamily="34" charset="0"/>
                <a:ea typeface="Meiryo" pitchFamily="34" charset="-122"/>
                <a:cs typeface="Meiryo" pitchFamily="34" charset="-120"/>
              </a:rPr>
              <a:t>AIの学習の計算費</a:t>
            </a:r>
            <a:endParaRPr lang="en-US" sz="900" dirty="0"/>
          </a:p>
          <a:p>
            <a:pPr algn="l" indent="0" marL="0">
              <a:lnSpc>
                <a:spcPct val="115000"/>
              </a:lnSpc>
              <a:spcAft>
                <a:spcPts val="300"/>
              </a:spcAft>
              <a:buNone/>
            </a:pPr>
            <a:r>
              <a:rPr lang="en-US" sz="900" dirty="0">
                <a:solidFill>
                  <a:srgbClr val="FFFFFF"/>
                </a:solidFill>
                <a:latin typeface="Meiryo" pitchFamily="34" charset="0"/>
                <a:ea typeface="Meiryo" pitchFamily="34" charset="-122"/>
                <a:cs typeface="Meiryo" pitchFamily="34" charset="-120"/>
              </a:rPr>
              <a:t>2年目から年180〜360万円（クラウドのGPU 月15〜30万円）を経費に入れた</a:t>
            </a:r>
            <a:endParaRPr lang="en-US" sz="900" dirty="0"/>
          </a:p>
          <a:p>
            <a:pPr algn="l" indent="0" marL="0">
              <a:lnSpc>
                <a:spcPct val="115000"/>
              </a:lnSpc>
              <a:spcAft>
                <a:spcPts val="300"/>
              </a:spcAft>
              <a:buNone/>
            </a:pPr>
            <a:r>
              <a:rPr lang="en-US" sz="850" dirty="0">
                <a:solidFill>
                  <a:srgbClr val="FFFFFF"/>
                </a:solidFill>
                <a:latin typeface="Meiryo" pitchFamily="34" charset="0"/>
                <a:ea typeface="Meiryo" pitchFamily="34" charset="-122"/>
                <a:cs typeface="Meiryo" pitchFamily="34" charset="-120"/>
              </a:rPr>
              <a:t>判定AIは小さく作り、毎月の新しい印で作り直す</a:t>
            </a:r>
            <a:endParaRPr lang="en-US" sz="900" dirty="0"/>
          </a:p>
        </p:txBody>
      </p:sp>
      <p:sp>
        <p:nvSpPr>
          <p:cNvPr id="23" name="Shape 19"/>
          <p:cNvSpPr/>
          <p:nvPr/>
        </p:nvSpPr>
        <p:spPr>
          <a:xfrm>
            <a:off x="365760" y="3886200"/>
            <a:ext cx="8412480" cy="566928"/>
          </a:xfrm>
          <a:prstGeom prst="rect">
            <a:avLst/>
          </a:prstGeom>
          <a:solidFill>
            <a:srgbClr val="1A1A1A"/>
          </a:solidFill>
          <a:ln/>
        </p:spPr>
      </p:sp>
      <p:sp>
        <p:nvSpPr>
          <p:cNvPr id="24" name="Text 20"/>
          <p:cNvSpPr txBox="1"/>
          <p:nvPr/>
        </p:nvSpPr>
        <p:spPr>
          <a:xfrm>
            <a:off x="502920" y="3886200"/>
            <a:ext cx="8138160" cy="566928"/>
          </a:xfrm>
          <a:prstGeom prst="rect">
            <a:avLst/>
          </a:prstGeom>
          <a:noFill/>
          <a:ln/>
        </p:spPr>
        <p:txBody>
          <a:bodyPr wrap="square" lIns="0" tIns="0" rIns="0" bIns="0" rtlCol="0" anchor="ctr"/>
          <a:lstStyle/>
          <a:p>
            <a:pPr algn="l" indent="0" marL="0">
              <a:lnSpc>
                <a:spcPct val="115000"/>
              </a:lnSpc>
              <a:spcAft>
                <a:spcPts val="200"/>
              </a:spcAft>
              <a:buNone/>
            </a:pPr>
            <a:r>
              <a:rPr lang="en-US" sz="900" b="1" dirty="0">
                <a:solidFill>
                  <a:srgbClr val="E3A774"/>
                </a:solidFill>
                <a:latin typeface="Meiryo" pitchFamily="34" charset="0"/>
                <a:ea typeface="Meiryo" pitchFamily="34" charset="-122"/>
                <a:cs typeface="Meiryo" pitchFamily="34" charset="-120"/>
              </a:rPr>
              <a:t>営業と技術の約束：</a:t>
            </a:r>
            <a:pPr algn="l" indent="0" marL="0">
              <a:lnSpc>
                <a:spcPct val="115000"/>
              </a:lnSpc>
              <a:spcAft>
                <a:spcPts val="200"/>
              </a:spcAft>
              <a:buNone/>
            </a:pPr>
            <a:r>
              <a:rPr lang="en-US" sz="900" dirty="0">
                <a:solidFill>
                  <a:srgbClr val="FFFFFF"/>
                </a:solidFill>
                <a:latin typeface="Meiryo" pitchFamily="34" charset="0"/>
                <a:ea typeface="Meiryo" pitchFamily="34" charset="-122"/>
                <a:cs typeface="Meiryo" pitchFamily="34" charset="-120"/>
              </a:rPr>
              <a:t>何を撮るかは提案の段階で営業と技術が決める。3段目の判定AIができるまでは、決まりと汎用AIで選び、解析する場面の数に月の上限を置く（p.12）</a:t>
            </a:r>
            <a:endParaRPr lang="en-US" sz="900" dirty="0"/>
          </a:p>
        </p:txBody>
      </p:sp>
      <p:sp>
        <p:nvSpPr>
          <p:cNvPr id="25" name="Text 21"/>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場面の数・印の割合・1場面の秒数はすべて仮説。現場監修の人数（5年目2人）の中で回るかを2年目に確かめる</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3" name="Text 0"/>
          <p:cNvSpPr txBox="1"/>
          <p:nvPr/>
        </p:nvSpPr>
        <p:spPr>
          <a:xfrm>
            <a:off x="5577840" y="54864"/>
            <a:ext cx="3200400" cy="182880"/>
          </a:xfrm>
          <a:prstGeom prst="rect">
            <a:avLst/>
          </a:prstGeom>
          <a:noFill/>
          <a:ln/>
        </p:spPr>
        <p:txBody>
          <a:bodyPr wrap="square" lIns="0" tIns="0" rIns="0" bIns="0" rtlCol="0" anchor="ctr"/>
          <a:lstStyle/>
          <a:p>
            <a:pPr algn="r" indent="0" marL="0">
              <a:lnSpc>
                <a:spcPct val="115000"/>
              </a:lnSpc>
              <a:buNone/>
            </a:pPr>
            <a:r>
              <a:rPr lang="en-US" sz="800" dirty="0">
                <a:solidFill>
                  <a:srgbClr val="8C8C8C"/>
                </a:solidFill>
                <a:latin typeface="Meiryo" pitchFamily="34" charset="0"/>
                <a:ea typeface="Meiryo" pitchFamily="34" charset="-122"/>
                <a:cs typeface="Meiryo" pitchFamily="34" charset="-120"/>
              </a:rPr>
              <a:t>本編 p.13・21 の詳細</a:t>
            </a:r>
            <a:endParaRPr lang="en-US" sz="800" dirty="0"/>
          </a:p>
        </p:txBody>
      </p:sp>
      <p:sp>
        <p:nvSpPr>
          <p:cNvPr id="4"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グラスの持ち方 ─ レンタル → リース → 端末込みの料金</a:t>
            </a:r>
            <a:endParaRPr lang="en-US" sz="2000" dirty="0"/>
          </a:p>
        </p:txBody>
      </p:sp>
      <p:sp>
        <p:nvSpPr>
          <p:cNvPr id="5"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お客様に一から契約の手間をかけさせない。段階ごとに、誰が持ち、誰が手続きするかを変える</a:t>
            </a:r>
            <a:endParaRPr lang="en-US" sz="1200" dirty="0"/>
          </a:p>
        </p:txBody>
      </p:sp>
      <p:graphicFrame>
        <p:nvGraphicFramePr>
          <p:cNvPr id="30" name="lease"/>
          <p:cNvGraphicFramePr>
            <a:graphicFrameLocks noGrp="1"/>
          </p:cNvGraphicFramePr>
          <p:nvPr>
            <p:extLst>
              <p:ext uri="{D42A27DB-BD31-4B8C-83A1-F6EECF244321}">
                <p14:modId xmlns:p14="http://schemas.microsoft.com/office/powerpoint/2010/main" val="1579011935"/>
              </p:ext>
            </p:extLst>
          </p:nvPr>
        </p:nvGraphicFramePr>
        <p:xfrm>
          <a:off x="365760" y="1024128"/>
          <a:ext cx="8412480" cy="914400"/>
        </p:xfrm>
        <a:graphic>
          <a:graphicData uri="http://schemas.openxmlformats.org/drawingml/2006/table">
            <a:tbl>
              <a:tblPr/>
              <a:tblGrid>
                <a:gridCol w="1143000"/>
                <a:gridCol w="1234440"/>
                <a:gridCol w="2286000"/>
                <a:gridCol w="868680"/>
                <a:gridCol w="1417320"/>
                <a:gridCol w="1463040"/>
              </a:tblGrid>
              <a:tr h="274320">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段階</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850" b="1" dirty="0">
                          <a:solidFill>
                            <a:srgbClr val="1A1A1A"/>
                          </a:solidFill>
                          <a:latin typeface="Meiryo" pitchFamily="34" charset="0"/>
                          <a:ea typeface="Meiryo" pitchFamily="34" charset="-122"/>
                          <a:cs typeface="Meiryo" pitchFamily="34" charset="-120"/>
                        </a:rPr>
                        <a:t>いつ</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持ち方</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850" b="1" dirty="0">
                          <a:solidFill>
                            <a:srgbClr val="1A1A1A"/>
                          </a:solidFill>
                          <a:latin typeface="Meiryo" pitchFamily="34" charset="0"/>
                          <a:ea typeface="Meiryo" pitchFamily="34" charset="-122"/>
                          <a:cs typeface="Meiryo" pitchFamily="34" charset="-120"/>
                        </a:rPr>
                        <a:t>手続き</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お客様の負担（10台）</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当社の負担</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45720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1 レンタル</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試験導入（3か月）</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レンタル会社から当社が借りて渡す</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当社</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導入支援に含む</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1台 月約1.7万円（30日5万円の例）</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50292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2 リース</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本契約（1〜2年目）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お客様名義でリース。当社が販売店・リース会社との手続きを代行</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当社が代行</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年約32万円</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なし（在庫を持たない）</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45720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3 端末込みの料金</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3年目〜（選べる）</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当社がまとめて調達し、利用料に端末代を含める</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当社</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端末1台 月約2.6万円（ライセンス込み）</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在庫・故障の手当て</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graphicFrame>
        <p:nvGraphicFramePr>
          <p:cNvPr id="59" name="glassprice"/>
          <p:cNvGraphicFramePr>
            <a:graphicFrameLocks noGrp="1"/>
          </p:cNvGraphicFramePr>
          <p:nvPr>
            <p:extLst>
              <p:ext uri="{D42A27DB-BD31-4B8C-83A1-F6EECF244321}">
                <p14:modId xmlns:p14="http://schemas.microsoft.com/office/powerpoint/2010/main" val="1579011935"/>
              </p:ext>
            </p:extLst>
          </p:nvPr>
        </p:nvGraphicFramePr>
        <p:xfrm>
          <a:off x="365760" y="2852928"/>
          <a:ext cx="8412480" cy="914400"/>
        </p:xfrm>
        <a:graphic>
          <a:graphicData uri="http://schemas.openxmlformats.org/drawingml/2006/table">
            <a:tbl>
              <a:tblPr/>
              <a:tblGrid>
                <a:gridCol w="1920240"/>
                <a:gridCol w="3840480"/>
                <a:gridCol w="2651760"/>
              </a:tblGrid>
              <a:tr h="265176">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グラス</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参考価格</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3年リース（料率 月約3%）</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65176">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カメラ付きAIグラス</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約8万円（Ray-Ban Meta 第2世代 7.4〜8.9万円）</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1台 年約3万円</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65176">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表示付きARグラス</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約12万円（Meta Ray-Ban Display $799）</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1台 年約4万円</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65176">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参考：産業用ヘッドセット</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約37万円〜（RealWear Arc 3 の国内キャンペーン価格）</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1台 年約13万円</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8" name="Shape 3"/>
          <p:cNvSpPr/>
          <p:nvPr/>
        </p:nvSpPr>
        <p:spPr>
          <a:xfrm>
            <a:off x="365760" y="3886200"/>
            <a:ext cx="8412480" cy="566928"/>
          </a:xfrm>
          <a:prstGeom prst="rect">
            <a:avLst/>
          </a:prstGeom>
          <a:solidFill>
            <a:srgbClr val="1A1A1A"/>
          </a:solidFill>
          <a:ln/>
        </p:spPr>
      </p:sp>
      <p:sp>
        <p:nvSpPr>
          <p:cNvPr id="9" name="Text 4"/>
          <p:cNvSpPr txBox="1"/>
          <p:nvPr/>
        </p:nvSpPr>
        <p:spPr>
          <a:xfrm>
            <a:off x="502920" y="3886200"/>
            <a:ext cx="8138160" cy="566928"/>
          </a:xfrm>
          <a:prstGeom prst="rect">
            <a:avLst/>
          </a:prstGeom>
          <a:noFill/>
          <a:ln/>
        </p:spPr>
        <p:txBody>
          <a:bodyPr wrap="square" lIns="0" tIns="0" rIns="0" bIns="0" rtlCol="0" anchor="ctr"/>
          <a:lstStyle/>
          <a:p>
            <a:pPr algn="l" indent="0" marL="0">
              <a:lnSpc>
                <a:spcPct val="115000"/>
              </a:lnSpc>
              <a:spcAft>
                <a:spcPts val="200"/>
              </a:spcAft>
              <a:buNone/>
            </a:pPr>
            <a:r>
              <a:rPr lang="en-US" sz="900" b="1" dirty="0">
                <a:solidFill>
                  <a:srgbClr val="E3A774"/>
                </a:solidFill>
                <a:latin typeface="Meiryo" pitchFamily="34" charset="0"/>
                <a:ea typeface="Meiryo" pitchFamily="34" charset="-122"/>
                <a:cs typeface="Meiryo" pitchFamily="34" charset="-120"/>
              </a:rPr>
              <a:t>なぜ最初からお客様に直接リースさせないか：</a:t>
            </a:r>
            <a:pPr algn="l" indent="0" marL="0">
              <a:lnSpc>
                <a:spcPct val="115000"/>
              </a:lnSpc>
              <a:spcAft>
                <a:spcPts val="200"/>
              </a:spcAft>
              <a:buNone/>
            </a:pPr>
            <a:r>
              <a:rPr lang="en-US" sz="900" dirty="0">
                <a:solidFill>
                  <a:srgbClr val="FFFFFF"/>
                </a:solidFill>
                <a:latin typeface="Meiryo" pitchFamily="34" charset="0"/>
                <a:ea typeface="Meiryo" pitchFamily="34" charset="-122"/>
                <a:cs typeface="Meiryo" pitchFamily="34" charset="-120"/>
              </a:rPr>
              <a:t>試験導入の3か月のためにリースを組むのは重い。本契約からは名義はお客様、手続きは当社。端末の売上を当社に入れないので、利用料の粗利率が見えやすい</a:t>
            </a:r>
            <a:endParaRPr lang="en-US" sz="900" dirty="0"/>
          </a:p>
        </p:txBody>
      </p:sp>
      <p:sp>
        <p:nvSpPr>
          <p:cNvPr id="10" name="Text 5"/>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価格は販売店・メーカーの公表値（国内の正規販売は要確認）。リース料率とレンタル料は見積を取って確認する。端末込みの料金は計画の売上に入れていない</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3" name="Text 0"/>
          <p:cNvSpPr txBox="1"/>
          <p:nvPr/>
        </p:nvSpPr>
        <p:spPr>
          <a:xfrm>
            <a:off x="5577840" y="54864"/>
            <a:ext cx="3200400" cy="182880"/>
          </a:xfrm>
          <a:prstGeom prst="rect">
            <a:avLst/>
          </a:prstGeom>
          <a:noFill/>
          <a:ln/>
        </p:spPr>
        <p:txBody>
          <a:bodyPr wrap="square" lIns="0" tIns="0" rIns="0" bIns="0" rtlCol="0" anchor="ctr"/>
          <a:lstStyle/>
          <a:p>
            <a:pPr algn="r" indent="0" marL="0">
              <a:lnSpc>
                <a:spcPct val="115000"/>
              </a:lnSpc>
              <a:buNone/>
            </a:pPr>
            <a:r>
              <a:rPr lang="en-US" sz="800" dirty="0">
                <a:solidFill>
                  <a:srgbClr val="8C8C8C"/>
                </a:solidFill>
                <a:latin typeface="Meiryo" pitchFamily="34" charset="0"/>
                <a:ea typeface="Meiryo" pitchFamily="34" charset="-122"/>
                <a:cs typeface="Meiryo" pitchFamily="34" charset="-120"/>
              </a:rPr>
              <a:t>本編 p.28 の詳細</a:t>
            </a:r>
            <a:endParaRPr lang="en-US" sz="800" dirty="0"/>
          </a:p>
        </p:txBody>
      </p:sp>
      <p:sp>
        <p:nvSpPr>
          <p:cNvPr id="4"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10年の延長 ─ 10台でも6年目に黒字、8年目に累積を回収</a:t>
            </a:r>
            <a:endParaRPr lang="en-US" sz="2000" dirty="0"/>
          </a:p>
        </p:txBody>
      </p:sp>
      <p:sp>
        <p:nvSpPr>
          <p:cNvPr id="5"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5年目までの計画は変えずに、6〜10年目を同じ式で延ばした（万円）</a:t>
            </a:r>
            <a:endParaRPr lang="en-US" sz="1200" dirty="0"/>
          </a:p>
        </p:txBody>
      </p:sp>
      <p:graphicFrame>
        <p:nvGraphicFramePr>
          <p:cNvPr id="31" name="ten"/>
          <p:cNvGraphicFramePr>
            <a:graphicFrameLocks noGrp="1"/>
          </p:cNvGraphicFramePr>
          <p:nvPr>
            <p:extLst>
              <p:ext uri="{D42A27DB-BD31-4B8C-83A1-F6EECF244321}">
                <p14:modId xmlns:p14="http://schemas.microsoft.com/office/powerpoint/2010/main" val="1579011935"/>
              </p:ext>
            </p:extLst>
          </p:nvPr>
        </p:nvGraphicFramePr>
        <p:xfrm>
          <a:off x="365760" y="1005840"/>
          <a:ext cx="8412480" cy="914400"/>
        </p:xfrm>
        <a:graphic>
          <a:graphicData uri="http://schemas.openxmlformats.org/drawingml/2006/table">
            <a:tbl>
              <a:tblPr/>
              <a:tblGrid>
                <a:gridCol w="1371600"/>
                <a:gridCol w="704088"/>
                <a:gridCol w="704088"/>
                <a:gridCol w="704088"/>
                <a:gridCol w="704088"/>
                <a:gridCol w="704088"/>
                <a:gridCol w="704088"/>
                <a:gridCol w="704088"/>
                <a:gridCol w="704088"/>
                <a:gridCol w="704088"/>
                <a:gridCol w="704088"/>
              </a:tblGrid>
              <a:tr h="246888">
                <a:tc>
                  <a:txBody>
                    <a:bodyPr/>
                    <a:lstStyle/>
                    <a:p>
                      <a:pPr algn="l" indent="0" marL="0">
                        <a:buNone/>
                      </a:pP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750" b="1" dirty="0">
                          <a:solidFill>
                            <a:srgbClr val="1A1A1A"/>
                          </a:solidFill>
                          <a:latin typeface="Meiryo" pitchFamily="34" charset="0"/>
                          <a:ea typeface="Meiryo" pitchFamily="34" charset="-122"/>
                          <a:cs typeface="Meiryo" pitchFamily="34" charset="-120"/>
                        </a:rPr>
                        <a:t>1年</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750" b="1" dirty="0">
                          <a:solidFill>
                            <a:srgbClr val="1A1A1A"/>
                          </a:solidFill>
                          <a:latin typeface="Meiryo" pitchFamily="34" charset="0"/>
                          <a:ea typeface="Meiryo" pitchFamily="34" charset="-122"/>
                          <a:cs typeface="Meiryo" pitchFamily="34" charset="-120"/>
                        </a:rPr>
                        <a:t>2年</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750" b="1" dirty="0">
                          <a:solidFill>
                            <a:srgbClr val="1A1A1A"/>
                          </a:solidFill>
                          <a:latin typeface="Meiryo" pitchFamily="34" charset="0"/>
                          <a:ea typeface="Meiryo" pitchFamily="34" charset="-122"/>
                          <a:cs typeface="Meiryo" pitchFamily="34" charset="-120"/>
                        </a:rPr>
                        <a:t>3年</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750" b="1" dirty="0">
                          <a:solidFill>
                            <a:srgbClr val="1A1A1A"/>
                          </a:solidFill>
                          <a:latin typeface="Meiryo" pitchFamily="34" charset="0"/>
                          <a:ea typeface="Meiryo" pitchFamily="34" charset="-122"/>
                          <a:cs typeface="Meiryo" pitchFamily="34" charset="-120"/>
                        </a:rPr>
                        <a:t>4年</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750" b="1" dirty="0">
                          <a:solidFill>
                            <a:srgbClr val="1A1A1A"/>
                          </a:solidFill>
                          <a:latin typeface="Meiryo" pitchFamily="34" charset="0"/>
                          <a:ea typeface="Meiryo" pitchFamily="34" charset="-122"/>
                          <a:cs typeface="Meiryo" pitchFamily="34" charset="-120"/>
                        </a:rPr>
                        <a:t>5年</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750" b="1" dirty="0">
                          <a:solidFill>
                            <a:srgbClr val="1A1A1A"/>
                          </a:solidFill>
                          <a:latin typeface="Meiryo" pitchFamily="34" charset="0"/>
                          <a:ea typeface="Meiryo" pitchFamily="34" charset="-122"/>
                          <a:cs typeface="Meiryo" pitchFamily="34" charset="-120"/>
                        </a:rPr>
                        <a:t>6年</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750" b="1" dirty="0">
                          <a:solidFill>
                            <a:srgbClr val="1A1A1A"/>
                          </a:solidFill>
                          <a:latin typeface="Meiryo" pitchFamily="34" charset="0"/>
                          <a:ea typeface="Meiryo" pitchFamily="34" charset="-122"/>
                          <a:cs typeface="Meiryo" pitchFamily="34" charset="-120"/>
                        </a:rPr>
                        <a:t>7年</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750" b="1" dirty="0">
                          <a:solidFill>
                            <a:srgbClr val="1A1A1A"/>
                          </a:solidFill>
                          <a:latin typeface="Meiryo" pitchFamily="34" charset="0"/>
                          <a:ea typeface="Meiryo" pitchFamily="34" charset="-122"/>
                          <a:cs typeface="Meiryo" pitchFamily="34" charset="-120"/>
                        </a:rPr>
                        <a:t>8年</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750" b="1" dirty="0">
                          <a:solidFill>
                            <a:srgbClr val="1A1A1A"/>
                          </a:solidFill>
                          <a:latin typeface="Meiryo" pitchFamily="34" charset="0"/>
                          <a:ea typeface="Meiryo" pitchFamily="34" charset="-122"/>
                          <a:cs typeface="Meiryo" pitchFamily="34" charset="-120"/>
                        </a:rPr>
                        <a:t>9年</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750" b="1" dirty="0">
                          <a:solidFill>
                            <a:srgbClr val="1A1A1A"/>
                          </a:solidFill>
                          <a:latin typeface="Meiryo" pitchFamily="34" charset="0"/>
                          <a:ea typeface="Meiryo" pitchFamily="34" charset="-122"/>
                          <a:cs typeface="Meiryo" pitchFamily="34" charset="-120"/>
                        </a:rPr>
                        <a:t>10年</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46888">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新規／期末の拠点</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750" dirty="0">
                          <a:solidFill>
                            <a:srgbClr val="1A1A1A"/>
                          </a:solidFill>
                          <a:latin typeface="Meiryo" pitchFamily="34" charset="0"/>
                          <a:ea typeface="Meiryo" pitchFamily="34" charset="-122"/>
                          <a:cs typeface="Meiryo" pitchFamily="34" charset="-120"/>
                        </a:rPr>
                        <a:t>3／3</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750" dirty="0">
                          <a:solidFill>
                            <a:srgbClr val="1A1A1A"/>
                          </a:solidFill>
                          <a:latin typeface="Meiryo" pitchFamily="34" charset="0"/>
                          <a:ea typeface="Meiryo" pitchFamily="34" charset="-122"/>
                          <a:cs typeface="Meiryo" pitchFamily="34" charset="-120"/>
                        </a:rPr>
                        <a:t>9／12</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750" dirty="0">
                          <a:solidFill>
                            <a:srgbClr val="1A1A1A"/>
                          </a:solidFill>
                          <a:latin typeface="Meiryo" pitchFamily="34" charset="0"/>
                          <a:ea typeface="Meiryo" pitchFamily="34" charset="-122"/>
                          <a:cs typeface="Meiryo" pitchFamily="34" charset="-120"/>
                        </a:rPr>
                        <a:t>18／29</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750" dirty="0">
                          <a:solidFill>
                            <a:srgbClr val="1A1A1A"/>
                          </a:solidFill>
                          <a:latin typeface="Meiryo" pitchFamily="34" charset="0"/>
                          <a:ea typeface="Meiryo" pitchFamily="34" charset="-122"/>
                          <a:cs typeface="Meiryo" pitchFamily="34" charset="-120"/>
                        </a:rPr>
                        <a:t>27／53</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750" dirty="0">
                          <a:solidFill>
                            <a:srgbClr val="1A1A1A"/>
                          </a:solidFill>
                          <a:latin typeface="Meiryo" pitchFamily="34" charset="0"/>
                          <a:ea typeface="Meiryo" pitchFamily="34" charset="-122"/>
                          <a:cs typeface="Meiryo" pitchFamily="34" charset="-120"/>
                        </a:rPr>
                        <a:t>33／81</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750" dirty="0">
                          <a:solidFill>
                            <a:srgbClr val="1A1A1A"/>
                          </a:solidFill>
                          <a:latin typeface="Meiryo" pitchFamily="34" charset="0"/>
                          <a:ea typeface="Meiryo" pitchFamily="34" charset="-122"/>
                          <a:cs typeface="Meiryo" pitchFamily="34" charset="-120"/>
                        </a:rPr>
                        <a:t>36／109</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750" dirty="0">
                          <a:solidFill>
                            <a:srgbClr val="1A1A1A"/>
                          </a:solidFill>
                          <a:latin typeface="Meiryo" pitchFamily="34" charset="0"/>
                          <a:ea typeface="Meiryo" pitchFamily="34" charset="-122"/>
                          <a:cs typeface="Meiryo" pitchFamily="34" charset="-120"/>
                        </a:rPr>
                        <a:t>38／136</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750" dirty="0">
                          <a:solidFill>
                            <a:srgbClr val="1A1A1A"/>
                          </a:solidFill>
                          <a:latin typeface="Meiryo" pitchFamily="34" charset="0"/>
                          <a:ea typeface="Meiryo" pitchFamily="34" charset="-122"/>
                          <a:cs typeface="Meiryo" pitchFamily="34" charset="-120"/>
                        </a:rPr>
                        <a:t>40／162</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750" dirty="0">
                          <a:solidFill>
                            <a:srgbClr val="1A1A1A"/>
                          </a:solidFill>
                          <a:latin typeface="Meiryo" pitchFamily="34" charset="0"/>
                          <a:ea typeface="Meiryo" pitchFamily="34" charset="-122"/>
                          <a:cs typeface="Meiryo" pitchFamily="34" charset="-120"/>
                        </a:rPr>
                        <a:t>40／186</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750" dirty="0">
                          <a:solidFill>
                            <a:srgbClr val="1A1A1A"/>
                          </a:solidFill>
                          <a:latin typeface="Meiryo" pitchFamily="34" charset="0"/>
                          <a:ea typeface="Meiryo" pitchFamily="34" charset="-122"/>
                          <a:cs typeface="Meiryo" pitchFamily="34" charset="-120"/>
                        </a:rPr>
                        <a:t>40／207</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社員</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750" dirty="0">
                          <a:solidFill>
                            <a:srgbClr val="1A1A1A"/>
                          </a:solidFill>
                          <a:latin typeface="Meiryo" pitchFamily="34" charset="0"/>
                          <a:ea typeface="Meiryo" pitchFamily="34" charset="-122"/>
                          <a:cs typeface="Meiryo" pitchFamily="34" charset="-120"/>
                        </a:rPr>
                        <a:t>5</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750" dirty="0">
                          <a:solidFill>
                            <a:srgbClr val="1A1A1A"/>
                          </a:solidFill>
                          <a:latin typeface="Meiryo" pitchFamily="34" charset="0"/>
                          <a:ea typeface="Meiryo" pitchFamily="34" charset="-122"/>
                          <a:cs typeface="Meiryo" pitchFamily="34" charset="-120"/>
                        </a:rPr>
                        <a:t>8</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750" dirty="0">
                          <a:solidFill>
                            <a:srgbClr val="1A1A1A"/>
                          </a:solidFill>
                          <a:latin typeface="Meiryo" pitchFamily="34" charset="0"/>
                          <a:ea typeface="Meiryo" pitchFamily="34" charset="-122"/>
                          <a:cs typeface="Meiryo" pitchFamily="34" charset="-120"/>
                        </a:rPr>
                        <a:t>12</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750" dirty="0">
                          <a:solidFill>
                            <a:srgbClr val="1A1A1A"/>
                          </a:solidFill>
                          <a:latin typeface="Meiryo" pitchFamily="34" charset="0"/>
                          <a:ea typeface="Meiryo" pitchFamily="34" charset="-122"/>
                          <a:cs typeface="Meiryo" pitchFamily="34" charset="-120"/>
                        </a:rPr>
                        <a:t>18</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750" dirty="0">
                          <a:solidFill>
                            <a:srgbClr val="1A1A1A"/>
                          </a:solidFill>
                          <a:latin typeface="Meiryo" pitchFamily="34" charset="0"/>
                          <a:ea typeface="Meiryo" pitchFamily="34" charset="-122"/>
                          <a:cs typeface="Meiryo" pitchFamily="34" charset="-120"/>
                        </a:rPr>
                        <a:t>23</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750" dirty="0">
                          <a:solidFill>
                            <a:srgbClr val="1A1A1A"/>
                          </a:solidFill>
                          <a:latin typeface="Meiryo" pitchFamily="34" charset="0"/>
                          <a:ea typeface="Meiryo" pitchFamily="34" charset="-122"/>
                          <a:cs typeface="Meiryo" pitchFamily="34" charset="-120"/>
                        </a:rPr>
                        <a:t>24</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750" dirty="0">
                          <a:solidFill>
                            <a:srgbClr val="1A1A1A"/>
                          </a:solidFill>
                          <a:latin typeface="Meiryo" pitchFamily="34" charset="0"/>
                          <a:ea typeface="Meiryo" pitchFamily="34" charset="-122"/>
                          <a:cs typeface="Meiryo" pitchFamily="34" charset="-120"/>
                        </a:rPr>
                        <a:t>27</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750" dirty="0">
                          <a:solidFill>
                            <a:srgbClr val="1A1A1A"/>
                          </a:solidFill>
                          <a:latin typeface="Meiryo" pitchFamily="34" charset="0"/>
                          <a:ea typeface="Meiryo" pitchFamily="34" charset="-122"/>
                          <a:cs typeface="Meiryo" pitchFamily="34" charset="-120"/>
                        </a:rPr>
                        <a:t>29</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750" dirty="0">
                          <a:solidFill>
                            <a:srgbClr val="1A1A1A"/>
                          </a:solidFill>
                          <a:latin typeface="Meiryo" pitchFamily="34" charset="0"/>
                          <a:ea typeface="Meiryo" pitchFamily="34" charset="-122"/>
                          <a:cs typeface="Meiryo" pitchFamily="34" charset="-120"/>
                        </a:rPr>
                        <a:t>30</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750" dirty="0">
                          <a:solidFill>
                            <a:srgbClr val="1A1A1A"/>
                          </a:solidFill>
                          <a:latin typeface="Meiryo" pitchFamily="34" charset="0"/>
                          <a:ea typeface="Meiryo" pitchFamily="34" charset="-122"/>
                          <a:cs typeface="Meiryo" pitchFamily="34" charset="-120"/>
                        </a:rPr>
                        <a:t>32</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売上</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750" dirty="0">
                          <a:solidFill>
                            <a:srgbClr val="1A1A1A"/>
                          </a:solidFill>
                          <a:latin typeface="Meiryo" pitchFamily="34" charset="0"/>
                          <a:ea typeface="Meiryo" pitchFamily="34" charset="-122"/>
                          <a:cs typeface="Meiryo" pitchFamily="34" charset="-120"/>
                        </a:rPr>
                        <a:t>1,200</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750" dirty="0">
                          <a:solidFill>
                            <a:srgbClr val="1A1A1A"/>
                          </a:solidFill>
                          <a:latin typeface="Meiryo" pitchFamily="34" charset="0"/>
                          <a:ea typeface="Meiryo" pitchFamily="34" charset="-122"/>
                          <a:cs typeface="Meiryo" pitchFamily="34" charset="-120"/>
                        </a:rPr>
                        <a:t>4,800</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750" dirty="0">
                          <a:solidFill>
                            <a:srgbClr val="1A1A1A"/>
                          </a:solidFill>
                          <a:latin typeface="Meiryo" pitchFamily="34" charset="0"/>
                          <a:ea typeface="Meiryo" pitchFamily="34" charset="-122"/>
                          <a:cs typeface="Meiryo" pitchFamily="34" charset="-120"/>
                        </a:rPr>
                        <a:t>10,700</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750" dirty="0">
                          <a:solidFill>
                            <a:srgbClr val="1A1A1A"/>
                          </a:solidFill>
                          <a:latin typeface="Meiryo" pitchFamily="34" charset="0"/>
                          <a:ea typeface="Meiryo" pitchFamily="34" charset="-122"/>
                          <a:cs typeface="Meiryo" pitchFamily="34" charset="-120"/>
                        </a:rPr>
                        <a:t>17,800</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750" dirty="0">
                          <a:solidFill>
                            <a:srgbClr val="1A1A1A"/>
                          </a:solidFill>
                          <a:latin typeface="Meiryo" pitchFamily="34" charset="0"/>
                          <a:ea typeface="Meiryo" pitchFamily="34" charset="-122"/>
                          <a:cs typeface="Meiryo" pitchFamily="34" charset="-120"/>
                        </a:rPr>
                        <a:t>26,900</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750" dirty="0">
                          <a:solidFill>
                            <a:srgbClr val="1A1A1A"/>
                          </a:solidFill>
                          <a:latin typeface="Meiryo" pitchFamily="34" charset="0"/>
                          <a:ea typeface="Meiryo" pitchFamily="34" charset="-122"/>
                          <a:cs typeface="Meiryo" pitchFamily="34" charset="-120"/>
                        </a:rPr>
                        <a:t>35,500</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750" dirty="0">
                          <a:solidFill>
                            <a:srgbClr val="1A1A1A"/>
                          </a:solidFill>
                          <a:latin typeface="Meiryo" pitchFamily="34" charset="0"/>
                          <a:ea typeface="Meiryo" pitchFamily="34" charset="-122"/>
                          <a:cs typeface="Meiryo" pitchFamily="34" charset="-120"/>
                        </a:rPr>
                        <a:t>43,800</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750" dirty="0">
                          <a:solidFill>
                            <a:srgbClr val="1A1A1A"/>
                          </a:solidFill>
                          <a:latin typeface="Meiryo" pitchFamily="34" charset="0"/>
                          <a:ea typeface="Meiryo" pitchFamily="34" charset="-122"/>
                          <a:cs typeface="Meiryo" pitchFamily="34" charset="-120"/>
                        </a:rPr>
                        <a:t>51,800</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750" dirty="0">
                          <a:solidFill>
                            <a:srgbClr val="1A1A1A"/>
                          </a:solidFill>
                          <a:latin typeface="Meiryo" pitchFamily="34" charset="0"/>
                          <a:ea typeface="Meiryo" pitchFamily="34" charset="-122"/>
                          <a:cs typeface="Meiryo" pitchFamily="34" charset="-120"/>
                        </a:rPr>
                        <a:t>59,100</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750" dirty="0">
                          <a:solidFill>
                            <a:srgbClr val="1A1A1A"/>
                          </a:solidFill>
                          <a:latin typeface="Meiryo" pitchFamily="34" charset="0"/>
                          <a:ea typeface="Meiryo" pitchFamily="34" charset="-122"/>
                          <a:cs typeface="Meiryo" pitchFamily="34" charset="-120"/>
                        </a:rPr>
                        <a:t>65,500</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750" b="1" dirty="0">
                          <a:solidFill>
                            <a:srgbClr val="1A1A1A"/>
                          </a:solidFill>
                          <a:latin typeface="Meiryo" pitchFamily="34" charset="0"/>
                          <a:ea typeface="Meiryo" pitchFamily="34" charset="-122"/>
                          <a:cs typeface="Meiryo" pitchFamily="34" charset="-120"/>
                        </a:rPr>
                        <a:t>営業損益</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750" b="1" dirty="0">
                          <a:solidFill>
                            <a:srgbClr val="B8692E"/>
                          </a:solidFill>
                          <a:latin typeface="Meiryo" pitchFamily="34" charset="0"/>
                          <a:ea typeface="Meiryo" pitchFamily="34" charset="-122"/>
                          <a:cs typeface="Meiryo" pitchFamily="34" charset="-120"/>
                        </a:rPr>
                        <a:t>▲4,844</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750" b="1" dirty="0">
                          <a:solidFill>
                            <a:srgbClr val="B8692E"/>
                          </a:solidFill>
                          <a:latin typeface="Meiryo" pitchFamily="34" charset="0"/>
                          <a:ea typeface="Meiryo" pitchFamily="34" charset="-122"/>
                          <a:cs typeface="Meiryo" pitchFamily="34" charset="-120"/>
                        </a:rPr>
                        <a:t>▲4,763</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750" b="1" dirty="0">
                          <a:solidFill>
                            <a:srgbClr val="B8692E"/>
                          </a:solidFill>
                          <a:latin typeface="Meiryo" pitchFamily="34" charset="0"/>
                          <a:ea typeface="Meiryo" pitchFamily="34" charset="-122"/>
                          <a:cs typeface="Meiryo" pitchFamily="34" charset="-120"/>
                        </a:rPr>
                        <a:t>▲3,696</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750" b="1" dirty="0">
                          <a:solidFill>
                            <a:srgbClr val="B8692E"/>
                          </a:solidFill>
                          <a:latin typeface="Meiryo" pitchFamily="34" charset="0"/>
                          <a:ea typeface="Meiryo" pitchFamily="34" charset="-122"/>
                          <a:cs typeface="Meiryo" pitchFamily="34" charset="-120"/>
                        </a:rPr>
                        <a:t>▲3,857</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750" b="1" dirty="0">
                          <a:solidFill>
                            <a:srgbClr val="B8692E"/>
                          </a:solidFill>
                          <a:latin typeface="Meiryo" pitchFamily="34" charset="0"/>
                          <a:ea typeface="Meiryo" pitchFamily="34" charset="-122"/>
                          <a:cs typeface="Meiryo" pitchFamily="34" charset="-120"/>
                        </a:rPr>
                        <a:t>▲1,117</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750" b="1" dirty="0">
                          <a:solidFill>
                            <a:srgbClr val="1A1A1A"/>
                          </a:solidFill>
                          <a:latin typeface="Meiryo" pitchFamily="34" charset="0"/>
                          <a:ea typeface="Meiryo" pitchFamily="34" charset="-122"/>
                          <a:cs typeface="Meiryo" pitchFamily="34" charset="-120"/>
                        </a:rPr>
                        <a:t>4,522</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750" b="1" dirty="0">
                          <a:solidFill>
                            <a:srgbClr val="1A1A1A"/>
                          </a:solidFill>
                          <a:latin typeface="Meiryo" pitchFamily="34" charset="0"/>
                          <a:ea typeface="Meiryo" pitchFamily="34" charset="-122"/>
                          <a:cs typeface="Meiryo" pitchFamily="34" charset="-120"/>
                        </a:rPr>
                        <a:t>7,883</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750" b="1" dirty="0">
                          <a:solidFill>
                            <a:srgbClr val="1A1A1A"/>
                          </a:solidFill>
                          <a:latin typeface="Meiryo" pitchFamily="34" charset="0"/>
                          <a:ea typeface="Meiryo" pitchFamily="34" charset="-122"/>
                          <a:cs typeface="Meiryo" pitchFamily="34" charset="-120"/>
                        </a:rPr>
                        <a:t>12,006</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750" b="1" dirty="0">
                          <a:solidFill>
                            <a:srgbClr val="1A1A1A"/>
                          </a:solidFill>
                          <a:latin typeface="Meiryo" pitchFamily="34" charset="0"/>
                          <a:ea typeface="Meiryo" pitchFamily="34" charset="-122"/>
                          <a:cs typeface="Meiryo" pitchFamily="34" charset="-120"/>
                        </a:rPr>
                        <a:t>16,307</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750" b="1" dirty="0">
                          <a:solidFill>
                            <a:srgbClr val="1A1A1A"/>
                          </a:solidFill>
                          <a:latin typeface="Meiryo" pitchFamily="34" charset="0"/>
                          <a:ea typeface="Meiryo" pitchFamily="34" charset="-122"/>
                          <a:cs typeface="Meiryo" pitchFamily="34" charset="-120"/>
                        </a:rPr>
                        <a:t>18,981</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累積の営業損益</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750" dirty="0">
                          <a:solidFill>
                            <a:srgbClr val="1A1A1A"/>
                          </a:solidFill>
                          <a:latin typeface="Meiryo" pitchFamily="34" charset="0"/>
                          <a:ea typeface="Meiryo" pitchFamily="34" charset="-122"/>
                          <a:cs typeface="Meiryo" pitchFamily="34" charset="-120"/>
                        </a:rPr>
                        <a:t>▲4,844</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750" dirty="0">
                          <a:solidFill>
                            <a:srgbClr val="1A1A1A"/>
                          </a:solidFill>
                          <a:latin typeface="Meiryo" pitchFamily="34" charset="0"/>
                          <a:ea typeface="Meiryo" pitchFamily="34" charset="-122"/>
                          <a:cs typeface="Meiryo" pitchFamily="34" charset="-120"/>
                        </a:rPr>
                        <a:t>▲9,606</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750" dirty="0">
                          <a:solidFill>
                            <a:srgbClr val="1A1A1A"/>
                          </a:solidFill>
                          <a:latin typeface="Meiryo" pitchFamily="34" charset="0"/>
                          <a:ea typeface="Meiryo" pitchFamily="34" charset="-122"/>
                          <a:cs typeface="Meiryo" pitchFamily="34" charset="-120"/>
                        </a:rPr>
                        <a:t>▲13,303</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750" dirty="0">
                          <a:solidFill>
                            <a:srgbClr val="1A1A1A"/>
                          </a:solidFill>
                          <a:latin typeface="Meiryo" pitchFamily="34" charset="0"/>
                          <a:ea typeface="Meiryo" pitchFamily="34" charset="-122"/>
                          <a:cs typeface="Meiryo" pitchFamily="34" charset="-120"/>
                        </a:rPr>
                        <a:t>▲17,160</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750" dirty="0">
                          <a:solidFill>
                            <a:srgbClr val="1A1A1A"/>
                          </a:solidFill>
                          <a:latin typeface="Meiryo" pitchFamily="34" charset="0"/>
                          <a:ea typeface="Meiryo" pitchFamily="34" charset="-122"/>
                          <a:cs typeface="Meiryo" pitchFamily="34" charset="-120"/>
                        </a:rPr>
                        <a:t>▲18,277</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750" dirty="0">
                          <a:solidFill>
                            <a:srgbClr val="1A1A1A"/>
                          </a:solidFill>
                          <a:latin typeface="Meiryo" pitchFamily="34" charset="0"/>
                          <a:ea typeface="Meiryo" pitchFamily="34" charset="-122"/>
                          <a:cs typeface="Meiryo" pitchFamily="34" charset="-120"/>
                        </a:rPr>
                        <a:t>▲13,754</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750" dirty="0">
                          <a:solidFill>
                            <a:srgbClr val="1A1A1A"/>
                          </a:solidFill>
                          <a:latin typeface="Meiryo" pitchFamily="34" charset="0"/>
                          <a:ea typeface="Meiryo" pitchFamily="34" charset="-122"/>
                          <a:cs typeface="Meiryo" pitchFamily="34" charset="-120"/>
                        </a:rPr>
                        <a:t>▲5,872</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750" dirty="0">
                          <a:solidFill>
                            <a:srgbClr val="1A1A1A"/>
                          </a:solidFill>
                          <a:latin typeface="Meiryo" pitchFamily="34" charset="0"/>
                          <a:ea typeface="Meiryo" pitchFamily="34" charset="-122"/>
                          <a:cs typeface="Meiryo" pitchFamily="34" charset="-120"/>
                        </a:rPr>
                        <a:t>6,134</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750" dirty="0">
                          <a:solidFill>
                            <a:srgbClr val="1A1A1A"/>
                          </a:solidFill>
                          <a:latin typeface="Meiryo" pitchFamily="34" charset="0"/>
                          <a:ea typeface="Meiryo" pitchFamily="34" charset="-122"/>
                          <a:cs typeface="Meiryo" pitchFamily="34" charset="-120"/>
                        </a:rPr>
                        <a:t>22,441</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750" dirty="0">
                          <a:solidFill>
                            <a:srgbClr val="1A1A1A"/>
                          </a:solidFill>
                          <a:latin typeface="Meiryo" pitchFamily="34" charset="0"/>
                          <a:ea typeface="Meiryo" pitchFamily="34" charset="-122"/>
                          <a:cs typeface="Meiryo" pitchFamily="34" charset="-120"/>
                        </a:rPr>
                        <a:t>41,422</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期末の現金</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750" dirty="0">
                          <a:solidFill>
                            <a:srgbClr val="1A1A1A"/>
                          </a:solidFill>
                          <a:latin typeface="Meiryo" pitchFamily="34" charset="0"/>
                          <a:ea typeface="Meiryo" pitchFamily="34" charset="-122"/>
                          <a:cs typeface="Meiryo" pitchFamily="34" charset="-120"/>
                        </a:rPr>
                        <a:t>15,157</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750" dirty="0">
                          <a:solidFill>
                            <a:srgbClr val="1A1A1A"/>
                          </a:solidFill>
                          <a:latin typeface="Meiryo" pitchFamily="34" charset="0"/>
                          <a:ea typeface="Meiryo" pitchFamily="34" charset="-122"/>
                          <a:cs typeface="Meiryo" pitchFamily="34" charset="-120"/>
                        </a:rPr>
                        <a:t>10,394</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750" dirty="0">
                          <a:solidFill>
                            <a:srgbClr val="1A1A1A"/>
                          </a:solidFill>
                          <a:latin typeface="Meiryo" pitchFamily="34" charset="0"/>
                          <a:ea typeface="Meiryo" pitchFamily="34" charset="-122"/>
                          <a:cs typeface="Meiryo" pitchFamily="34" charset="-120"/>
                        </a:rPr>
                        <a:t>11,698</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750" dirty="0">
                          <a:solidFill>
                            <a:srgbClr val="1A1A1A"/>
                          </a:solidFill>
                          <a:latin typeface="Meiryo" pitchFamily="34" charset="0"/>
                          <a:ea typeface="Meiryo" pitchFamily="34" charset="-122"/>
                          <a:cs typeface="Meiryo" pitchFamily="34" charset="-120"/>
                        </a:rPr>
                        <a:t>7,840</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750" dirty="0">
                          <a:solidFill>
                            <a:srgbClr val="1A1A1A"/>
                          </a:solidFill>
                          <a:latin typeface="Meiryo" pitchFamily="34" charset="0"/>
                          <a:ea typeface="Meiryo" pitchFamily="34" charset="-122"/>
                          <a:cs typeface="Meiryo" pitchFamily="34" charset="-120"/>
                        </a:rPr>
                        <a:t>6,723</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750" dirty="0">
                          <a:solidFill>
                            <a:srgbClr val="1A1A1A"/>
                          </a:solidFill>
                          <a:latin typeface="Meiryo" pitchFamily="34" charset="0"/>
                          <a:ea typeface="Meiryo" pitchFamily="34" charset="-122"/>
                          <a:cs typeface="Meiryo" pitchFamily="34" charset="-120"/>
                        </a:rPr>
                        <a:t>11,246</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750" dirty="0">
                          <a:solidFill>
                            <a:srgbClr val="1A1A1A"/>
                          </a:solidFill>
                          <a:latin typeface="Meiryo" pitchFamily="34" charset="0"/>
                          <a:ea typeface="Meiryo" pitchFamily="34" charset="-122"/>
                          <a:cs typeface="Meiryo" pitchFamily="34" charset="-120"/>
                        </a:rPr>
                        <a:t>19,128</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750" dirty="0">
                          <a:solidFill>
                            <a:srgbClr val="1A1A1A"/>
                          </a:solidFill>
                          <a:latin typeface="Meiryo" pitchFamily="34" charset="0"/>
                          <a:ea typeface="Meiryo" pitchFamily="34" charset="-122"/>
                          <a:cs typeface="Meiryo" pitchFamily="34" charset="-120"/>
                        </a:rPr>
                        <a:t>31,134</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750" dirty="0">
                          <a:solidFill>
                            <a:srgbClr val="1A1A1A"/>
                          </a:solidFill>
                          <a:latin typeface="Meiryo" pitchFamily="34" charset="0"/>
                          <a:ea typeface="Meiryo" pitchFamily="34" charset="-122"/>
                          <a:cs typeface="Meiryo" pitchFamily="34" charset="-120"/>
                        </a:rPr>
                        <a:t>47,441</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750" dirty="0">
                          <a:solidFill>
                            <a:srgbClr val="1A1A1A"/>
                          </a:solidFill>
                          <a:latin typeface="Meiryo" pitchFamily="34" charset="0"/>
                          <a:ea typeface="Meiryo" pitchFamily="34" charset="-122"/>
                          <a:cs typeface="Meiryo" pitchFamily="34" charset="-120"/>
                        </a:rPr>
                        <a:t>66,422</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graphicFrame>
        <p:nvGraphicFramePr>
          <p:cNvPr id="61" name="ext"/>
          <p:cNvGraphicFramePr>
            <a:graphicFrameLocks noGrp="1"/>
          </p:cNvGraphicFramePr>
          <p:nvPr>
            <p:extLst>
              <p:ext uri="{D42A27DB-BD31-4B8C-83A1-F6EECF244321}">
                <p14:modId xmlns:p14="http://schemas.microsoft.com/office/powerpoint/2010/main" val="1579011935"/>
              </p:ext>
            </p:extLst>
          </p:nvPr>
        </p:nvGraphicFramePr>
        <p:xfrm>
          <a:off x="365760" y="2834640"/>
          <a:ext cx="4937760" cy="914400"/>
        </p:xfrm>
        <a:graphic>
          <a:graphicData uri="http://schemas.openxmlformats.org/drawingml/2006/table">
            <a:tbl>
              <a:tblPr/>
              <a:tblGrid>
                <a:gridCol w="1737360"/>
                <a:gridCol w="640080"/>
                <a:gridCol w="640080"/>
                <a:gridCol w="640080"/>
                <a:gridCol w="640080"/>
                <a:gridCol w="640080"/>
              </a:tblGrid>
              <a:tr h="182880">
                <a:tc>
                  <a:txBody>
                    <a:bodyPr/>
                    <a:lstStyle/>
                    <a:p>
                      <a:pPr algn="l" indent="0" marL="0">
                        <a:buNone/>
                      </a:pPr>
                      <a:r>
                        <a:rPr lang="en-US" sz="750" b="1" dirty="0">
                          <a:solidFill>
                            <a:srgbClr val="1A1A1A"/>
                          </a:solidFill>
                          <a:latin typeface="Meiryo" pitchFamily="34" charset="0"/>
                          <a:ea typeface="Meiryo" pitchFamily="34" charset="-122"/>
                          <a:cs typeface="Meiryo" pitchFamily="34" charset="-120"/>
                        </a:rPr>
                        <a:t>6〜10年目の前提</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750" b="1" dirty="0">
                          <a:solidFill>
                            <a:srgbClr val="1A1A1A"/>
                          </a:solidFill>
                          <a:latin typeface="Meiryo" pitchFamily="34" charset="0"/>
                          <a:ea typeface="Meiryo" pitchFamily="34" charset="-122"/>
                          <a:cs typeface="Meiryo" pitchFamily="34" charset="-120"/>
                        </a:rPr>
                        <a:t>6年</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750" b="1" dirty="0">
                          <a:solidFill>
                            <a:srgbClr val="1A1A1A"/>
                          </a:solidFill>
                          <a:latin typeface="Meiryo" pitchFamily="34" charset="0"/>
                          <a:ea typeface="Meiryo" pitchFamily="34" charset="-122"/>
                          <a:cs typeface="Meiryo" pitchFamily="34" charset="-120"/>
                        </a:rPr>
                        <a:t>7年</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750" b="1" dirty="0">
                          <a:solidFill>
                            <a:srgbClr val="1A1A1A"/>
                          </a:solidFill>
                          <a:latin typeface="Meiryo" pitchFamily="34" charset="0"/>
                          <a:ea typeface="Meiryo" pitchFamily="34" charset="-122"/>
                          <a:cs typeface="Meiryo" pitchFamily="34" charset="-120"/>
                        </a:rPr>
                        <a:t>8年</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750" b="1" dirty="0">
                          <a:solidFill>
                            <a:srgbClr val="1A1A1A"/>
                          </a:solidFill>
                          <a:latin typeface="Meiryo" pitchFamily="34" charset="0"/>
                          <a:ea typeface="Meiryo" pitchFamily="34" charset="-122"/>
                          <a:cs typeface="Meiryo" pitchFamily="34" charset="-120"/>
                        </a:rPr>
                        <a:t>9年</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750" b="1" dirty="0">
                          <a:solidFill>
                            <a:srgbClr val="1A1A1A"/>
                          </a:solidFill>
                          <a:latin typeface="Meiryo" pitchFamily="34" charset="0"/>
                          <a:ea typeface="Meiryo" pitchFamily="34" charset="-122"/>
                          <a:cs typeface="Meiryo" pitchFamily="34" charset="-120"/>
                        </a:rPr>
                        <a:t>10年</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182880">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新規の拠点</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750" dirty="0">
                          <a:solidFill>
                            <a:srgbClr val="1A1A1A"/>
                          </a:solidFill>
                          <a:latin typeface="Meiryo" pitchFamily="34" charset="0"/>
                          <a:ea typeface="Meiryo" pitchFamily="34" charset="-122"/>
                          <a:cs typeface="Meiryo" pitchFamily="34" charset="-120"/>
                        </a:rPr>
                        <a:t>36</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750" dirty="0">
                          <a:solidFill>
                            <a:srgbClr val="1A1A1A"/>
                          </a:solidFill>
                          <a:latin typeface="Meiryo" pitchFamily="34" charset="0"/>
                          <a:ea typeface="Meiryo" pitchFamily="34" charset="-122"/>
                          <a:cs typeface="Meiryo" pitchFamily="34" charset="-120"/>
                        </a:rPr>
                        <a:t>38</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750" dirty="0">
                          <a:solidFill>
                            <a:srgbClr val="1A1A1A"/>
                          </a:solidFill>
                          <a:latin typeface="Meiryo" pitchFamily="34" charset="0"/>
                          <a:ea typeface="Meiryo" pitchFamily="34" charset="-122"/>
                          <a:cs typeface="Meiryo" pitchFamily="34" charset="-120"/>
                        </a:rPr>
                        <a:t>40</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750" dirty="0">
                          <a:solidFill>
                            <a:srgbClr val="1A1A1A"/>
                          </a:solidFill>
                          <a:latin typeface="Meiryo" pitchFamily="34" charset="0"/>
                          <a:ea typeface="Meiryo" pitchFamily="34" charset="-122"/>
                          <a:cs typeface="Meiryo" pitchFamily="34" charset="-120"/>
                        </a:rPr>
                        <a:t>40</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750" dirty="0">
                          <a:solidFill>
                            <a:srgbClr val="1A1A1A"/>
                          </a:solidFill>
                          <a:latin typeface="Meiryo" pitchFamily="34" charset="0"/>
                          <a:ea typeface="Meiryo" pitchFamily="34" charset="-122"/>
                          <a:cs typeface="Meiryo" pitchFamily="34" charset="-120"/>
                        </a:rPr>
                        <a:t>40</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182880">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エンジニア</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750" dirty="0">
                          <a:solidFill>
                            <a:srgbClr val="1A1A1A"/>
                          </a:solidFill>
                          <a:latin typeface="Meiryo" pitchFamily="34" charset="0"/>
                          <a:ea typeface="Meiryo" pitchFamily="34" charset="-122"/>
                          <a:cs typeface="Meiryo" pitchFamily="34" charset="-120"/>
                        </a:rPr>
                        <a:t>6</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750" dirty="0">
                          <a:solidFill>
                            <a:srgbClr val="1A1A1A"/>
                          </a:solidFill>
                          <a:latin typeface="Meiryo" pitchFamily="34" charset="0"/>
                          <a:ea typeface="Meiryo" pitchFamily="34" charset="-122"/>
                          <a:cs typeface="Meiryo" pitchFamily="34" charset="-120"/>
                        </a:rPr>
                        <a:t>6</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750" dirty="0">
                          <a:solidFill>
                            <a:srgbClr val="1A1A1A"/>
                          </a:solidFill>
                          <a:latin typeface="Meiryo" pitchFamily="34" charset="0"/>
                          <a:ea typeface="Meiryo" pitchFamily="34" charset="-122"/>
                          <a:cs typeface="Meiryo" pitchFamily="34" charset="-120"/>
                        </a:rPr>
                        <a:t>7</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750" dirty="0">
                          <a:solidFill>
                            <a:srgbClr val="1A1A1A"/>
                          </a:solidFill>
                          <a:latin typeface="Meiryo" pitchFamily="34" charset="0"/>
                          <a:ea typeface="Meiryo" pitchFamily="34" charset="-122"/>
                          <a:cs typeface="Meiryo" pitchFamily="34" charset="-120"/>
                        </a:rPr>
                        <a:t>7</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750" dirty="0">
                          <a:solidFill>
                            <a:srgbClr val="1A1A1A"/>
                          </a:solidFill>
                          <a:latin typeface="Meiryo" pitchFamily="34" charset="0"/>
                          <a:ea typeface="Meiryo" pitchFamily="34" charset="-122"/>
                          <a:cs typeface="Meiryo" pitchFamily="34" charset="-120"/>
                        </a:rPr>
                        <a:t>8</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182880">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現場監修</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750" dirty="0">
                          <a:solidFill>
                            <a:srgbClr val="1A1A1A"/>
                          </a:solidFill>
                          <a:latin typeface="Meiryo" pitchFamily="34" charset="0"/>
                          <a:ea typeface="Meiryo" pitchFamily="34" charset="-122"/>
                          <a:cs typeface="Meiryo" pitchFamily="34" charset="-120"/>
                        </a:rPr>
                        <a:t>2</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750" dirty="0">
                          <a:solidFill>
                            <a:srgbClr val="1A1A1A"/>
                          </a:solidFill>
                          <a:latin typeface="Meiryo" pitchFamily="34" charset="0"/>
                          <a:ea typeface="Meiryo" pitchFamily="34" charset="-122"/>
                          <a:cs typeface="Meiryo" pitchFamily="34" charset="-120"/>
                        </a:rPr>
                        <a:t>3</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750" dirty="0">
                          <a:solidFill>
                            <a:srgbClr val="1A1A1A"/>
                          </a:solidFill>
                          <a:latin typeface="Meiryo" pitchFamily="34" charset="0"/>
                          <a:ea typeface="Meiryo" pitchFamily="34" charset="-122"/>
                          <a:cs typeface="Meiryo" pitchFamily="34" charset="-120"/>
                        </a:rPr>
                        <a:t>3</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750" dirty="0">
                          <a:solidFill>
                            <a:srgbClr val="1A1A1A"/>
                          </a:solidFill>
                          <a:latin typeface="Meiryo" pitchFamily="34" charset="0"/>
                          <a:ea typeface="Meiryo" pitchFamily="34" charset="-122"/>
                          <a:cs typeface="Meiryo" pitchFamily="34" charset="-120"/>
                        </a:rPr>
                        <a:t>3</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750" dirty="0">
                          <a:solidFill>
                            <a:srgbClr val="1A1A1A"/>
                          </a:solidFill>
                          <a:latin typeface="Meiryo" pitchFamily="34" charset="0"/>
                          <a:ea typeface="Meiryo" pitchFamily="34" charset="-122"/>
                          <a:cs typeface="Meiryo" pitchFamily="34" charset="-120"/>
                        </a:rPr>
                        <a:t>4</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182880">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導入コンサルタント</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750" dirty="0">
                          <a:solidFill>
                            <a:srgbClr val="1A1A1A"/>
                          </a:solidFill>
                          <a:latin typeface="Meiryo" pitchFamily="34" charset="0"/>
                          <a:ea typeface="Meiryo" pitchFamily="34" charset="-122"/>
                          <a:cs typeface="Meiryo" pitchFamily="34" charset="-120"/>
                        </a:rPr>
                        <a:t>8</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750" dirty="0">
                          <a:solidFill>
                            <a:srgbClr val="1A1A1A"/>
                          </a:solidFill>
                          <a:latin typeface="Meiryo" pitchFamily="34" charset="0"/>
                          <a:ea typeface="Meiryo" pitchFamily="34" charset="-122"/>
                          <a:cs typeface="Meiryo" pitchFamily="34" charset="-120"/>
                        </a:rPr>
                        <a:t>9</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750" dirty="0">
                          <a:solidFill>
                            <a:srgbClr val="1A1A1A"/>
                          </a:solidFill>
                          <a:latin typeface="Meiryo" pitchFamily="34" charset="0"/>
                          <a:ea typeface="Meiryo" pitchFamily="34" charset="-122"/>
                          <a:cs typeface="Meiryo" pitchFamily="34" charset="-120"/>
                        </a:rPr>
                        <a:t>9</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750" dirty="0">
                          <a:solidFill>
                            <a:srgbClr val="1A1A1A"/>
                          </a:solidFill>
                          <a:latin typeface="Meiryo" pitchFamily="34" charset="0"/>
                          <a:ea typeface="Meiryo" pitchFamily="34" charset="-122"/>
                          <a:cs typeface="Meiryo" pitchFamily="34" charset="-120"/>
                        </a:rPr>
                        <a:t>9</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750" dirty="0">
                          <a:solidFill>
                            <a:srgbClr val="1A1A1A"/>
                          </a:solidFill>
                          <a:latin typeface="Meiryo" pitchFamily="34" charset="0"/>
                          <a:ea typeface="Meiryo" pitchFamily="34" charset="-122"/>
                          <a:cs typeface="Meiryo" pitchFamily="34" charset="-120"/>
                        </a:rPr>
                        <a:t>9</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182880">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営業</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750" dirty="0">
                          <a:solidFill>
                            <a:srgbClr val="1A1A1A"/>
                          </a:solidFill>
                          <a:latin typeface="Meiryo" pitchFamily="34" charset="0"/>
                          <a:ea typeface="Meiryo" pitchFamily="34" charset="-122"/>
                          <a:cs typeface="Meiryo" pitchFamily="34" charset="-120"/>
                        </a:rPr>
                        <a:t>3</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750" dirty="0">
                          <a:solidFill>
                            <a:srgbClr val="1A1A1A"/>
                          </a:solidFill>
                          <a:latin typeface="Meiryo" pitchFamily="34" charset="0"/>
                          <a:ea typeface="Meiryo" pitchFamily="34" charset="-122"/>
                          <a:cs typeface="Meiryo" pitchFamily="34" charset="-120"/>
                        </a:rPr>
                        <a:t>4</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750" dirty="0">
                          <a:solidFill>
                            <a:srgbClr val="1A1A1A"/>
                          </a:solidFill>
                          <a:latin typeface="Meiryo" pitchFamily="34" charset="0"/>
                          <a:ea typeface="Meiryo" pitchFamily="34" charset="-122"/>
                          <a:cs typeface="Meiryo" pitchFamily="34" charset="-120"/>
                        </a:rPr>
                        <a:t>4</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750" dirty="0">
                          <a:solidFill>
                            <a:srgbClr val="1A1A1A"/>
                          </a:solidFill>
                          <a:latin typeface="Meiryo" pitchFamily="34" charset="0"/>
                          <a:ea typeface="Meiryo" pitchFamily="34" charset="-122"/>
                          <a:cs typeface="Meiryo" pitchFamily="34" charset="-120"/>
                        </a:rPr>
                        <a:t>4</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750" dirty="0">
                          <a:solidFill>
                            <a:srgbClr val="1A1A1A"/>
                          </a:solidFill>
                          <a:latin typeface="Meiryo" pitchFamily="34" charset="0"/>
                          <a:ea typeface="Meiryo" pitchFamily="34" charset="-122"/>
                          <a:cs typeface="Meiryo" pitchFamily="34" charset="-120"/>
                        </a:rPr>
                        <a:t>4</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182880">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管理</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750" dirty="0">
                          <a:solidFill>
                            <a:srgbClr val="1A1A1A"/>
                          </a:solidFill>
                          <a:latin typeface="Meiryo" pitchFamily="34" charset="0"/>
                          <a:ea typeface="Meiryo" pitchFamily="34" charset="-122"/>
                          <a:cs typeface="Meiryo" pitchFamily="34" charset="-120"/>
                        </a:rPr>
                        <a:t>2</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750" dirty="0">
                          <a:solidFill>
                            <a:srgbClr val="1A1A1A"/>
                          </a:solidFill>
                          <a:latin typeface="Meiryo" pitchFamily="34" charset="0"/>
                          <a:ea typeface="Meiryo" pitchFamily="34" charset="-122"/>
                          <a:cs typeface="Meiryo" pitchFamily="34" charset="-120"/>
                        </a:rPr>
                        <a:t>2</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750" dirty="0">
                          <a:solidFill>
                            <a:srgbClr val="1A1A1A"/>
                          </a:solidFill>
                          <a:latin typeface="Meiryo" pitchFamily="34" charset="0"/>
                          <a:ea typeface="Meiryo" pitchFamily="34" charset="-122"/>
                          <a:cs typeface="Meiryo" pitchFamily="34" charset="-120"/>
                        </a:rPr>
                        <a:t>3</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750" dirty="0">
                          <a:solidFill>
                            <a:srgbClr val="1A1A1A"/>
                          </a:solidFill>
                          <a:latin typeface="Meiryo" pitchFamily="34" charset="0"/>
                          <a:ea typeface="Meiryo" pitchFamily="34" charset="-122"/>
                          <a:cs typeface="Meiryo" pitchFamily="34" charset="-120"/>
                        </a:rPr>
                        <a:t>3</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750" dirty="0">
                          <a:solidFill>
                            <a:srgbClr val="1A1A1A"/>
                          </a:solidFill>
                          <a:latin typeface="Meiryo" pitchFamily="34" charset="0"/>
                          <a:ea typeface="Meiryo" pitchFamily="34" charset="-122"/>
                          <a:cs typeface="Meiryo" pitchFamily="34" charset="-120"/>
                        </a:rPr>
                        <a:t>3</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182880">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戦略企画</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750" dirty="0">
                          <a:solidFill>
                            <a:srgbClr val="1A1A1A"/>
                          </a:solidFill>
                          <a:latin typeface="Meiryo" pitchFamily="34" charset="0"/>
                          <a:ea typeface="Meiryo" pitchFamily="34" charset="-122"/>
                          <a:cs typeface="Meiryo" pitchFamily="34" charset="-120"/>
                        </a:rPr>
                        <a:t>1</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750" dirty="0">
                          <a:solidFill>
                            <a:srgbClr val="1A1A1A"/>
                          </a:solidFill>
                          <a:latin typeface="Meiryo" pitchFamily="34" charset="0"/>
                          <a:ea typeface="Meiryo" pitchFamily="34" charset="-122"/>
                          <a:cs typeface="Meiryo" pitchFamily="34" charset="-120"/>
                        </a:rPr>
                        <a:t>1</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750" dirty="0">
                          <a:solidFill>
                            <a:srgbClr val="1A1A1A"/>
                          </a:solidFill>
                          <a:latin typeface="Meiryo" pitchFamily="34" charset="0"/>
                          <a:ea typeface="Meiryo" pitchFamily="34" charset="-122"/>
                          <a:cs typeface="Meiryo" pitchFamily="34" charset="-120"/>
                        </a:rPr>
                        <a:t>1</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750" dirty="0">
                          <a:solidFill>
                            <a:srgbClr val="1A1A1A"/>
                          </a:solidFill>
                          <a:latin typeface="Meiryo" pitchFamily="34" charset="0"/>
                          <a:ea typeface="Meiryo" pitchFamily="34" charset="-122"/>
                          <a:cs typeface="Meiryo" pitchFamily="34" charset="-120"/>
                        </a:rPr>
                        <a:t>2</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750" dirty="0">
                          <a:solidFill>
                            <a:srgbClr val="1A1A1A"/>
                          </a:solidFill>
                          <a:latin typeface="Meiryo" pitchFamily="34" charset="0"/>
                          <a:ea typeface="Meiryo" pitchFamily="34" charset="-122"/>
                          <a:cs typeface="Meiryo" pitchFamily="34" charset="-120"/>
                        </a:rPr>
                        <a:t>2</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182880">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AIの学習費</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750" dirty="0">
                          <a:solidFill>
                            <a:srgbClr val="1A1A1A"/>
                          </a:solidFill>
                          <a:latin typeface="Meiryo" pitchFamily="34" charset="0"/>
                          <a:ea typeface="Meiryo" pitchFamily="34" charset="-122"/>
                          <a:cs typeface="Meiryo" pitchFamily="34" charset="-120"/>
                        </a:rPr>
                        <a:t>400</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750" dirty="0">
                          <a:solidFill>
                            <a:srgbClr val="1A1A1A"/>
                          </a:solidFill>
                          <a:latin typeface="Meiryo" pitchFamily="34" charset="0"/>
                          <a:ea typeface="Meiryo" pitchFamily="34" charset="-122"/>
                          <a:cs typeface="Meiryo" pitchFamily="34" charset="-120"/>
                        </a:rPr>
                        <a:t>440</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750" dirty="0">
                          <a:solidFill>
                            <a:srgbClr val="1A1A1A"/>
                          </a:solidFill>
                          <a:latin typeface="Meiryo" pitchFamily="34" charset="0"/>
                          <a:ea typeface="Meiryo" pitchFamily="34" charset="-122"/>
                          <a:cs typeface="Meiryo" pitchFamily="34" charset="-120"/>
                        </a:rPr>
                        <a:t>480</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750" dirty="0">
                          <a:solidFill>
                            <a:srgbClr val="1A1A1A"/>
                          </a:solidFill>
                          <a:latin typeface="Meiryo" pitchFamily="34" charset="0"/>
                          <a:ea typeface="Meiryo" pitchFamily="34" charset="-122"/>
                          <a:cs typeface="Meiryo" pitchFamily="34" charset="-120"/>
                        </a:rPr>
                        <a:t>520</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750" dirty="0">
                          <a:solidFill>
                            <a:srgbClr val="1A1A1A"/>
                          </a:solidFill>
                          <a:latin typeface="Meiryo" pitchFamily="34" charset="0"/>
                          <a:ea typeface="Meiryo" pitchFamily="34" charset="-122"/>
                          <a:cs typeface="Meiryo" pitchFamily="34" charset="-120"/>
                        </a:rPr>
                        <a:t>560</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8" name="Shape 3"/>
          <p:cNvSpPr/>
          <p:nvPr/>
        </p:nvSpPr>
        <p:spPr>
          <a:xfrm>
            <a:off x="5486400" y="2834640"/>
            <a:ext cx="3291840" cy="1600200"/>
          </a:xfrm>
          <a:prstGeom prst="rect">
            <a:avLst/>
          </a:prstGeom>
          <a:solidFill>
            <a:srgbClr val="1A1A1A"/>
          </a:solidFill>
          <a:ln/>
        </p:spPr>
      </p:sp>
      <p:sp>
        <p:nvSpPr>
          <p:cNvPr id="9" name="Text 4"/>
          <p:cNvSpPr txBox="1"/>
          <p:nvPr/>
        </p:nvSpPr>
        <p:spPr>
          <a:xfrm>
            <a:off x="5623560" y="2834640"/>
            <a:ext cx="3017520" cy="1600200"/>
          </a:xfrm>
          <a:prstGeom prst="rect">
            <a:avLst/>
          </a:prstGeom>
          <a:noFill/>
          <a:ln/>
        </p:spPr>
        <p:txBody>
          <a:bodyPr wrap="square" lIns="0" tIns="0" rIns="0" bIns="0" rtlCol="0" anchor="ctr"/>
          <a:lstStyle/>
          <a:p>
            <a:pPr algn="l" indent="0" marL="0">
              <a:lnSpc>
                <a:spcPct val="115000"/>
              </a:lnSpc>
              <a:spcAft>
                <a:spcPts val="200"/>
              </a:spcAft>
              <a:buNone/>
            </a:pPr>
            <a:r>
              <a:rPr lang="en-US" sz="850" b="1" dirty="0">
                <a:solidFill>
                  <a:srgbClr val="E3A774"/>
                </a:solidFill>
                <a:latin typeface="Meiryo" pitchFamily="34" charset="0"/>
                <a:ea typeface="Meiryo" pitchFamily="34" charset="-122"/>
                <a:cs typeface="Meiryo" pitchFamily="34" charset="-120"/>
              </a:rPr>
              <a:t>読み方</a:t>
            </a:r>
            <a:endParaRPr lang="en-US" sz="850" dirty="0"/>
          </a:p>
          <a:p>
            <a:pPr algn="l" indent="0" marL="0">
              <a:lnSpc>
                <a:spcPct val="115000"/>
              </a:lnSpc>
              <a:spcAft>
                <a:spcPts val="200"/>
              </a:spcAft>
              <a:buNone/>
            </a:pPr>
            <a:r>
              <a:rPr lang="en-US" sz="850" dirty="0">
                <a:solidFill>
                  <a:srgbClr val="FFFFFF"/>
                </a:solidFill>
                <a:latin typeface="Meiryo" pitchFamily="34" charset="0"/>
                <a:ea typeface="Meiryo" pitchFamily="34" charset="-122"/>
                <a:cs typeface="Meiryo" pitchFamily="34" charset="-120"/>
              </a:rPr>
              <a:t>積み上げ型なので、採用を落とせば6年目に黒字が厚くなる。</a:t>
            </a:r>
            <a:endParaRPr lang="en-US" sz="850" dirty="0"/>
          </a:p>
          <a:p>
            <a:pPr algn="l" indent="0" marL="0">
              <a:lnSpc>
                <a:spcPct val="115000"/>
              </a:lnSpc>
              <a:spcAft>
                <a:spcPts val="200"/>
              </a:spcAft>
              <a:buNone/>
            </a:pPr>
            <a:r>
              <a:rPr lang="en-US" sz="850" dirty="0">
                <a:solidFill>
                  <a:srgbClr val="FFFFFF"/>
                </a:solidFill>
                <a:latin typeface="Meiryo" pitchFamily="34" charset="0"/>
                <a:ea typeface="Meiryo" pitchFamily="34" charset="-122"/>
                <a:cs typeface="Meiryo" pitchFamily="34" charset="-120"/>
              </a:rPr>
              <a:t>採用を1.3倍にすると黒字は7年目、値下げ20%やAI費用2倍では現金がいったんマイナス（自己資金の追加が要る）</a:t>
            </a:r>
            <a:endParaRPr lang="en-US" sz="850" dirty="0"/>
          </a:p>
          <a:p>
            <a:pPr algn="l" indent="0" marL="0">
              <a:lnSpc>
                <a:spcPct val="115000"/>
              </a:lnSpc>
              <a:spcAft>
                <a:spcPts val="200"/>
              </a:spcAft>
              <a:buNone/>
            </a:pPr>
            <a:r>
              <a:rPr lang="en-US" sz="850" dirty="0">
                <a:solidFill>
                  <a:srgbClr val="FFFFFF"/>
                </a:solidFill>
                <a:latin typeface="Meiryo" pitchFamily="34" charset="0"/>
                <a:ea typeface="Meiryo" pitchFamily="34" charset="-122"/>
                <a:cs typeface="Meiryo" pitchFamily="34" charset="-120"/>
              </a:rPr>
              <a:t>電線工場・海外・端末込みの料金は入れていない（上振れ）</a:t>
            </a:r>
            <a:endParaRPr lang="en-US" sz="850" dirty="0"/>
          </a:p>
        </p:txBody>
      </p:sp>
      <p:sp>
        <p:nvSpPr>
          <p:cNvPr id="10" name="Text 5"/>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代表・CTOは1人のまま。導入コンサルタントは新規÷6＋定着支援、現場監修は印付けの量（81拠点で約1.3人分）に合わせた。オフィス・広告・交通も段階的に増やした</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3" name="Text 0"/>
          <p:cNvSpPr txBox="1"/>
          <p:nvPr/>
        </p:nvSpPr>
        <p:spPr>
          <a:xfrm>
            <a:off x="5577840" y="54864"/>
            <a:ext cx="3200400" cy="182880"/>
          </a:xfrm>
          <a:prstGeom prst="rect">
            <a:avLst/>
          </a:prstGeom>
          <a:noFill/>
          <a:ln/>
        </p:spPr>
        <p:txBody>
          <a:bodyPr wrap="square" lIns="0" tIns="0" rIns="0" bIns="0" rtlCol="0" anchor="ctr"/>
          <a:lstStyle/>
          <a:p>
            <a:pPr algn="r" indent="0" marL="0">
              <a:lnSpc>
                <a:spcPct val="115000"/>
              </a:lnSpc>
              <a:buNone/>
            </a:pPr>
            <a:r>
              <a:rPr lang="en-US" sz="800" dirty="0">
                <a:solidFill>
                  <a:srgbClr val="8C8C8C"/>
                </a:solidFill>
                <a:latin typeface="Meiryo" pitchFamily="34" charset="0"/>
                <a:ea typeface="Meiryo" pitchFamily="34" charset="-122"/>
                <a:cs typeface="Meiryo" pitchFamily="34" charset="-120"/>
              </a:rPr>
              <a:t>質問への答え</a:t>
            </a:r>
            <a:endParaRPr lang="en-US" sz="800" dirty="0"/>
          </a:p>
        </p:txBody>
      </p:sp>
      <p:sp>
        <p:nvSpPr>
          <p:cNvPr id="4"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厳しい質問 ─ 数字 → 式 → 前提の順で答える</a:t>
            </a:r>
            <a:endParaRPr lang="en-US" sz="2000" dirty="0"/>
          </a:p>
        </p:txBody>
      </p:sp>
      <p:sp>
        <p:nvSpPr>
          <p:cNvPr id="5"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一言で答え、このページ番号を示す</a:t>
            </a:r>
            <a:endParaRPr lang="en-US" sz="1200" dirty="0"/>
          </a:p>
        </p:txBody>
      </p:sp>
      <p:graphicFrame>
        <p:nvGraphicFramePr>
          <p:cNvPr id="32" name="qa"/>
          <p:cNvGraphicFramePr>
            <a:graphicFrameLocks noGrp="1"/>
          </p:cNvGraphicFramePr>
          <p:nvPr>
            <p:extLst>
              <p:ext uri="{D42A27DB-BD31-4B8C-83A1-F6EECF244321}">
                <p14:modId xmlns:p14="http://schemas.microsoft.com/office/powerpoint/2010/main" val="1579011935"/>
              </p:ext>
            </p:extLst>
          </p:nvPr>
        </p:nvGraphicFramePr>
        <p:xfrm>
          <a:off x="365760" y="1024128"/>
          <a:ext cx="8412480" cy="914400"/>
        </p:xfrm>
        <a:graphic>
          <a:graphicData uri="http://schemas.openxmlformats.org/drawingml/2006/table">
            <a:tbl>
              <a:tblPr/>
              <a:tblGrid>
                <a:gridCol w="1920240"/>
                <a:gridCol w="5486400"/>
                <a:gridCol w="1005840"/>
              </a:tblGrid>
              <a:tr h="233172">
                <a:tc>
                  <a:txBody>
                    <a:bodyPr/>
                    <a:lstStyle/>
                    <a:p>
                      <a:pPr algn="l" indent="0" marL="0">
                        <a:buNone/>
                      </a:pPr>
                      <a:r>
                        <a:rPr lang="en-US" sz="750" b="1" dirty="0">
                          <a:solidFill>
                            <a:srgbClr val="1A1A1A"/>
                          </a:solidFill>
                          <a:latin typeface="Meiryo" pitchFamily="34" charset="0"/>
                          <a:ea typeface="Meiryo" pitchFamily="34" charset="-122"/>
                          <a:cs typeface="Meiryo" pitchFamily="34" charset="-120"/>
                        </a:rPr>
                        <a:t>質問</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750" b="1" dirty="0">
                          <a:solidFill>
                            <a:srgbClr val="1A1A1A"/>
                          </a:solidFill>
                          <a:latin typeface="Meiryo" pitchFamily="34" charset="0"/>
                          <a:ea typeface="Meiryo" pitchFamily="34" charset="-122"/>
                          <a:cs typeface="Meiryo" pitchFamily="34" charset="-120"/>
                        </a:rPr>
                        <a:t>一言の答え</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750" b="1" dirty="0">
                          <a:solidFill>
                            <a:srgbClr val="1A1A1A"/>
                          </a:solidFill>
                          <a:latin typeface="Meiryo" pitchFamily="34" charset="0"/>
                          <a:ea typeface="Meiryo" pitchFamily="34" charset="-122"/>
                          <a:cs typeface="Meiryo" pitchFamily="34" charset="-120"/>
                        </a:rPr>
                        <a:t>詳細版</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33172">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本当に年300万円払う？</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1台1日23分減れば元が取れます。想定は35分で、実証で測ります</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p.8</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33172">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1時間の人件費の根拠は？</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統計の年収×会社負担1.17÷残業を含む年1,938時間です</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p.5</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33172">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4,000万円も得するのでは？</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全員ではなく、端末を着けた班だけで数えています。手戻りは測れてから足します</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p.6〜7</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33172">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グラス代は誰が払う？</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お客様の名義でリース、手続きは当社が代行。10台で年約32万円です</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p.29</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33172">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台数が増えると原価は？</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1台の値段が1台の原価を賄うので粗利率は約70%のまま。崩れるのは全編を送る使い方です</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p.11〜12</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33172">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なぜ5年で黒字にならない？</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人を先に雇うからです。1拠点15台にできれば5年目に黒字です</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p.19・22</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33172">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獲得が遅れたら？</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採用も遅らせ、台数を増やします。2年目に5拠点未満なら採用を止めます</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p.22</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33172">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解約率の根拠は？</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海外のB2B SaaSの目安から年10%と置きました。日本の実績で更新します</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p.14</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33172">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普段使いのグラスで足りる？</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録画と電池に制約があります。要所だけ記録し、実機で確かめます</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p.26</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33172">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市場が小さくない？</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5年目でターゲット市場の約1.7%。工場と海外は含めていません</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p.24</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33172">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全部AIで解析したら高い？</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録画は端末に残し、選んだ場面だけ解析します。選び方は3段階で賢くします</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p.28</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33172">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日立のAI Safetyと同じでは？</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方向は同じ。日立は自社の保守契約にAIを組み込む。当社は中堅の施工の書類と技能継承を月額で</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本編 p.15</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33172">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5年で黒字にならないなら？</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10年で見れば10台でも6年目に黒字、8年目に赤字を取り戻します</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p.30</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33172">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あなたが倒れたら？</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役割を絞り判断基準を先に決め、1か月不在でも回る形にします</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本編 p.32</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7" name="Text 3"/>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詳しい想定問答は「カンツギ_想定問答.md」</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3" name="Text 0"/>
          <p:cNvSpPr txBox="1"/>
          <p:nvPr/>
        </p:nvSpPr>
        <p:spPr>
          <a:xfrm>
            <a:off x="5577840" y="54864"/>
            <a:ext cx="3200400" cy="182880"/>
          </a:xfrm>
          <a:prstGeom prst="rect">
            <a:avLst/>
          </a:prstGeom>
          <a:noFill/>
          <a:ln/>
        </p:spPr>
        <p:txBody>
          <a:bodyPr wrap="square" lIns="0" tIns="0" rIns="0" bIns="0" rtlCol="0" anchor="ctr"/>
          <a:lstStyle/>
          <a:p>
            <a:pPr algn="r" indent="0" marL="0">
              <a:lnSpc>
                <a:spcPct val="115000"/>
              </a:lnSpc>
              <a:buNone/>
            </a:pPr>
            <a:r>
              <a:rPr lang="en-US" sz="800" dirty="0">
                <a:solidFill>
                  <a:srgbClr val="8C8C8C"/>
                </a:solidFill>
                <a:latin typeface="Meiryo" pitchFamily="34" charset="0"/>
                <a:ea typeface="Meiryo" pitchFamily="34" charset="-122"/>
                <a:cs typeface="Meiryo" pitchFamily="34" charset="-120"/>
              </a:rPr>
              <a:t>出典</a:t>
            </a:r>
            <a:endParaRPr lang="en-US" sz="800" dirty="0"/>
          </a:p>
        </p:txBody>
      </p:sp>
      <p:sp>
        <p:nvSpPr>
          <p:cNvPr id="4"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出典 ─ 公的統計と公表価格</a:t>
            </a:r>
            <a:endParaRPr lang="en-US" sz="2000" dirty="0"/>
          </a:p>
        </p:txBody>
      </p:sp>
      <p:sp>
        <p:nvSpPr>
          <p:cNvPr id="5"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★＝最新年の値・原表を確認していない</a:t>
            </a:r>
            <a:endParaRPr lang="en-US" sz="1200" dirty="0"/>
          </a:p>
        </p:txBody>
      </p:sp>
      <p:graphicFrame>
        <p:nvGraphicFramePr>
          <p:cNvPr id="33" name="sources"/>
          <p:cNvGraphicFramePr>
            <a:graphicFrameLocks noGrp="1"/>
          </p:cNvGraphicFramePr>
          <p:nvPr>
            <p:extLst>
              <p:ext uri="{D42A27DB-BD31-4B8C-83A1-F6EECF244321}">
                <p14:modId xmlns:p14="http://schemas.microsoft.com/office/powerpoint/2010/main" val="1579011935"/>
              </p:ext>
            </p:extLst>
          </p:nvPr>
        </p:nvGraphicFramePr>
        <p:xfrm>
          <a:off x="365760" y="1005840"/>
          <a:ext cx="8412480" cy="914400"/>
        </p:xfrm>
        <a:graphic>
          <a:graphicData uri="http://schemas.openxmlformats.org/drawingml/2006/table">
            <a:tbl>
              <a:tblPr/>
              <a:tblGrid>
                <a:gridCol w="2103120"/>
                <a:gridCol w="6309360"/>
              </a:tblGrid>
              <a:tr h="246888">
                <a:tc>
                  <a:txBody>
                    <a:bodyPr/>
                    <a:lstStyle/>
                    <a:p>
                      <a:pPr algn="l" indent="0" marL="0">
                        <a:buNone/>
                      </a:pPr>
                      <a:r>
                        <a:rPr lang="en-US" sz="750" b="1" dirty="0">
                          <a:solidFill>
                            <a:srgbClr val="1A1A1A"/>
                          </a:solidFill>
                          <a:latin typeface="Meiryo" pitchFamily="34" charset="0"/>
                          <a:ea typeface="Meiryo" pitchFamily="34" charset="-122"/>
                          <a:cs typeface="Meiryo" pitchFamily="34" charset="-120"/>
                        </a:rPr>
                        <a:t>項目</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750" b="1" dirty="0">
                          <a:solidFill>
                            <a:srgbClr val="1A1A1A"/>
                          </a:solidFill>
                          <a:latin typeface="Meiryo" pitchFamily="34" charset="0"/>
                          <a:ea typeface="Meiryo" pitchFamily="34" charset="-122"/>
                          <a:cs typeface="Meiryo" pitchFamily="34" charset="-120"/>
                        </a:rPr>
                        <a:t>出典</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46888">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電気工事従事者の年収 ★</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厚生労働省「令和5年賃金構造基本統計調査」（月36.74万円×12＋賞与110.06万円＝約551万円）。職業情報提供サイト（令和6年）約548〜551万円</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建築・土木技術者の年収 ★</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同調査 建築技術者 約642万円（令和6年）・土木技術者 約604万円（令和5年）。施工管理者の区分はないため代用</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年間総実労働時間</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厚生労働省「毎月勤労統計調査」令和6年 建設業 月161.5時間（×12＝1,938時間・残業込み）</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会社負担の社会保険料</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健康保険 約5.0%・厚生年金9.15%・雇用保険（建設）1.1%・子ども・子育て拠出金0.36%・労災 約1.2%。計 約17%</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時間外の割増・上限</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労働基準法（割増25%以上、建設業は2024年4月から原則 月45時間・年360時間）</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建設業の就業者・年齢</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国土交通省（総務省「労働力調査」2024年平均）477万人、55歳以上36.7%</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電気工事業の許可業者数 ★</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国土交通省 建設業許可業者数（令和7年3月末）65,497社（二次資料で確認）</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市場の伸び</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矢野経済研究所 No.3789（建設テック）、IMARC Group（Japan Smart Factory）</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手戻り率・建設投資 ★</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海外研究で工事費の0.4〜6%。建設投資は国交省 2025年度見通し 約75.6兆円</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グラス・リース ★</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Ray-Ban Meta 第2世代、Meta Ray-Ban Display $799、RealWear Arc 3（国内37万円）。開発キットの映像720p（UploadVR）。リース料率3年約3%</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クラウド・AIの単価 ★</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音声文字起こし $0.003／分、オブジェクト保存 約$0.025／GB・月など各社の公表価格</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解約率の目安</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B2B SaaSの年間解約：大企業5〜10%・中小30〜50%（海外の業界記事。一次調査ではない）</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競合・国の方針</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日立 ニュースリリース（2025年3月・10月）、日立 Physical AI 事例（日立パワーソリューションズ 2026年7月）、Safie Pocket2、内閣府「人工知能基本計画」</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7" name="Text 3"/>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数字はすべて tora_v2.js から出力。前提を変えると、本編・やさしい版・この資料の表が同じ式で計算し直される</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32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Meiryo"/>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eiryo"/>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カンツギ 事業計画書 計算詳細版（質問用）</dc:title>
  <dc:subject>PptxGenJS Presentation</dc:subject>
  <dc:creator>PptxGenJS</dc:creator>
  <cp:lastModifiedBy>PptxGenJS</cp:lastModifiedBy>
  <cp:revision>1</cp:revision>
  <dcterms:created xsi:type="dcterms:W3CDTF">2026-10-16T05:36:48Z</dcterms:created>
  <dcterms:modified xsi:type="dcterms:W3CDTF">2026-10-16T05:36:48Z</dcterms:modified>
</cp:coreProperties>
</file>