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【使い方】
要約：本編は結論と一行の式、詳細版は計算の過程
この資料は、本編の数字の計算の過程をまとめたものです。本編では時間の都合で結論と一行の式だけを示し、質問があればこの資料の該当ページを開きます。本編の右上に、対応するページ番号を書いています。数字はすべて一つの計算モデルから出しているので、どこを聞かれても辻褄が合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【対応表】
要約：本編のページと、詳細版のページの対応
本編のどのページの数字が、詳細版のどこで計算されているかの一覧です。質問を受けたら、このページから該当ページへ飛びます。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【数字の木】
要約：5年目の営業利益を、売上と費用の枝に分解する
5年目の営業損益約▲1,117万円を分解した木です。粗利は、利用料からAIと保存の費用を引いたものと、導入支援・個社設定から導入コンサルタントの人件費などを引いたものの合計。販管費は、人件費から原価に回した分を引き、採用費と家賃などを足したもの。動かせるのは、拠点数、1拠点の台数、社員数の3つ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【前提一覧】
要約：前提と懸念を一枚に。確度の低いものから実証で測る
計画の前提の一覧です。確度は、統計、公表価格、見積、仮説の4つに分けています。仮説のものは実証で測ります。特に大事なのは、1台1日の削減時間、AIと保存の実際の費用、値段への反応、手戻りの削減の4つ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【人件費】
要約：1時間の人件費は、統計の年収÷残業を含む総労働時間
お客様の1時間あたりの人件費です。厚生労働省の賃金構造基本統計調査の年収に、会社が負担する社会保険料の約17%を足し、建設業の残業を含む年間の総実労働時間で割りました。総実労働時間は毎月勤労統計調査の令和6年の値、月161.5時間の12か月分で1,938時間です。電工は約3,300円、施工管理者は約3,700円です。よく使われる1,950時間は、1日8時間で約244日という所定の時間の目安で、残業を含みません。値は近いのですが意味が違うので、統計の実績を使いました。残業が減った分は25%の割増で評価できますが、計画では使い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【削減時間】
要約：効果はAIグラスを掛けた班だけで数える。1台1日35分で年約480万円
効果は、AIグラスを掛けた班の分だけで数えます。1拠点10台、年240日使うとして、職長の日報と撮影が1日15分、施工管理者の写真整理と写真台帳が20分減ると、年約499万円です。建設業の書類電子化の実績として知られる月6.5時間は、原典を確認できていないので使いません。実証で、導入前の2週間と導入後の4週間を比べて、1台1日の削減分を測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【手戻り・指導】
要約：手戻りと新人指導は、実証で測るまで計画に入れない
手戻りの削減は、AIの出力がそのまま現場で使える前提では大きく見えますが、実際には当社の現場監修と、工種ごとの準備がいります。対象をARが効く工種の3割に絞ると年360万円で、これは上振れとして計画には入れません。新人の指導時間は、他の仕事と混ざっていて測れないので金額にしません。代わりに独り立ちまでの月数などを測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【元が取れる条件】
要約：お客様が元を取るには、1台1日23分減ればよい
お客様の1年の支払いは、当社への300万円とグラスのリース約32万円です。これを10台×240日で割ると、1台1日約1,382円。人件費で割り戻すと、1台1日約23分減れば元が取れます。値段を月18万円に下げるとお客様は約2.0倍になりますが、当社は5年目でも黒字になりません。値下げではなく、1台あたりの削減時間を上げることと、手戻りを実測することで価値を示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【値段】
要約：値段は「基盤＋端末の台数」。1拠点10台で年300万円
値段の内訳です。会社のデータ基盤が月5万円、端末1台ごとのライセンスが月2万円。10台なら月25万円、年300万円です。AIの出力を各社の報告書の形に整えるところまで、この利用料に含みます。グラス本体はお客様の名義でリースし、手続きは当社が代行します。当社の売上には入れません。教材化や手元ARはオプションとし、計画には入れ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【端末の台数】
要約：全員には配らない。1班に1台、職長が掛ける
1現場に何台いるか。電工が5人いる現場が5つあれば25台になりますが、全員には配りません。班の作業が映るのは職長の視点なので、1班に1台を職長が掛けます。5現場に2班ずつで10台。増やすのは、ミスが多い工種や新人がいる班です。記録はカメラ付きのAIグラスで、手元に図面を出す班だけ表示付きのARグラスにします。粉じんや高所の現場では、産業用のヘッドセットも選べ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【AI費用】
要約：AI・保存の費用を積み上げると、粗利率は72%
1台あたり月に、音声の文字起こし約2,200円、画像の解析約1,000円、報告書の生成約200円、動画の保存約700円、転送や端末管理など約1,900円で、合計約6,000円です。これに会社ごとのデータ基盤を月1万円足すと、10台で年84万円、粗利率は約72%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【トレードオフ】
要約：台数では粗利率は崩れない。崩れるのは使い方
端末の台数が増えても、1台の値段が1台の原価を賄っているので、粗利率は約70%で変わりません。崩れるのは使い方です。動画を全部クラウドに送って毎秒解析すると、1台月5万円かかり、値段を超えます。だから、録画は端末に全部残し、クラウドで解析するのは選んだ場面だけにする、解析する場面の数に月の上限と超過料金を設ける、提案の段階で営業と技術が一緒に撮影計画を決める、毎月台ごとの処理量と粗利を見る、の4つを仕組みに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【導入支援】
要約：導入支援200万円は、42人日の作業に交通費を足して決めた
導入支援の中身です。現状の調査、端末の設定、図面や手順の登録、研修、現場での立ち会い、効果測定で合計42人日、約2か月です。原価は141万円で、200万円との差、約59万円が粗利です。他社の相場はまだ確かめてい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【拠点と解約】
要約：既存・新規・解約を分けて見る。解約は年10%
拠点数を、期首、解約、新規、期末に分けました。海外の目安では、B2BのSaaSの年間解約は大企業で5から10%、中小で30から50%です。記録が貯まるほど乗り換えにくい点を見て、年10%と置きました。実績で更新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【売上の内訳】
要約：売上の柱は既存のお客様の利用料。個社設定は社内のコンサル部隊が行う
売上を4つに分けました。5年目は、既存のお客様の利用料が半分を超えます。報告書の書式を整える工程は利用料に含みます。有償の個社設定は、大手のお客様の基幹システムとの連携など、標準の出力では足りない部分だけです。外部に委託せず、当社の導入コンサルタントが行い、作った型は製品に戻します。プロダクトの開発が遅れないよう、売上の5%以下を目安に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【オフィス・広告】
要約：オフィスは賃料と共益費。広告は展示会・業界団体・事例動画
家賃はオフィスの賃料と共益費です。広告は、5年目の500万円を、展示会、業界団体の勉強会と業界紙、事例動画とホームページ、検索広告、営業資料に分けました。5年目に必要な商談は約100件なので、1商談あたり約5万円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【チーム】
要約：役割ごとの人数と年収。社外の顧問と採用費も入れる
チームを役割ごとに決めました。代表、CTO、エンジニア、現場監修、導入コンサルタント、営業、管理、戦略企画です。年収は役割ごとに置き、会社負担として1.2倍しました。紹介会社を使う採用費と、社外の技術顧問と業界の顧問も入れ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【収支】
要約：10台のままでは5年で黒字にならない。15台なら5年目
前提をすべて入れた5年間の損益です。1拠点10台のままでは5年目も約1,117万円の赤字で、累積の赤字は約1.83億円です。導入コンサルタントの増員とAIの学習費を入れたためです。1拠点の台数を15台に増やせると5年目に黒字になり、値下げすると赤字が広が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【損益分岐点】
要約：売上で見ても、人で見ても5年目はまだ届かない
損益分岐点は二通りで見ています。一つは販管費を粗利率で割る売上ベースで、5年目の売上は分岐点の約94%です。もう一つは社員1人あたりの拠点数で、5年目の販管費約753万円を1拠点の粗利216万円で割って約3.5。新規は初年度に半年分しか払わないので、期末では約4拠点が目安ですが、5年目は3.52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【LTV・CAC】
要約：LTVは控えめに7年。獲得費用の約18倍
1拠点の粗利は年216万円。7年分と導入支援の粗利で、LTVは約1,571万円です。CACは5年目の営業3人の人件費と広告500万円を新規33拠点で割って約86万円。解約が年10%なら平均10年続くので、7年は控えめです。3年で解約されても約8倍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【ストレステスト】
要約：計画に余裕は少ない。守りは台数と採用の連動
前提を一つずつ崩しました。正直に言うと、1拠点10台のままでは計画どおりでも5年以内に黒字にならず、値引き、解約の増加、AI費用の増加、年収の上昇はどれも赤字を広げます。特に危ないのは、動画を全部クラウドで解析する使い方と、獲得が遅れているのに計画どおり採用することです。守りは、1拠点の台数を増やすことと、採用を拠点数に合わせて遅らせることです。15台にできれば5年目に黒字に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【撤退ライン】
要約：黒字化の条件は、拠点数より1拠点の台数。止まる線も先に決める
新規拠点が計画に届かなかった場合です。1拠点10台のままだと、計画どおりでも5年以内に黒字になりません。15台に増やせれば、計画の6割でも5年目に黒字です。進むか止まるかの線を、実証、1年目末、2年目末、3年目で先に決め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【資金計画】
要約：自己資金は積み上げで出し、段階に分けて入れる
課題の前提は豊富な資金なので、自己資金でまかないます。必要額は、5年間の赤字の累計約1.83億円、最低残高として固定費3か月分、残りを遅れへの備えとして積み上げ、準備期の500万円を含めて約2.55億円です。準備期に500万円、実証に合格したら1年目に2億円、3年目に継続率と台数の線を越えていれば5,000万円を入れます。融資と出資は使わないので、返済と利息はあり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【市場規模】
要約：ターゲット市場は業種×規模で数えて約141億円
市場規模の計算です。業種と規模の2つの軸で分けて、顧客数かける年額を足しました。電気工事と電気通信工事の中堅以上、約3,100社で約141億円です。土台の65,497社は国の統計ですが、規模別の内訳は仮定なので、聞かれたら推計だと正直に言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【ターゲット】
要約：規模ではなく条件で絞る。営業1人は月3件の商談
ターゲットを規模だけでなく条件で絞りました。施工管理者30人以上、電力会社や官公庁の工事が多く写真台帳の提出が多い、ケーブル接続など手戻りが高くつく工種がある、デジタル化の素地がある、の4つです。5年目に必要な商談は約100件、営業3人で1人月約3件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【グラスの条件と実証】
要約：普段使いのグラスは軽いが、現場の条件には足りない所がある
グラスと実証の設計です。普段使いのAIグラスは約50グラムと軽く、一日中掛けられますが、現場の条件で見ると足りない所があります。一般向けは動画が1回3分程度まで、開発者向けの映像は720p、連続で撮ると電池が持たず、落下や粉じんへの強さ、保護めがねの規格も確かではありません。だから、要所の短い記録に絞り、準備期に実機で1日使って確かめます。粉じんや高所の現場では、産業用のヘッドセットを選べるようにします。実証では、1台1日の削減時間、手戻りの件数、1台あたりのAI費用、新人が独り立ちするまでの期間を測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【データ基盤】
要約：基盤は会社の記録の置き場と各社の型。原価は月1万円
基盤の中身です。記録の保管庫、図面と手順、各社の報告書の型、電気工事の工種の型、権限と同意、管理画面、月次の効果レポート、連携の口の8つです。原価は月1万円で、値段の月5万円との差で、設定と定着支援の人の時間と開発を回収します。報告書の型と工種の型は、外部に委託せず社内で作るので、お客様が増えるほど次の設定が速く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【場面の選び方とAIの学習】
要約：全部は送らず、決まり→汎用AI→自社AIの3段階で選ぶ
録画は端末に全部残し、クラウドで解析するのは選んだ場面だけです。最初は作業の区切りや声の合図などの決まりで選び、次にClaudeなどの汎用AIで大事な場面かを判定し、3年目からは現場監修が付けた印で自社の小さな判定AIを学習させます。印を付けるのはAIが迷った5%程度の場面で、1拠点月約2.5時間、5年目の81拠点で約1.3人分です。学習の計算費は2年目から経費に入れ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【グラスの持ち方】
要約：試験導入はレンタル、本契約はお客様名義のリースを当社が代行、3年目から端末込みも
グラスの持ち方を3段階に分けました。3か月の試験導入でリースを組むのは重いので、当社がレンタルして渡します。本契約からはお客様の名義でリースし、販売店やリース会社との手続きは当社が代行します。3年目からは、当社がまとめて調達して利用料に端末代を含める料金も選べるようにします。端末の売上を当社に入れないのは、利用料の粗利率を見えやすくするため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【10年の延長】
要約：5年目までは変えずに延ばすと、10台でも6年目に黒字。条件は採用のペースを落とすこと
6年目から10年目を、同じ計算式で延ばしました。新しい拠点は年36から40で頭打ち、社員は24人から32人と、5年目までより採用のペースを落とします。導入コンサルタントは新規÷6で8〜9人、現場監修は印付けの量に合わせて2〜4人です。この前提で、1拠点10台のままでも6年目に黒字になり、累積の赤字は8年目に取り戻します。採用を1.3倍にすると黒字は1年遅れます。電線工場や海外は入れてい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【厳しい質問】
要約：厳しい質問には、数字→式→前提の順で答える
厳しい質問への回答集です。それぞれ、一言の答えと、根拠のページを書いています。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【出典】
要約：公的統計と公表価格。未確認のものは未確認と書く
出典の一覧です。最新の年の値や原表を確かめていないものには印を付けています。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9728" y="109728"/>
            <a:ext cx="8924544" cy="4924044"/>
          </a:xfrm>
          <a:prstGeom prst="rect">
            <a:avLst/>
          </a:prstGeom>
          <a:solidFill>
            <a:srgbClr val="FFFFFF">
              <a:alpha val="0"/>
            </a:srgbClr>
          </a:solidFill>
          <a:ln w="9525">
            <a:solidFill>
              <a:srgbClr val="1B365D"/>
            </a:solidFill>
            <a:prstDash val="solid"/>
          </a:ln>
        </p:spPr>
      </p:sp>
      <p:sp>
        <p:nvSpPr>
          <p:cNvPr id="3" name="Shape 1"/>
          <p:cNvSpPr/>
          <p:nvPr/>
        </p:nvSpPr>
        <p:spPr>
          <a:xfrm>
            <a:off x="6035040" y="4754880"/>
            <a:ext cx="2999232" cy="278892"/>
          </a:xfrm>
          <a:prstGeom prst="rect">
            <a:avLst/>
          </a:prstGeom>
          <a:solidFill>
            <a:srgbClr val="FFFFFF"/>
          </a:solidFill>
          <a:ln w="9525">
            <a:solidFill>
              <a:srgbClr val="1B365D"/>
            </a:solidFill>
            <a:prstDash val="solid"/>
          </a:ln>
        </p:spPr>
      </p:sp>
      <p:sp>
        <p:nvSpPr>
          <p:cNvPr id="4" name="Shape 2"/>
          <p:cNvSpPr/>
          <p:nvPr/>
        </p:nvSpPr>
        <p:spPr>
          <a:xfrm>
            <a:off x="7242048" y="4754880"/>
            <a:ext cx="0" cy="278892"/>
          </a:xfrm>
          <a:prstGeom prst="line">
            <a:avLst/>
          </a:prstGeom>
          <a:noFill/>
          <a:ln w="9525">
            <a:solidFill>
              <a:srgbClr val="1B365D"/>
            </a:solidFill>
            <a:prstDash val="solid"/>
          </a:ln>
        </p:spPr>
      </p:sp>
      <p:sp>
        <p:nvSpPr>
          <p:cNvPr id="5" name="Shape 3"/>
          <p:cNvSpPr/>
          <p:nvPr/>
        </p:nvSpPr>
        <p:spPr>
          <a:xfrm>
            <a:off x="8503920" y="4754880"/>
            <a:ext cx="0" cy="278892"/>
          </a:xfrm>
          <a:prstGeom prst="line">
            <a:avLst/>
          </a:prstGeom>
          <a:noFill/>
          <a:ln w="9525">
            <a:solidFill>
              <a:srgbClr val="1B365D"/>
            </a:solidFill>
            <a:prstDash val="solid"/>
          </a:ln>
        </p:spPr>
      </p:sp>
      <p:pic>
        <p:nvPicPr>
          <p:cNvPr id="6" name="Image 0" descr="preencoded.png">    </p:cNvPr>
          <p:cNvPicPr>
            <a:picLocks noChangeAspect="1"/>
          </p:cNvPicPr>
          <p:nvPr/>
        </p:nvPicPr>
        <p:blipFill>
          <a:blip r:embed="rId1"/>
          <a:stretch>
            <a:fillRect/>
          </a:stretch>
        </p:blipFill>
        <p:spPr>
          <a:xfrm>
            <a:off x="7438644" y="4802429"/>
            <a:ext cx="868680" cy="186146"/>
          </a:xfrm>
          <a:prstGeom prst="rect">
            <a:avLst/>
          </a:prstGeom>
        </p:spPr>
      </p:pic>
      <p:sp>
        <p:nvSpPr>
          <p:cNvPr id="7" name="Text 4"/>
          <p:cNvSpPr/>
          <p:nvPr/>
        </p:nvSpPr>
        <p:spPr>
          <a:xfrm>
            <a:off x="365760" y="4773168"/>
            <a:ext cx="3200400" cy="237744"/>
          </a:xfrm>
          <a:prstGeom prst="rect">
            <a:avLst/>
          </a:prstGeom>
          <a:noFill/>
          <a:ln/>
        </p:spPr>
        <p:txBody>
          <a:bodyPr wrap="square" lIns="0" tIns="0" rIns="0" bIns="0" rtlCol="0" anchor="ctr"/>
          <a:lstStyle/>
          <a:p>
            <a:pPr indent="0" marL="0">
              <a:buNone/>
            </a:pPr>
            <a:r>
              <a:rPr lang="en-US" sz="800" dirty="0">
                <a:solidFill>
                  <a:srgbClr val="7B8794"/>
                </a:solidFill>
                <a:latin typeface="BIZ UDPGothic" pitchFamily="34" charset="0"/>
                <a:ea typeface="BIZ UDPGothic" pitchFamily="34" charset="-122"/>
                <a:cs typeface="BIZ UDPGothic" pitchFamily="34" charset="-120"/>
              </a:rPr>
              <a:t>現場の勘を、次の担い手へ。</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T_COVER">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9728" y="109728"/>
            <a:ext cx="8924544" cy="4924044"/>
          </a:xfrm>
          <a:prstGeom prst="rect">
            <a:avLst/>
          </a:prstGeom>
          <a:solidFill>
            <a:srgbClr val="FFFFFF">
              <a:alpha val="0"/>
            </a:srgbClr>
          </a:solidFill>
          <a:ln w="9525">
            <a:solidFill>
              <a:srgbClr val="1B365D"/>
            </a:solidFill>
            <a:prstDash val="solid"/>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411480" y="347472"/>
            <a:ext cx="1737360" cy="372291"/>
          </a:xfrm>
          <a:prstGeom prst="rect">
            <a:avLst/>
          </a:prstGeom>
        </p:spPr>
      </p:pic>
      <p:sp>
        <p:nvSpPr>
          <p:cNvPr id="4" name="Text 0"/>
          <p:cNvSpPr txBox="1"/>
          <p:nvPr/>
        </p:nvSpPr>
        <p:spPr>
          <a:xfrm>
            <a:off x="411480" y="822960"/>
            <a:ext cx="5120640" cy="237744"/>
          </a:xfrm>
          <a:prstGeom prst="rect">
            <a:avLst/>
          </a:prstGeom>
          <a:noFill/>
          <a:ln/>
        </p:spPr>
        <p:txBody>
          <a:bodyPr wrap="square" lIns="0" tIns="0" rIns="0" bIns="0" rtlCol="0" anchor="t"/>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事業計画書　別冊（質問用）</a:t>
            </a:r>
            <a:endParaRPr lang="en-US" sz="1050" dirty="0"/>
          </a:p>
        </p:txBody>
      </p:sp>
      <p:sp>
        <p:nvSpPr>
          <p:cNvPr id="5" name="Text 1"/>
          <p:cNvSpPr txBox="1"/>
          <p:nvPr/>
        </p:nvSpPr>
        <p:spPr>
          <a:xfrm>
            <a:off x="411480" y="1060704"/>
            <a:ext cx="5120640" cy="548640"/>
          </a:xfrm>
          <a:prstGeom prst="rect">
            <a:avLst/>
          </a:prstGeom>
          <a:noFill/>
          <a:ln/>
        </p:spPr>
        <p:txBody>
          <a:bodyPr wrap="square" lIns="0" tIns="0" rIns="0" bIns="0" rtlCol="0" anchor="ctr"/>
          <a:lstStyle/>
          <a:p>
            <a:pPr algn="l" indent="0" marL="0">
              <a:lnSpc>
                <a:spcPct val="115000"/>
              </a:lnSpc>
              <a:buNone/>
            </a:pPr>
            <a:r>
              <a:rPr lang="en-US" sz="2600" b="1" dirty="0">
                <a:solidFill>
                  <a:srgbClr val="1B365D"/>
                </a:solidFill>
                <a:latin typeface="BIZ UDPGothic" pitchFamily="34" charset="0"/>
                <a:ea typeface="BIZ UDPGothic" pitchFamily="34" charset="-122"/>
                <a:cs typeface="BIZ UDPGothic" pitchFamily="34" charset="-120"/>
              </a:rPr>
              <a:t>計算詳細版</a:t>
            </a:r>
            <a:endParaRPr lang="en-US" sz="2600" dirty="0"/>
          </a:p>
        </p:txBody>
      </p:sp>
      <p:sp>
        <p:nvSpPr>
          <p:cNvPr id="6" name="Text 2"/>
          <p:cNvSpPr txBox="1"/>
          <p:nvPr/>
        </p:nvSpPr>
        <p:spPr>
          <a:xfrm>
            <a:off x="411480" y="1645920"/>
            <a:ext cx="5120640" cy="457200"/>
          </a:xfrm>
          <a:prstGeom prst="rect">
            <a:avLst/>
          </a:prstGeom>
          <a:noFill/>
          <a:ln/>
        </p:spPr>
        <p:txBody>
          <a:bodyPr wrap="square" lIns="0" tIns="0" rIns="0" bIns="0" rtlCol="0" anchor="t"/>
          <a:lstStyle/>
          <a:p>
            <a:pPr algn="l" indent="0" marL="0">
              <a:lnSpc>
                <a:spcPct val="115000"/>
              </a:lnSpc>
              <a:buNone/>
            </a:pPr>
            <a:r>
              <a:rPr lang="en-US" sz="1050" dirty="0">
                <a:solidFill>
                  <a:srgbClr val="1F2933"/>
                </a:solidFill>
                <a:latin typeface="BIZ UDPGothic" pitchFamily="34" charset="0"/>
                <a:ea typeface="BIZ UDPGothic" pitchFamily="34" charset="-122"/>
                <a:cs typeface="BIZ UDPGothic" pitchFamily="34" charset="-120"/>
              </a:rPr>
              <a:t>本編の数字の、式と前提と出典をまとめた。質問されたら、本編の右上に書いたページを開く</a:t>
            </a:r>
            <a:endParaRPr lang="en-US" sz="1050" dirty="0"/>
          </a:p>
        </p:txBody>
      </p:sp>
      <p:sp>
        <p:nvSpPr>
          <p:cNvPr id="7" name="Shape 3"/>
          <p:cNvSpPr/>
          <p:nvPr/>
        </p:nvSpPr>
        <p:spPr>
          <a:xfrm>
            <a:off x="411480" y="2212848"/>
            <a:ext cx="8321040" cy="0"/>
          </a:xfrm>
          <a:prstGeom prst="line">
            <a:avLst/>
          </a:prstGeom>
          <a:noFill/>
          <a:ln w="15875">
            <a:solidFill>
              <a:srgbClr val="1B365D"/>
            </a:solidFill>
            <a:prstDash val="solid"/>
          </a:ln>
        </p:spPr>
      </p:sp>
      <p:graphicFrame>
        <p:nvGraphicFramePr>
          <p:cNvPr id="2" name="toc"/>
          <p:cNvGraphicFramePr>
            <a:graphicFrameLocks noGrp="1"/>
          </p:cNvGraphicFramePr>
          <p:nvPr>
            <p:extLst>
              <p:ext uri="{D42A27DB-BD31-4B8C-83A1-F6EECF244321}">
                <p14:modId xmlns:p14="http://schemas.microsoft.com/office/powerpoint/2010/main" val="1579011935"/>
              </p:ext>
            </p:extLst>
          </p:nvPr>
        </p:nvGraphicFramePr>
        <p:xfrm>
          <a:off x="411480" y="2359152"/>
          <a:ext cx="5120640" cy="914400"/>
        </p:xfrm>
        <a:graphic>
          <a:graphicData uri="http://schemas.openxmlformats.org/drawingml/2006/table">
            <a:tbl>
              <a:tblPr/>
              <a:tblGrid>
                <a:gridCol w="731520"/>
                <a:gridCol w="4389120"/>
              </a:tblGrid>
              <a:tr h="283464">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頁</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中身</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83464">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3〜4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数字の木・前提と懸念の一覧</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5〜8</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お客様の効果：人件費・削減時間・手戻り・元が取れる条件</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9〜13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値段と原価：内訳・台数・AIの費用・粗利率・導入支援</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14〜23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売上・費用・チーム・収支・損益分岐点・LTV・崩れたとき・資金</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24〜29</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市場・ターゲット・グラスと実証・データ基盤・AIの学習・リース</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30〜32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10年の延長・厳しい質問・出典</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Shape 4"/>
          <p:cNvSpPr/>
          <p:nvPr/>
        </p:nvSpPr>
        <p:spPr>
          <a:xfrm>
            <a:off x="5806440" y="2359152"/>
            <a:ext cx="2926080" cy="1463040"/>
          </a:xfrm>
          <a:prstGeom prst="rect">
            <a:avLst/>
          </a:prstGeom>
          <a:solidFill>
            <a:srgbClr val="EAF0F6"/>
          </a:solidFill>
          <a:ln/>
        </p:spPr>
      </p:sp>
      <p:sp>
        <p:nvSpPr>
          <p:cNvPr id="10" name="Text 5"/>
          <p:cNvSpPr txBox="1"/>
          <p:nvPr/>
        </p:nvSpPr>
        <p:spPr>
          <a:xfrm>
            <a:off x="5916168" y="2395728"/>
            <a:ext cx="2706624" cy="1389888"/>
          </a:xfrm>
          <a:prstGeom prst="rect">
            <a:avLst/>
          </a:prstGeom>
          <a:noFill/>
          <a:ln/>
        </p:spPr>
        <p:txBody>
          <a:bodyPr wrap="square" lIns="0" tIns="0" rIns="0" bIns="0" rtlCol="0" anchor="ctr"/>
          <a:lstStyle/>
          <a:p>
            <a:pPr algn="l" indent="0" marL="0">
              <a:lnSpc>
                <a:spcPct val="115000"/>
              </a:lnSpc>
              <a:spcAft>
                <a:spcPts val="300"/>
              </a:spcAft>
              <a:buNone/>
            </a:pPr>
            <a:r>
              <a:rPr lang="en-US" sz="900" b="1" dirty="0">
                <a:solidFill>
                  <a:srgbClr val="1B365D"/>
                </a:solidFill>
                <a:latin typeface="BIZ UDPGothic" pitchFamily="34" charset="0"/>
                <a:ea typeface="BIZ UDPGothic" pitchFamily="34" charset="-122"/>
                <a:cs typeface="BIZ UDPGothic" pitchFamily="34" charset="-120"/>
              </a:rPr>
              <a:t>二段構え</a:t>
            </a:r>
            <a:endParaRPr lang="en-US" sz="900" dirty="0"/>
          </a:p>
          <a:p>
            <a:pPr algn="l" indent="0" marL="0">
              <a:lnSpc>
                <a:spcPct val="115000"/>
              </a:lnSpc>
              <a:spcAft>
                <a:spcPts val="300"/>
              </a:spcAft>
              <a:buNone/>
            </a:pPr>
            <a:r>
              <a:rPr lang="en-US" sz="900" dirty="0">
                <a:solidFill>
                  <a:srgbClr val="1F2933"/>
                </a:solidFill>
                <a:latin typeface="BIZ UDPGothic" pitchFamily="34" charset="0"/>
                <a:ea typeface="BIZ UDPGothic" pitchFamily="34" charset="-122"/>
                <a:cs typeface="BIZ UDPGothic" pitchFamily="34" charset="-120"/>
              </a:rPr>
              <a:t>本編：結論と一行の式</a:t>
            </a:r>
            <a:endParaRPr lang="en-US" sz="900" dirty="0"/>
          </a:p>
          <a:p>
            <a:pPr algn="l" indent="0" marL="0">
              <a:lnSpc>
                <a:spcPct val="115000"/>
              </a:lnSpc>
              <a:spcAft>
                <a:spcPts val="300"/>
              </a:spcAft>
              <a:buNone/>
            </a:pPr>
            <a:r>
              <a:rPr lang="en-US" sz="900" dirty="0">
                <a:solidFill>
                  <a:srgbClr val="1F2933"/>
                </a:solidFill>
                <a:latin typeface="BIZ UDPGothic" pitchFamily="34" charset="0"/>
                <a:ea typeface="BIZ UDPGothic" pitchFamily="34" charset="-122"/>
                <a:cs typeface="BIZ UDPGothic" pitchFamily="34" charset="-120"/>
              </a:rPr>
              <a:t>この資料：計算の過程・前提・出典</a:t>
            </a:r>
            <a:endParaRPr lang="en-US" sz="900" dirty="0"/>
          </a:p>
          <a:p>
            <a:pPr algn="l" indent="0" marL="0">
              <a:lnSpc>
                <a:spcPct val="115000"/>
              </a:lnSpc>
              <a:spcAft>
                <a:spcPts val="300"/>
              </a:spcAft>
              <a:buNone/>
            </a:pPr>
            <a:r>
              <a:rPr lang="en-US" sz="900" dirty="0">
                <a:solidFill>
                  <a:srgbClr val="4A5563"/>
                </a:solidFill>
                <a:latin typeface="BIZ UDPGothic" pitchFamily="34" charset="0"/>
                <a:ea typeface="BIZ UDPGothic" pitchFamily="34" charset="-122"/>
                <a:cs typeface="BIZ UDPGothic" pitchFamily="34" charset="-120"/>
              </a:rPr>
              <a:t>数字はすべて一つの計算モデル（tora_v2.js）から出しているので、どのページで聞かれても同じ数字になる</a:t>
            </a:r>
            <a:endParaRPr lang="en-US" sz="900" dirty="0"/>
          </a:p>
        </p:txBody>
      </p:sp>
      <p:sp>
        <p:nvSpPr>
          <p:cNvPr id="11" name="Shape 6"/>
          <p:cNvSpPr/>
          <p:nvPr/>
        </p:nvSpPr>
        <p:spPr>
          <a:xfrm>
            <a:off x="5806440" y="3931920"/>
            <a:ext cx="2926080" cy="566928"/>
          </a:xfrm>
          <a:prstGeom prst="rect">
            <a:avLst/>
          </a:prstGeom>
          <a:solidFill>
            <a:srgbClr val="FFF4C2"/>
          </a:solidFill>
          <a:ln/>
        </p:spPr>
      </p:sp>
      <p:sp>
        <p:nvSpPr>
          <p:cNvPr id="12" name="Text 7"/>
          <p:cNvSpPr txBox="1"/>
          <p:nvPr/>
        </p:nvSpPr>
        <p:spPr>
          <a:xfrm>
            <a:off x="5897880" y="3931920"/>
            <a:ext cx="2743200" cy="566928"/>
          </a:xfrm>
          <a:prstGeom prst="rect">
            <a:avLst/>
          </a:prstGeom>
          <a:noFill/>
          <a:ln/>
        </p:spPr>
        <p:txBody>
          <a:bodyPr wrap="square" lIns="0" tIns="0" rIns="0" bIns="0" rtlCol="0" anchor="ctr"/>
          <a:lstStyle/>
          <a:p>
            <a:pPr algn="l" indent="0" marL="0">
              <a:lnSpc>
                <a:spcPct val="115000"/>
              </a:lnSpc>
              <a:buNone/>
            </a:pPr>
            <a:r>
              <a:rPr lang="en-US" sz="850" b="1" dirty="0">
                <a:solidFill>
                  <a:srgbClr val="1B365D"/>
                </a:solidFill>
                <a:latin typeface="BIZ UDPGothic" pitchFamily="34" charset="0"/>
                <a:ea typeface="BIZ UDPGothic" pitchFamily="34" charset="-122"/>
                <a:cs typeface="BIZ UDPGothic" pitchFamily="34" charset="-120"/>
              </a:rPr>
              <a:t>答え方：</a:t>
            </a:r>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数字 → 式 → 前提の順。前提が仮説なら「実証で測ります」と答える</a:t>
            </a:r>
            <a:endParaRPr lang="en-US" sz="850" dirty="0"/>
          </a:p>
        </p:txBody>
      </p:sp>
      <p:sp>
        <p:nvSpPr>
          <p:cNvPr id="13" name="Shape 8"/>
          <p:cNvSpPr/>
          <p:nvPr/>
        </p:nvSpPr>
        <p:spPr>
          <a:xfrm>
            <a:off x="6035040" y="4754880"/>
            <a:ext cx="2999232" cy="278892"/>
          </a:xfrm>
          <a:prstGeom prst="rect">
            <a:avLst/>
          </a:prstGeom>
          <a:solidFill>
            <a:srgbClr val="FFFFFF"/>
          </a:solidFill>
          <a:ln w="9525">
            <a:solidFill>
              <a:srgbClr val="1B365D"/>
            </a:solidFill>
            <a:prstDash val="solid"/>
          </a:ln>
        </p:spPr>
      </p:sp>
      <p:sp>
        <p:nvSpPr>
          <p:cNvPr id="14" name="Text 9"/>
          <p:cNvSpPr txBox="1"/>
          <p:nvPr/>
        </p:nvSpPr>
        <p:spPr>
          <a:xfrm>
            <a:off x="6108192" y="4754880"/>
            <a:ext cx="2377440" cy="278892"/>
          </a:xfrm>
          <a:prstGeom prst="rect">
            <a:avLst/>
          </a:prstGeom>
          <a:noFill/>
          <a:ln/>
        </p:spPr>
        <p:txBody>
          <a:bodyPr wrap="square" lIns="0" tIns="0" rIns="0" bIns="0" rtlCol="0" anchor="ctr"/>
          <a:lstStyle/>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件名 </a:t>
            </a:r>
            <a:pPr algn="l" indent="0" marL="0">
              <a:lnSpc>
                <a:spcPct val="115000"/>
              </a:lnSpc>
              <a:buNone/>
            </a:pPr>
            <a:r>
              <a:rPr lang="en-US" sz="800" b="1" dirty="0">
                <a:solidFill>
                  <a:srgbClr val="1B365D"/>
                </a:solidFill>
                <a:latin typeface="BIZ UDPGothic" pitchFamily="34" charset="0"/>
                <a:ea typeface="BIZ UDPGothic" pitchFamily="34" charset="-122"/>
                <a:cs typeface="BIZ UDPGothic" pitchFamily="34" charset="-120"/>
              </a:rPr>
              <a:t>カンツギ 事業計画書 計算詳細版</a:t>
            </a:r>
            <a:endParaRPr lang="en-US" sz="800" dirty="0"/>
          </a:p>
        </p:txBody>
      </p:sp>
      <p:sp>
        <p:nvSpPr>
          <p:cNvPr id="15" name="Text 10"/>
          <p:cNvSpPr txBox="1"/>
          <p:nvPr/>
        </p:nvSpPr>
        <p:spPr>
          <a:xfrm>
            <a:off x="8503920" y="4754880"/>
            <a:ext cx="530352" cy="278892"/>
          </a:xfrm>
          <a:prstGeom prst="rect">
            <a:avLst/>
          </a:prstGeom>
          <a:noFill/>
          <a:ln/>
        </p:spPr>
        <p:txBody>
          <a:bodyPr wrap="square" lIns="0" tIns="0" rIns="0" bIns="0" rtlCol="0" anchor="ctr"/>
          <a:lstStyle/>
          <a:p>
            <a:pPr algn="ctr" indent="0" marL="0">
              <a:lnSpc>
                <a:spcPct val="115000"/>
              </a:lnSpc>
              <a:buNone/>
            </a:pPr>
            <a:r>
              <a:rPr lang="en-US" sz="900" b="1" dirty="0">
                <a:solidFill>
                  <a:srgbClr val="1B365D"/>
                </a:solidFill>
                <a:latin typeface="BIZ UDPGothic" pitchFamily="34" charset="0"/>
                <a:ea typeface="BIZ UDPGothic" pitchFamily="34" charset="-122"/>
                <a:cs typeface="BIZ UDPGothic" pitchFamily="34" charset="-120"/>
              </a:rPr>
              <a:t>1／32</a:t>
            </a:r>
            <a:endParaRPr lang="en-US" sz="900" dirty="0"/>
          </a:p>
        </p:txBody>
      </p:sp>
      <p:sp>
        <p:nvSpPr>
          <p:cNvPr id="16" name="Shape 11"/>
          <p:cNvSpPr/>
          <p:nvPr/>
        </p:nvSpPr>
        <p:spPr>
          <a:xfrm>
            <a:off x="8503920" y="4754880"/>
            <a:ext cx="0" cy="278892"/>
          </a:xfrm>
          <a:prstGeom prst="line">
            <a:avLst/>
          </a:prstGeom>
          <a:noFill/>
          <a:ln w="9525">
            <a:solidFill>
              <a:srgbClr val="1B365D"/>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対応表</a:t>
            </a:r>
            <a:endParaRPr lang="en-US" sz="750" dirty="0"/>
          </a:p>
        </p:txBody>
      </p:sp>
      <p:sp>
        <p:nvSpPr>
          <p:cNvPr id="4"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本編との対応表：この数字は、どこで計算しているか</a:t>
            </a:r>
            <a:endParaRPr lang="en-US" sz="1850" dirty="0"/>
          </a:p>
        </p:txBody>
      </p:sp>
      <p:sp>
        <p:nvSpPr>
          <p:cNvPr id="5"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本編の右上にも同じページ番号を書いている</a:t>
            </a:r>
            <a:endParaRPr lang="en-US" sz="1050" dirty="0"/>
          </a:p>
        </p:txBody>
      </p:sp>
      <p:sp>
        <p:nvSpPr>
          <p:cNvPr id="6" name="Shape 3"/>
          <p:cNvSpPr/>
          <p:nvPr/>
        </p:nvSpPr>
        <p:spPr>
          <a:xfrm>
            <a:off x="365760" y="950976"/>
            <a:ext cx="8412480" cy="0"/>
          </a:xfrm>
          <a:prstGeom prst="line">
            <a:avLst/>
          </a:prstGeom>
          <a:noFill/>
          <a:ln w="15875">
            <a:solidFill>
              <a:srgbClr val="1B365D"/>
            </a:solidFill>
            <a:prstDash val="solid"/>
          </a:ln>
        </p:spPr>
      </p:sp>
      <p:graphicFrame>
        <p:nvGraphicFramePr>
          <p:cNvPr id="3" name="map"/>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2011680"/>
                <a:gridCol w="5212080"/>
                <a:gridCol w="1188720"/>
              </a:tblGrid>
              <a:tr h="283464">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本編</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本編で言う数字</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詳細版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p.9 導入効果</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1拠点10台で年約499万円・支払いの約1.5倍・元が取れるのは1台1日23分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p.5〜8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p.13 端末と使い方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1班に1台・職長。AIグラス8台＋表示付き2台、リース年約32万円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p.10・26・29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p.16 スタッフ</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5年目23人。役割別の年収×1.2＋採用費</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p.17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p.20〜21 ビジネス・収益モデル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年300万円・導入支援200万円。粗利 年216万円（72%）、LTV約1,571万円・CAC約86万円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p.9〜13・20・27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p.22 売り方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条件に合う約180社 → 5年で約85拠点（解約を引いて81拠点）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p.25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p.23 売上予測</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5年目の売上 約269百万円、解約は年10%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p.14〜16・18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p.24 損益分岐点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5年目は分岐点の約94%。社員1人約4拠点が目安</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p.19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p.25 資金計画</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自己資金 約2.55億円。現金の谷 約6,700万円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p.23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p.26 黒字化の条件</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10台のままでは黒字にならない。15台なら計画の6割でも5年目に黒字</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p.21〜22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p.18 市場規模</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ターゲット市場 約141億円、5年目 約2.43億円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p.24</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8" name="Shape 4"/>
          <p:cNvSpPr/>
          <p:nvPr/>
        </p:nvSpPr>
        <p:spPr>
          <a:xfrm>
            <a:off x="365760" y="4206240"/>
            <a:ext cx="8412480" cy="292608"/>
          </a:xfrm>
          <a:prstGeom prst="rect">
            <a:avLst/>
          </a:prstGeom>
          <a:solidFill>
            <a:srgbClr val="1B365D"/>
          </a:solidFill>
          <a:ln/>
        </p:spPr>
      </p:sp>
      <p:sp>
        <p:nvSpPr>
          <p:cNvPr id="9" name="Text 5"/>
          <p:cNvSpPr txBox="1"/>
          <p:nvPr/>
        </p:nvSpPr>
        <p:spPr>
          <a:xfrm>
            <a:off x="502920" y="4206240"/>
            <a:ext cx="8138160" cy="29260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F5C400"/>
                </a:solidFill>
                <a:latin typeface="BIZ UDPGothic" pitchFamily="34" charset="0"/>
                <a:ea typeface="BIZ UDPGothic" pitchFamily="34" charset="-122"/>
                <a:cs typeface="BIZ UDPGothic" pitchFamily="34" charset="-120"/>
              </a:rPr>
              <a:t>答え方：</a:t>
            </a:r>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数字 → 式 → 前提の順。前提が仮説なら「実証で測ります」と言い切る</a:t>
            </a:r>
            <a:endParaRPr lang="en-US" sz="9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数字の木・前提</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p.23〜24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数字の木：5年目の営業損益 約▲1,120万円を分解する</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どの数字を聞かれても、この木のどこかを指せば答えられる（単位：百万円）</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sp>
        <p:nvSpPr>
          <p:cNvPr id="8" name="Shape 5"/>
          <p:cNvSpPr/>
          <p:nvPr/>
        </p:nvSpPr>
        <p:spPr>
          <a:xfrm>
            <a:off x="365760" y="2377440"/>
            <a:ext cx="1600200" cy="566928"/>
          </a:xfrm>
          <a:prstGeom prst="rect">
            <a:avLst/>
          </a:prstGeom>
          <a:solidFill>
            <a:srgbClr val="1B365D"/>
          </a:solidFill>
          <a:ln/>
        </p:spPr>
      </p:sp>
      <p:sp>
        <p:nvSpPr>
          <p:cNvPr id="9" name="Text 6"/>
          <p:cNvSpPr txBox="1"/>
          <p:nvPr/>
        </p:nvSpPr>
        <p:spPr>
          <a:xfrm>
            <a:off x="438912" y="2395728"/>
            <a:ext cx="1453896" cy="292608"/>
          </a:xfrm>
          <a:prstGeom prst="rect">
            <a:avLst/>
          </a:prstGeom>
          <a:noFill/>
          <a:ln/>
        </p:spPr>
        <p:txBody>
          <a:bodyPr wrap="square" lIns="0" tIns="0" rIns="0" bIns="0" rtlCol="0" anchor="ctr"/>
          <a:lstStyle/>
          <a:p>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営業損益  </a:t>
            </a:r>
            <a:pPr algn="l" indent="0" marL="0">
              <a:lnSpc>
                <a:spcPct val="115000"/>
              </a:lnSpc>
              <a:buNone/>
            </a:pPr>
            <a:r>
              <a:rPr lang="en-US" sz="1300" b="1" dirty="0">
                <a:solidFill>
                  <a:srgbClr val="F5C400"/>
                </a:solidFill>
                <a:latin typeface="BIZ UDPGothic" pitchFamily="34" charset="0"/>
                <a:ea typeface="BIZ UDPGothic" pitchFamily="34" charset="-122"/>
                <a:cs typeface="BIZ UDPGothic" pitchFamily="34" charset="-120"/>
              </a:rPr>
              <a:t>-11.2</a:t>
            </a:r>
            <a:endParaRPr lang="en-US" sz="1100" dirty="0"/>
          </a:p>
        </p:txBody>
      </p:sp>
      <p:sp>
        <p:nvSpPr>
          <p:cNvPr id="10" name="Text 7"/>
          <p:cNvSpPr txBox="1"/>
          <p:nvPr/>
        </p:nvSpPr>
        <p:spPr>
          <a:xfrm>
            <a:off x="438912" y="2679192"/>
            <a:ext cx="1453896" cy="237744"/>
          </a:xfrm>
          <a:prstGeom prst="rect">
            <a:avLst/>
          </a:prstGeom>
          <a:noFill/>
          <a:ln/>
        </p:spPr>
        <p:txBody>
          <a:bodyPr wrap="square" lIns="0" tIns="0" rIns="0" bIns="0" rtlCol="0" anchor="ctr"/>
          <a:lstStyle/>
          <a:p>
            <a:pPr algn="l" indent="0" marL="0">
              <a:lnSpc>
                <a:spcPct val="115000"/>
              </a:lnSpc>
              <a:buNone/>
            </a:pPr>
            <a:r>
              <a:rPr lang="en-US" sz="750" dirty="0">
                <a:solidFill>
                  <a:srgbClr val="FFFFFF"/>
                </a:solidFill>
                <a:latin typeface="BIZ UDPGothic" pitchFamily="34" charset="0"/>
                <a:ea typeface="BIZ UDPGothic" pitchFamily="34" charset="-122"/>
                <a:cs typeface="BIZ UDPGothic" pitchFamily="34" charset="-120"/>
              </a:rPr>
              <a:t>粗利 − 販管費</a:t>
            </a:r>
            <a:endParaRPr lang="en-US" sz="750" dirty="0"/>
          </a:p>
        </p:txBody>
      </p:sp>
      <p:sp>
        <p:nvSpPr>
          <p:cNvPr id="11" name="Shape 8"/>
          <p:cNvSpPr/>
          <p:nvPr/>
        </p:nvSpPr>
        <p:spPr>
          <a:xfrm>
            <a:off x="2240280" y="1325880"/>
            <a:ext cx="1737360" cy="566928"/>
          </a:xfrm>
          <a:prstGeom prst="rect">
            <a:avLst/>
          </a:prstGeom>
          <a:solidFill>
            <a:srgbClr val="EAF0F6"/>
          </a:solidFill>
          <a:ln/>
        </p:spPr>
      </p:sp>
      <p:sp>
        <p:nvSpPr>
          <p:cNvPr id="12" name="Text 9"/>
          <p:cNvSpPr txBox="1"/>
          <p:nvPr/>
        </p:nvSpPr>
        <p:spPr>
          <a:xfrm>
            <a:off x="2313432" y="1344168"/>
            <a:ext cx="1591056" cy="292608"/>
          </a:xfrm>
          <a:prstGeom prst="rect">
            <a:avLst/>
          </a:prstGeom>
          <a:noFill/>
          <a:ln/>
        </p:spPr>
        <p:txBody>
          <a:bodyPr wrap="square" lIns="0" tIns="0" rIns="0" bIns="0" rtlCol="0" anchor="ctr"/>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粗利  </a:t>
            </a:r>
            <a:pPr algn="l" indent="0" marL="0">
              <a:lnSpc>
                <a:spcPct val="115000"/>
              </a:lnSpc>
              <a:buNone/>
            </a:pPr>
            <a:r>
              <a:rPr lang="en-US" sz="1300" b="1" dirty="0">
                <a:solidFill>
                  <a:srgbClr val="1B365D"/>
                </a:solidFill>
                <a:latin typeface="BIZ UDPGothic" pitchFamily="34" charset="0"/>
                <a:ea typeface="BIZ UDPGothic" pitchFamily="34" charset="-122"/>
                <a:cs typeface="BIZ UDPGothic" pitchFamily="34" charset="-120"/>
              </a:rPr>
              <a:t>162.0</a:t>
            </a:r>
            <a:endParaRPr lang="en-US" sz="1100" dirty="0"/>
          </a:p>
        </p:txBody>
      </p:sp>
      <p:sp>
        <p:nvSpPr>
          <p:cNvPr id="13" name="Text 10"/>
          <p:cNvSpPr txBox="1"/>
          <p:nvPr/>
        </p:nvSpPr>
        <p:spPr>
          <a:xfrm>
            <a:off x="2313432" y="1627632"/>
            <a:ext cx="1591056" cy="237744"/>
          </a:xfrm>
          <a:prstGeom prst="rect">
            <a:avLst/>
          </a:prstGeom>
          <a:noFill/>
          <a:ln/>
        </p:spPr>
        <p:txBody>
          <a:bodyPr wrap="square" lIns="0" tIns="0" rIns="0" bIns="0" rtlCol="0" anchor="ctr"/>
          <a:lstStyle/>
          <a:p>
            <a:pPr algn="l" indent="0" marL="0">
              <a:lnSpc>
                <a:spcPct val="115000"/>
              </a:lnSpc>
              <a:buNone/>
            </a:pPr>
            <a:r>
              <a:rPr lang="en-US" sz="750" dirty="0">
                <a:solidFill>
                  <a:srgbClr val="4A5563"/>
                </a:solidFill>
                <a:latin typeface="BIZ UDPGothic" pitchFamily="34" charset="0"/>
                <a:ea typeface="BIZ UDPGothic" pitchFamily="34" charset="-122"/>
                <a:cs typeface="BIZ UDPGothic" pitchFamily="34" charset="-120"/>
              </a:rPr>
              <a:t>利用料の粗利＋サービスの粗利</a:t>
            </a:r>
            <a:endParaRPr lang="en-US" sz="750" dirty="0"/>
          </a:p>
        </p:txBody>
      </p:sp>
      <p:sp>
        <p:nvSpPr>
          <p:cNvPr id="14" name="Shape 11"/>
          <p:cNvSpPr/>
          <p:nvPr/>
        </p:nvSpPr>
        <p:spPr>
          <a:xfrm>
            <a:off x="2240280" y="3429000"/>
            <a:ext cx="1737360" cy="566928"/>
          </a:xfrm>
          <a:prstGeom prst="rect">
            <a:avLst/>
          </a:prstGeom>
          <a:solidFill>
            <a:srgbClr val="EAF0F6"/>
          </a:solidFill>
          <a:ln/>
        </p:spPr>
      </p:sp>
      <p:sp>
        <p:nvSpPr>
          <p:cNvPr id="15" name="Text 12"/>
          <p:cNvSpPr txBox="1"/>
          <p:nvPr/>
        </p:nvSpPr>
        <p:spPr>
          <a:xfrm>
            <a:off x="2313432" y="3447288"/>
            <a:ext cx="1591056" cy="292608"/>
          </a:xfrm>
          <a:prstGeom prst="rect">
            <a:avLst/>
          </a:prstGeom>
          <a:noFill/>
          <a:ln/>
        </p:spPr>
        <p:txBody>
          <a:bodyPr wrap="square" lIns="0" tIns="0" rIns="0" bIns="0" rtlCol="0" anchor="ctr"/>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販管費  </a:t>
            </a:r>
            <a:pPr algn="l" indent="0" marL="0">
              <a:lnSpc>
                <a:spcPct val="115000"/>
              </a:lnSpc>
              <a:buNone/>
            </a:pPr>
            <a:r>
              <a:rPr lang="en-US" sz="1300" b="1" dirty="0">
                <a:solidFill>
                  <a:srgbClr val="1B365D"/>
                </a:solidFill>
                <a:latin typeface="BIZ UDPGothic" pitchFamily="34" charset="0"/>
                <a:ea typeface="BIZ UDPGothic" pitchFamily="34" charset="-122"/>
                <a:cs typeface="BIZ UDPGothic" pitchFamily="34" charset="-120"/>
              </a:rPr>
              <a:t>173.1</a:t>
            </a:r>
            <a:endParaRPr lang="en-US" sz="1100" dirty="0"/>
          </a:p>
        </p:txBody>
      </p:sp>
      <p:sp>
        <p:nvSpPr>
          <p:cNvPr id="16" name="Text 13"/>
          <p:cNvSpPr txBox="1"/>
          <p:nvPr/>
        </p:nvSpPr>
        <p:spPr>
          <a:xfrm>
            <a:off x="2313432" y="3730752"/>
            <a:ext cx="1591056" cy="237744"/>
          </a:xfrm>
          <a:prstGeom prst="rect">
            <a:avLst/>
          </a:prstGeom>
          <a:noFill/>
          <a:ln/>
        </p:spPr>
        <p:txBody>
          <a:bodyPr wrap="square" lIns="0" tIns="0" rIns="0" bIns="0" rtlCol="0" anchor="ctr"/>
          <a:lstStyle/>
          <a:p>
            <a:pPr algn="l" indent="0" marL="0">
              <a:lnSpc>
                <a:spcPct val="115000"/>
              </a:lnSpc>
              <a:buNone/>
            </a:pPr>
            <a:r>
              <a:rPr lang="en-US" sz="750" dirty="0">
                <a:solidFill>
                  <a:srgbClr val="4A5563"/>
                </a:solidFill>
                <a:latin typeface="BIZ UDPGothic" pitchFamily="34" charset="0"/>
                <a:ea typeface="BIZ UDPGothic" pitchFamily="34" charset="-122"/>
                <a:cs typeface="BIZ UDPGothic" pitchFamily="34" charset="-120"/>
              </a:rPr>
              <a:t>人件費−振替＋採用費＋その他</a:t>
            </a:r>
            <a:endParaRPr lang="en-US" sz="750" dirty="0"/>
          </a:p>
        </p:txBody>
      </p:sp>
      <p:sp>
        <p:nvSpPr>
          <p:cNvPr id="17" name="Shape 14"/>
          <p:cNvSpPr/>
          <p:nvPr/>
        </p:nvSpPr>
        <p:spPr>
          <a:xfrm>
            <a:off x="4251960" y="1024128"/>
            <a:ext cx="2103120" cy="566928"/>
          </a:xfrm>
          <a:prstGeom prst="rect">
            <a:avLst/>
          </a:prstGeom>
          <a:solidFill>
            <a:srgbClr val="EAF0F6"/>
          </a:solidFill>
          <a:ln/>
        </p:spPr>
      </p:sp>
      <p:sp>
        <p:nvSpPr>
          <p:cNvPr id="18" name="Text 15"/>
          <p:cNvSpPr txBox="1"/>
          <p:nvPr/>
        </p:nvSpPr>
        <p:spPr>
          <a:xfrm>
            <a:off x="4325112" y="1042416"/>
            <a:ext cx="1956816" cy="292608"/>
          </a:xfrm>
          <a:prstGeom prst="rect">
            <a:avLst/>
          </a:prstGeom>
          <a:noFill/>
          <a:ln/>
        </p:spPr>
        <p:txBody>
          <a:bodyPr wrap="square" lIns="0" tIns="0" rIns="0" bIns="0" rtlCol="0" anchor="ctr"/>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利用料の粗利  </a:t>
            </a:r>
            <a:pPr algn="l" indent="0" marL="0">
              <a:lnSpc>
                <a:spcPct val="115000"/>
              </a:lnSpc>
              <a:buNone/>
            </a:pPr>
            <a:r>
              <a:rPr lang="en-US" sz="1300" b="1" dirty="0">
                <a:solidFill>
                  <a:srgbClr val="1B365D"/>
                </a:solidFill>
                <a:latin typeface="BIZ UDPGothic" pitchFamily="34" charset="0"/>
                <a:ea typeface="BIZ UDPGothic" pitchFamily="34" charset="-122"/>
                <a:cs typeface="BIZ UDPGothic" pitchFamily="34" charset="-120"/>
              </a:rPr>
              <a:t>139.3</a:t>
            </a:r>
            <a:endParaRPr lang="en-US" sz="1100" dirty="0"/>
          </a:p>
        </p:txBody>
      </p:sp>
      <p:sp>
        <p:nvSpPr>
          <p:cNvPr id="19" name="Text 16"/>
          <p:cNvSpPr txBox="1"/>
          <p:nvPr/>
        </p:nvSpPr>
        <p:spPr>
          <a:xfrm>
            <a:off x="4325112" y="1325880"/>
            <a:ext cx="1956816" cy="237744"/>
          </a:xfrm>
          <a:prstGeom prst="rect">
            <a:avLst/>
          </a:prstGeom>
          <a:noFill/>
          <a:ln/>
        </p:spPr>
        <p:txBody>
          <a:bodyPr wrap="square" lIns="0" tIns="0" rIns="0" bIns="0" rtlCol="0" anchor="ctr"/>
          <a:lstStyle/>
          <a:p>
            <a:pPr algn="l" indent="0" marL="0">
              <a:lnSpc>
                <a:spcPct val="115000"/>
              </a:lnSpc>
              <a:buNone/>
            </a:pPr>
            <a:r>
              <a:rPr lang="en-US" sz="750" dirty="0">
                <a:solidFill>
                  <a:srgbClr val="4A5563"/>
                </a:solidFill>
                <a:latin typeface="BIZ UDPGothic" pitchFamily="34" charset="0"/>
                <a:ea typeface="BIZ UDPGothic" pitchFamily="34" charset="-122"/>
                <a:cs typeface="BIZ UDPGothic" pitchFamily="34" charset="-120"/>
              </a:rPr>
              <a:t>利用料193.5−AI・保存54.2</a:t>
            </a:r>
            <a:endParaRPr lang="en-US" sz="750" dirty="0"/>
          </a:p>
        </p:txBody>
      </p:sp>
      <p:sp>
        <p:nvSpPr>
          <p:cNvPr id="20" name="Shape 17"/>
          <p:cNvSpPr/>
          <p:nvPr/>
        </p:nvSpPr>
        <p:spPr>
          <a:xfrm>
            <a:off x="4251960" y="1682496"/>
            <a:ext cx="2103120" cy="566928"/>
          </a:xfrm>
          <a:prstGeom prst="rect">
            <a:avLst/>
          </a:prstGeom>
          <a:solidFill>
            <a:srgbClr val="EAF0F6"/>
          </a:solidFill>
          <a:ln/>
        </p:spPr>
      </p:sp>
      <p:sp>
        <p:nvSpPr>
          <p:cNvPr id="21" name="Text 18"/>
          <p:cNvSpPr txBox="1"/>
          <p:nvPr/>
        </p:nvSpPr>
        <p:spPr>
          <a:xfrm>
            <a:off x="4325112" y="1700784"/>
            <a:ext cx="1956816" cy="292608"/>
          </a:xfrm>
          <a:prstGeom prst="rect">
            <a:avLst/>
          </a:prstGeom>
          <a:noFill/>
          <a:ln/>
        </p:spPr>
        <p:txBody>
          <a:bodyPr wrap="square" lIns="0" tIns="0" rIns="0" bIns="0" rtlCol="0" anchor="ctr"/>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サービスの粗利  </a:t>
            </a:r>
            <a:pPr algn="l" indent="0" marL="0">
              <a:lnSpc>
                <a:spcPct val="115000"/>
              </a:lnSpc>
              <a:buNone/>
            </a:pPr>
            <a:r>
              <a:rPr lang="en-US" sz="1300" b="1" dirty="0">
                <a:solidFill>
                  <a:srgbClr val="1B365D"/>
                </a:solidFill>
                <a:latin typeface="BIZ UDPGothic" pitchFamily="34" charset="0"/>
                <a:ea typeface="BIZ UDPGothic" pitchFamily="34" charset="-122"/>
                <a:cs typeface="BIZ UDPGothic" pitchFamily="34" charset="-120"/>
              </a:rPr>
              <a:t>22.6</a:t>
            </a:r>
            <a:endParaRPr lang="en-US" sz="1100" dirty="0"/>
          </a:p>
        </p:txBody>
      </p:sp>
      <p:sp>
        <p:nvSpPr>
          <p:cNvPr id="22" name="Text 19"/>
          <p:cNvSpPr txBox="1"/>
          <p:nvPr/>
        </p:nvSpPr>
        <p:spPr>
          <a:xfrm>
            <a:off x="4325112" y="1984248"/>
            <a:ext cx="1956816" cy="237744"/>
          </a:xfrm>
          <a:prstGeom prst="rect">
            <a:avLst/>
          </a:prstGeom>
          <a:noFill/>
          <a:ln/>
        </p:spPr>
        <p:txBody>
          <a:bodyPr wrap="square" lIns="0" tIns="0" rIns="0" bIns="0" rtlCol="0" anchor="ctr"/>
          <a:lstStyle/>
          <a:p>
            <a:pPr algn="l" indent="0" marL="0">
              <a:lnSpc>
                <a:spcPct val="115000"/>
              </a:lnSpc>
              <a:buNone/>
            </a:pPr>
            <a:r>
              <a:rPr lang="en-US" sz="750" dirty="0">
                <a:solidFill>
                  <a:srgbClr val="4A5563"/>
                </a:solidFill>
                <a:latin typeface="BIZ UDPGothic" pitchFamily="34" charset="0"/>
                <a:ea typeface="BIZ UDPGothic" pitchFamily="34" charset="-122"/>
                <a:cs typeface="BIZ UDPGothic" pitchFamily="34" charset="-120"/>
              </a:rPr>
              <a:t>支援・個社設定75.5−人件費・交通52.9</a:t>
            </a:r>
            <a:endParaRPr lang="en-US" sz="750" dirty="0"/>
          </a:p>
        </p:txBody>
      </p:sp>
      <p:sp>
        <p:nvSpPr>
          <p:cNvPr id="23" name="Shape 20"/>
          <p:cNvSpPr/>
          <p:nvPr/>
        </p:nvSpPr>
        <p:spPr>
          <a:xfrm>
            <a:off x="4251960" y="3017520"/>
            <a:ext cx="2103120" cy="566928"/>
          </a:xfrm>
          <a:prstGeom prst="rect">
            <a:avLst/>
          </a:prstGeom>
          <a:solidFill>
            <a:srgbClr val="EAF0F6"/>
          </a:solidFill>
          <a:ln/>
        </p:spPr>
      </p:sp>
      <p:sp>
        <p:nvSpPr>
          <p:cNvPr id="24" name="Text 21"/>
          <p:cNvSpPr txBox="1"/>
          <p:nvPr/>
        </p:nvSpPr>
        <p:spPr>
          <a:xfrm>
            <a:off x="4325112" y="3035808"/>
            <a:ext cx="1956816" cy="292608"/>
          </a:xfrm>
          <a:prstGeom prst="rect">
            <a:avLst/>
          </a:prstGeom>
          <a:noFill/>
          <a:ln/>
        </p:spPr>
        <p:txBody>
          <a:bodyPr wrap="square" lIns="0" tIns="0" rIns="0" bIns="0" rtlCol="0" anchor="ctr"/>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人件費  </a:t>
            </a:r>
            <a:pPr algn="l" indent="0" marL="0">
              <a:lnSpc>
                <a:spcPct val="115000"/>
              </a:lnSpc>
              <a:buNone/>
            </a:pPr>
            <a:r>
              <a:rPr lang="en-US" sz="1300" b="1" dirty="0">
                <a:solidFill>
                  <a:srgbClr val="1B365D"/>
                </a:solidFill>
                <a:latin typeface="BIZ UDPGothic" pitchFamily="34" charset="0"/>
                <a:ea typeface="BIZ UDPGothic" pitchFamily="34" charset="-122"/>
                <a:cs typeface="BIZ UDPGothic" pitchFamily="34" charset="-120"/>
              </a:rPr>
              <a:t>186.8</a:t>
            </a:r>
            <a:endParaRPr lang="en-US" sz="1100" dirty="0"/>
          </a:p>
        </p:txBody>
      </p:sp>
      <p:sp>
        <p:nvSpPr>
          <p:cNvPr id="25" name="Text 22"/>
          <p:cNvSpPr txBox="1"/>
          <p:nvPr/>
        </p:nvSpPr>
        <p:spPr>
          <a:xfrm>
            <a:off x="4325112" y="3319272"/>
            <a:ext cx="1956816" cy="237744"/>
          </a:xfrm>
          <a:prstGeom prst="rect">
            <a:avLst/>
          </a:prstGeom>
          <a:noFill/>
          <a:ln/>
        </p:spPr>
        <p:txBody>
          <a:bodyPr wrap="square" lIns="0" tIns="0" rIns="0" bIns="0" rtlCol="0" anchor="ctr"/>
          <a:lstStyle/>
          <a:p>
            <a:pPr algn="l" indent="0" marL="0">
              <a:lnSpc>
                <a:spcPct val="115000"/>
              </a:lnSpc>
              <a:buNone/>
            </a:pPr>
            <a:r>
              <a:rPr lang="en-US" sz="750" dirty="0">
                <a:solidFill>
                  <a:srgbClr val="4A5563"/>
                </a:solidFill>
                <a:latin typeface="BIZ UDPGothic" pitchFamily="34" charset="0"/>
                <a:ea typeface="BIZ UDPGothic" pitchFamily="34" charset="-122"/>
                <a:cs typeface="BIZ UDPGothic" pitchFamily="34" charset="-120"/>
              </a:rPr>
              <a:t>社員23人・役割別の年収×1.2</a:t>
            </a:r>
            <a:endParaRPr lang="en-US" sz="750" dirty="0"/>
          </a:p>
        </p:txBody>
      </p:sp>
      <p:sp>
        <p:nvSpPr>
          <p:cNvPr id="26" name="Shape 23"/>
          <p:cNvSpPr/>
          <p:nvPr/>
        </p:nvSpPr>
        <p:spPr>
          <a:xfrm>
            <a:off x="4251960" y="3675888"/>
            <a:ext cx="2103120" cy="566928"/>
          </a:xfrm>
          <a:prstGeom prst="rect">
            <a:avLst/>
          </a:prstGeom>
          <a:solidFill>
            <a:srgbClr val="EAF0F6"/>
          </a:solidFill>
          <a:ln/>
        </p:spPr>
      </p:sp>
      <p:sp>
        <p:nvSpPr>
          <p:cNvPr id="27" name="Text 24"/>
          <p:cNvSpPr txBox="1"/>
          <p:nvPr/>
        </p:nvSpPr>
        <p:spPr>
          <a:xfrm>
            <a:off x="4325112" y="3694176"/>
            <a:ext cx="1956816" cy="292608"/>
          </a:xfrm>
          <a:prstGeom prst="rect">
            <a:avLst/>
          </a:prstGeom>
          <a:noFill/>
          <a:ln/>
        </p:spPr>
        <p:txBody>
          <a:bodyPr wrap="square" lIns="0" tIns="0" rIns="0" bIns="0" rtlCol="0" anchor="ctr"/>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振替／その他  </a:t>
            </a:r>
            <a:pPr algn="l" indent="0" marL="0">
              <a:lnSpc>
                <a:spcPct val="115000"/>
              </a:lnSpc>
              <a:buNone/>
            </a:pPr>
            <a:r>
              <a:rPr lang="en-US" sz="1300" b="1" dirty="0">
                <a:solidFill>
                  <a:srgbClr val="1B365D"/>
                </a:solidFill>
                <a:latin typeface="BIZ UDPGothic" pitchFamily="34" charset="0"/>
                <a:ea typeface="BIZ UDPGothic" pitchFamily="34" charset="-122"/>
                <a:cs typeface="BIZ UDPGothic" pitchFamily="34" charset="-120"/>
              </a:rPr>
              <a:t>−47.9／+34.2</a:t>
            </a:r>
            <a:endParaRPr lang="en-US" sz="1100" dirty="0"/>
          </a:p>
        </p:txBody>
      </p:sp>
      <p:sp>
        <p:nvSpPr>
          <p:cNvPr id="28" name="Text 25"/>
          <p:cNvSpPr txBox="1"/>
          <p:nvPr/>
        </p:nvSpPr>
        <p:spPr>
          <a:xfrm>
            <a:off x="4325112" y="3977640"/>
            <a:ext cx="1956816" cy="237744"/>
          </a:xfrm>
          <a:prstGeom prst="rect">
            <a:avLst/>
          </a:prstGeom>
          <a:noFill/>
          <a:ln/>
        </p:spPr>
        <p:txBody>
          <a:bodyPr wrap="square" lIns="0" tIns="0" rIns="0" bIns="0" rtlCol="0" anchor="ctr"/>
          <a:lstStyle/>
          <a:p>
            <a:pPr algn="l" indent="0" marL="0">
              <a:lnSpc>
                <a:spcPct val="115000"/>
              </a:lnSpc>
              <a:buNone/>
            </a:pPr>
            <a:r>
              <a:rPr lang="en-US" sz="750" dirty="0">
                <a:solidFill>
                  <a:srgbClr val="4A5563"/>
                </a:solidFill>
                <a:latin typeface="BIZ UDPGothic" pitchFamily="34" charset="0"/>
                <a:ea typeface="BIZ UDPGothic" pitchFamily="34" charset="-122"/>
                <a:cs typeface="BIZ UDPGothic" pitchFamily="34" charset="-120"/>
              </a:rPr>
              <a:t>原価へ振替／採用費・家賃・広告など</a:t>
            </a:r>
            <a:endParaRPr lang="en-US" sz="750" dirty="0"/>
          </a:p>
        </p:txBody>
      </p:sp>
      <p:sp>
        <p:nvSpPr>
          <p:cNvPr id="29" name="Shape 26"/>
          <p:cNvSpPr/>
          <p:nvPr/>
        </p:nvSpPr>
        <p:spPr>
          <a:xfrm>
            <a:off x="6629400" y="1005840"/>
            <a:ext cx="2148840" cy="566928"/>
          </a:xfrm>
          <a:prstGeom prst="rect">
            <a:avLst/>
          </a:prstGeom>
          <a:solidFill>
            <a:srgbClr val="FFFFFF"/>
          </a:solidFill>
          <a:ln w="22225">
            <a:solidFill>
              <a:srgbClr val="2F6DB5"/>
            </a:solidFill>
            <a:prstDash val="solid"/>
          </a:ln>
        </p:spPr>
      </p:sp>
      <p:sp>
        <p:nvSpPr>
          <p:cNvPr id="30" name="Text 27"/>
          <p:cNvSpPr txBox="1"/>
          <p:nvPr/>
        </p:nvSpPr>
        <p:spPr>
          <a:xfrm>
            <a:off x="6702552" y="1024128"/>
            <a:ext cx="2002536" cy="292608"/>
          </a:xfrm>
          <a:prstGeom prst="rect">
            <a:avLst/>
          </a:prstGeom>
          <a:noFill/>
          <a:ln/>
        </p:spPr>
        <p:txBody>
          <a:bodyPr wrap="square" lIns="0" tIns="0" rIns="0" bIns="0" rtlCol="0" anchor="ctr"/>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前の年までの利用料  </a:t>
            </a:r>
            <a:pPr algn="l" indent="0" marL="0">
              <a:lnSpc>
                <a:spcPct val="115000"/>
              </a:lnSpc>
              <a:buNone/>
            </a:pPr>
            <a:r>
              <a:rPr lang="en-US" sz="1300" b="1" dirty="0">
                <a:solidFill>
                  <a:srgbClr val="2F6DB5"/>
                </a:solidFill>
                <a:latin typeface="BIZ UDPGothic" pitchFamily="34" charset="0"/>
                <a:ea typeface="BIZ UDPGothic" pitchFamily="34" charset="-122"/>
                <a:cs typeface="BIZ UDPGothic" pitchFamily="34" charset="-120"/>
              </a:rPr>
              <a:t>144.0</a:t>
            </a:r>
            <a:endParaRPr lang="en-US" sz="1100" dirty="0"/>
          </a:p>
        </p:txBody>
      </p:sp>
      <p:sp>
        <p:nvSpPr>
          <p:cNvPr id="31" name="Text 28"/>
          <p:cNvSpPr txBox="1"/>
          <p:nvPr/>
        </p:nvSpPr>
        <p:spPr>
          <a:xfrm>
            <a:off x="6702552" y="1307592"/>
            <a:ext cx="2002536" cy="237744"/>
          </a:xfrm>
          <a:prstGeom prst="rect">
            <a:avLst/>
          </a:prstGeom>
          <a:noFill/>
          <a:ln/>
        </p:spPr>
        <p:txBody>
          <a:bodyPr wrap="square" lIns="0" tIns="0" rIns="0" bIns="0" rtlCol="0" anchor="ctr"/>
          <a:lstStyle/>
          <a:p>
            <a:pPr algn="l" indent="0" marL="0">
              <a:lnSpc>
                <a:spcPct val="115000"/>
              </a:lnSpc>
              <a:buNone/>
            </a:pPr>
            <a:r>
              <a:rPr lang="en-US" sz="750" dirty="0">
                <a:solidFill>
                  <a:srgbClr val="4A5563"/>
                </a:solidFill>
                <a:latin typeface="BIZ UDPGothic" pitchFamily="34" charset="0"/>
                <a:ea typeface="BIZ UDPGothic" pitchFamily="34" charset="-122"/>
                <a:cs typeface="BIZ UDPGothic" pitchFamily="34" charset="-120"/>
              </a:rPr>
              <a:t>（期首53−解約5）拠点×300万円</a:t>
            </a:r>
            <a:endParaRPr lang="en-US" sz="750" dirty="0"/>
          </a:p>
        </p:txBody>
      </p:sp>
      <p:sp>
        <p:nvSpPr>
          <p:cNvPr id="32" name="Shape 29"/>
          <p:cNvSpPr/>
          <p:nvPr/>
        </p:nvSpPr>
        <p:spPr>
          <a:xfrm>
            <a:off x="6629400" y="1609344"/>
            <a:ext cx="2148840" cy="566928"/>
          </a:xfrm>
          <a:prstGeom prst="rect">
            <a:avLst/>
          </a:prstGeom>
          <a:solidFill>
            <a:srgbClr val="FFFFFF"/>
          </a:solidFill>
          <a:ln w="22225">
            <a:solidFill>
              <a:srgbClr val="2F6DB5"/>
            </a:solidFill>
            <a:prstDash val="solid"/>
          </a:ln>
        </p:spPr>
      </p:sp>
      <p:sp>
        <p:nvSpPr>
          <p:cNvPr id="33" name="Text 30"/>
          <p:cNvSpPr txBox="1"/>
          <p:nvPr/>
        </p:nvSpPr>
        <p:spPr>
          <a:xfrm>
            <a:off x="6702552" y="1627632"/>
            <a:ext cx="2002536" cy="292608"/>
          </a:xfrm>
          <a:prstGeom prst="rect">
            <a:avLst/>
          </a:prstGeom>
          <a:noFill/>
          <a:ln/>
        </p:spPr>
        <p:txBody>
          <a:bodyPr wrap="square" lIns="0" tIns="0" rIns="0" bIns="0" rtlCol="0" anchor="ctr"/>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新しいお客様の利用料  </a:t>
            </a:r>
            <a:pPr algn="l" indent="0" marL="0">
              <a:lnSpc>
                <a:spcPct val="115000"/>
              </a:lnSpc>
              <a:buNone/>
            </a:pPr>
            <a:r>
              <a:rPr lang="en-US" sz="1300" b="1" dirty="0">
                <a:solidFill>
                  <a:srgbClr val="2F6DB5"/>
                </a:solidFill>
                <a:latin typeface="BIZ UDPGothic" pitchFamily="34" charset="0"/>
                <a:ea typeface="BIZ UDPGothic" pitchFamily="34" charset="-122"/>
                <a:cs typeface="BIZ UDPGothic" pitchFamily="34" charset="-120"/>
              </a:rPr>
              <a:t>49.5</a:t>
            </a:r>
            <a:endParaRPr lang="en-US" sz="1100" dirty="0"/>
          </a:p>
        </p:txBody>
      </p:sp>
      <p:sp>
        <p:nvSpPr>
          <p:cNvPr id="34" name="Text 31"/>
          <p:cNvSpPr txBox="1"/>
          <p:nvPr/>
        </p:nvSpPr>
        <p:spPr>
          <a:xfrm>
            <a:off x="6702552" y="1911096"/>
            <a:ext cx="2002536" cy="237744"/>
          </a:xfrm>
          <a:prstGeom prst="rect">
            <a:avLst/>
          </a:prstGeom>
          <a:noFill/>
          <a:ln/>
        </p:spPr>
        <p:txBody>
          <a:bodyPr wrap="square" lIns="0" tIns="0" rIns="0" bIns="0" rtlCol="0" anchor="ctr"/>
          <a:lstStyle/>
          <a:p>
            <a:pPr algn="l" indent="0" marL="0">
              <a:lnSpc>
                <a:spcPct val="115000"/>
              </a:lnSpc>
              <a:buNone/>
            </a:pPr>
            <a:r>
              <a:rPr lang="en-US" sz="750" dirty="0">
                <a:solidFill>
                  <a:srgbClr val="4A5563"/>
                </a:solidFill>
                <a:latin typeface="BIZ UDPGothic" pitchFamily="34" charset="0"/>
                <a:ea typeface="BIZ UDPGothic" pitchFamily="34" charset="-122"/>
                <a:cs typeface="BIZ UDPGothic" pitchFamily="34" charset="-120"/>
              </a:rPr>
              <a:t>新規33拠点×300万円×半年</a:t>
            </a:r>
            <a:endParaRPr lang="en-US" sz="750" dirty="0"/>
          </a:p>
        </p:txBody>
      </p:sp>
      <p:sp>
        <p:nvSpPr>
          <p:cNvPr id="35" name="Shape 32"/>
          <p:cNvSpPr/>
          <p:nvPr/>
        </p:nvSpPr>
        <p:spPr>
          <a:xfrm>
            <a:off x="6629400" y="2267712"/>
            <a:ext cx="2148840" cy="566928"/>
          </a:xfrm>
          <a:prstGeom prst="rect">
            <a:avLst/>
          </a:prstGeom>
          <a:solidFill>
            <a:srgbClr val="EAF0F6"/>
          </a:solidFill>
          <a:ln/>
        </p:spPr>
      </p:sp>
      <p:sp>
        <p:nvSpPr>
          <p:cNvPr id="36" name="Text 33"/>
          <p:cNvSpPr txBox="1"/>
          <p:nvPr/>
        </p:nvSpPr>
        <p:spPr>
          <a:xfrm>
            <a:off x="6702552" y="2286000"/>
            <a:ext cx="2002536" cy="292608"/>
          </a:xfrm>
          <a:prstGeom prst="rect">
            <a:avLst/>
          </a:prstGeom>
          <a:noFill/>
          <a:ln/>
        </p:spPr>
        <p:txBody>
          <a:bodyPr wrap="square" lIns="0" tIns="0" rIns="0" bIns="0" rtlCol="0" anchor="ctr"/>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導入支援  </a:t>
            </a:r>
            <a:pPr algn="l" indent="0" marL="0">
              <a:lnSpc>
                <a:spcPct val="115000"/>
              </a:lnSpc>
              <a:buNone/>
            </a:pPr>
            <a:r>
              <a:rPr lang="en-US" sz="1300" b="1" dirty="0">
                <a:solidFill>
                  <a:srgbClr val="1B365D"/>
                </a:solidFill>
                <a:latin typeface="BIZ UDPGothic" pitchFamily="34" charset="0"/>
                <a:ea typeface="BIZ UDPGothic" pitchFamily="34" charset="-122"/>
                <a:cs typeface="BIZ UDPGothic" pitchFamily="34" charset="-120"/>
              </a:rPr>
              <a:t>66.0</a:t>
            </a:r>
            <a:endParaRPr lang="en-US" sz="1100" dirty="0"/>
          </a:p>
        </p:txBody>
      </p:sp>
      <p:sp>
        <p:nvSpPr>
          <p:cNvPr id="37" name="Text 34"/>
          <p:cNvSpPr txBox="1"/>
          <p:nvPr/>
        </p:nvSpPr>
        <p:spPr>
          <a:xfrm>
            <a:off x="6702552" y="2569464"/>
            <a:ext cx="2002536" cy="237744"/>
          </a:xfrm>
          <a:prstGeom prst="rect">
            <a:avLst/>
          </a:prstGeom>
          <a:noFill/>
          <a:ln/>
        </p:spPr>
        <p:txBody>
          <a:bodyPr wrap="square" lIns="0" tIns="0" rIns="0" bIns="0" rtlCol="0" anchor="ctr"/>
          <a:lstStyle/>
          <a:p>
            <a:pPr algn="l" indent="0" marL="0">
              <a:lnSpc>
                <a:spcPct val="115000"/>
              </a:lnSpc>
              <a:buNone/>
            </a:pPr>
            <a:r>
              <a:rPr lang="en-US" sz="750" dirty="0">
                <a:solidFill>
                  <a:srgbClr val="4A5563"/>
                </a:solidFill>
                <a:latin typeface="BIZ UDPGothic" pitchFamily="34" charset="0"/>
                <a:ea typeface="BIZ UDPGothic" pitchFamily="34" charset="-122"/>
                <a:cs typeface="BIZ UDPGothic" pitchFamily="34" charset="-120"/>
              </a:rPr>
              <a:t>新規33拠点×200万円</a:t>
            </a:r>
            <a:endParaRPr lang="en-US" sz="750" dirty="0"/>
          </a:p>
        </p:txBody>
      </p:sp>
      <p:sp>
        <p:nvSpPr>
          <p:cNvPr id="38" name="Shape 35"/>
          <p:cNvSpPr/>
          <p:nvPr/>
        </p:nvSpPr>
        <p:spPr>
          <a:xfrm>
            <a:off x="2103120" y="1609344"/>
            <a:ext cx="0" cy="2103120"/>
          </a:xfrm>
          <a:prstGeom prst="line">
            <a:avLst/>
          </a:prstGeom>
          <a:noFill/>
          <a:ln w="12700">
            <a:solidFill>
              <a:srgbClr val="7B8794"/>
            </a:solidFill>
            <a:prstDash val="solid"/>
          </a:ln>
        </p:spPr>
      </p:sp>
      <p:sp>
        <p:nvSpPr>
          <p:cNvPr id="39" name="Shape 36"/>
          <p:cNvSpPr/>
          <p:nvPr/>
        </p:nvSpPr>
        <p:spPr>
          <a:xfrm>
            <a:off x="1965960" y="2660904"/>
            <a:ext cx="137160" cy="0"/>
          </a:xfrm>
          <a:prstGeom prst="line">
            <a:avLst/>
          </a:prstGeom>
          <a:noFill/>
          <a:ln w="12700">
            <a:solidFill>
              <a:srgbClr val="7B8794"/>
            </a:solidFill>
            <a:prstDash val="solid"/>
          </a:ln>
        </p:spPr>
      </p:sp>
      <p:sp>
        <p:nvSpPr>
          <p:cNvPr id="40" name="Shape 37"/>
          <p:cNvSpPr/>
          <p:nvPr/>
        </p:nvSpPr>
        <p:spPr>
          <a:xfrm>
            <a:off x="2103120" y="1609344"/>
            <a:ext cx="137160" cy="0"/>
          </a:xfrm>
          <a:prstGeom prst="line">
            <a:avLst/>
          </a:prstGeom>
          <a:noFill/>
          <a:ln w="12700">
            <a:solidFill>
              <a:srgbClr val="7B8794"/>
            </a:solidFill>
            <a:prstDash val="solid"/>
          </a:ln>
        </p:spPr>
      </p:sp>
      <p:sp>
        <p:nvSpPr>
          <p:cNvPr id="41" name="Shape 38"/>
          <p:cNvSpPr/>
          <p:nvPr/>
        </p:nvSpPr>
        <p:spPr>
          <a:xfrm>
            <a:off x="2103120" y="3712464"/>
            <a:ext cx="137160" cy="0"/>
          </a:xfrm>
          <a:prstGeom prst="line">
            <a:avLst/>
          </a:prstGeom>
          <a:noFill/>
          <a:ln w="12700">
            <a:solidFill>
              <a:srgbClr val="7B8794"/>
            </a:solidFill>
            <a:prstDash val="solid"/>
          </a:ln>
        </p:spPr>
      </p:sp>
      <p:sp>
        <p:nvSpPr>
          <p:cNvPr id="42" name="Shape 39"/>
          <p:cNvSpPr/>
          <p:nvPr/>
        </p:nvSpPr>
        <p:spPr>
          <a:xfrm>
            <a:off x="4114800" y="1307592"/>
            <a:ext cx="0" cy="658368"/>
          </a:xfrm>
          <a:prstGeom prst="line">
            <a:avLst/>
          </a:prstGeom>
          <a:noFill/>
          <a:ln w="12700">
            <a:solidFill>
              <a:srgbClr val="7B8794"/>
            </a:solidFill>
            <a:prstDash val="solid"/>
          </a:ln>
        </p:spPr>
      </p:sp>
      <p:sp>
        <p:nvSpPr>
          <p:cNvPr id="43" name="Shape 40"/>
          <p:cNvSpPr/>
          <p:nvPr/>
        </p:nvSpPr>
        <p:spPr>
          <a:xfrm>
            <a:off x="3977640" y="1609344"/>
            <a:ext cx="137160" cy="0"/>
          </a:xfrm>
          <a:prstGeom prst="line">
            <a:avLst/>
          </a:prstGeom>
          <a:noFill/>
          <a:ln w="12700">
            <a:solidFill>
              <a:srgbClr val="7B8794"/>
            </a:solidFill>
            <a:prstDash val="solid"/>
          </a:ln>
        </p:spPr>
      </p:sp>
      <p:sp>
        <p:nvSpPr>
          <p:cNvPr id="44" name="Shape 41"/>
          <p:cNvSpPr/>
          <p:nvPr/>
        </p:nvSpPr>
        <p:spPr>
          <a:xfrm>
            <a:off x="4114800" y="1307592"/>
            <a:ext cx="137160" cy="0"/>
          </a:xfrm>
          <a:prstGeom prst="line">
            <a:avLst/>
          </a:prstGeom>
          <a:noFill/>
          <a:ln w="12700">
            <a:solidFill>
              <a:srgbClr val="7B8794"/>
            </a:solidFill>
            <a:prstDash val="solid"/>
          </a:ln>
        </p:spPr>
      </p:sp>
      <p:sp>
        <p:nvSpPr>
          <p:cNvPr id="45" name="Shape 42"/>
          <p:cNvSpPr/>
          <p:nvPr/>
        </p:nvSpPr>
        <p:spPr>
          <a:xfrm>
            <a:off x="4114800" y="1965960"/>
            <a:ext cx="137160" cy="0"/>
          </a:xfrm>
          <a:prstGeom prst="line">
            <a:avLst/>
          </a:prstGeom>
          <a:noFill/>
          <a:ln w="12700">
            <a:solidFill>
              <a:srgbClr val="7B8794"/>
            </a:solidFill>
            <a:prstDash val="solid"/>
          </a:ln>
        </p:spPr>
      </p:sp>
      <p:sp>
        <p:nvSpPr>
          <p:cNvPr id="46" name="Shape 43"/>
          <p:cNvSpPr/>
          <p:nvPr/>
        </p:nvSpPr>
        <p:spPr>
          <a:xfrm>
            <a:off x="4114800" y="3300984"/>
            <a:ext cx="0" cy="658368"/>
          </a:xfrm>
          <a:prstGeom prst="line">
            <a:avLst/>
          </a:prstGeom>
          <a:noFill/>
          <a:ln w="12700">
            <a:solidFill>
              <a:srgbClr val="7B8794"/>
            </a:solidFill>
            <a:prstDash val="solid"/>
          </a:ln>
        </p:spPr>
      </p:sp>
      <p:sp>
        <p:nvSpPr>
          <p:cNvPr id="47" name="Shape 44"/>
          <p:cNvSpPr/>
          <p:nvPr/>
        </p:nvSpPr>
        <p:spPr>
          <a:xfrm>
            <a:off x="3977640" y="3712464"/>
            <a:ext cx="137160" cy="0"/>
          </a:xfrm>
          <a:prstGeom prst="line">
            <a:avLst/>
          </a:prstGeom>
          <a:noFill/>
          <a:ln w="12700">
            <a:solidFill>
              <a:srgbClr val="7B8794"/>
            </a:solidFill>
            <a:prstDash val="solid"/>
          </a:ln>
        </p:spPr>
      </p:sp>
      <p:sp>
        <p:nvSpPr>
          <p:cNvPr id="48" name="Shape 45"/>
          <p:cNvSpPr/>
          <p:nvPr/>
        </p:nvSpPr>
        <p:spPr>
          <a:xfrm>
            <a:off x="4114800" y="3300984"/>
            <a:ext cx="137160" cy="0"/>
          </a:xfrm>
          <a:prstGeom prst="line">
            <a:avLst/>
          </a:prstGeom>
          <a:noFill/>
          <a:ln w="12700">
            <a:solidFill>
              <a:srgbClr val="7B8794"/>
            </a:solidFill>
            <a:prstDash val="solid"/>
          </a:ln>
        </p:spPr>
      </p:sp>
      <p:sp>
        <p:nvSpPr>
          <p:cNvPr id="49" name="Shape 46"/>
          <p:cNvSpPr/>
          <p:nvPr/>
        </p:nvSpPr>
        <p:spPr>
          <a:xfrm>
            <a:off x="4114800" y="3959352"/>
            <a:ext cx="137160" cy="0"/>
          </a:xfrm>
          <a:prstGeom prst="line">
            <a:avLst/>
          </a:prstGeom>
          <a:noFill/>
          <a:ln w="12700">
            <a:solidFill>
              <a:srgbClr val="7B8794"/>
            </a:solidFill>
            <a:prstDash val="solid"/>
          </a:ln>
        </p:spPr>
      </p:sp>
      <p:sp>
        <p:nvSpPr>
          <p:cNvPr id="50" name="Shape 47"/>
          <p:cNvSpPr/>
          <p:nvPr/>
        </p:nvSpPr>
        <p:spPr>
          <a:xfrm>
            <a:off x="6492240" y="1289304"/>
            <a:ext cx="0" cy="603504"/>
          </a:xfrm>
          <a:prstGeom prst="line">
            <a:avLst/>
          </a:prstGeom>
          <a:noFill/>
          <a:ln w="12700">
            <a:solidFill>
              <a:srgbClr val="7B8794"/>
            </a:solidFill>
            <a:prstDash val="solid"/>
          </a:ln>
        </p:spPr>
      </p:sp>
      <p:sp>
        <p:nvSpPr>
          <p:cNvPr id="51" name="Shape 48"/>
          <p:cNvSpPr/>
          <p:nvPr/>
        </p:nvSpPr>
        <p:spPr>
          <a:xfrm>
            <a:off x="6355080" y="1307592"/>
            <a:ext cx="137160" cy="0"/>
          </a:xfrm>
          <a:prstGeom prst="line">
            <a:avLst/>
          </a:prstGeom>
          <a:noFill/>
          <a:ln w="12700">
            <a:solidFill>
              <a:srgbClr val="7B8794"/>
            </a:solidFill>
            <a:prstDash val="solid"/>
          </a:ln>
        </p:spPr>
      </p:sp>
      <p:sp>
        <p:nvSpPr>
          <p:cNvPr id="52" name="Shape 49"/>
          <p:cNvSpPr/>
          <p:nvPr/>
        </p:nvSpPr>
        <p:spPr>
          <a:xfrm>
            <a:off x="6492240" y="1892808"/>
            <a:ext cx="137160" cy="0"/>
          </a:xfrm>
          <a:prstGeom prst="line">
            <a:avLst/>
          </a:prstGeom>
          <a:noFill/>
          <a:ln w="12700">
            <a:solidFill>
              <a:srgbClr val="7B8794"/>
            </a:solidFill>
            <a:prstDash val="solid"/>
          </a:ln>
        </p:spPr>
      </p:sp>
      <p:sp>
        <p:nvSpPr>
          <p:cNvPr id="53" name="Shape 50"/>
          <p:cNvSpPr/>
          <p:nvPr/>
        </p:nvSpPr>
        <p:spPr>
          <a:xfrm>
            <a:off x="6355080" y="1965960"/>
            <a:ext cx="137160" cy="0"/>
          </a:xfrm>
          <a:prstGeom prst="line">
            <a:avLst/>
          </a:prstGeom>
          <a:noFill/>
          <a:ln w="12700">
            <a:solidFill>
              <a:srgbClr val="7B8794"/>
            </a:solidFill>
            <a:prstDash val="solid"/>
          </a:ln>
        </p:spPr>
      </p:sp>
      <p:sp>
        <p:nvSpPr>
          <p:cNvPr id="54" name="Shape 51"/>
          <p:cNvSpPr/>
          <p:nvPr/>
        </p:nvSpPr>
        <p:spPr>
          <a:xfrm>
            <a:off x="6492240" y="1965960"/>
            <a:ext cx="0" cy="585216"/>
          </a:xfrm>
          <a:prstGeom prst="line">
            <a:avLst/>
          </a:prstGeom>
          <a:noFill/>
          <a:ln w="12700">
            <a:solidFill>
              <a:srgbClr val="7B8794"/>
            </a:solidFill>
            <a:prstDash val="solid"/>
          </a:ln>
        </p:spPr>
      </p:sp>
      <p:sp>
        <p:nvSpPr>
          <p:cNvPr id="55" name="Shape 52"/>
          <p:cNvSpPr/>
          <p:nvPr/>
        </p:nvSpPr>
        <p:spPr>
          <a:xfrm>
            <a:off x="6492240" y="2551176"/>
            <a:ext cx="137160" cy="0"/>
          </a:xfrm>
          <a:prstGeom prst="line">
            <a:avLst/>
          </a:prstGeom>
          <a:noFill/>
          <a:ln w="12700">
            <a:solidFill>
              <a:srgbClr val="7B8794"/>
            </a:solidFill>
            <a:prstDash val="solid"/>
          </a:ln>
        </p:spPr>
      </p:sp>
      <p:sp>
        <p:nvSpPr>
          <p:cNvPr id="56" name="Shape 53"/>
          <p:cNvSpPr/>
          <p:nvPr/>
        </p:nvSpPr>
        <p:spPr>
          <a:xfrm>
            <a:off x="6629400" y="3017520"/>
            <a:ext cx="2148840" cy="1225296"/>
          </a:xfrm>
          <a:prstGeom prst="rect">
            <a:avLst/>
          </a:prstGeom>
          <a:solidFill>
            <a:srgbClr val="1B365D"/>
          </a:solidFill>
          <a:ln/>
        </p:spPr>
      </p:sp>
      <p:sp>
        <p:nvSpPr>
          <p:cNvPr id="57" name="Text 54"/>
          <p:cNvSpPr txBox="1"/>
          <p:nvPr/>
        </p:nvSpPr>
        <p:spPr>
          <a:xfrm>
            <a:off x="6739128" y="3063240"/>
            <a:ext cx="1965960" cy="1143000"/>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F5C400"/>
                </a:solidFill>
                <a:latin typeface="BIZ UDPGothic" pitchFamily="34" charset="0"/>
                <a:ea typeface="BIZ UDPGothic" pitchFamily="34" charset="-122"/>
                <a:cs typeface="BIZ UDPGothic" pitchFamily="34" charset="-120"/>
              </a:rPr>
              <a:t>動かせるのは3つだけ</a:t>
            </a:r>
            <a:endParaRPr lang="en-US" sz="950" dirty="0"/>
          </a:p>
          <a:p>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① 拠点数（新規−解約）</a:t>
            </a:r>
            <a:endParaRPr lang="en-US" sz="950" dirty="0"/>
          </a:p>
          <a:p>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② 1拠点の台数</a:t>
            </a:r>
            <a:endParaRPr lang="en-US" sz="950" dirty="0"/>
          </a:p>
          <a:p>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③ 社員数（採用のペース）</a:t>
            </a:r>
            <a:endParaRPr lang="en-US" sz="950" dirty="0"/>
          </a:p>
        </p:txBody>
      </p:sp>
      <p:sp>
        <p:nvSpPr>
          <p:cNvPr id="58" name="Text 5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個社設定（9.5百万円・当社の導入コンサルタントが行う）はサービスに含む。端数は四捨五入</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数字の木・前提</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全ページ共通</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前提と懸念の一覧：確度の低いものから実証で測る</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統計＝公的統計・制度　公表＝メーカー・クラウドの公表価格　見積＝社内見積　仮説＝実証で測る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5" name="assumptions"/>
          <p:cNvGraphicFramePr>
            <a:graphicFrameLocks noGrp="1"/>
          </p:cNvGraphicFramePr>
          <p:nvPr>
            <p:extLst>
              <p:ext uri="{D42A27DB-BD31-4B8C-83A1-F6EECF244321}">
                <p14:modId xmlns:p14="http://schemas.microsoft.com/office/powerpoint/2010/main" val="1579011935"/>
              </p:ext>
            </p:extLst>
          </p:nvPr>
        </p:nvGraphicFramePr>
        <p:xfrm>
          <a:off x="365760" y="1005840"/>
          <a:ext cx="8412480" cy="914400"/>
        </p:xfrm>
        <a:graphic>
          <a:graphicData uri="http://schemas.openxmlformats.org/drawingml/2006/table">
            <a:tbl>
              <a:tblPr/>
              <a:tblGrid>
                <a:gridCol w="1417320"/>
                <a:gridCol w="1691640"/>
                <a:gridCol w="548640"/>
                <a:gridCol w="2194560"/>
                <a:gridCol w="2560320"/>
              </a:tblGrid>
              <a:tr h="246888">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前提</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値</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00" b="1" dirty="0">
                          <a:solidFill>
                            <a:srgbClr val="FFFFFF"/>
                          </a:solidFill>
                          <a:latin typeface="BIZ UDPGothic" pitchFamily="34" charset="0"/>
                          <a:ea typeface="BIZ UDPGothic" pitchFamily="34" charset="-122"/>
                          <a:cs typeface="BIZ UDPGothic" pitchFamily="34" charset="-120"/>
                        </a:rPr>
                        <a:t>確度</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懸念</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どう確かめるか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1時間の人件費</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3,300円／3,700円</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B365D"/>
                          </a:solidFill>
                          <a:latin typeface="BIZ UDPGothic" pitchFamily="34" charset="0"/>
                          <a:ea typeface="BIZ UDPGothic" pitchFamily="34" charset="-122"/>
                          <a:cs typeface="BIZ UDPGothic" pitchFamily="34" charset="-120"/>
                        </a:rPr>
                        <a:t>統計</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最新年の原表を未確認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e-Statで令和6年値に差し替え</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1台1日の削減時間</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35分</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2F6DB5"/>
                          </a:solidFill>
                          <a:latin typeface="BIZ UDPGothic" pitchFamily="34" charset="0"/>
                          <a:ea typeface="BIZ UDPGothic" pitchFamily="34" charset="-122"/>
                          <a:cs typeface="BIZ UDPGothic" pitchFamily="34" charset="-120"/>
                        </a:rPr>
                        <a:t>仮説</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効果の大半を占める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実証で導入前後を記録</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端末の台数</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1拠点10台</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B365D"/>
                          </a:solidFill>
                          <a:latin typeface="BIZ UDPGothic" pitchFamily="34" charset="0"/>
                          <a:ea typeface="BIZ UDPGothic" pitchFamily="34" charset="-122"/>
                          <a:cs typeface="BIZ UDPGothic" pitchFamily="34" charset="-120"/>
                        </a:rPr>
                        <a:t>見積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職長だけで足りるか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実証で班ごとに使い方を見る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値段</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基盤月5万＋月2万／台</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B365D"/>
                          </a:solidFill>
                          <a:latin typeface="BIZ UDPGothic" pitchFamily="34" charset="0"/>
                          <a:ea typeface="BIZ UDPGothic" pitchFamily="34" charset="-122"/>
                          <a:cs typeface="BIZ UDPGothic" pitchFamily="34" charset="-120"/>
                        </a:rPr>
                        <a:t>見積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払ってもらえるか未検証</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実証3社に価格を聞く</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AI・保存の原価</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1台月6,000円</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B365D"/>
                          </a:solidFill>
                          <a:latin typeface="BIZ UDPGothic" pitchFamily="34" charset="0"/>
                          <a:ea typeface="BIZ UDPGothic" pitchFamily="34" charset="-122"/>
                          <a:cs typeface="BIZ UDPGothic" pitchFamily="34" charset="-120"/>
                        </a:rPr>
                        <a:t>公表</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使い方で大きく変わる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実証で台ごとの実費を測る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グラスとリース</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AIグラス8万・表示付き12万</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B365D"/>
                          </a:solidFill>
                          <a:latin typeface="BIZ UDPGothic" pitchFamily="34" charset="0"/>
                          <a:ea typeface="BIZ UDPGothic" pitchFamily="34" charset="-122"/>
                          <a:cs typeface="BIZ UDPGothic" pitchFamily="34" charset="-120"/>
                        </a:rPr>
                        <a:t>公表</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国内の正規販売・料率が未確認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販売店・リース会社の見積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グラスの性能</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要所の記録で1日もつ</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2F6DB5"/>
                          </a:solidFill>
                          <a:latin typeface="BIZ UDPGothic" pitchFamily="34" charset="0"/>
                          <a:ea typeface="BIZ UDPGothic" pitchFamily="34" charset="-122"/>
                          <a:cs typeface="BIZ UDPGothic" pitchFamily="34" charset="-120"/>
                        </a:rPr>
                        <a:t>仮説</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録画の長さ・電池・規格</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準備期に実機で1日使う</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導入支援</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42人日・200万円</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B365D"/>
                          </a:solidFill>
                          <a:latin typeface="BIZ UDPGothic" pitchFamily="34" charset="0"/>
                          <a:ea typeface="BIZ UDPGothic" pitchFamily="34" charset="-122"/>
                          <a:cs typeface="BIZ UDPGothic" pitchFamily="34" charset="-120"/>
                        </a:rPr>
                        <a:t>見積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3D化で人日が増える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1社目の実績で更新</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手戻りの削減</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対象30%×20%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2F6DB5"/>
                          </a:solidFill>
                          <a:latin typeface="BIZ UDPGothic" pitchFamily="34" charset="0"/>
                          <a:ea typeface="BIZ UDPGothic" pitchFamily="34" charset="-122"/>
                          <a:cs typeface="BIZ UDPGothic" pitchFamily="34" charset="-120"/>
                        </a:rPr>
                        <a:t>仮説</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AIの精度と監修の手間</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手戻り件数を実証で記録</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解約率</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年10%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B365D"/>
                          </a:solidFill>
                          <a:latin typeface="BIZ UDPGothic" pitchFamily="34" charset="0"/>
                          <a:ea typeface="BIZ UDPGothic" pitchFamily="34" charset="-122"/>
                          <a:cs typeface="BIZ UDPGothic" pitchFamily="34" charset="-120"/>
                        </a:rPr>
                        <a:t>見積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日本の調査がない</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更新時の継続率を記録</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会える率・成約率</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45〜60%・15〜30%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2F6DB5"/>
                          </a:solidFill>
                          <a:latin typeface="BIZ UDPGothic" pitchFamily="34" charset="0"/>
                          <a:ea typeface="BIZ UDPGothic" pitchFamily="34" charset="-122"/>
                          <a:cs typeface="BIZ UDPGothic" pitchFamily="34" charset="-120"/>
                        </a:rPr>
                        <a:t>仮説</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4年続けられるか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最初の商談で記録</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年収・採用費</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役割別×1.2＋紹介料</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B365D"/>
                          </a:solidFill>
                          <a:latin typeface="BIZ UDPGothic" pitchFamily="34" charset="0"/>
                          <a:ea typeface="BIZ UDPGothic" pitchFamily="34" charset="-122"/>
                          <a:cs typeface="BIZ UDPGothic" pitchFamily="34" charset="-120"/>
                        </a:rPr>
                        <a:t>見積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採用市場の相場</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紹介会社の見積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自己資金</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1年目2億＋3年目0.5億</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B365D"/>
                          </a:solidFill>
                          <a:latin typeface="BIZ UDPGothic" pitchFamily="34" charset="0"/>
                          <a:ea typeface="BIZ UDPGothic" pitchFamily="34" charset="-122"/>
                          <a:cs typeface="BIZ UDPGothic" pitchFamily="34" charset="-120"/>
                        </a:rPr>
                        <a:t>見積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線を越えたときだけ入れる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撤退ラインで判断</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仮説の5つ（削減時間・グラスの性能・手戻り・値段への反応・会える率と成約率）が、500万円の実証で測る対象</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お客様の効果</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p.9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1時間の人件費：統計の年収÷残業を含む総労働時間</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年収（残業代・賞与込み）を、残業も含めた1年の総労働時間で割る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6" name="wage"/>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1828800"/>
                <a:gridCol w="1005840"/>
                <a:gridCol w="1005840"/>
                <a:gridCol w="4572000"/>
              </a:tblGrid>
              <a:tr h="329184">
                <a:tc>
                  <a:txBody>
                    <a:bodyPr/>
                    <a:lstStyle/>
                    <a:p>
                      <a:pPr algn="l" indent="0" marL="0">
                        <a:buNone/>
                      </a:pP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電工</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施工管理者</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根拠</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29184">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年収（残業代・賞与込み）</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551万円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620万円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賃金構造基本統計調査（電気工事従事者 令和5年。令和6年も約548〜551万円）／建築・土木技術者で代用</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 会社負担の社会保険料</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×1.17</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×1.17</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健保約5.0%＋厚年9.15%＋雇用（建設）1.1%＋子ども・子育て拠出金0.36%＋労災 約1.2%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 年間の総実労働時間</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1,938時間</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1,938時間</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毎月勤労統計調査 令和6年 建設業 月161.5時間×12。残業を含む</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 1時間あたり</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2F6DB5"/>
                          </a:solidFill>
                          <a:latin typeface="BIZ UDPGothic" pitchFamily="34" charset="0"/>
                          <a:ea typeface="BIZ UDPGothic" pitchFamily="34" charset="-122"/>
                          <a:cs typeface="BIZ UDPGothic" pitchFamily="34" charset="-120"/>
                        </a:rPr>
                        <a:t>約3,300円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2F6DB5"/>
                          </a:solidFill>
                          <a:latin typeface="BIZ UDPGothic" pitchFamily="34" charset="0"/>
                          <a:ea typeface="BIZ UDPGothic" pitchFamily="34" charset="-122"/>
                          <a:cs typeface="BIZ UDPGothic" pitchFamily="34" charset="-120"/>
                        </a:rPr>
                        <a:t>約3,700円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残業が減る分は×1.25で評価できるが、計画では使わない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sp>
        <p:nvSpPr>
          <p:cNvPr id="9" name="Shape 5"/>
          <p:cNvSpPr/>
          <p:nvPr/>
        </p:nvSpPr>
        <p:spPr>
          <a:xfrm>
            <a:off x="365760" y="2834640"/>
            <a:ext cx="4069080" cy="1600200"/>
          </a:xfrm>
          <a:prstGeom prst="rect">
            <a:avLst/>
          </a:prstGeom>
          <a:solidFill>
            <a:srgbClr val="EAF0F6"/>
          </a:solidFill>
          <a:ln/>
        </p:spPr>
      </p:sp>
      <p:sp>
        <p:nvSpPr>
          <p:cNvPr id="10" name="Text 6"/>
          <p:cNvSpPr txBox="1"/>
          <p:nvPr/>
        </p:nvSpPr>
        <p:spPr>
          <a:xfrm>
            <a:off x="502920" y="2834640"/>
            <a:ext cx="3794760" cy="1600200"/>
          </a:xfrm>
          <a:prstGeom prst="rect">
            <a:avLst/>
          </a:prstGeom>
          <a:noFill/>
          <a:ln/>
        </p:spPr>
        <p:txBody>
          <a:bodyPr wrap="square" lIns="0" tIns="0" rIns="0" bIns="0" rtlCol="0" anchor="ctr"/>
          <a:lstStyle/>
          <a:p>
            <a:pPr algn="l" indent="0" marL="0">
              <a:lnSpc>
                <a:spcPct val="115000"/>
              </a:lnSpc>
              <a:spcAft>
                <a:spcPts val="300"/>
              </a:spcAft>
              <a:buNone/>
            </a:pPr>
            <a:r>
              <a:rPr lang="en-US" sz="950" b="1" dirty="0">
                <a:solidFill>
                  <a:srgbClr val="2F6DB5"/>
                </a:solidFill>
                <a:latin typeface="BIZ UDPGothic" pitchFamily="34" charset="0"/>
                <a:ea typeface="BIZ UDPGothic" pitchFamily="34" charset="-122"/>
                <a:cs typeface="BIZ UDPGothic" pitchFamily="34" charset="-120"/>
              </a:rPr>
              <a:t>1,950時間との違い</a:t>
            </a:r>
            <a:endParaRPr lang="en-US" sz="950" dirty="0"/>
          </a:p>
          <a:p>
            <a:pPr algn="l" indent="0" marL="0">
              <a:lnSpc>
                <a:spcPct val="115000"/>
              </a:lnSpc>
              <a:spcAft>
                <a:spcPts val="300"/>
              </a:spcAft>
              <a:buNone/>
            </a:pPr>
            <a:r>
              <a:rPr lang="en-US" sz="950" b="1" dirty="0">
                <a:solidFill>
                  <a:srgbClr val="1F2933"/>
                </a:solidFill>
                <a:latin typeface="BIZ UDPGothic" pitchFamily="34" charset="0"/>
                <a:ea typeface="BIZ UDPGothic" pitchFamily="34" charset="-122"/>
                <a:cs typeface="BIZ UDPGothic" pitchFamily="34" charset="-120"/>
              </a:rPr>
              <a:t>1日8時間 × 約244日 ＝ 1,952時間</a:t>
            </a:r>
            <a:endParaRPr lang="en-US" sz="950" dirty="0"/>
          </a:p>
          <a:p>
            <a:pPr algn="l" indent="0" marL="0">
              <a:lnSpc>
                <a:spcPct val="115000"/>
              </a:lnSpc>
              <a:spcAft>
                <a:spcPts val="300"/>
              </a:spcAft>
              <a:buNone/>
            </a:pPr>
            <a:r>
              <a:rPr lang="en-US" sz="950" dirty="0">
                <a:solidFill>
                  <a:srgbClr val="1F2933"/>
                </a:solidFill>
                <a:latin typeface="BIZ UDPGothic" pitchFamily="34" charset="0"/>
                <a:ea typeface="BIZ UDPGothic" pitchFamily="34" charset="-122"/>
                <a:cs typeface="BIZ UDPGothic" pitchFamily="34" charset="-120"/>
              </a:rPr>
              <a:t>これは所定の時間の目安で、残業を含まない。統計の実績1,938時間は残業込み。値は近いが意味が違うので、計画は統計の実績を使う</a:t>
            </a:r>
            <a:endParaRPr lang="en-US" sz="950" dirty="0"/>
          </a:p>
        </p:txBody>
      </p:sp>
      <p:sp>
        <p:nvSpPr>
          <p:cNvPr id="11" name="Shape 7"/>
          <p:cNvSpPr/>
          <p:nvPr/>
        </p:nvSpPr>
        <p:spPr>
          <a:xfrm>
            <a:off x="4709160" y="2834640"/>
            <a:ext cx="4069080" cy="1600200"/>
          </a:xfrm>
          <a:prstGeom prst="rect">
            <a:avLst/>
          </a:prstGeom>
          <a:solidFill>
            <a:srgbClr val="FFFFFF"/>
          </a:solidFill>
          <a:ln w="19050">
            <a:solidFill>
              <a:srgbClr val="2F6DB5"/>
            </a:solidFill>
            <a:prstDash val="solid"/>
          </a:ln>
        </p:spPr>
      </p:sp>
      <p:sp>
        <p:nvSpPr>
          <p:cNvPr id="12" name="Text 8"/>
          <p:cNvSpPr txBox="1"/>
          <p:nvPr/>
        </p:nvSpPr>
        <p:spPr>
          <a:xfrm>
            <a:off x="4846320" y="2834640"/>
            <a:ext cx="3794760" cy="1600200"/>
          </a:xfrm>
          <a:prstGeom prst="rect">
            <a:avLst/>
          </a:prstGeom>
          <a:noFill/>
          <a:ln/>
        </p:spPr>
        <p:txBody>
          <a:bodyPr wrap="square" lIns="0" tIns="0" rIns="0" bIns="0" rtlCol="0" anchor="ctr"/>
          <a:lstStyle/>
          <a:p>
            <a:pPr algn="l" indent="0" marL="0">
              <a:lnSpc>
                <a:spcPct val="115000"/>
              </a:lnSpc>
              <a:spcAft>
                <a:spcPts val="300"/>
              </a:spcAft>
              <a:buNone/>
            </a:pPr>
            <a:r>
              <a:rPr lang="en-US" sz="950" b="1" dirty="0">
                <a:solidFill>
                  <a:srgbClr val="2F6DB5"/>
                </a:solidFill>
                <a:latin typeface="BIZ UDPGothic" pitchFamily="34" charset="0"/>
                <a:ea typeface="BIZ UDPGothic" pitchFamily="34" charset="-122"/>
                <a:cs typeface="BIZ UDPGothic" pitchFamily="34" charset="-120"/>
              </a:rPr>
              <a:t>なぜ残業を含めるか</a:t>
            </a:r>
            <a:endParaRPr lang="en-US" sz="950" dirty="0"/>
          </a:p>
          <a:p>
            <a:pPr algn="l" indent="0" marL="0">
              <a:lnSpc>
                <a:spcPct val="115000"/>
              </a:lnSpc>
              <a:spcAft>
                <a:spcPts val="300"/>
              </a:spcAft>
              <a:buNone/>
            </a:pPr>
            <a:r>
              <a:rPr lang="en-US" sz="950" dirty="0">
                <a:solidFill>
                  <a:srgbClr val="1F2933"/>
                </a:solidFill>
                <a:latin typeface="BIZ UDPGothic" pitchFamily="34" charset="0"/>
                <a:ea typeface="BIZ UDPGothic" pitchFamily="34" charset="-122"/>
                <a:cs typeface="BIZ UDPGothic" pitchFamily="34" charset="-120"/>
              </a:rPr>
              <a:t>年収には残業代が含まれるので、割る時間も残業を含めないと単価が高く出る。</a:t>
            </a:r>
            <a:endParaRPr lang="en-US" sz="950" dirty="0"/>
          </a:p>
          <a:p>
            <a:pPr algn="l" indent="0" marL="0">
              <a:lnSpc>
                <a:spcPct val="115000"/>
              </a:lnSpc>
              <a:spcAft>
                <a:spcPts val="300"/>
              </a:spcAft>
              <a:buNone/>
            </a:pPr>
            <a:r>
              <a:rPr lang="en-US" sz="950" dirty="0">
                <a:solidFill>
                  <a:srgbClr val="1F2933"/>
                </a:solidFill>
                <a:latin typeface="BIZ UDPGothic" pitchFamily="34" charset="0"/>
                <a:ea typeface="BIZ UDPGothic" pitchFamily="34" charset="-122"/>
                <a:cs typeface="BIZ UDPGothic" pitchFamily="34" charset="-120"/>
              </a:rPr>
              <a:t>書類の時間が減って残業が減るなら、その時間は割増25%の分だけ価値が高い（上振れ）</a:t>
            </a:r>
            <a:endParaRPr lang="en-US" sz="950" dirty="0"/>
          </a:p>
        </p:txBody>
      </p:sp>
      <p:sp>
        <p:nvSpPr>
          <p:cNvPr id="13" name="Text 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年収は令和5年の値（令和6年の職業情報提供サイトでも約548〜551万円）。施工管理技士の年収は標本が少なく使わない。原表（e-Stat）で確認する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お客様の効果</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p.9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削減時間：効果はAIグラスを掛けた班だけで数える</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「社員全員が減る」とは数えない。1拠点10台×1台1日35分で数える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sp>
        <p:nvSpPr>
          <p:cNvPr id="8" name="Shape 5"/>
          <p:cNvSpPr/>
          <p:nvPr/>
        </p:nvSpPr>
        <p:spPr>
          <a:xfrm>
            <a:off x="365760" y="1024128"/>
            <a:ext cx="4069080" cy="1371600"/>
          </a:xfrm>
          <a:prstGeom prst="rect">
            <a:avLst/>
          </a:prstGeom>
          <a:solidFill>
            <a:srgbClr val="EAF0F6"/>
          </a:solidFill>
          <a:ln/>
        </p:spPr>
      </p:sp>
      <p:sp>
        <p:nvSpPr>
          <p:cNvPr id="9" name="Text 6"/>
          <p:cNvSpPr txBox="1"/>
          <p:nvPr/>
        </p:nvSpPr>
        <p:spPr>
          <a:xfrm>
            <a:off x="502920" y="1024128"/>
            <a:ext cx="3794760" cy="1371600"/>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2F6DB5"/>
                </a:solidFill>
                <a:latin typeface="BIZ UDPGothic" pitchFamily="34" charset="0"/>
                <a:ea typeface="BIZ UDPGothic" pitchFamily="34" charset="-122"/>
                <a:cs typeface="BIZ UDPGothic" pitchFamily="34" charset="-120"/>
              </a:rPr>
              <a:t>式</a:t>
            </a:r>
            <a:endParaRPr lang="en-US" sz="950" dirty="0"/>
          </a:p>
          <a:p>
            <a:pPr algn="l" indent="0" marL="0">
              <a:lnSpc>
                <a:spcPct val="115000"/>
              </a:lnSpc>
              <a:spcAft>
                <a:spcPts val="200"/>
              </a:spcAft>
              <a:buNone/>
            </a:pPr>
            <a:r>
              <a:rPr lang="en-US" sz="950" dirty="0">
                <a:solidFill>
                  <a:srgbClr val="1F2933"/>
                </a:solidFill>
                <a:latin typeface="BIZ UDPGothic" pitchFamily="34" charset="0"/>
                <a:ea typeface="BIZ UDPGothic" pitchFamily="34" charset="-122"/>
                <a:cs typeface="BIZ UDPGothic" pitchFamily="34" charset="-120"/>
              </a:rPr>
              <a:t>10台 × 年240日 ×（職長15分×3,300円 ＋ 施工管理20分×3,700円）</a:t>
            </a:r>
            <a:endParaRPr lang="en-US" sz="950" dirty="0"/>
          </a:p>
          <a:p>
            <a:pPr algn="l" indent="0" marL="0">
              <a:lnSpc>
                <a:spcPct val="115000"/>
              </a:lnSpc>
              <a:spcAft>
                <a:spcPts val="200"/>
              </a:spcAft>
              <a:buNone/>
            </a:pPr>
            <a:r>
              <a:rPr lang="en-US" sz="1600" b="1" dirty="0">
                <a:solidFill>
                  <a:srgbClr val="2F6DB5"/>
                </a:solidFill>
                <a:latin typeface="BIZ UDPGothic" pitchFamily="34" charset="0"/>
                <a:ea typeface="BIZ UDPGothic" pitchFamily="34" charset="-122"/>
                <a:cs typeface="BIZ UDPGothic" pitchFamily="34" charset="-120"/>
              </a:rPr>
              <a:t>＝ 年 約499万円</a:t>
            </a:r>
            <a:endParaRPr lang="en-US" sz="950" dirty="0"/>
          </a:p>
          <a:p>
            <a:pPr algn="l" indent="0" marL="0">
              <a:lnSpc>
                <a:spcPct val="115000"/>
              </a:lnSpc>
              <a:spcAft>
                <a:spcPts val="200"/>
              </a:spcAft>
              <a:buNone/>
            </a:pPr>
            <a:r>
              <a:rPr lang="en-US" sz="900" dirty="0">
                <a:solidFill>
                  <a:srgbClr val="4A5563"/>
                </a:solidFill>
                <a:latin typeface="BIZ UDPGothic" pitchFamily="34" charset="0"/>
                <a:ea typeface="BIZ UDPGothic" pitchFamily="34" charset="-122"/>
                <a:cs typeface="BIZ UDPGothic" pitchFamily="34" charset="-120"/>
              </a:rPr>
              <a:t>浮く時間は年1,400時間（10台分）</a:t>
            </a:r>
            <a:endParaRPr lang="en-US" sz="950" dirty="0"/>
          </a:p>
        </p:txBody>
      </p:sp>
      <p:graphicFrame>
        <p:nvGraphicFramePr>
          <p:cNvPr id="7" name="minutes"/>
          <p:cNvGraphicFramePr>
            <a:graphicFrameLocks noGrp="1"/>
          </p:cNvGraphicFramePr>
          <p:nvPr>
            <p:extLst>
              <p:ext uri="{D42A27DB-BD31-4B8C-83A1-F6EECF244321}">
                <p14:modId xmlns:p14="http://schemas.microsoft.com/office/powerpoint/2010/main" val="1579011935"/>
              </p:ext>
            </p:extLst>
          </p:nvPr>
        </p:nvGraphicFramePr>
        <p:xfrm>
          <a:off x="365760" y="2505456"/>
          <a:ext cx="4069080" cy="914400"/>
        </p:xfrm>
        <a:graphic>
          <a:graphicData uri="http://schemas.openxmlformats.org/drawingml/2006/table">
            <a:tbl>
              <a:tblPr/>
              <a:tblGrid>
                <a:gridCol w="2423160"/>
                <a:gridCol w="1005840"/>
                <a:gridCol w="640080"/>
              </a:tblGrid>
              <a:tr h="274320">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中身（1台1日・仮説）</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誰の時間</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日報・撮影・黒板の書き込み</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職長</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15</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写真の整理・写真台帳・報告書</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施工管理者</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1" name="Text 7"/>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1台1日の削減分が変わったら</a:t>
            </a:r>
            <a:endParaRPr lang="en-US" sz="1050" dirty="0"/>
          </a:p>
        </p:txBody>
      </p:sp>
      <p:graphicFrame>
        <p:nvGraphicFramePr>
          <p:cNvPr id="13" name="sens"/>
          <p:cNvGraphicFramePr>
            <a:graphicFrameLocks noGrp="1"/>
          </p:cNvGraphicFramePr>
          <p:nvPr>
            <p:extLst>
              <p:ext uri="{D42A27DB-BD31-4B8C-83A1-F6EECF244321}">
                <p14:modId xmlns:p14="http://schemas.microsoft.com/office/powerpoint/2010/main" val="1579011935"/>
              </p:ext>
            </p:extLst>
          </p:nvPr>
        </p:nvGraphicFramePr>
        <p:xfrm>
          <a:off x="4709160" y="1298448"/>
          <a:ext cx="4069080" cy="914400"/>
        </p:xfrm>
        <a:graphic>
          <a:graphicData uri="http://schemas.openxmlformats.org/drawingml/2006/table">
            <a:tbl>
              <a:tblPr/>
              <a:tblGrid>
                <a:gridCol w="822960"/>
                <a:gridCol w="1325880"/>
                <a:gridCol w="868680"/>
                <a:gridCol w="1051560"/>
              </a:tblGrid>
              <a:tr h="274320">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1台1日</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お客様の効果（書類）</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÷費用</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手戻り込み</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25分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358万円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B365D"/>
                          </a:solidFill>
                          <a:latin typeface="BIZ UDPGothic" pitchFamily="34" charset="0"/>
                          <a:ea typeface="BIZ UDPGothic" pitchFamily="34" charset="-122"/>
                          <a:cs typeface="BIZ UDPGothic" pitchFamily="34" charset="-120"/>
                        </a:rPr>
                        <a:t>1.1倍</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2.2倍</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35分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900" b="1" dirty="0">
                          <a:solidFill>
                            <a:srgbClr val="1F2933"/>
                          </a:solidFill>
                          <a:latin typeface="BIZ UDPGothic" pitchFamily="34" charset="0"/>
                          <a:ea typeface="BIZ UDPGothic" pitchFamily="34" charset="-122"/>
                          <a:cs typeface="BIZ UDPGothic" pitchFamily="34" charset="-120"/>
                        </a:rPr>
                        <a:t>499万円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900" b="1" dirty="0">
                          <a:solidFill>
                            <a:srgbClr val="1B365D"/>
                          </a:solidFill>
                          <a:latin typeface="BIZ UDPGothic" pitchFamily="34" charset="0"/>
                          <a:ea typeface="BIZ UDPGothic" pitchFamily="34" charset="-122"/>
                          <a:cs typeface="BIZ UDPGothic" pitchFamily="34" charset="-120"/>
                        </a:rPr>
                        <a:t>1.5倍</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900" b="1" dirty="0">
                          <a:solidFill>
                            <a:srgbClr val="1F2933"/>
                          </a:solidFill>
                          <a:latin typeface="BIZ UDPGothic" pitchFamily="34" charset="0"/>
                          <a:ea typeface="BIZ UDPGothic" pitchFamily="34" charset="-122"/>
                          <a:cs typeface="BIZ UDPGothic" pitchFamily="34" charset="-120"/>
                        </a:rPr>
                        <a:t>2.6倍</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60分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857万円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B365D"/>
                          </a:solidFill>
                          <a:latin typeface="BIZ UDPGothic" pitchFamily="34" charset="0"/>
                          <a:ea typeface="BIZ UDPGothic" pitchFamily="34" charset="-122"/>
                          <a:cs typeface="BIZ UDPGothic" pitchFamily="34" charset="-120"/>
                        </a:rPr>
                        <a:t>2.6倍</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3.7倍</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3" name="Shape 8"/>
          <p:cNvSpPr/>
          <p:nvPr/>
        </p:nvSpPr>
        <p:spPr>
          <a:xfrm>
            <a:off x="4709160" y="2505456"/>
            <a:ext cx="4069080" cy="914400"/>
          </a:xfrm>
          <a:prstGeom prst="rect">
            <a:avLst/>
          </a:prstGeom>
          <a:solidFill>
            <a:srgbClr val="FFFFFF"/>
          </a:solidFill>
          <a:ln w="19050">
            <a:solidFill>
              <a:srgbClr val="2F6DB5"/>
            </a:solidFill>
            <a:prstDash val="solid"/>
          </a:ln>
        </p:spPr>
      </p:sp>
      <p:sp>
        <p:nvSpPr>
          <p:cNvPr id="14" name="Text 9"/>
          <p:cNvSpPr txBox="1"/>
          <p:nvPr/>
        </p:nvSpPr>
        <p:spPr>
          <a:xfrm>
            <a:off x="4846320" y="2505456"/>
            <a:ext cx="3794760" cy="914400"/>
          </a:xfrm>
          <a:prstGeom prst="rect">
            <a:avLst/>
          </a:prstGeom>
          <a:noFill/>
          <a:ln/>
        </p:spPr>
        <p:txBody>
          <a:bodyPr wrap="square" lIns="0" tIns="0" rIns="0" bIns="0" rtlCol="0" anchor="ctr"/>
          <a:lstStyle/>
          <a:p>
            <a:pPr algn="l" indent="0" marL="0">
              <a:lnSpc>
                <a:spcPct val="115000"/>
              </a:lnSpc>
              <a:buNone/>
            </a:pPr>
            <a:r>
              <a:rPr lang="en-US" sz="950" b="1" dirty="0">
                <a:solidFill>
                  <a:srgbClr val="2F6DB5"/>
                </a:solidFill>
                <a:latin typeface="BIZ UDPGothic" pitchFamily="34" charset="0"/>
                <a:ea typeface="BIZ UDPGothic" pitchFamily="34" charset="-122"/>
                <a:cs typeface="BIZ UDPGothic" pitchFamily="34" charset="-120"/>
              </a:rPr>
              <a:t>借りてきた数字は使わない</a:t>
            </a:r>
            <a:endParaRPr lang="en-US" sz="950" dirty="0"/>
          </a:p>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建設業の書類電子化の実績（月6.5時間）は原典を確認できておらず、ARグラスの効果とも違う。削減時間は実証で測る</a:t>
            </a:r>
            <a:endParaRPr lang="en-US" sz="950" dirty="0"/>
          </a:p>
        </p:txBody>
      </p:sp>
      <p:sp>
        <p:nvSpPr>
          <p:cNvPr id="15" name="Shape 10"/>
          <p:cNvSpPr/>
          <p:nvPr/>
        </p:nvSpPr>
        <p:spPr>
          <a:xfrm>
            <a:off x="365760" y="3611880"/>
            <a:ext cx="8412480" cy="841248"/>
          </a:xfrm>
          <a:prstGeom prst="rect">
            <a:avLst/>
          </a:prstGeom>
          <a:solidFill>
            <a:srgbClr val="1B365D"/>
          </a:solidFill>
          <a:ln/>
        </p:spPr>
      </p:sp>
      <p:sp>
        <p:nvSpPr>
          <p:cNvPr id="16" name="Text 11"/>
          <p:cNvSpPr txBox="1"/>
          <p:nvPr/>
        </p:nvSpPr>
        <p:spPr>
          <a:xfrm>
            <a:off x="502920" y="3611880"/>
            <a:ext cx="8138160" cy="841248"/>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F5C400"/>
                </a:solidFill>
                <a:latin typeface="BIZ UDPGothic" pitchFamily="34" charset="0"/>
                <a:ea typeface="BIZ UDPGothic" pitchFamily="34" charset="-122"/>
                <a:cs typeface="BIZ UDPGothic" pitchFamily="34" charset="-120"/>
              </a:rPr>
              <a:t>実証での測り方：</a:t>
            </a:r>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導入前2週間と導入後4週間で、日報・写真整理・写真台帳にかかった時間を、職長と施工管理者が毎日記録（作業ログとアプリの操作記録で裏付け）。</a:t>
            </a:r>
            <a:endParaRPr lang="en-US" sz="950" dirty="0"/>
          </a:p>
          <a:p>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合格ラインは1台1日23分以上（p.8）</a:t>
            </a:r>
            <a:endParaRPr lang="en-US" sz="950" dirty="0"/>
          </a:p>
        </p:txBody>
      </p:sp>
      <p:sp>
        <p:nvSpPr>
          <p:cNvPr id="17" name="Text 12"/>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年240日は端末を使う日数の見積。1拠点10台は「1班に1台・職長が掛ける」前提（p.10）</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お客様の効果</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p.7・9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手戻りと新人指導：実証で測るまで計画に入れない</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AIの出力がそのまま現場で使える前提の数字は、計画に入れない</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sp>
        <p:nvSpPr>
          <p:cNvPr id="8" name="Text 5"/>
          <p:cNvSpPr txBox="1"/>
          <p:nvPr/>
        </p:nvSpPr>
        <p:spPr>
          <a:xfrm>
            <a:off x="3657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手戻り：対象工種に絞って上振れに回す</a:t>
            </a:r>
            <a:endParaRPr lang="en-US" sz="1050" dirty="0"/>
          </a:p>
        </p:txBody>
      </p:sp>
      <p:sp>
        <p:nvSpPr>
          <p:cNvPr id="9" name="Shape 6"/>
          <p:cNvSpPr/>
          <p:nvPr/>
        </p:nvSpPr>
        <p:spPr>
          <a:xfrm>
            <a:off x="365760" y="1298448"/>
            <a:ext cx="4069080" cy="914400"/>
          </a:xfrm>
          <a:prstGeom prst="rect">
            <a:avLst/>
          </a:prstGeom>
          <a:solidFill>
            <a:srgbClr val="EAF0F6"/>
          </a:solidFill>
          <a:ln/>
        </p:spPr>
      </p:sp>
      <p:sp>
        <p:nvSpPr>
          <p:cNvPr id="10" name="Text 7"/>
          <p:cNvSpPr txBox="1"/>
          <p:nvPr/>
        </p:nvSpPr>
        <p:spPr>
          <a:xfrm>
            <a:off x="502920" y="1298448"/>
            <a:ext cx="3794760" cy="914400"/>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完成工事高30億円 × 手戻り2% × 対象工種30% × 削減20%</a:t>
            </a:r>
            <a:endParaRPr lang="en-US" sz="950" dirty="0"/>
          </a:p>
          <a:p>
            <a:pPr algn="l" indent="0" marL="0">
              <a:lnSpc>
                <a:spcPct val="115000"/>
              </a:lnSpc>
              <a:buNone/>
            </a:pPr>
            <a:r>
              <a:rPr lang="en-US" sz="950" b="1" dirty="0">
                <a:solidFill>
                  <a:srgbClr val="2F6DB5"/>
                </a:solidFill>
                <a:latin typeface="BIZ UDPGothic" pitchFamily="34" charset="0"/>
                <a:ea typeface="BIZ UDPGothic" pitchFamily="34" charset="-122"/>
                <a:cs typeface="BIZ UDPGothic" pitchFamily="34" charset="-120"/>
              </a:rPr>
              <a:t>＝ 年360万円（上振れ・計画に入れない）</a:t>
            </a:r>
            <a:endParaRPr lang="en-US" sz="950" dirty="0"/>
          </a:p>
        </p:txBody>
      </p:sp>
      <p:sp>
        <p:nvSpPr>
          <p:cNvPr id="11" name="Text 8"/>
          <p:cNvSpPr txBox="1"/>
          <p:nvPr/>
        </p:nvSpPr>
        <p:spPr>
          <a:xfrm>
            <a:off x="365760" y="2322576"/>
            <a:ext cx="4069080" cy="1188720"/>
          </a:xfrm>
          <a:prstGeom prst="rect">
            <a:avLst/>
          </a:prstGeom>
          <a:noFill/>
          <a:ln/>
        </p:spPr>
        <p:txBody>
          <a:bodyPr wrap="square" lIns="0" tIns="0" rIns="0" bIns="0" rtlCol="0" anchor="t"/>
          <a:lstStyle/>
          <a:p>
            <a:pPr algn="l" indent="0" marL="0">
              <a:lnSpc>
                <a:spcPct val="115000"/>
              </a:lnSpc>
              <a:spcAft>
                <a:spcPts val="200"/>
              </a:spcAft>
              <a:buNone/>
            </a:pPr>
            <a:r>
              <a:rPr lang="en-US" sz="950" b="1" dirty="0">
                <a:solidFill>
                  <a:srgbClr val="2F6DB5"/>
                </a:solidFill>
                <a:latin typeface="BIZ UDPGothic" pitchFamily="34" charset="0"/>
                <a:ea typeface="BIZ UDPGothic" pitchFamily="34" charset="-122"/>
                <a:cs typeface="BIZ UDPGothic" pitchFamily="34" charset="-120"/>
              </a:rPr>
              <a:t>かかる手間（当社）</a:t>
            </a:r>
            <a:endParaRPr lang="en-US" sz="950" dirty="0"/>
          </a:p>
          <a:p>
            <a:pPr algn="l" indent="0" marL="0">
              <a:lnSpc>
                <a:spcPct val="115000"/>
              </a:lnSpc>
              <a:spcAft>
                <a:spcPts val="200"/>
              </a:spcAft>
              <a:buNone/>
            </a:pPr>
            <a:r>
              <a:rPr lang="en-US" sz="950" dirty="0">
                <a:solidFill>
                  <a:srgbClr val="1F2933"/>
                </a:solidFill>
                <a:latin typeface="BIZ UDPGothic" pitchFamily="34" charset="0"/>
                <a:ea typeface="BIZ UDPGothic" pitchFamily="34" charset="-122"/>
                <a:cs typeface="BIZ UDPGothic" pitchFamily="34" charset="-120"/>
              </a:rPr>
              <a:t>・AIの出力はそのまま報告書にならない。現場監修が確認する</a:t>
            </a:r>
            <a:endParaRPr lang="en-US" sz="950" dirty="0"/>
          </a:p>
          <a:p>
            <a:pPr algn="l" indent="0" marL="0">
              <a:lnSpc>
                <a:spcPct val="115000"/>
              </a:lnSpc>
              <a:spcAft>
                <a:spcPts val="200"/>
              </a:spcAft>
              <a:buNone/>
            </a:pPr>
            <a:r>
              <a:rPr lang="en-US" sz="950" dirty="0">
                <a:solidFill>
                  <a:srgbClr val="1F2933"/>
                </a:solidFill>
                <a:latin typeface="BIZ UDPGothic" pitchFamily="34" charset="0"/>
                <a:ea typeface="BIZ UDPGothic" pitchFamily="34" charset="-122"/>
                <a:cs typeface="BIZ UDPGothic" pitchFamily="34" charset="-120"/>
              </a:rPr>
              <a:t>・工種ごとに組立図の3D化とミス事例の登録がいる</a:t>
            </a:r>
            <a:endParaRPr lang="en-US" sz="950" dirty="0"/>
          </a:p>
          <a:p>
            <a:pPr algn="l" indent="0" marL="0">
              <a:lnSpc>
                <a:spcPct val="115000"/>
              </a:lnSpc>
              <a:spcAft>
                <a:spcPts val="200"/>
              </a:spcAft>
              <a:buNone/>
            </a:pPr>
            <a:r>
              <a:rPr lang="en-US" sz="950" dirty="0">
                <a:solidFill>
                  <a:srgbClr val="1F2933"/>
                </a:solidFill>
                <a:latin typeface="BIZ UDPGothic" pitchFamily="34" charset="0"/>
                <a:ea typeface="BIZ UDPGothic" pitchFamily="34" charset="-122"/>
                <a:cs typeface="BIZ UDPGothic" pitchFamily="34" charset="-120"/>
              </a:rPr>
              <a:t>→ 導入支援と現場監修の人件費として、当社の費用に入れた</a:t>
            </a:r>
            <a:endParaRPr lang="en-US" sz="950" dirty="0"/>
          </a:p>
        </p:txBody>
      </p:sp>
      <p:sp>
        <p:nvSpPr>
          <p:cNvPr id="12" name="Text 9"/>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新人指導：金額にせず、3つの数で測る</a:t>
            </a:r>
            <a:endParaRPr lang="en-US" sz="1050" dirty="0"/>
          </a:p>
        </p:txBody>
      </p:sp>
      <p:sp>
        <p:nvSpPr>
          <p:cNvPr id="13" name="Shape 10"/>
          <p:cNvSpPr/>
          <p:nvPr/>
        </p:nvSpPr>
        <p:spPr>
          <a:xfrm>
            <a:off x="4709160" y="1298448"/>
            <a:ext cx="4069080" cy="914400"/>
          </a:xfrm>
          <a:prstGeom prst="rect">
            <a:avLst/>
          </a:prstGeom>
          <a:solidFill>
            <a:srgbClr val="FFFFFF"/>
          </a:solidFill>
          <a:ln w="19050">
            <a:solidFill>
              <a:srgbClr val="2F6DB5"/>
            </a:solidFill>
            <a:prstDash val="solid"/>
          </a:ln>
        </p:spPr>
      </p:sp>
      <p:sp>
        <p:nvSpPr>
          <p:cNvPr id="14" name="Text 11"/>
          <p:cNvSpPr txBox="1"/>
          <p:nvPr/>
        </p:nvSpPr>
        <p:spPr>
          <a:xfrm>
            <a:off x="4846320" y="1298448"/>
            <a:ext cx="3794760" cy="914400"/>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指導は他の仕事と混ざっていて、何を指導時間とするか決められない。年144万円は計画から外す</a:t>
            </a:r>
            <a:endParaRPr lang="en-US" sz="950" dirty="0"/>
          </a:p>
        </p:txBody>
      </p:sp>
      <p:graphicFrame>
        <p:nvGraphicFramePr>
          <p:cNvPr id="8" name="coach"/>
          <p:cNvGraphicFramePr>
            <a:graphicFrameLocks noGrp="1"/>
          </p:cNvGraphicFramePr>
          <p:nvPr>
            <p:extLst>
              <p:ext uri="{D42A27DB-BD31-4B8C-83A1-F6EECF244321}">
                <p14:modId xmlns:p14="http://schemas.microsoft.com/office/powerpoint/2010/main" val="1579011935"/>
              </p:ext>
            </p:extLst>
          </p:nvPr>
        </p:nvGraphicFramePr>
        <p:xfrm>
          <a:off x="4709160" y="2322576"/>
          <a:ext cx="4069080" cy="914400"/>
        </p:xfrm>
        <a:graphic>
          <a:graphicData uri="http://schemas.openxmlformats.org/drawingml/2006/table">
            <a:tbl>
              <a:tblPr/>
              <a:tblGrid>
                <a:gridCol w="1463040"/>
                <a:gridCol w="2606040"/>
              </a:tblGrid>
              <a:tr h="274320">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測る数</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測り方</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独り立ちまでの月数</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職長が「一人で任せられる」と判定した日</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先輩が付き添った時間</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日報に付き添いの時間を記録</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新人のやり直し件数</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検査での指摘・やり直しの記録</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6" name="Shape 12"/>
          <p:cNvSpPr/>
          <p:nvPr/>
        </p:nvSpPr>
        <p:spPr>
          <a:xfrm>
            <a:off x="365760" y="3611880"/>
            <a:ext cx="8412480" cy="841248"/>
          </a:xfrm>
          <a:prstGeom prst="rect">
            <a:avLst/>
          </a:prstGeom>
          <a:solidFill>
            <a:srgbClr val="1B365D"/>
          </a:solidFill>
          <a:ln/>
        </p:spPr>
      </p:sp>
      <p:sp>
        <p:nvSpPr>
          <p:cNvPr id="17" name="Text 13"/>
          <p:cNvSpPr txBox="1"/>
          <p:nvPr/>
        </p:nvSpPr>
        <p:spPr>
          <a:xfrm>
            <a:off x="502920" y="3611880"/>
            <a:ext cx="8138160" cy="841248"/>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F5C400"/>
                </a:solidFill>
                <a:latin typeface="BIZ UDPGothic" pitchFamily="34" charset="0"/>
                <a:ea typeface="BIZ UDPGothic" pitchFamily="34" charset="-122"/>
                <a:cs typeface="BIZ UDPGothic" pitchFamily="34" charset="-120"/>
              </a:rPr>
              <a:t>計画に入れるのは書類の削減だけ：</a:t>
            </a:r>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年499万円。手戻り360万円と新人指導は、実証で数字が出てから加える。</a:t>
            </a:r>
            <a:endParaRPr lang="en-US" sz="950" dirty="0"/>
          </a:p>
          <a:p>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本編の導入効果（p.7）は、書類の時間だけで示している</a:t>
            </a:r>
            <a:endParaRPr lang="en-US" sz="950" dirty="0"/>
          </a:p>
        </p:txBody>
      </p:sp>
      <p:sp>
        <p:nvSpPr>
          <p:cNvPr id="18" name="Text 14"/>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手戻り率2%は海外研究の範囲（工事費の0.4〜6%）から控えめに置いた。対象工種30%・削減20%は仮説</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お客様の効果</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p.9・21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お客様が元を取る条件：1台1日23分</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お客様の支払いは「当社への利用料」と「グラスのリース」。初年度は導入支援も</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9" name="custcost"/>
          <p:cNvGraphicFramePr>
            <a:graphicFrameLocks noGrp="1"/>
          </p:cNvGraphicFramePr>
          <p:nvPr>
            <p:extLst>
              <p:ext uri="{D42A27DB-BD31-4B8C-83A1-F6EECF244321}">
                <p14:modId xmlns:p14="http://schemas.microsoft.com/office/powerpoint/2010/main" val="1579011935"/>
              </p:ext>
            </p:extLst>
          </p:nvPr>
        </p:nvGraphicFramePr>
        <p:xfrm>
          <a:off x="365760" y="1024128"/>
          <a:ext cx="4069080" cy="914400"/>
        </p:xfrm>
        <a:graphic>
          <a:graphicData uri="http://schemas.openxmlformats.org/drawingml/2006/table">
            <a:tbl>
              <a:tblPr/>
              <a:tblGrid>
                <a:gridCol w="3154680"/>
                <a:gridCol w="914400"/>
              </a:tblGrid>
              <a:tr h="274320">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お客様の支払い（1拠点・年）</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当社：基盤 月5万円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60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当社：端末ライセンス 月2万円×10台</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240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リース：カメラ付きAIグラス8台</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リース：表示付きARグラス2台</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9</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2年目以降の合計</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332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初年度は＋導入支援</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Shape 5"/>
          <p:cNvSpPr/>
          <p:nvPr/>
        </p:nvSpPr>
        <p:spPr>
          <a:xfrm>
            <a:off x="365760" y="3035808"/>
            <a:ext cx="4069080" cy="566928"/>
          </a:xfrm>
          <a:prstGeom prst="rect">
            <a:avLst/>
          </a:prstGeom>
          <a:solidFill>
            <a:srgbClr val="EAF0F6"/>
          </a:solidFill>
          <a:ln/>
        </p:spPr>
      </p:sp>
      <p:sp>
        <p:nvSpPr>
          <p:cNvPr id="10" name="Text 6"/>
          <p:cNvSpPr txBox="1"/>
          <p:nvPr/>
        </p:nvSpPr>
        <p:spPr>
          <a:xfrm>
            <a:off x="502920" y="3035808"/>
            <a:ext cx="3794760" cy="566928"/>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332万円 ÷（10台×240日）＝ 1台1日 約1,382円</a:t>
            </a:r>
            <a:endParaRPr lang="en-US" sz="950" dirty="0"/>
          </a:p>
          <a:p>
            <a:pPr algn="l" indent="0" marL="0">
              <a:lnSpc>
                <a:spcPct val="115000"/>
              </a:lnSpc>
              <a:buNone/>
            </a:pPr>
            <a:r>
              <a:rPr lang="en-US" sz="950" b="1" dirty="0">
                <a:solidFill>
                  <a:srgbClr val="2F6DB5"/>
                </a:solidFill>
                <a:latin typeface="BIZ UDPGothic" pitchFamily="34" charset="0"/>
                <a:ea typeface="BIZ UDPGothic" pitchFamily="34" charset="-122"/>
                <a:cs typeface="BIZ UDPGothic" pitchFamily="34" charset="-120"/>
              </a:rPr>
              <a:t>→ 今の単価で約23分減れば元が取れる</a:t>
            </a:r>
            <a:endParaRPr lang="en-US" sz="950" dirty="0"/>
          </a:p>
        </p:txBody>
      </p:sp>
      <p:sp>
        <p:nvSpPr>
          <p:cNvPr id="11" name="Text 7"/>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値段を下げたら？ 台数を増やしたら？</a:t>
            </a:r>
            <a:endParaRPr lang="en-US" sz="1050" dirty="0"/>
          </a:p>
        </p:txBody>
      </p:sp>
      <p:graphicFrame>
        <p:nvGraphicFramePr>
          <p:cNvPr id="17" name="options"/>
          <p:cNvGraphicFramePr>
            <a:graphicFrameLocks noGrp="1"/>
          </p:cNvGraphicFramePr>
          <p:nvPr>
            <p:extLst>
              <p:ext uri="{D42A27DB-BD31-4B8C-83A1-F6EECF244321}">
                <p14:modId xmlns:p14="http://schemas.microsoft.com/office/powerpoint/2010/main" val="1579011935"/>
              </p:ext>
            </p:extLst>
          </p:nvPr>
        </p:nvGraphicFramePr>
        <p:xfrm>
          <a:off x="4709160" y="1298448"/>
          <a:ext cx="4069080" cy="914400"/>
        </p:xfrm>
        <a:graphic>
          <a:graphicData uri="http://schemas.openxmlformats.org/drawingml/2006/table">
            <a:tbl>
              <a:tblPr/>
              <a:tblGrid>
                <a:gridCol w="2057400"/>
                <a:gridCol w="1005840"/>
                <a:gridCol w="1005840"/>
              </a:tblGrid>
              <a:tr h="292608">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案</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お客様の倍率</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当社の黒字化</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9260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月25万円・10台（計画）</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1.5倍</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しない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月18万円に値下げ</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2.0倍</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62828"/>
                          </a:solidFill>
                          <a:latin typeface="BIZ UDPGothic" pitchFamily="34" charset="0"/>
                          <a:ea typeface="BIZ UDPGothic" pitchFamily="34" charset="-122"/>
                          <a:cs typeface="BIZ UDPGothic" pitchFamily="34" charset="-120"/>
                        </a:rPr>
                        <a:t>しない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15台に増やす（同じ単価）</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1.5倍</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F2933"/>
                          </a:solidFill>
                          <a:latin typeface="BIZ UDPGothic" pitchFamily="34" charset="0"/>
                          <a:ea typeface="BIZ UDPGothic" pitchFamily="34" charset="-122"/>
                          <a:cs typeface="BIZ UDPGothic" pitchFamily="34" charset="-120"/>
                        </a:rPr>
                        <a:t>5年目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3" name="Text 8"/>
          <p:cNvSpPr txBox="1"/>
          <p:nvPr/>
        </p:nvSpPr>
        <p:spPr>
          <a:xfrm>
            <a:off x="4709160" y="2532888"/>
            <a:ext cx="4069080" cy="548640"/>
          </a:xfrm>
          <a:prstGeom prst="rect">
            <a:avLst/>
          </a:prstGeom>
          <a:noFill/>
          <a:ln/>
        </p:spPr>
        <p:txBody>
          <a:bodyPr wrap="square" lIns="0" tIns="0" rIns="0" bIns="0" rtlCol="0" anchor="t"/>
          <a:lstStyle/>
          <a:p>
            <a:pPr algn="l" indent="0" marL="0">
              <a:lnSpc>
                <a:spcPct val="115000"/>
              </a:lnSpc>
              <a:buNone/>
            </a:pPr>
            <a:r>
              <a:rPr lang="en-US" sz="900" dirty="0">
                <a:solidFill>
                  <a:srgbClr val="4A5563"/>
                </a:solidFill>
                <a:latin typeface="BIZ UDPGothic" pitchFamily="34" charset="0"/>
                <a:ea typeface="BIZ UDPGothic" pitchFamily="34" charset="-122"/>
                <a:cs typeface="BIZ UDPGothic" pitchFamily="34" charset="-120"/>
              </a:rPr>
              <a:t>台数を増やしても、お客様の倍率は1台あたりの効果で決まるので変わらない。当社は1拠点の売上が増えて黒字化が早まる</a:t>
            </a:r>
            <a:endParaRPr lang="en-US" sz="900" dirty="0"/>
          </a:p>
        </p:txBody>
      </p:sp>
      <p:sp>
        <p:nvSpPr>
          <p:cNvPr id="14" name="Shape 9"/>
          <p:cNvSpPr/>
          <p:nvPr/>
        </p:nvSpPr>
        <p:spPr>
          <a:xfrm>
            <a:off x="365760" y="3611880"/>
            <a:ext cx="8412480" cy="841248"/>
          </a:xfrm>
          <a:prstGeom prst="rect">
            <a:avLst/>
          </a:prstGeom>
          <a:solidFill>
            <a:srgbClr val="1B365D"/>
          </a:solidFill>
          <a:ln/>
        </p:spPr>
      </p:sp>
      <p:sp>
        <p:nvSpPr>
          <p:cNvPr id="15" name="Text 10"/>
          <p:cNvSpPr txBox="1"/>
          <p:nvPr/>
        </p:nvSpPr>
        <p:spPr>
          <a:xfrm>
            <a:off x="502920" y="3611880"/>
            <a:ext cx="8138160" cy="841248"/>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F5C400"/>
                </a:solidFill>
                <a:latin typeface="BIZ UDPGothic" pitchFamily="34" charset="0"/>
                <a:ea typeface="BIZ UDPGothic" pitchFamily="34" charset="-122"/>
                <a:cs typeface="BIZ UDPGothic" pitchFamily="34" charset="-120"/>
              </a:rPr>
              <a:t>結論：</a:t>
            </a:r>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値下げでは当社が持たない（10台のままでも5年で黒字にならない）。①1台あたりの削減時間を上げる（写真台帳・日報の自動化を最優先）②手戻りを実測する ③効果が出た班から台数を増やす。</a:t>
            </a:r>
            <a:endParaRPr lang="en-US" sz="950" dirty="0"/>
          </a:p>
          <a:p>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実証の合格ライン：1台1日23分以上の削減、または手戻りの減少を記録で示せること</a:t>
            </a:r>
            <a:endParaRPr lang="en-US" sz="950" dirty="0"/>
          </a:p>
        </p:txBody>
      </p:sp>
      <p:sp>
        <p:nvSpPr>
          <p:cNvPr id="16" name="Text 11"/>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リース料はグラスの価格×3年リースの料率約3%／月の見積。グラスの価格は p.29</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値段と原価</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p.3・20・21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値段の内訳：「会社の基盤」＋「端末の台数」</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会社に1つかかる費用と、端末1台ごとにかかる費用を分けた。標準の10台で年300万円</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10" name="price"/>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1508760"/>
                <a:gridCol w="1463040"/>
                <a:gridCol w="4343400"/>
                <a:gridCol w="1097280"/>
              </a:tblGrid>
              <a:tr h="347472">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項目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値段</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中身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当社の原価</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4747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基盤（1拠点）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月5万円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会社ごとのデータ保管庫・管理画面・図面と手順の登録・権限・月次の効果レポート・問い合わせ窓口</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月1万円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端末ライセンス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月2万円／台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記録 → 写真の自動抽出 → 日報・写真台帳を各社の書式で作成。録画は端末に無制限、AIで解析する場面に月の上限、超過は従量</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月0.6万円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グラス本体</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当社の売上外</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お客様の名義でリース、手続きは当社が代行（p.29）。当社は機種の選定・設定</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導入支援（初年度）</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200万円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約2か月・42人日（p.13）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141万円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オプション：教材化</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月5万円／拠点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熟練者の作業を手順の動画と注意点にまとめる（年4本まで）</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現場監修の時間</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オプション：手元AR</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初期50万円／工種＋月1万円／台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組立図の3D化とミス事例の登録。表示付きグラスでミスしやすい所を警告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3D化の作業</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定着の支援</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利用料に含む</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月1回の効果レポートと改善の打合せ、四半期ごとの現場巡回、報告書の型の手直し</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導入コンサルタント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Shape 5"/>
          <p:cNvSpPr/>
          <p:nvPr/>
        </p:nvSpPr>
        <p:spPr>
          <a:xfrm>
            <a:off x="365760" y="3886200"/>
            <a:ext cx="8412480" cy="566928"/>
          </a:xfrm>
          <a:prstGeom prst="rect">
            <a:avLst/>
          </a:prstGeom>
          <a:solidFill>
            <a:srgbClr val="FFFFFF"/>
          </a:solidFill>
          <a:ln w="19050">
            <a:solidFill>
              <a:srgbClr val="2F6DB5"/>
            </a:solidFill>
            <a:prstDash val="solid"/>
          </a:ln>
        </p:spPr>
      </p:sp>
      <p:sp>
        <p:nvSpPr>
          <p:cNvPr id="10" name="Text 6"/>
          <p:cNvSpPr txBox="1"/>
          <p:nvPr/>
        </p:nvSpPr>
        <p:spPr>
          <a:xfrm>
            <a:off x="502920" y="3886200"/>
            <a:ext cx="8138160" cy="566928"/>
          </a:xfrm>
          <a:prstGeom prst="rect">
            <a:avLst/>
          </a:prstGeom>
          <a:noFill/>
          <a:ln/>
        </p:spPr>
        <p:txBody>
          <a:bodyPr wrap="square" lIns="0" tIns="0" rIns="0" bIns="0" rtlCol="0" anchor="ctr"/>
          <a:lstStyle/>
          <a:p>
            <a:pPr algn="l" indent="0" marL="0">
              <a:lnSpc>
                <a:spcPct val="115000"/>
              </a:lnSpc>
              <a:buNone/>
            </a:pPr>
            <a:r>
              <a:rPr lang="en-US" sz="950" b="1" dirty="0">
                <a:solidFill>
                  <a:srgbClr val="2F6DB5"/>
                </a:solidFill>
                <a:latin typeface="BIZ UDPGothic" pitchFamily="34" charset="0"/>
                <a:ea typeface="BIZ UDPGothic" pitchFamily="34" charset="-122"/>
                <a:cs typeface="BIZ UDPGothic" pitchFamily="34" charset="-120"/>
              </a:rPr>
              <a:t>考え方：</a:t>
            </a:r>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会社に1つかかる費用は基盤で、端末1台ごとにかかるAIの処理代はライセンスで回収する。台数が増えるほど売上も原価も増え、粗利率は崩れない。オプションは計画の売上に入れない（上振れ）</a:t>
            </a:r>
            <a:endParaRPr lang="en-US" sz="950" dirty="0"/>
          </a:p>
        </p:txBody>
      </p:sp>
      <p:sp>
        <p:nvSpPr>
          <p:cNvPr id="11" name="Text 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値段はすべて見積。実証3社で「月25万円なら払うか」「端末1台いくらなら増やすか」を聞いて決める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値段と原価</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p.13・21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端末の台数：全員には配らない。1班に1台</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5人の現場が5つで25台、とはしない。班の作業が映る職長の視点を記録する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sp>
        <p:nvSpPr>
          <p:cNvPr id="8" name="Text 5"/>
          <p:cNvSpPr txBox="1"/>
          <p:nvPr/>
        </p:nvSpPr>
        <p:spPr>
          <a:xfrm>
            <a:off x="3657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1拠点（100人）の例</a:t>
            </a:r>
            <a:endParaRPr lang="en-US" sz="1050" dirty="0"/>
          </a:p>
        </p:txBody>
      </p:sp>
      <p:sp>
        <p:nvSpPr>
          <p:cNvPr id="9" name="Shape 6"/>
          <p:cNvSpPr/>
          <p:nvPr/>
        </p:nvSpPr>
        <p:spPr>
          <a:xfrm>
            <a:off x="365760" y="1316736"/>
            <a:ext cx="749808" cy="1188720"/>
          </a:xfrm>
          <a:prstGeom prst="rect">
            <a:avLst/>
          </a:prstGeom>
          <a:solidFill>
            <a:srgbClr val="FFFFFF"/>
          </a:solidFill>
          <a:ln w="12700">
            <a:solidFill>
              <a:srgbClr val="1B365D"/>
            </a:solidFill>
            <a:prstDash val="solid"/>
          </a:ln>
        </p:spPr>
      </p:sp>
      <p:sp>
        <p:nvSpPr>
          <p:cNvPr id="10" name="Text 7"/>
          <p:cNvSpPr txBox="1"/>
          <p:nvPr/>
        </p:nvSpPr>
        <p:spPr>
          <a:xfrm>
            <a:off x="365760" y="1335024"/>
            <a:ext cx="749808" cy="201168"/>
          </a:xfrm>
          <a:prstGeom prst="rect">
            <a:avLst/>
          </a:prstGeom>
          <a:noFill/>
          <a:ln/>
        </p:spPr>
        <p:txBody>
          <a:bodyPr wrap="square" lIns="0" tIns="0" rIns="0" bIns="0" rtlCol="0" anchor="t"/>
          <a:lstStyle/>
          <a:p>
            <a:pPr algn="ctr"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現場1</a:t>
            </a:r>
            <a:endParaRPr lang="en-US" sz="850" dirty="0"/>
          </a:p>
        </p:txBody>
      </p:sp>
      <p:sp>
        <p:nvSpPr>
          <p:cNvPr id="11" name="Shape 8"/>
          <p:cNvSpPr/>
          <p:nvPr/>
        </p:nvSpPr>
        <p:spPr>
          <a:xfrm>
            <a:off x="438912" y="1591056"/>
            <a:ext cx="201168" cy="201168"/>
          </a:xfrm>
          <a:prstGeom prst="ellipse">
            <a:avLst/>
          </a:prstGeom>
          <a:solidFill>
            <a:srgbClr val="2F6DB5"/>
          </a:solidFill>
          <a:ln/>
        </p:spPr>
      </p:sp>
      <p:sp>
        <p:nvSpPr>
          <p:cNvPr id="12" name="Shape 9"/>
          <p:cNvSpPr/>
          <p:nvPr/>
        </p:nvSpPr>
        <p:spPr>
          <a:xfrm>
            <a:off x="640080" y="1636776"/>
            <a:ext cx="128016" cy="128016"/>
          </a:xfrm>
          <a:prstGeom prst="ellipse">
            <a:avLst/>
          </a:prstGeom>
          <a:solidFill>
            <a:srgbClr val="7B8794"/>
          </a:solidFill>
          <a:ln/>
        </p:spPr>
      </p:sp>
      <p:sp>
        <p:nvSpPr>
          <p:cNvPr id="13" name="Shape 10"/>
          <p:cNvSpPr/>
          <p:nvPr/>
        </p:nvSpPr>
        <p:spPr>
          <a:xfrm>
            <a:off x="841248" y="1636776"/>
            <a:ext cx="128016" cy="128016"/>
          </a:xfrm>
          <a:prstGeom prst="ellipse">
            <a:avLst/>
          </a:prstGeom>
          <a:solidFill>
            <a:srgbClr val="7B8794"/>
          </a:solidFill>
          <a:ln/>
        </p:spPr>
      </p:sp>
      <p:sp>
        <p:nvSpPr>
          <p:cNvPr id="14" name="Shape 11"/>
          <p:cNvSpPr/>
          <p:nvPr/>
        </p:nvSpPr>
        <p:spPr>
          <a:xfrm>
            <a:off x="1042416" y="1636776"/>
            <a:ext cx="128016" cy="128016"/>
          </a:xfrm>
          <a:prstGeom prst="ellipse">
            <a:avLst/>
          </a:prstGeom>
          <a:solidFill>
            <a:srgbClr val="7B8794"/>
          </a:solidFill>
          <a:ln/>
        </p:spPr>
      </p:sp>
      <p:sp>
        <p:nvSpPr>
          <p:cNvPr id="15" name="Shape 12"/>
          <p:cNvSpPr/>
          <p:nvPr/>
        </p:nvSpPr>
        <p:spPr>
          <a:xfrm>
            <a:off x="438912" y="2029968"/>
            <a:ext cx="201168" cy="201168"/>
          </a:xfrm>
          <a:prstGeom prst="ellipse">
            <a:avLst/>
          </a:prstGeom>
          <a:solidFill>
            <a:srgbClr val="2F6DB5"/>
          </a:solidFill>
          <a:ln/>
        </p:spPr>
      </p:sp>
      <p:sp>
        <p:nvSpPr>
          <p:cNvPr id="16" name="Shape 13"/>
          <p:cNvSpPr/>
          <p:nvPr/>
        </p:nvSpPr>
        <p:spPr>
          <a:xfrm>
            <a:off x="640080" y="2075688"/>
            <a:ext cx="128016" cy="128016"/>
          </a:xfrm>
          <a:prstGeom prst="ellipse">
            <a:avLst/>
          </a:prstGeom>
          <a:solidFill>
            <a:srgbClr val="7B8794"/>
          </a:solidFill>
          <a:ln/>
        </p:spPr>
      </p:sp>
      <p:sp>
        <p:nvSpPr>
          <p:cNvPr id="17" name="Shape 14"/>
          <p:cNvSpPr/>
          <p:nvPr/>
        </p:nvSpPr>
        <p:spPr>
          <a:xfrm>
            <a:off x="841248" y="2075688"/>
            <a:ext cx="128016" cy="128016"/>
          </a:xfrm>
          <a:prstGeom prst="ellipse">
            <a:avLst/>
          </a:prstGeom>
          <a:solidFill>
            <a:srgbClr val="7B8794"/>
          </a:solidFill>
          <a:ln/>
        </p:spPr>
      </p:sp>
      <p:sp>
        <p:nvSpPr>
          <p:cNvPr id="18" name="Shape 15"/>
          <p:cNvSpPr/>
          <p:nvPr/>
        </p:nvSpPr>
        <p:spPr>
          <a:xfrm>
            <a:off x="1042416" y="2075688"/>
            <a:ext cx="128016" cy="128016"/>
          </a:xfrm>
          <a:prstGeom prst="ellipse">
            <a:avLst/>
          </a:prstGeom>
          <a:solidFill>
            <a:srgbClr val="7B8794"/>
          </a:solidFill>
          <a:ln/>
        </p:spPr>
      </p:sp>
      <p:sp>
        <p:nvSpPr>
          <p:cNvPr id="19" name="Shape 16"/>
          <p:cNvSpPr/>
          <p:nvPr/>
        </p:nvSpPr>
        <p:spPr>
          <a:xfrm>
            <a:off x="1188720" y="1316736"/>
            <a:ext cx="749808" cy="1188720"/>
          </a:xfrm>
          <a:prstGeom prst="rect">
            <a:avLst/>
          </a:prstGeom>
          <a:solidFill>
            <a:srgbClr val="FFFFFF"/>
          </a:solidFill>
          <a:ln w="12700">
            <a:solidFill>
              <a:srgbClr val="1B365D"/>
            </a:solidFill>
            <a:prstDash val="solid"/>
          </a:ln>
        </p:spPr>
      </p:sp>
      <p:sp>
        <p:nvSpPr>
          <p:cNvPr id="20" name="Text 17"/>
          <p:cNvSpPr txBox="1"/>
          <p:nvPr/>
        </p:nvSpPr>
        <p:spPr>
          <a:xfrm>
            <a:off x="1188720" y="1335024"/>
            <a:ext cx="749808" cy="201168"/>
          </a:xfrm>
          <a:prstGeom prst="rect">
            <a:avLst/>
          </a:prstGeom>
          <a:noFill/>
          <a:ln/>
        </p:spPr>
        <p:txBody>
          <a:bodyPr wrap="square" lIns="0" tIns="0" rIns="0" bIns="0" rtlCol="0" anchor="t"/>
          <a:lstStyle/>
          <a:p>
            <a:pPr algn="ctr"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現場2</a:t>
            </a:r>
            <a:endParaRPr lang="en-US" sz="850" dirty="0"/>
          </a:p>
        </p:txBody>
      </p:sp>
      <p:sp>
        <p:nvSpPr>
          <p:cNvPr id="21" name="Shape 18"/>
          <p:cNvSpPr/>
          <p:nvPr/>
        </p:nvSpPr>
        <p:spPr>
          <a:xfrm>
            <a:off x="1261872" y="1591056"/>
            <a:ext cx="201168" cy="201168"/>
          </a:xfrm>
          <a:prstGeom prst="ellipse">
            <a:avLst/>
          </a:prstGeom>
          <a:solidFill>
            <a:srgbClr val="2F6DB5"/>
          </a:solidFill>
          <a:ln/>
        </p:spPr>
      </p:sp>
      <p:sp>
        <p:nvSpPr>
          <p:cNvPr id="22" name="Shape 19"/>
          <p:cNvSpPr/>
          <p:nvPr/>
        </p:nvSpPr>
        <p:spPr>
          <a:xfrm>
            <a:off x="1463040" y="1636776"/>
            <a:ext cx="128016" cy="128016"/>
          </a:xfrm>
          <a:prstGeom prst="ellipse">
            <a:avLst/>
          </a:prstGeom>
          <a:solidFill>
            <a:srgbClr val="7B8794"/>
          </a:solidFill>
          <a:ln/>
        </p:spPr>
      </p:sp>
      <p:sp>
        <p:nvSpPr>
          <p:cNvPr id="23" name="Shape 20"/>
          <p:cNvSpPr/>
          <p:nvPr/>
        </p:nvSpPr>
        <p:spPr>
          <a:xfrm>
            <a:off x="1664208" y="1636776"/>
            <a:ext cx="128016" cy="128016"/>
          </a:xfrm>
          <a:prstGeom prst="ellipse">
            <a:avLst/>
          </a:prstGeom>
          <a:solidFill>
            <a:srgbClr val="7B8794"/>
          </a:solidFill>
          <a:ln/>
        </p:spPr>
      </p:sp>
      <p:sp>
        <p:nvSpPr>
          <p:cNvPr id="24" name="Shape 21"/>
          <p:cNvSpPr/>
          <p:nvPr/>
        </p:nvSpPr>
        <p:spPr>
          <a:xfrm>
            <a:off x="1865376" y="1636776"/>
            <a:ext cx="128016" cy="128016"/>
          </a:xfrm>
          <a:prstGeom prst="ellipse">
            <a:avLst/>
          </a:prstGeom>
          <a:solidFill>
            <a:srgbClr val="7B8794"/>
          </a:solidFill>
          <a:ln/>
        </p:spPr>
      </p:sp>
      <p:sp>
        <p:nvSpPr>
          <p:cNvPr id="25" name="Shape 22"/>
          <p:cNvSpPr/>
          <p:nvPr/>
        </p:nvSpPr>
        <p:spPr>
          <a:xfrm>
            <a:off x="1261872" y="2029968"/>
            <a:ext cx="201168" cy="201168"/>
          </a:xfrm>
          <a:prstGeom prst="ellipse">
            <a:avLst/>
          </a:prstGeom>
          <a:solidFill>
            <a:srgbClr val="2F6DB5"/>
          </a:solidFill>
          <a:ln/>
        </p:spPr>
      </p:sp>
      <p:sp>
        <p:nvSpPr>
          <p:cNvPr id="26" name="Shape 23"/>
          <p:cNvSpPr/>
          <p:nvPr/>
        </p:nvSpPr>
        <p:spPr>
          <a:xfrm>
            <a:off x="1463040" y="2075688"/>
            <a:ext cx="128016" cy="128016"/>
          </a:xfrm>
          <a:prstGeom prst="ellipse">
            <a:avLst/>
          </a:prstGeom>
          <a:solidFill>
            <a:srgbClr val="7B8794"/>
          </a:solidFill>
          <a:ln/>
        </p:spPr>
      </p:sp>
      <p:sp>
        <p:nvSpPr>
          <p:cNvPr id="27" name="Shape 24"/>
          <p:cNvSpPr/>
          <p:nvPr/>
        </p:nvSpPr>
        <p:spPr>
          <a:xfrm>
            <a:off x="1664208" y="2075688"/>
            <a:ext cx="128016" cy="128016"/>
          </a:xfrm>
          <a:prstGeom prst="ellipse">
            <a:avLst/>
          </a:prstGeom>
          <a:solidFill>
            <a:srgbClr val="7B8794"/>
          </a:solidFill>
          <a:ln/>
        </p:spPr>
      </p:sp>
      <p:sp>
        <p:nvSpPr>
          <p:cNvPr id="28" name="Shape 25"/>
          <p:cNvSpPr/>
          <p:nvPr/>
        </p:nvSpPr>
        <p:spPr>
          <a:xfrm>
            <a:off x="1865376" y="2075688"/>
            <a:ext cx="128016" cy="128016"/>
          </a:xfrm>
          <a:prstGeom prst="ellipse">
            <a:avLst/>
          </a:prstGeom>
          <a:solidFill>
            <a:srgbClr val="7B8794"/>
          </a:solidFill>
          <a:ln/>
        </p:spPr>
      </p:sp>
      <p:sp>
        <p:nvSpPr>
          <p:cNvPr id="29" name="Shape 26"/>
          <p:cNvSpPr/>
          <p:nvPr/>
        </p:nvSpPr>
        <p:spPr>
          <a:xfrm>
            <a:off x="2011680" y="1316736"/>
            <a:ext cx="749808" cy="1188720"/>
          </a:xfrm>
          <a:prstGeom prst="rect">
            <a:avLst/>
          </a:prstGeom>
          <a:solidFill>
            <a:srgbClr val="FFFFFF"/>
          </a:solidFill>
          <a:ln w="12700">
            <a:solidFill>
              <a:srgbClr val="1B365D"/>
            </a:solidFill>
            <a:prstDash val="solid"/>
          </a:ln>
        </p:spPr>
      </p:sp>
      <p:sp>
        <p:nvSpPr>
          <p:cNvPr id="30" name="Text 27"/>
          <p:cNvSpPr txBox="1"/>
          <p:nvPr/>
        </p:nvSpPr>
        <p:spPr>
          <a:xfrm>
            <a:off x="2011680" y="1335024"/>
            <a:ext cx="749808" cy="201168"/>
          </a:xfrm>
          <a:prstGeom prst="rect">
            <a:avLst/>
          </a:prstGeom>
          <a:noFill/>
          <a:ln/>
        </p:spPr>
        <p:txBody>
          <a:bodyPr wrap="square" lIns="0" tIns="0" rIns="0" bIns="0" rtlCol="0" anchor="t"/>
          <a:lstStyle/>
          <a:p>
            <a:pPr algn="ctr"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現場3</a:t>
            </a:r>
            <a:endParaRPr lang="en-US" sz="850" dirty="0"/>
          </a:p>
        </p:txBody>
      </p:sp>
      <p:sp>
        <p:nvSpPr>
          <p:cNvPr id="31" name="Shape 28"/>
          <p:cNvSpPr/>
          <p:nvPr/>
        </p:nvSpPr>
        <p:spPr>
          <a:xfrm>
            <a:off x="2084832" y="1591056"/>
            <a:ext cx="201168" cy="201168"/>
          </a:xfrm>
          <a:prstGeom prst="ellipse">
            <a:avLst/>
          </a:prstGeom>
          <a:solidFill>
            <a:srgbClr val="2F6DB5"/>
          </a:solidFill>
          <a:ln/>
        </p:spPr>
      </p:sp>
      <p:sp>
        <p:nvSpPr>
          <p:cNvPr id="32" name="Shape 29"/>
          <p:cNvSpPr/>
          <p:nvPr/>
        </p:nvSpPr>
        <p:spPr>
          <a:xfrm>
            <a:off x="2286000" y="1636776"/>
            <a:ext cx="128016" cy="128016"/>
          </a:xfrm>
          <a:prstGeom prst="ellipse">
            <a:avLst/>
          </a:prstGeom>
          <a:solidFill>
            <a:srgbClr val="7B8794"/>
          </a:solidFill>
          <a:ln/>
        </p:spPr>
      </p:sp>
      <p:sp>
        <p:nvSpPr>
          <p:cNvPr id="33" name="Shape 30"/>
          <p:cNvSpPr/>
          <p:nvPr/>
        </p:nvSpPr>
        <p:spPr>
          <a:xfrm>
            <a:off x="2487168" y="1636776"/>
            <a:ext cx="128016" cy="128016"/>
          </a:xfrm>
          <a:prstGeom prst="ellipse">
            <a:avLst/>
          </a:prstGeom>
          <a:solidFill>
            <a:srgbClr val="7B8794"/>
          </a:solidFill>
          <a:ln/>
        </p:spPr>
      </p:sp>
      <p:sp>
        <p:nvSpPr>
          <p:cNvPr id="34" name="Shape 31"/>
          <p:cNvSpPr/>
          <p:nvPr/>
        </p:nvSpPr>
        <p:spPr>
          <a:xfrm>
            <a:off x="2688336" y="1636776"/>
            <a:ext cx="128016" cy="128016"/>
          </a:xfrm>
          <a:prstGeom prst="ellipse">
            <a:avLst/>
          </a:prstGeom>
          <a:solidFill>
            <a:srgbClr val="7B8794"/>
          </a:solidFill>
          <a:ln/>
        </p:spPr>
      </p:sp>
      <p:sp>
        <p:nvSpPr>
          <p:cNvPr id="35" name="Shape 32"/>
          <p:cNvSpPr/>
          <p:nvPr/>
        </p:nvSpPr>
        <p:spPr>
          <a:xfrm>
            <a:off x="2084832" y="2029968"/>
            <a:ext cx="201168" cy="201168"/>
          </a:xfrm>
          <a:prstGeom prst="ellipse">
            <a:avLst/>
          </a:prstGeom>
          <a:solidFill>
            <a:srgbClr val="2F6DB5"/>
          </a:solidFill>
          <a:ln/>
        </p:spPr>
      </p:sp>
      <p:sp>
        <p:nvSpPr>
          <p:cNvPr id="36" name="Shape 33"/>
          <p:cNvSpPr/>
          <p:nvPr/>
        </p:nvSpPr>
        <p:spPr>
          <a:xfrm>
            <a:off x="2286000" y="2075688"/>
            <a:ext cx="128016" cy="128016"/>
          </a:xfrm>
          <a:prstGeom prst="ellipse">
            <a:avLst/>
          </a:prstGeom>
          <a:solidFill>
            <a:srgbClr val="7B8794"/>
          </a:solidFill>
          <a:ln/>
        </p:spPr>
      </p:sp>
      <p:sp>
        <p:nvSpPr>
          <p:cNvPr id="37" name="Shape 34"/>
          <p:cNvSpPr/>
          <p:nvPr/>
        </p:nvSpPr>
        <p:spPr>
          <a:xfrm>
            <a:off x="2487168" y="2075688"/>
            <a:ext cx="128016" cy="128016"/>
          </a:xfrm>
          <a:prstGeom prst="ellipse">
            <a:avLst/>
          </a:prstGeom>
          <a:solidFill>
            <a:srgbClr val="7B8794"/>
          </a:solidFill>
          <a:ln/>
        </p:spPr>
      </p:sp>
      <p:sp>
        <p:nvSpPr>
          <p:cNvPr id="38" name="Shape 35"/>
          <p:cNvSpPr/>
          <p:nvPr/>
        </p:nvSpPr>
        <p:spPr>
          <a:xfrm>
            <a:off x="2688336" y="2075688"/>
            <a:ext cx="128016" cy="128016"/>
          </a:xfrm>
          <a:prstGeom prst="ellipse">
            <a:avLst/>
          </a:prstGeom>
          <a:solidFill>
            <a:srgbClr val="7B8794"/>
          </a:solidFill>
          <a:ln/>
        </p:spPr>
      </p:sp>
      <p:sp>
        <p:nvSpPr>
          <p:cNvPr id="39" name="Shape 36"/>
          <p:cNvSpPr/>
          <p:nvPr/>
        </p:nvSpPr>
        <p:spPr>
          <a:xfrm>
            <a:off x="2834640" y="1316736"/>
            <a:ext cx="749808" cy="1188720"/>
          </a:xfrm>
          <a:prstGeom prst="rect">
            <a:avLst/>
          </a:prstGeom>
          <a:solidFill>
            <a:srgbClr val="FFFFFF"/>
          </a:solidFill>
          <a:ln w="12700">
            <a:solidFill>
              <a:srgbClr val="1B365D"/>
            </a:solidFill>
            <a:prstDash val="solid"/>
          </a:ln>
        </p:spPr>
      </p:sp>
      <p:sp>
        <p:nvSpPr>
          <p:cNvPr id="40" name="Text 37"/>
          <p:cNvSpPr txBox="1"/>
          <p:nvPr/>
        </p:nvSpPr>
        <p:spPr>
          <a:xfrm>
            <a:off x="2834640" y="1335024"/>
            <a:ext cx="749808" cy="201168"/>
          </a:xfrm>
          <a:prstGeom prst="rect">
            <a:avLst/>
          </a:prstGeom>
          <a:noFill/>
          <a:ln/>
        </p:spPr>
        <p:txBody>
          <a:bodyPr wrap="square" lIns="0" tIns="0" rIns="0" bIns="0" rtlCol="0" anchor="t"/>
          <a:lstStyle/>
          <a:p>
            <a:pPr algn="ctr"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現場4</a:t>
            </a:r>
            <a:endParaRPr lang="en-US" sz="850" dirty="0"/>
          </a:p>
        </p:txBody>
      </p:sp>
      <p:sp>
        <p:nvSpPr>
          <p:cNvPr id="41" name="Shape 38"/>
          <p:cNvSpPr/>
          <p:nvPr/>
        </p:nvSpPr>
        <p:spPr>
          <a:xfrm>
            <a:off x="2907792" y="1591056"/>
            <a:ext cx="201168" cy="201168"/>
          </a:xfrm>
          <a:prstGeom prst="ellipse">
            <a:avLst/>
          </a:prstGeom>
          <a:solidFill>
            <a:srgbClr val="2F6DB5"/>
          </a:solidFill>
          <a:ln/>
        </p:spPr>
      </p:sp>
      <p:sp>
        <p:nvSpPr>
          <p:cNvPr id="42" name="Shape 39"/>
          <p:cNvSpPr/>
          <p:nvPr/>
        </p:nvSpPr>
        <p:spPr>
          <a:xfrm>
            <a:off x="3108960" y="1636776"/>
            <a:ext cx="128016" cy="128016"/>
          </a:xfrm>
          <a:prstGeom prst="ellipse">
            <a:avLst/>
          </a:prstGeom>
          <a:solidFill>
            <a:srgbClr val="7B8794"/>
          </a:solidFill>
          <a:ln/>
        </p:spPr>
      </p:sp>
      <p:sp>
        <p:nvSpPr>
          <p:cNvPr id="43" name="Shape 40"/>
          <p:cNvSpPr/>
          <p:nvPr/>
        </p:nvSpPr>
        <p:spPr>
          <a:xfrm>
            <a:off x="3310128" y="1636776"/>
            <a:ext cx="128016" cy="128016"/>
          </a:xfrm>
          <a:prstGeom prst="ellipse">
            <a:avLst/>
          </a:prstGeom>
          <a:solidFill>
            <a:srgbClr val="7B8794"/>
          </a:solidFill>
          <a:ln/>
        </p:spPr>
      </p:sp>
      <p:sp>
        <p:nvSpPr>
          <p:cNvPr id="44" name="Shape 41"/>
          <p:cNvSpPr/>
          <p:nvPr/>
        </p:nvSpPr>
        <p:spPr>
          <a:xfrm>
            <a:off x="3511296" y="1636776"/>
            <a:ext cx="128016" cy="128016"/>
          </a:xfrm>
          <a:prstGeom prst="ellipse">
            <a:avLst/>
          </a:prstGeom>
          <a:solidFill>
            <a:srgbClr val="7B8794"/>
          </a:solidFill>
          <a:ln/>
        </p:spPr>
      </p:sp>
      <p:sp>
        <p:nvSpPr>
          <p:cNvPr id="45" name="Shape 42"/>
          <p:cNvSpPr/>
          <p:nvPr/>
        </p:nvSpPr>
        <p:spPr>
          <a:xfrm>
            <a:off x="2907792" y="2029968"/>
            <a:ext cx="201168" cy="201168"/>
          </a:xfrm>
          <a:prstGeom prst="ellipse">
            <a:avLst/>
          </a:prstGeom>
          <a:solidFill>
            <a:srgbClr val="2F6DB5"/>
          </a:solidFill>
          <a:ln/>
        </p:spPr>
      </p:sp>
      <p:sp>
        <p:nvSpPr>
          <p:cNvPr id="46" name="Shape 43"/>
          <p:cNvSpPr/>
          <p:nvPr/>
        </p:nvSpPr>
        <p:spPr>
          <a:xfrm>
            <a:off x="3108960" y="2075688"/>
            <a:ext cx="128016" cy="128016"/>
          </a:xfrm>
          <a:prstGeom prst="ellipse">
            <a:avLst/>
          </a:prstGeom>
          <a:solidFill>
            <a:srgbClr val="7B8794"/>
          </a:solidFill>
          <a:ln/>
        </p:spPr>
      </p:sp>
      <p:sp>
        <p:nvSpPr>
          <p:cNvPr id="47" name="Shape 44"/>
          <p:cNvSpPr/>
          <p:nvPr/>
        </p:nvSpPr>
        <p:spPr>
          <a:xfrm>
            <a:off x="3310128" y="2075688"/>
            <a:ext cx="128016" cy="128016"/>
          </a:xfrm>
          <a:prstGeom prst="ellipse">
            <a:avLst/>
          </a:prstGeom>
          <a:solidFill>
            <a:srgbClr val="7B8794"/>
          </a:solidFill>
          <a:ln/>
        </p:spPr>
      </p:sp>
      <p:sp>
        <p:nvSpPr>
          <p:cNvPr id="48" name="Shape 45"/>
          <p:cNvSpPr/>
          <p:nvPr/>
        </p:nvSpPr>
        <p:spPr>
          <a:xfrm>
            <a:off x="3511296" y="2075688"/>
            <a:ext cx="128016" cy="128016"/>
          </a:xfrm>
          <a:prstGeom prst="ellipse">
            <a:avLst/>
          </a:prstGeom>
          <a:solidFill>
            <a:srgbClr val="7B8794"/>
          </a:solidFill>
          <a:ln/>
        </p:spPr>
      </p:sp>
      <p:sp>
        <p:nvSpPr>
          <p:cNvPr id="49" name="Shape 46"/>
          <p:cNvSpPr/>
          <p:nvPr/>
        </p:nvSpPr>
        <p:spPr>
          <a:xfrm>
            <a:off x="3657600" y="1316736"/>
            <a:ext cx="749808" cy="1188720"/>
          </a:xfrm>
          <a:prstGeom prst="rect">
            <a:avLst/>
          </a:prstGeom>
          <a:solidFill>
            <a:srgbClr val="FFFFFF"/>
          </a:solidFill>
          <a:ln w="12700">
            <a:solidFill>
              <a:srgbClr val="1B365D"/>
            </a:solidFill>
            <a:prstDash val="solid"/>
          </a:ln>
        </p:spPr>
      </p:sp>
      <p:sp>
        <p:nvSpPr>
          <p:cNvPr id="50" name="Text 47"/>
          <p:cNvSpPr txBox="1"/>
          <p:nvPr/>
        </p:nvSpPr>
        <p:spPr>
          <a:xfrm>
            <a:off x="3657600" y="1335024"/>
            <a:ext cx="749808" cy="201168"/>
          </a:xfrm>
          <a:prstGeom prst="rect">
            <a:avLst/>
          </a:prstGeom>
          <a:noFill/>
          <a:ln/>
        </p:spPr>
        <p:txBody>
          <a:bodyPr wrap="square" lIns="0" tIns="0" rIns="0" bIns="0" rtlCol="0" anchor="t"/>
          <a:lstStyle/>
          <a:p>
            <a:pPr algn="ctr"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現場5</a:t>
            </a:r>
            <a:endParaRPr lang="en-US" sz="850" dirty="0"/>
          </a:p>
        </p:txBody>
      </p:sp>
      <p:sp>
        <p:nvSpPr>
          <p:cNvPr id="51" name="Shape 48"/>
          <p:cNvSpPr/>
          <p:nvPr/>
        </p:nvSpPr>
        <p:spPr>
          <a:xfrm>
            <a:off x="3730752" y="1591056"/>
            <a:ext cx="201168" cy="201168"/>
          </a:xfrm>
          <a:prstGeom prst="ellipse">
            <a:avLst/>
          </a:prstGeom>
          <a:solidFill>
            <a:srgbClr val="2F6DB5"/>
          </a:solidFill>
          <a:ln/>
        </p:spPr>
      </p:sp>
      <p:sp>
        <p:nvSpPr>
          <p:cNvPr id="52" name="Shape 49"/>
          <p:cNvSpPr/>
          <p:nvPr/>
        </p:nvSpPr>
        <p:spPr>
          <a:xfrm>
            <a:off x="3931920" y="1636776"/>
            <a:ext cx="128016" cy="128016"/>
          </a:xfrm>
          <a:prstGeom prst="ellipse">
            <a:avLst/>
          </a:prstGeom>
          <a:solidFill>
            <a:srgbClr val="7B8794"/>
          </a:solidFill>
          <a:ln/>
        </p:spPr>
      </p:sp>
      <p:sp>
        <p:nvSpPr>
          <p:cNvPr id="53" name="Shape 50"/>
          <p:cNvSpPr/>
          <p:nvPr/>
        </p:nvSpPr>
        <p:spPr>
          <a:xfrm>
            <a:off x="4133088" y="1636776"/>
            <a:ext cx="128016" cy="128016"/>
          </a:xfrm>
          <a:prstGeom prst="ellipse">
            <a:avLst/>
          </a:prstGeom>
          <a:solidFill>
            <a:srgbClr val="7B8794"/>
          </a:solidFill>
          <a:ln/>
        </p:spPr>
      </p:sp>
      <p:sp>
        <p:nvSpPr>
          <p:cNvPr id="54" name="Shape 51"/>
          <p:cNvSpPr/>
          <p:nvPr/>
        </p:nvSpPr>
        <p:spPr>
          <a:xfrm>
            <a:off x="4334256" y="1636776"/>
            <a:ext cx="128016" cy="128016"/>
          </a:xfrm>
          <a:prstGeom prst="ellipse">
            <a:avLst/>
          </a:prstGeom>
          <a:solidFill>
            <a:srgbClr val="7B8794"/>
          </a:solidFill>
          <a:ln/>
        </p:spPr>
      </p:sp>
      <p:sp>
        <p:nvSpPr>
          <p:cNvPr id="55" name="Shape 52"/>
          <p:cNvSpPr/>
          <p:nvPr/>
        </p:nvSpPr>
        <p:spPr>
          <a:xfrm>
            <a:off x="3730752" y="2029968"/>
            <a:ext cx="201168" cy="201168"/>
          </a:xfrm>
          <a:prstGeom prst="ellipse">
            <a:avLst/>
          </a:prstGeom>
          <a:solidFill>
            <a:srgbClr val="2F6DB5"/>
          </a:solidFill>
          <a:ln/>
        </p:spPr>
      </p:sp>
      <p:sp>
        <p:nvSpPr>
          <p:cNvPr id="56" name="Shape 53"/>
          <p:cNvSpPr/>
          <p:nvPr/>
        </p:nvSpPr>
        <p:spPr>
          <a:xfrm>
            <a:off x="3931920" y="2075688"/>
            <a:ext cx="128016" cy="128016"/>
          </a:xfrm>
          <a:prstGeom prst="ellipse">
            <a:avLst/>
          </a:prstGeom>
          <a:solidFill>
            <a:srgbClr val="7B8794"/>
          </a:solidFill>
          <a:ln/>
        </p:spPr>
      </p:sp>
      <p:sp>
        <p:nvSpPr>
          <p:cNvPr id="57" name="Shape 54"/>
          <p:cNvSpPr/>
          <p:nvPr/>
        </p:nvSpPr>
        <p:spPr>
          <a:xfrm>
            <a:off x="4133088" y="2075688"/>
            <a:ext cx="128016" cy="128016"/>
          </a:xfrm>
          <a:prstGeom prst="ellipse">
            <a:avLst/>
          </a:prstGeom>
          <a:solidFill>
            <a:srgbClr val="7B8794"/>
          </a:solidFill>
          <a:ln/>
        </p:spPr>
      </p:sp>
      <p:sp>
        <p:nvSpPr>
          <p:cNvPr id="58" name="Shape 55"/>
          <p:cNvSpPr/>
          <p:nvPr/>
        </p:nvSpPr>
        <p:spPr>
          <a:xfrm>
            <a:off x="4334256" y="2075688"/>
            <a:ext cx="128016" cy="128016"/>
          </a:xfrm>
          <a:prstGeom prst="ellipse">
            <a:avLst/>
          </a:prstGeom>
          <a:solidFill>
            <a:srgbClr val="7B8794"/>
          </a:solidFill>
          <a:ln/>
        </p:spPr>
      </p:sp>
      <p:sp>
        <p:nvSpPr>
          <p:cNvPr id="59" name="Text 56"/>
          <p:cNvSpPr txBox="1"/>
          <p:nvPr/>
        </p:nvSpPr>
        <p:spPr>
          <a:xfrm>
            <a:off x="365760" y="2551176"/>
            <a:ext cx="4069080" cy="219456"/>
          </a:xfrm>
          <a:prstGeom prst="rect">
            <a:avLst/>
          </a:prstGeom>
          <a:noFill/>
          <a:ln/>
        </p:spPr>
        <p:txBody>
          <a:bodyPr wrap="square" lIns="0" tIns="0" rIns="0" bIns="0" rtlCol="0" anchor="t"/>
          <a:lstStyle/>
          <a:p>
            <a:pPr algn="l" indent="0" marL="0">
              <a:lnSpc>
                <a:spcPct val="115000"/>
              </a:lnSpc>
              <a:buNone/>
            </a:pPr>
            <a:r>
              <a:rPr lang="en-US" sz="900" b="1" dirty="0">
                <a:solidFill>
                  <a:srgbClr val="2F6DB5"/>
                </a:solidFill>
                <a:latin typeface="BIZ UDPGothic" pitchFamily="34" charset="0"/>
                <a:ea typeface="BIZ UDPGothic" pitchFamily="34" charset="-122"/>
                <a:cs typeface="BIZ UDPGothic" pitchFamily="34" charset="-120"/>
              </a:rPr>
              <a:t>● 職長（グラスを掛ける）</a:t>
            </a:r>
            <a:pPr algn="l" indent="0" marL="0">
              <a:lnSpc>
                <a:spcPct val="115000"/>
              </a:lnSpc>
              <a:buNone/>
            </a:pPr>
            <a:r>
              <a:rPr lang="en-US" sz="900" dirty="0">
                <a:solidFill>
                  <a:srgbClr val="4A5563"/>
                </a:solidFill>
                <a:latin typeface="BIZ UDPGothic" pitchFamily="34" charset="0"/>
                <a:ea typeface="BIZ UDPGothic" pitchFamily="34" charset="-122"/>
                <a:cs typeface="BIZ UDPGothic" pitchFamily="34" charset="-120"/>
              </a:rPr>
              <a:t>　● 電工</a:t>
            </a:r>
            <a:endParaRPr lang="en-US" sz="900" dirty="0"/>
          </a:p>
        </p:txBody>
      </p:sp>
      <p:sp>
        <p:nvSpPr>
          <p:cNvPr id="60" name="Text 57"/>
          <p:cNvSpPr txBox="1"/>
          <p:nvPr/>
        </p:nvSpPr>
        <p:spPr>
          <a:xfrm>
            <a:off x="365760" y="2807208"/>
            <a:ext cx="4069080" cy="320040"/>
          </a:xfrm>
          <a:prstGeom prst="rect">
            <a:avLst/>
          </a:prstGeom>
          <a:noFill/>
          <a:ln/>
        </p:spPr>
        <p:txBody>
          <a:bodyPr wrap="square" lIns="0" tIns="0" rIns="0" bIns="0" rtlCol="0" anchor="ctr"/>
          <a:lstStyle/>
          <a:p>
            <a:pPr algn="l" indent="0" marL="0">
              <a:lnSpc>
                <a:spcPct val="115000"/>
              </a:lnSpc>
              <a:buNone/>
            </a:pPr>
            <a:r>
              <a:rPr lang="en-US" sz="1050" dirty="0">
                <a:solidFill>
                  <a:srgbClr val="1F2933"/>
                </a:solidFill>
                <a:latin typeface="BIZ UDPGothic" pitchFamily="34" charset="0"/>
                <a:ea typeface="BIZ UDPGothic" pitchFamily="34" charset="-122"/>
                <a:cs typeface="BIZ UDPGothic" pitchFamily="34" charset="-120"/>
              </a:rPr>
              <a:t>5現場 × 2班 ＝ </a:t>
            </a:r>
            <a:pPr algn="l" indent="0" marL="0">
              <a:lnSpc>
                <a:spcPct val="115000"/>
              </a:lnSpc>
              <a:buNone/>
            </a:pPr>
            <a:r>
              <a:rPr lang="en-US" sz="1400" b="1" dirty="0">
                <a:solidFill>
                  <a:srgbClr val="2F6DB5"/>
                </a:solidFill>
                <a:latin typeface="BIZ UDPGothic" pitchFamily="34" charset="0"/>
                <a:ea typeface="BIZ UDPGothic" pitchFamily="34" charset="-122"/>
                <a:cs typeface="BIZ UDPGothic" pitchFamily="34" charset="-120"/>
              </a:rPr>
              <a:t>10台</a:t>
            </a:r>
            <a:pPr algn="l" indent="0" marL="0">
              <a:lnSpc>
                <a:spcPct val="115000"/>
              </a:lnSpc>
              <a:buNone/>
            </a:pPr>
            <a:r>
              <a:rPr lang="en-US" sz="1050" dirty="0">
                <a:solidFill>
                  <a:srgbClr val="1F2933"/>
                </a:solidFill>
                <a:latin typeface="BIZ UDPGothic" pitchFamily="34" charset="0"/>
                <a:ea typeface="BIZ UDPGothic" pitchFamily="34" charset="-122"/>
                <a:cs typeface="BIZ UDPGothic" pitchFamily="34" charset="-120"/>
              </a:rPr>
              <a:t>（電工全員なら35台）</a:t>
            </a:r>
            <a:endParaRPr lang="en-US" sz="1050" dirty="0"/>
          </a:p>
        </p:txBody>
      </p:sp>
      <p:sp>
        <p:nvSpPr>
          <p:cNvPr id="61" name="Text 58"/>
          <p:cNvSpPr txBox="1"/>
          <p:nvPr/>
        </p:nvSpPr>
        <p:spPr>
          <a:xfrm>
            <a:off x="365760" y="3200400"/>
            <a:ext cx="4069080" cy="777240"/>
          </a:xfrm>
          <a:prstGeom prst="rect">
            <a:avLst/>
          </a:prstGeom>
          <a:noFill/>
          <a:ln/>
        </p:spPr>
        <p:txBody>
          <a:bodyPr wrap="square" lIns="0" tIns="0" rIns="0" bIns="0" rtlCol="0" anchor="t"/>
          <a:lstStyle/>
          <a:p>
            <a:pPr algn="l" indent="0" marL="0">
              <a:lnSpc>
                <a:spcPct val="115000"/>
              </a:lnSpc>
              <a:spcAft>
                <a:spcPts val="200"/>
              </a:spcAft>
              <a:buNone/>
            </a:pPr>
            <a:r>
              <a:rPr lang="en-US" sz="950" b="1" dirty="0">
                <a:solidFill>
                  <a:srgbClr val="2F6DB5"/>
                </a:solidFill>
                <a:latin typeface="BIZ UDPGothic" pitchFamily="34" charset="0"/>
                <a:ea typeface="BIZ UDPGothic" pitchFamily="34" charset="-122"/>
                <a:cs typeface="BIZ UDPGothic" pitchFamily="34" charset="-120"/>
              </a:rPr>
              <a:t>台数を増やすのは</a:t>
            </a:r>
            <a:endParaRPr lang="en-US" sz="950" dirty="0"/>
          </a:p>
          <a:p>
            <a:pPr algn="l" indent="0" marL="0">
              <a:lnSpc>
                <a:spcPct val="115000"/>
              </a:lnSpc>
              <a:spcAft>
                <a:spcPts val="200"/>
              </a:spcAft>
              <a:buNone/>
            </a:pPr>
            <a:r>
              <a:rPr lang="en-US" sz="950" dirty="0">
                <a:solidFill>
                  <a:srgbClr val="1F2933"/>
                </a:solidFill>
                <a:latin typeface="BIZ UDPGothic" pitchFamily="34" charset="0"/>
                <a:ea typeface="BIZ UDPGothic" pitchFamily="34" charset="-122"/>
                <a:cs typeface="BIZ UDPGothic" pitchFamily="34" charset="-120"/>
              </a:rPr>
              <a:t>・ミスが多い工種（ケーブル接続・端末処理）の班</a:t>
            </a:r>
            <a:endParaRPr lang="en-US" sz="950" dirty="0"/>
          </a:p>
          <a:p>
            <a:pPr algn="l" indent="0" marL="0">
              <a:lnSpc>
                <a:spcPct val="115000"/>
              </a:lnSpc>
              <a:spcAft>
                <a:spcPts val="200"/>
              </a:spcAft>
              <a:buNone/>
            </a:pPr>
            <a:r>
              <a:rPr lang="en-US" sz="950" dirty="0">
                <a:solidFill>
                  <a:srgbClr val="1F2933"/>
                </a:solidFill>
                <a:latin typeface="BIZ UDPGothic" pitchFamily="34" charset="0"/>
                <a:ea typeface="BIZ UDPGothic" pitchFamily="34" charset="-122"/>
                <a:cs typeface="BIZ UDPGothic" pitchFamily="34" charset="-120"/>
              </a:rPr>
              <a:t>・新人がいる班（教材の素材が貯まる）</a:t>
            </a:r>
            <a:endParaRPr lang="en-US" sz="950" dirty="0"/>
          </a:p>
        </p:txBody>
      </p:sp>
      <p:sp>
        <p:nvSpPr>
          <p:cNvPr id="62" name="Text 59"/>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グラスの種類と値段</a:t>
            </a:r>
            <a:endParaRPr lang="en-US" sz="1050" dirty="0"/>
          </a:p>
        </p:txBody>
      </p:sp>
      <p:graphicFrame>
        <p:nvGraphicFramePr>
          <p:cNvPr id="11" name="devices"/>
          <p:cNvGraphicFramePr>
            <a:graphicFrameLocks noGrp="1"/>
          </p:cNvGraphicFramePr>
          <p:nvPr>
            <p:extLst>
              <p:ext uri="{D42A27DB-BD31-4B8C-83A1-F6EECF244321}">
                <p14:modId xmlns:p14="http://schemas.microsoft.com/office/powerpoint/2010/main" val="1579011935"/>
              </p:ext>
            </p:extLst>
          </p:nvPr>
        </p:nvGraphicFramePr>
        <p:xfrm>
          <a:off x="4709160" y="1298448"/>
          <a:ext cx="4069080" cy="914400"/>
        </p:xfrm>
        <a:graphic>
          <a:graphicData uri="http://schemas.openxmlformats.org/drawingml/2006/table">
            <a:tbl>
              <a:tblPr/>
              <a:tblGrid>
                <a:gridCol w="1600200"/>
                <a:gridCol w="1463040"/>
                <a:gridCol w="1005840"/>
              </a:tblGrid>
              <a:tr h="384048">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種類</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使い方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値段（目安）</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8404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カメラ付きAIグラス（約50g）</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記録・音声メモ。日報・写真台帳</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約8万円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8404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表示付きARグラス（約70g）</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手元に図面と手順・ミス警告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約12万円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8404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産業用ヘッドセット（RealWear）</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粉じん・高所の現場だけ選べる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約37万円〜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64" name="Shape 60"/>
          <p:cNvSpPr/>
          <p:nvPr/>
        </p:nvSpPr>
        <p:spPr>
          <a:xfrm>
            <a:off x="4709160" y="2990088"/>
            <a:ext cx="4069080" cy="987552"/>
          </a:xfrm>
          <a:prstGeom prst="rect">
            <a:avLst/>
          </a:prstGeom>
          <a:solidFill>
            <a:srgbClr val="EAF0F6"/>
          </a:solidFill>
          <a:ln/>
        </p:spPr>
      </p:sp>
      <p:sp>
        <p:nvSpPr>
          <p:cNvPr id="65" name="Text 61"/>
          <p:cNvSpPr txBox="1"/>
          <p:nvPr/>
        </p:nvSpPr>
        <p:spPr>
          <a:xfrm>
            <a:off x="4846320" y="2990088"/>
            <a:ext cx="3794760" cy="987552"/>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2F6DB5"/>
                </a:solidFill>
                <a:latin typeface="BIZ UDPGothic" pitchFamily="34" charset="0"/>
                <a:ea typeface="BIZ UDPGothic" pitchFamily="34" charset="-122"/>
                <a:cs typeface="BIZ UDPGothic" pitchFamily="34" charset="-120"/>
              </a:rPr>
              <a:t>標準の構成：</a:t>
            </a:r>
            <a:pPr algn="l" indent="0" marL="0">
              <a:lnSpc>
                <a:spcPct val="115000"/>
              </a:lnSpc>
              <a:spcAft>
                <a:spcPts val="200"/>
              </a:spcAft>
              <a:buNone/>
            </a:pPr>
            <a:r>
              <a:rPr lang="en-US" sz="950" b="1" dirty="0">
                <a:solidFill>
                  <a:srgbClr val="1F2933"/>
                </a:solidFill>
                <a:latin typeface="BIZ UDPGothic" pitchFamily="34" charset="0"/>
                <a:ea typeface="BIZ UDPGothic" pitchFamily="34" charset="-122"/>
                <a:cs typeface="BIZ UDPGothic" pitchFamily="34" charset="-120"/>
              </a:rPr>
              <a:t>AIグラス8台＋表示付き2台</a:t>
            </a:r>
            <a:endParaRPr lang="en-US" sz="950" dirty="0"/>
          </a:p>
          <a:p>
            <a:pPr algn="l" indent="0" marL="0">
              <a:lnSpc>
                <a:spcPct val="115000"/>
              </a:lnSpc>
              <a:spcAft>
                <a:spcPts val="200"/>
              </a:spcAft>
              <a:buNone/>
            </a:pPr>
            <a:r>
              <a:rPr lang="en-US" sz="950" dirty="0">
                <a:solidFill>
                  <a:srgbClr val="1F2933"/>
                </a:solidFill>
                <a:latin typeface="BIZ UDPGothic" pitchFamily="34" charset="0"/>
                <a:ea typeface="BIZ UDPGothic" pitchFamily="34" charset="-122"/>
                <a:cs typeface="BIZ UDPGothic" pitchFamily="34" charset="-120"/>
              </a:rPr>
              <a:t>お客様のリース代 年約32万円（3年リース・料率約3%／月）。グラスは当社の売上に入れず、在庫も持たない</a:t>
            </a:r>
            <a:endParaRPr lang="en-US" sz="950" dirty="0"/>
          </a:p>
        </p:txBody>
      </p:sp>
      <p:sp>
        <p:nvSpPr>
          <p:cNvPr id="66" name="Shape 62"/>
          <p:cNvSpPr/>
          <p:nvPr/>
        </p:nvSpPr>
        <p:spPr>
          <a:xfrm>
            <a:off x="365760" y="4005072"/>
            <a:ext cx="8412480" cy="457200"/>
          </a:xfrm>
          <a:prstGeom prst="rect">
            <a:avLst/>
          </a:prstGeom>
          <a:solidFill>
            <a:srgbClr val="1B365D"/>
          </a:solidFill>
          <a:ln/>
        </p:spPr>
      </p:sp>
      <p:sp>
        <p:nvSpPr>
          <p:cNvPr id="67" name="Text 63"/>
          <p:cNvSpPr txBox="1"/>
          <p:nvPr/>
        </p:nvSpPr>
        <p:spPr>
          <a:xfrm>
            <a:off x="502920" y="4005072"/>
            <a:ext cx="8138160" cy="457200"/>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F5C400"/>
                </a:solidFill>
                <a:latin typeface="BIZ UDPGothic" pitchFamily="34" charset="0"/>
                <a:ea typeface="BIZ UDPGothic" pitchFamily="34" charset="-122"/>
                <a:cs typeface="BIZ UDPGothic" pitchFamily="34" charset="-120"/>
              </a:rPr>
              <a:t>導入の費用は台数に比例して増える：</a:t>
            </a:r>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だから最初は10台。効果が出た班から増やす（お客様の倍率は台数で変わらない）</a:t>
            </a:r>
            <a:endParaRPr lang="en-US" sz="950" dirty="0"/>
          </a:p>
        </p:txBody>
      </p:sp>
      <p:sp>
        <p:nvSpPr>
          <p:cNvPr id="68" name="Text 64"/>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値段は販売店・メーカーの公表値（p.29）。国内の正規販売・リース料率は販売店とリース会社の見積で確認する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値段と原価</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p.21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AI・保存の費用：積み上げると粗利率は72%</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端末1台あたりの処理代を、クラウド・AIの公表単価から積み上げた</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sp>
        <p:nvSpPr>
          <p:cNvPr id="8" name="Text 5"/>
          <p:cNvSpPr txBox="1"/>
          <p:nvPr/>
        </p:nvSpPr>
        <p:spPr>
          <a:xfrm>
            <a:off x="3657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端末1台あたりのAI・保存費（月）</a:t>
            </a:r>
            <a:endParaRPr lang="en-US" sz="1050" dirty="0"/>
          </a:p>
        </p:txBody>
      </p:sp>
      <p:graphicFrame>
        <p:nvGraphicFramePr>
          <p:cNvPr id="12" name="cloud"/>
          <p:cNvGraphicFramePr>
            <a:graphicFrameLocks noGrp="1"/>
          </p:cNvGraphicFramePr>
          <p:nvPr>
            <p:extLst>
              <p:ext uri="{D42A27DB-BD31-4B8C-83A1-F6EECF244321}">
                <p14:modId xmlns:p14="http://schemas.microsoft.com/office/powerpoint/2010/main" val="1579011935"/>
              </p:ext>
            </p:extLst>
          </p:nvPr>
        </p:nvGraphicFramePr>
        <p:xfrm>
          <a:off x="365760" y="1298448"/>
          <a:ext cx="4069080" cy="914400"/>
        </p:xfrm>
        <a:graphic>
          <a:graphicData uri="http://schemas.openxmlformats.org/drawingml/2006/table">
            <a:tbl>
              <a:tblPr/>
              <a:tblGrid>
                <a:gridCol w="1554480"/>
                <a:gridCol w="1828800"/>
                <a:gridCol w="685800"/>
              </a:tblGrid>
              <a:tr h="274320">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中身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式</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円／月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音声の文字起こし</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1日4時間×20日＝4,800分×$0.003（多めに見た上限）</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2,200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大事な場面の画像解析</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3,000枚×約1,000トークン</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1,000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日報・報告書の文章生成</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20日分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動画の保存</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切り出した月10GBを3年保存</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700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転送・監視・端末管理・余裕</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1,900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合計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l"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1F2933"/>
                          </a:solidFill>
                          <a:latin typeface="BIZ UDPGothic" pitchFamily="34" charset="0"/>
                          <a:ea typeface="BIZ UDPGothic" pitchFamily="34" charset="-122"/>
                          <a:cs typeface="BIZ UDPGothic" pitchFamily="34" charset="-120"/>
                        </a:rPr>
                        <a:t>6,000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sp>
        <p:nvSpPr>
          <p:cNvPr id="10" name="Text 6"/>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1拠点（10台）で見ると（年）</a:t>
            </a:r>
            <a:endParaRPr lang="en-US" sz="1050" dirty="0"/>
          </a:p>
        </p:txBody>
      </p:sp>
      <p:graphicFrame>
        <p:nvGraphicFramePr>
          <p:cNvPr id="23" name="sitecost"/>
          <p:cNvGraphicFramePr>
            <a:graphicFrameLocks noGrp="1"/>
          </p:cNvGraphicFramePr>
          <p:nvPr>
            <p:extLst>
              <p:ext uri="{D42A27DB-BD31-4B8C-83A1-F6EECF244321}">
                <p14:modId xmlns:p14="http://schemas.microsoft.com/office/powerpoint/2010/main" val="1579011935"/>
              </p:ext>
            </p:extLst>
          </p:nvPr>
        </p:nvGraphicFramePr>
        <p:xfrm>
          <a:off x="4709160" y="1298448"/>
          <a:ext cx="4069080" cy="914400"/>
        </p:xfrm>
        <a:graphic>
          <a:graphicData uri="http://schemas.openxmlformats.org/drawingml/2006/table">
            <a:tbl>
              <a:tblPr/>
              <a:tblGrid>
                <a:gridCol w="2926080"/>
                <a:gridCol w="1143000"/>
              </a:tblGrid>
              <a:tr h="274320">
                <a:tc>
                  <a:txBody>
                    <a:bodyPr/>
                    <a:lstStyle/>
                    <a:p>
                      <a:pPr algn="l" indent="0" marL="0">
                        <a:buNone/>
                      </a:pP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売上（基盤60＋端末240）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300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データ基盤（会社ごとの保管庫）</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AI・保存（1台7.2万円×10台）</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72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粗利</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2F6DB5"/>
                          </a:solidFill>
                          <a:latin typeface="BIZ UDPGothic" pitchFamily="34" charset="0"/>
                          <a:ea typeface="BIZ UDPGothic" pitchFamily="34" charset="-122"/>
                          <a:cs typeface="BIZ UDPGothic" pitchFamily="34" charset="-120"/>
                        </a:rPr>
                        <a:t>216（72%）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sp>
        <p:nvSpPr>
          <p:cNvPr id="12" name="Shape 7"/>
          <p:cNvSpPr/>
          <p:nvPr/>
        </p:nvSpPr>
        <p:spPr>
          <a:xfrm>
            <a:off x="4709160" y="2807208"/>
            <a:ext cx="4069080" cy="1051560"/>
          </a:xfrm>
          <a:prstGeom prst="rect">
            <a:avLst/>
          </a:prstGeom>
          <a:solidFill>
            <a:srgbClr val="EAF0F6"/>
          </a:solidFill>
          <a:ln/>
        </p:spPr>
      </p:sp>
      <p:sp>
        <p:nvSpPr>
          <p:cNvPr id="13" name="Text 8"/>
          <p:cNvSpPr txBox="1"/>
          <p:nvPr/>
        </p:nvSpPr>
        <p:spPr>
          <a:xfrm>
            <a:off x="4846320" y="2807208"/>
            <a:ext cx="3794760" cy="1051560"/>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2F6DB5"/>
                </a:solidFill>
                <a:latin typeface="BIZ UDPGothic" pitchFamily="34" charset="0"/>
                <a:ea typeface="BIZ UDPGothic" pitchFamily="34" charset="-122"/>
                <a:cs typeface="BIZ UDPGothic" pitchFamily="34" charset="-120"/>
              </a:rPr>
              <a:t>データ基盤とAI費用の違い</a:t>
            </a:r>
            <a:endParaRPr lang="en-US" sz="900" dirty="0"/>
          </a:p>
          <a:p>
            <a:pPr algn="l" indent="0" marL="0">
              <a:lnSpc>
                <a:spcPct val="115000"/>
              </a:lnSpc>
              <a:spcAft>
                <a:spcPts val="200"/>
              </a:spcAft>
              <a:buNone/>
            </a:pPr>
            <a:r>
              <a:rPr lang="en-US" sz="900" dirty="0">
                <a:solidFill>
                  <a:srgbClr val="1F2933"/>
                </a:solidFill>
                <a:latin typeface="BIZ UDPGothic" pitchFamily="34" charset="0"/>
                <a:ea typeface="BIZ UDPGothic" pitchFamily="34" charset="-122"/>
                <a:cs typeface="BIZ UDPGothic" pitchFamily="34" charset="-120"/>
              </a:rPr>
              <a:t>データ基盤：会社ごとに1つ。図面・手順・権限・記録の保管庫</a:t>
            </a:r>
            <a:endParaRPr lang="en-US" sz="900" dirty="0"/>
          </a:p>
          <a:p>
            <a:pPr algn="l" indent="0" marL="0">
              <a:lnSpc>
                <a:spcPct val="115000"/>
              </a:lnSpc>
              <a:spcAft>
                <a:spcPts val="200"/>
              </a:spcAft>
              <a:buNone/>
            </a:pPr>
            <a:r>
              <a:rPr lang="en-US" sz="900" dirty="0">
                <a:solidFill>
                  <a:srgbClr val="1F2933"/>
                </a:solidFill>
                <a:latin typeface="BIZ UDPGothic" pitchFamily="34" charset="0"/>
                <a:ea typeface="BIZ UDPGothic" pitchFamily="34" charset="-122"/>
                <a:cs typeface="BIZ UDPGothic" pitchFamily="34" charset="-120"/>
              </a:rPr>
              <a:t>AI費用：端末ごとに増える。録画の文字起こし・解析・保存</a:t>
            </a:r>
            <a:endParaRPr lang="en-US" sz="900" dirty="0"/>
          </a:p>
        </p:txBody>
      </p:sp>
      <p:sp>
        <p:nvSpPr>
          <p:cNvPr id="14" name="Shape 9"/>
          <p:cNvSpPr/>
          <p:nvPr/>
        </p:nvSpPr>
        <p:spPr>
          <a:xfrm>
            <a:off x="365760" y="3886200"/>
            <a:ext cx="8412480" cy="566928"/>
          </a:xfrm>
          <a:prstGeom prst="rect">
            <a:avLst/>
          </a:prstGeom>
          <a:solidFill>
            <a:srgbClr val="1B365D"/>
          </a:solidFill>
          <a:ln/>
        </p:spPr>
      </p:sp>
      <p:sp>
        <p:nvSpPr>
          <p:cNvPr id="15" name="Text 10"/>
          <p:cNvSpPr txBox="1"/>
          <p:nvPr/>
        </p:nvSpPr>
        <p:spPr>
          <a:xfrm>
            <a:off x="502920" y="3886200"/>
            <a:ext cx="8138160" cy="566928"/>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F5C400"/>
                </a:solidFill>
                <a:latin typeface="BIZ UDPGothic" pitchFamily="34" charset="0"/>
                <a:ea typeface="BIZ UDPGothic" pitchFamily="34" charset="-122"/>
                <a:cs typeface="BIZ UDPGothic" pitchFamily="34" charset="-120"/>
              </a:rPr>
              <a:t>粗利率は妥当か：</a:t>
            </a:r>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一般のSaaSは70〜80%、AIを多く使うサービスはそれより低いと言われる。72%はその範囲。実証で1台あたりの実費を測って更新する</a:t>
            </a:r>
            <a:endParaRPr lang="en-US" sz="950" dirty="0"/>
          </a:p>
        </p:txBody>
      </p:sp>
      <p:sp>
        <p:nvSpPr>
          <p:cNvPr id="16" name="Text 11"/>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単価はクラウド・AIの公表価格（$1＝150円）からの見積。モデル・為替・値下げで変わる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値段と原価</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p.21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粗利率のトレードオフ：崩れるのは台数より使い方</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動画を全部送って毎秒解析すると、1台の原価が値段を超える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sp>
        <p:nvSpPr>
          <p:cNvPr id="8" name="Text 5"/>
          <p:cNvSpPr txBox="1"/>
          <p:nvPr/>
        </p:nvSpPr>
        <p:spPr>
          <a:xfrm>
            <a:off x="3657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1拠点の粗利率（利用料）</a:t>
            </a:r>
            <a:endParaRPr lang="en-US" sz="1050" dirty="0"/>
          </a:p>
        </p:txBody>
      </p:sp>
      <p:graphicFrame>
        <p:nvGraphicFramePr>
          <p:cNvPr id="13" name="tradeoff"/>
          <p:cNvGraphicFramePr>
            <a:graphicFrameLocks noGrp="1"/>
          </p:cNvGraphicFramePr>
          <p:nvPr>
            <p:extLst>
              <p:ext uri="{D42A27DB-BD31-4B8C-83A1-F6EECF244321}">
                <p14:modId xmlns:p14="http://schemas.microsoft.com/office/powerpoint/2010/main" val="1579011935"/>
              </p:ext>
            </p:extLst>
          </p:nvPr>
        </p:nvGraphicFramePr>
        <p:xfrm>
          <a:off x="365760" y="1298448"/>
          <a:ext cx="4069080" cy="914400"/>
        </p:xfrm>
        <a:graphic>
          <a:graphicData uri="http://schemas.openxmlformats.org/drawingml/2006/table">
            <a:tbl>
              <a:tblPr/>
              <a:tblGrid>
                <a:gridCol w="868680"/>
                <a:gridCol w="1600200"/>
                <a:gridCol w="1600200"/>
              </a:tblGrid>
              <a:tr h="457200">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台数</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大事な場面だけ</a:t>
                      </a:r>
                      <a:endParaRPr lang="en-US" sz="900" dirty="0">
                        <a:latin typeface="BIZ UDPGothic" charset="0"/>
                        <a:ea typeface="BIZ UDPGothic" charset="0"/>
                        <a:cs typeface="BIZ UDPGothic" charset="0"/>
                      </a:endParaRPr>
                    </a:p>
                    <a:p>
                      <a:pPr algn="ctr" indent="0" marL="0">
                        <a:buNone/>
                      </a:pPr>
                      <a:r>
                        <a:rPr lang="en-US" sz="900" b="1" dirty="0">
                          <a:solidFill>
                            <a:srgbClr val="FFFFFF"/>
                          </a:solidFill>
                          <a:latin typeface="BIZ UDPGothic" pitchFamily="34" charset="0"/>
                          <a:ea typeface="BIZ UDPGothic" pitchFamily="34" charset="-122"/>
                          <a:cs typeface="BIZ UDPGothic" pitchFamily="34" charset="-120"/>
                        </a:rPr>
                        <a:t>（1台 月0.6万円）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全編を毎秒解析</a:t>
                      </a:r>
                      <a:endParaRPr lang="en-US" sz="900" dirty="0">
                        <a:latin typeface="BIZ UDPGothic" charset="0"/>
                        <a:ea typeface="BIZ UDPGothic" charset="0"/>
                        <a:cs typeface="BIZ UDPGothic" charset="0"/>
                      </a:endParaRPr>
                    </a:p>
                    <a:p>
                      <a:pPr algn="ctr" indent="0" marL="0">
                        <a:buNone/>
                      </a:pPr>
                      <a:r>
                        <a:rPr lang="en-US" sz="900" b="1" dirty="0">
                          <a:solidFill>
                            <a:srgbClr val="FFFFFF"/>
                          </a:solidFill>
                          <a:latin typeface="BIZ UDPGothic" pitchFamily="34" charset="0"/>
                          <a:ea typeface="BIZ UDPGothic" pitchFamily="34" charset="-122"/>
                          <a:cs typeface="BIZ UDPGothic" pitchFamily="34" charset="-120"/>
                        </a:rPr>
                        <a:t>（1台 月5万円）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9260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5台</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73%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62828"/>
                          </a:solidFill>
                          <a:latin typeface="BIZ UDPGothic" pitchFamily="34" charset="0"/>
                          <a:ea typeface="BIZ UDPGothic" pitchFamily="34" charset="-122"/>
                          <a:cs typeface="BIZ UDPGothic" pitchFamily="34" charset="-120"/>
                        </a:rPr>
                        <a:t>-73%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10台</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F2933"/>
                          </a:solidFill>
                          <a:latin typeface="BIZ UDPGothic" pitchFamily="34" charset="0"/>
                          <a:ea typeface="BIZ UDPGothic" pitchFamily="34" charset="-122"/>
                          <a:cs typeface="BIZ UDPGothic" pitchFamily="34" charset="-120"/>
                        </a:rPr>
                        <a:t>72%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62828"/>
                          </a:solidFill>
                          <a:latin typeface="BIZ UDPGothic" pitchFamily="34" charset="0"/>
                          <a:ea typeface="BIZ UDPGothic" pitchFamily="34" charset="-122"/>
                          <a:cs typeface="BIZ UDPGothic" pitchFamily="34" charset="-120"/>
                        </a:rPr>
                        <a:t>-104%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25台</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71%</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62828"/>
                          </a:solidFill>
                          <a:latin typeface="BIZ UDPGothic" pitchFamily="34" charset="0"/>
                          <a:ea typeface="BIZ UDPGothic" pitchFamily="34" charset="-122"/>
                          <a:cs typeface="BIZ UDPGothic" pitchFamily="34" charset="-120"/>
                        </a:rPr>
                        <a:t>-129%</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0" name="Text 6"/>
          <p:cNvSpPr txBox="1"/>
          <p:nvPr/>
        </p:nvSpPr>
        <p:spPr>
          <a:xfrm>
            <a:off x="365760" y="2715768"/>
            <a:ext cx="4069080" cy="685800"/>
          </a:xfrm>
          <a:prstGeom prst="rect">
            <a:avLst/>
          </a:prstGeom>
          <a:noFill/>
          <a:ln/>
        </p:spPr>
        <p:txBody>
          <a:bodyPr wrap="square" lIns="0" tIns="0" rIns="0" bIns="0" rtlCol="0" anchor="t"/>
          <a:lstStyle/>
          <a:p>
            <a:pPr algn="l" indent="0" marL="0">
              <a:lnSpc>
                <a:spcPct val="115000"/>
              </a:lnSpc>
              <a:buNone/>
            </a:pPr>
            <a:r>
              <a:rPr lang="en-US" sz="900" dirty="0">
                <a:solidFill>
                  <a:srgbClr val="4A5563"/>
                </a:solidFill>
                <a:latin typeface="BIZ UDPGothic" pitchFamily="34" charset="0"/>
                <a:ea typeface="BIZ UDPGothic" pitchFamily="34" charset="-122"/>
                <a:cs typeface="BIZ UDPGothic" pitchFamily="34" charset="-120"/>
              </a:rPr>
              <a:t>1台の値段（月2万円）が1台の原価（月0.6万円）を賄うので、台数を増やしても粗利率はほぼ一定。全編を送ると台数が増えるほど赤字が膨らむ</a:t>
            </a:r>
            <a:endParaRPr lang="en-US" sz="900" dirty="0"/>
          </a:p>
        </p:txBody>
      </p:sp>
      <p:sp>
        <p:nvSpPr>
          <p:cNvPr id="11" name="Text 7"/>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粗利率を守る4つの仕組み</a:t>
            </a:r>
            <a:endParaRPr lang="en-US" sz="1050" dirty="0"/>
          </a:p>
        </p:txBody>
      </p:sp>
      <p:sp>
        <p:nvSpPr>
          <p:cNvPr id="12" name="Shape 8"/>
          <p:cNvSpPr/>
          <p:nvPr/>
        </p:nvSpPr>
        <p:spPr>
          <a:xfrm>
            <a:off x="4709160" y="1316736"/>
            <a:ext cx="384048" cy="457200"/>
          </a:xfrm>
          <a:prstGeom prst="rect">
            <a:avLst/>
          </a:prstGeom>
          <a:solidFill>
            <a:srgbClr val="2F6DB5"/>
          </a:solidFill>
          <a:ln/>
        </p:spPr>
      </p:sp>
      <p:sp>
        <p:nvSpPr>
          <p:cNvPr id="13" name="Text 9"/>
          <p:cNvSpPr txBox="1"/>
          <p:nvPr/>
        </p:nvSpPr>
        <p:spPr>
          <a:xfrm>
            <a:off x="4709160" y="1316736"/>
            <a:ext cx="384048" cy="457200"/>
          </a:xfrm>
          <a:prstGeom prst="rect">
            <a:avLst/>
          </a:prstGeom>
          <a:noFill/>
          <a:ln/>
        </p:spPr>
        <p:txBody>
          <a:bodyPr wrap="square" lIns="0" tIns="0" rIns="0" bIns="0" rtlCol="0" anchor="ctr"/>
          <a:lstStyle/>
          <a:p>
            <a:pPr algn="ctr" indent="0" marL="0">
              <a:lnSpc>
                <a:spcPct val="115000"/>
              </a:lnSpc>
              <a:buNone/>
            </a:pPr>
            <a:r>
              <a:rPr lang="en-US" sz="1300" b="1" dirty="0">
                <a:solidFill>
                  <a:srgbClr val="FFFFFF"/>
                </a:solidFill>
                <a:latin typeface="BIZ UDPGothic" pitchFamily="34" charset="0"/>
                <a:ea typeface="BIZ UDPGothic" pitchFamily="34" charset="-122"/>
                <a:cs typeface="BIZ UDPGothic" pitchFamily="34" charset="-120"/>
              </a:rPr>
              <a:t>1</a:t>
            </a:r>
            <a:endParaRPr lang="en-US" sz="1300" dirty="0"/>
          </a:p>
        </p:txBody>
      </p:sp>
      <p:sp>
        <p:nvSpPr>
          <p:cNvPr id="14" name="Text 10"/>
          <p:cNvSpPr txBox="1"/>
          <p:nvPr/>
        </p:nvSpPr>
        <p:spPr>
          <a:xfrm>
            <a:off x="5184648" y="1316736"/>
            <a:ext cx="3593592" cy="475488"/>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端末で切り出す</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録画は端末に全部残し、選んだ場面だけを送る（選び方は p.28）</a:t>
            </a:r>
            <a:endParaRPr lang="en-US" sz="950" dirty="0"/>
          </a:p>
        </p:txBody>
      </p:sp>
      <p:sp>
        <p:nvSpPr>
          <p:cNvPr id="15" name="Shape 11"/>
          <p:cNvSpPr/>
          <p:nvPr/>
        </p:nvSpPr>
        <p:spPr>
          <a:xfrm>
            <a:off x="4709160" y="1865376"/>
            <a:ext cx="384048" cy="457200"/>
          </a:xfrm>
          <a:prstGeom prst="rect">
            <a:avLst/>
          </a:prstGeom>
          <a:solidFill>
            <a:srgbClr val="1B365D"/>
          </a:solidFill>
          <a:ln/>
        </p:spPr>
      </p:sp>
      <p:sp>
        <p:nvSpPr>
          <p:cNvPr id="16" name="Text 12"/>
          <p:cNvSpPr txBox="1"/>
          <p:nvPr/>
        </p:nvSpPr>
        <p:spPr>
          <a:xfrm>
            <a:off x="4709160" y="1865376"/>
            <a:ext cx="384048" cy="457200"/>
          </a:xfrm>
          <a:prstGeom prst="rect">
            <a:avLst/>
          </a:prstGeom>
          <a:noFill/>
          <a:ln/>
        </p:spPr>
        <p:txBody>
          <a:bodyPr wrap="square" lIns="0" tIns="0" rIns="0" bIns="0" rtlCol="0" anchor="ctr"/>
          <a:lstStyle/>
          <a:p>
            <a:pPr algn="ctr" indent="0" marL="0">
              <a:lnSpc>
                <a:spcPct val="115000"/>
              </a:lnSpc>
              <a:buNone/>
            </a:pPr>
            <a:r>
              <a:rPr lang="en-US" sz="1300" b="1" dirty="0">
                <a:solidFill>
                  <a:srgbClr val="FFFFFF"/>
                </a:solidFill>
                <a:latin typeface="BIZ UDPGothic" pitchFamily="34" charset="0"/>
                <a:ea typeface="BIZ UDPGothic" pitchFamily="34" charset="-122"/>
                <a:cs typeface="BIZ UDPGothic" pitchFamily="34" charset="-120"/>
              </a:rPr>
              <a:t>2</a:t>
            </a:r>
            <a:endParaRPr lang="en-US" sz="1300" dirty="0"/>
          </a:p>
        </p:txBody>
      </p:sp>
      <p:sp>
        <p:nvSpPr>
          <p:cNvPr id="17" name="Text 13"/>
          <p:cNvSpPr txBox="1"/>
          <p:nvPr/>
        </p:nvSpPr>
        <p:spPr>
          <a:xfrm>
            <a:off x="5184648" y="1865376"/>
            <a:ext cx="3593592" cy="475488"/>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解析の上限と超過料金</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録画は無制限。AIで解析する場面に月の上限、超えたら従量</a:t>
            </a:r>
            <a:endParaRPr lang="en-US" sz="950" dirty="0"/>
          </a:p>
        </p:txBody>
      </p:sp>
      <p:sp>
        <p:nvSpPr>
          <p:cNvPr id="18" name="Shape 14"/>
          <p:cNvSpPr/>
          <p:nvPr/>
        </p:nvSpPr>
        <p:spPr>
          <a:xfrm>
            <a:off x="4709160" y="2414016"/>
            <a:ext cx="384048" cy="457200"/>
          </a:xfrm>
          <a:prstGeom prst="rect">
            <a:avLst/>
          </a:prstGeom>
          <a:solidFill>
            <a:srgbClr val="1B365D"/>
          </a:solidFill>
          <a:ln/>
        </p:spPr>
      </p:sp>
      <p:sp>
        <p:nvSpPr>
          <p:cNvPr id="19" name="Text 15"/>
          <p:cNvSpPr txBox="1"/>
          <p:nvPr/>
        </p:nvSpPr>
        <p:spPr>
          <a:xfrm>
            <a:off x="4709160" y="2414016"/>
            <a:ext cx="384048" cy="457200"/>
          </a:xfrm>
          <a:prstGeom prst="rect">
            <a:avLst/>
          </a:prstGeom>
          <a:noFill/>
          <a:ln/>
        </p:spPr>
        <p:txBody>
          <a:bodyPr wrap="square" lIns="0" tIns="0" rIns="0" bIns="0" rtlCol="0" anchor="ctr"/>
          <a:lstStyle/>
          <a:p>
            <a:pPr algn="ctr" indent="0" marL="0">
              <a:lnSpc>
                <a:spcPct val="115000"/>
              </a:lnSpc>
              <a:buNone/>
            </a:pPr>
            <a:r>
              <a:rPr lang="en-US" sz="1300" b="1" dirty="0">
                <a:solidFill>
                  <a:srgbClr val="FFFFFF"/>
                </a:solidFill>
                <a:latin typeface="BIZ UDPGothic" pitchFamily="34" charset="0"/>
                <a:ea typeface="BIZ UDPGothic" pitchFamily="34" charset="-122"/>
                <a:cs typeface="BIZ UDPGothic" pitchFamily="34" charset="-120"/>
              </a:rPr>
              <a:t>3</a:t>
            </a:r>
            <a:endParaRPr lang="en-US" sz="1300" dirty="0"/>
          </a:p>
        </p:txBody>
      </p:sp>
      <p:sp>
        <p:nvSpPr>
          <p:cNvPr id="20" name="Text 16"/>
          <p:cNvSpPr txBox="1"/>
          <p:nvPr/>
        </p:nvSpPr>
        <p:spPr>
          <a:xfrm>
            <a:off x="5184648" y="2414016"/>
            <a:ext cx="3593592" cy="475488"/>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撮影計画を営業と技術で決める</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提案の段階で「何を・誰が・何時間撮るか」を決めて見積に入れる</a:t>
            </a:r>
            <a:endParaRPr lang="en-US" sz="950" dirty="0"/>
          </a:p>
        </p:txBody>
      </p:sp>
      <p:sp>
        <p:nvSpPr>
          <p:cNvPr id="21" name="Shape 17"/>
          <p:cNvSpPr/>
          <p:nvPr/>
        </p:nvSpPr>
        <p:spPr>
          <a:xfrm>
            <a:off x="4709160" y="2962656"/>
            <a:ext cx="384048" cy="457200"/>
          </a:xfrm>
          <a:prstGeom prst="rect">
            <a:avLst/>
          </a:prstGeom>
          <a:solidFill>
            <a:srgbClr val="1B365D"/>
          </a:solidFill>
          <a:ln/>
        </p:spPr>
      </p:sp>
      <p:sp>
        <p:nvSpPr>
          <p:cNvPr id="22" name="Text 18"/>
          <p:cNvSpPr txBox="1"/>
          <p:nvPr/>
        </p:nvSpPr>
        <p:spPr>
          <a:xfrm>
            <a:off x="4709160" y="2962656"/>
            <a:ext cx="384048" cy="457200"/>
          </a:xfrm>
          <a:prstGeom prst="rect">
            <a:avLst/>
          </a:prstGeom>
          <a:noFill/>
          <a:ln/>
        </p:spPr>
        <p:txBody>
          <a:bodyPr wrap="square" lIns="0" tIns="0" rIns="0" bIns="0" rtlCol="0" anchor="ctr"/>
          <a:lstStyle/>
          <a:p>
            <a:pPr algn="ctr" indent="0" marL="0">
              <a:lnSpc>
                <a:spcPct val="115000"/>
              </a:lnSpc>
              <a:buNone/>
            </a:pPr>
            <a:r>
              <a:rPr lang="en-US" sz="1300" b="1" dirty="0">
                <a:solidFill>
                  <a:srgbClr val="FFFFFF"/>
                </a:solidFill>
                <a:latin typeface="BIZ UDPGothic" pitchFamily="34" charset="0"/>
                <a:ea typeface="BIZ UDPGothic" pitchFamily="34" charset="-122"/>
                <a:cs typeface="BIZ UDPGothic" pitchFamily="34" charset="-120"/>
              </a:rPr>
              <a:t>4</a:t>
            </a:r>
            <a:endParaRPr lang="en-US" sz="1300" dirty="0"/>
          </a:p>
        </p:txBody>
      </p:sp>
      <p:sp>
        <p:nvSpPr>
          <p:cNvPr id="23" name="Text 19"/>
          <p:cNvSpPr txBox="1"/>
          <p:nvPr/>
        </p:nvSpPr>
        <p:spPr>
          <a:xfrm>
            <a:off x="5184648" y="2962656"/>
            <a:ext cx="3593592" cy="475488"/>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毎月、台ごとの粗利を見る</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処理量が多い台は、使い方の見直しか料金の相談</a:t>
            </a:r>
            <a:endParaRPr lang="en-US" sz="950" dirty="0"/>
          </a:p>
        </p:txBody>
      </p:sp>
      <p:sp>
        <p:nvSpPr>
          <p:cNvPr id="24" name="Shape 20"/>
          <p:cNvSpPr/>
          <p:nvPr/>
        </p:nvSpPr>
        <p:spPr>
          <a:xfrm>
            <a:off x="365760" y="3657600"/>
            <a:ext cx="8412480" cy="795528"/>
          </a:xfrm>
          <a:prstGeom prst="rect">
            <a:avLst/>
          </a:prstGeom>
          <a:solidFill>
            <a:srgbClr val="1B365D"/>
          </a:solidFill>
          <a:ln/>
        </p:spPr>
      </p:sp>
      <p:sp>
        <p:nvSpPr>
          <p:cNvPr id="25" name="Text 21"/>
          <p:cNvSpPr txBox="1"/>
          <p:nvPr/>
        </p:nvSpPr>
        <p:spPr>
          <a:xfrm>
            <a:off x="502920" y="3657600"/>
            <a:ext cx="8138160" cy="795528"/>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F5C400"/>
                </a:solidFill>
                <a:latin typeface="BIZ UDPGothic" pitchFamily="34" charset="0"/>
                <a:ea typeface="BIZ UDPGothic" pitchFamily="34" charset="-122"/>
                <a:cs typeface="BIZ UDPGothic" pitchFamily="34" charset="-120"/>
              </a:rPr>
              <a:t>営業との連携が要になる：</a:t>
            </a:r>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台数を増やす提案は売上を増やすが、使い方を決めずに増やすと原価も増える。</a:t>
            </a:r>
            <a:endParaRPr lang="en-US" sz="950" dirty="0"/>
          </a:p>
          <a:p>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営業の目標は「拠点数」だけでなく「台ごとの粗利」も見る。事業が大きくなるほど、この最適化が経営の仕事になる</a:t>
            </a:r>
            <a:endParaRPr lang="en-US" sz="950" dirty="0"/>
          </a:p>
        </p:txBody>
      </p:sp>
      <p:sp>
        <p:nvSpPr>
          <p:cNvPr id="26" name="Text 22"/>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全編解析の1台月5万円は、動画1日4時間・毎秒1枚の画像解析と保存を公表単価で見積もった値</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値段と原価</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p.20・21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導入支援200万円の中身：42人日＋交通費</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200万円は作業を積み上げた原価の約1.4倍として置いた（他社の相場は未確認）</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14" name="tasks"/>
          <p:cNvGraphicFramePr>
            <a:graphicFrameLocks noGrp="1"/>
          </p:cNvGraphicFramePr>
          <p:nvPr>
            <p:extLst>
              <p:ext uri="{D42A27DB-BD31-4B8C-83A1-F6EECF244321}">
                <p14:modId xmlns:p14="http://schemas.microsoft.com/office/powerpoint/2010/main" val="1579011935"/>
              </p:ext>
            </p:extLst>
          </p:nvPr>
        </p:nvGraphicFramePr>
        <p:xfrm>
          <a:off x="365760" y="1024128"/>
          <a:ext cx="4846320" cy="914400"/>
        </p:xfrm>
        <a:graphic>
          <a:graphicData uri="http://schemas.openxmlformats.org/drawingml/2006/table">
            <a:tbl>
              <a:tblPr/>
              <a:tblGrid>
                <a:gridCol w="4023360"/>
                <a:gridCol w="822960"/>
              </a:tblGrid>
              <a:tr h="274320">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作業</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人日</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現状調査・業務の流れの整理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5</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端末の設定・アカウント・端末管理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図面・手順・報告書の型の登録</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職長・施工管理者への研修（2回）</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現場での立ち会い・初期の手直し（週2日×8週）</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16</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導入前後の効果測定レポート</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合計（約2か月）</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42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graphicFrame>
        <p:nvGraphicFramePr>
          <p:cNvPr id="27" name="setupcost"/>
          <p:cNvGraphicFramePr>
            <a:graphicFrameLocks noGrp="1"/>
          </p:cNvGraphicFramePr>
          <p:nvPr>
            <p:extLst>
              <p:ext uri="{D42A27DB-BD31-4B8C-83A1-F6EECF244321}">
                <p14:modId xmlns:p14="http://schemas.microsoft.com/office/powerpoint/2010/main" val="1579011935"/>
              </p:ext>
            </p:extLst>
          </p:nvPr>
        </p:nvGraphicFramePr>
        <p:xfrm>
          <a:off x="5486400" y="1024128"/>
          <a:ext cx="3291840" cy="914400"/>
        </p:xfrm>
        <a:graphic>
          <a:graphicData uri="http://schemas.openxmlformats.org/drawingml/2006/table">
            <a:tbl>
              <a:tblPr/>
              <a:tblGrid>
                <a:gridCol w="2377440"/>
                <a:gridCol w="914400"/>
              </a:tblGrid>
              <a:tr h="274320">
                <a:tc>
                  <a:txBody>
                    <a:bodyPr/>
                    <a:lstStyle/>
                    <a:p>
                      <a:pPr algn="l" indent="0" marL="0">
                        <a:buNone/>
                      </a:pP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人件費 42人日×約3.0万円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126</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交通費（16回訪問）</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15</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原価</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141</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値段</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粗利</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2F6DB5"/>
                          </a:solidFill>
                          <a:latin typeface="BIZ UDPGothic" pitchFamily="34" charset="0"/>
                          <a:ea typeface="BIZ UDPGothic" pitchFamily="34" charset="-122"/>
                          <a:cs typeface="BIZ UDPGothic" pitchFamily="34" charset="-120"/>
                        </a:rPr>
                        <a:t>59（30%）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0" name="Text 5"/>
          <p:cNvSpPr txBox="1"/>
          <p:nvPr/>
        </p:nvSpPr>
        <p:spPr>
          <a:xfrm>
            <a:off x="5486400" y="2761488"/>
            <a:ext cx="3291840" cy="365760"/>
          </a:xfrm>
          <a:prstGeom prst="rect">
            <a:avLst/>
          </a:prstGeom>
          <a:noFill/>
          <a:ln/>
        </p:spPr>
        <p:txBody>
          <a:bodyPr wrap="square" lIns="0" tIns="0" rIns="0" bIns="0" rtlCol="0" anchor="t"/>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日額＝導入コンサルタントの年収600万円×1.2÷240日</a:t>
            </a:r>
            <a:endParaRPr lang="en-US" sz="850" dirty="0"/>
          </a:p>
        </p:txBody>
      </p:sp>
      <p:sp>
        <p:nvSpPr>
          <p:cNvPr id="11" name="Shape 6"/>
          <p:cNvSpPr/>
          <p:nvPr/>
        </p:nvSpPr>
        <p:spPr>
          <a:xfrm>
            <a:off x="365760" y="3337560"/>
            <a:ext cx="8412480" cy="1097280"/>
          </a:xfrm>
          <a:prstGeom prst="rect">
            <a:avLst/>
          </a:prstGeom>
          <a:solidFill>
            <a:srgbClr val="1B365D"/>
          </a:solidFill>
          <a:ln/>
        </p:spPr>
      </p:sp>
      <p:sp>
        <p:nvSpPr>
          <p:cNvPr id="12" name="Text 7"/>
          <p:cNvSpPr txBox="1"/>
          <p:nvPr/>
        </p:nvSpPr>
        <p:spPr>
          <a:xfrm>
            <a:off x="502920" y="3337560"/>
            <a:ext cx="8138160" cy="1097280"/>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F5C400"/>
                </a:solidFill>
                <a:latin typeface="BIZ UDPGothic" pitchFamily="34" charset="0"/>
                <a:ea typeface="BIZ UDPGothic" pitchFamily="34" charset="-122"/>
                <a:cs typeface="BIZ UDPGothic" pitchFamily="34" charset="-120"/>
              </a:rPr>
              <a:t>懸念と対策</a:t>
            </a:r>
            <a:endParaRPr lang="en-US" sz="9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・手元AR（3D化）を含めると人日が増える → 手元ARは工種ごとのオプション（初期50万円）に分けた</a:t>
            </a:r>
            <a:endParaRPr lang="en-US" sz="9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・1人で年6拠点（2か月で1拠点）が上限 → 新規が増えるほど導入コンサルタントの採用が先に要る（p.17）</a:t>
            </a:r>
            <a:endParaRPr lang="en-US" sz="9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・お客様の負担が重い → 着手金50%・試験導入の結果で本契約に切り替える</a:t>
            </a:r>
            <a:endParaRPr lang="en-US" sz="900" dirty="0"/>
          </a:p>
        </p:txBody>
      </p:sp>
      <p:sp>
        <p:nvSpPr>
          <p:cNvPr id="13" name="Text 8"/>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他社の導入支援の相場は未確認。1社目の実績（人日・交通費）で更新する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収支と資金</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p.23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拠点の積み上げ：既存・新規・解約を分けて見る</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解約は年10%（期首の拠点に対して）。既存から入る利用料と、解約で減る利用料を分ける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15" name="stock"/>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2697480"/>
                <a:gridCol w="1143000"/>
                <a:gridCol w="1143000"/>
                <a:gridCol w="1143000"/>
                <a:gridCol w="1143000"/>
                <a:gridCol w="1143000"/>
              </a:tblGrid>
              <a:tr h="274320">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拠点</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1年目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2年目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3年目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4年目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5年目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期首（既存のお客様）</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29</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53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 解約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B365D"/>
                          </a:solidFill>
                          <a:latin typeface="BIZ UDPGothic" pitchFamily="34" charset="0"/>
                          <a:ea typeface="BIZ UDPGothic" pitchFamily="34" charset="-122"/>
                          <a:cs typeface="BIZ UDPGothic" pitchFamily="34" charset="-120"/>
                        </a:rPr>
                        <a:t>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B365D"/>
                          </a:solidFill>
                          <a:latin typeface="BIZ UDPGothic" pitchFamily="34" charset="0"/>
                          <a:ea typeface="BIZ UDPGothic" pitchFamily="34" charset="-122"/>
                          <a:cs typeface="BIZ UDPGothic" pitchFamily="34" charset="-120"/>
                        </a:rPr>
                        <a:t>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C62828"/>
                          </a:solidFill>
                          <a:latin typeface="BIZ UDPGothic" pitchFamily="34" charset="0"/>
                          <a:ea typeface="BIZ UDPGothic" pitchFamily="34" charset="-122"/>
                          <a:cs typeface="BIZ UDPGothic" pitchFamily="34" charset="-120"/>
                        </a:rPr>
                        <a:t>▲1</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C62828"/>
                          </a:solidFill>
                          <a:latin typeface="BIZ UDPGothic" pitchFamily="34" charset="0"/>
                          <a:ea typeface="BIZ UDPGothic" pitchFamily="34" charset="-122"/>
                          <a:cs typeface="BIZ UDPGothic" pitchFamily="34" charset="-120"/>
                        </a:rPr>
                        <a:t>▲3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C62828"/>
                          </a:solidFill>
                          <a:latin typeface="BIZ UDPGothic" pitchFamily="34" charset="0"/>
                          <a:ea typeface="BIZ UDPGothic" pitchFamily="34" charset="-122"/>
                          <a:cs typeface="BIZ UDPGothic" pitchFamily="34" charset="-120"/>
                        </a:rPr>
                        <a:t>▲5</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 新規</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9</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18</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27</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33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期末</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12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29</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53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81</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既存から入る利用料（万円）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900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3,300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7,800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14,400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新規から入る利用料（半年分）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1,350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2,700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4,050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4,950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解約で減った利用料</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B365D"/>
                          </a:solidFill>
                          <a:latin typeface="BIZ UDPGothic" pitchFamily="34" charset="0"/>
                          <a:ea typeface="BIZ UDPGothic" pitchFamily="34" charset="-122"/>
                          <a:cs typeface="BIZ UDPGothic" pitchFamily="34" charset="-120"/>
                        </a:rPr>
                        <a:t>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B365D"/>
                          </a:solidFill>
                          <a:latin typeface="BIZ UDPGothic" pitchFamily="34" charset="0"/>
                          <a:ea typeface="BIZ UDPGothic" pitchFamily="34" charset="-122"/>
                          <a:cs typeface="BIZ UDPGothic" pitchFamily="34" charset="-120"/>
                        </a:rPr>
                        <a:t>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C62828"/>
                          </a:solidFill>
                          <a:latin typeface="BIZ UDPGothic" pitchFamily="34" charset="0"/>
                          <a:ea typeface="BIZ UDPGothic" pitchFamily="34" charset="-122"/>
                          <a:cs typeface="BIZ UDPGothic" pitchFamily="34" charset="-120"/>
                        </a:rPr>
                        <a:t>▲300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C62828"/>
                          </a:solidFill>
                          <a:latin typeface="BIZ UDPGothic" pitchFamily="34" charset="0"/>
                          <a:ea typeface="BIZ UDPGothic" pitchFamily="34" charset="-122"/>
                          <a:cs typeface="BIZ UDPGothic" pitchFamily="34" charset="-120"/>
                        </a:rPr>
                        <a:t>▲900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C62828"/>
                          </a:solidFill>
                          <a:latin typeface="BIZ UDPGothic" pitchFamily="34" charset="0"/>
                          <a:ea typeface="BIZ UDPGothic" pitchFamily="34" charset="-122"/>
                          <a:cs typeface="BIZ UDPGothic" pitchFamily="34" charset="-120"/>
                        </a:rPr>
                        <a:t>▲1,500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Shape 5"/>
          <p:cNvSpPr/>
          <p:nvPr/>
        </p:nvSpPr>
        <p:spPr>
          <a:xfrm>
            <a:off x="365760" y="3337560"/>
            <a:ext cx="4069080" cy="1115568"/>
          </a:xfrm>
          <a:prstGeom prst="rect">
            <a:avLst/>
          </a:prstGeom>
          <a:solidFill>
            <a:srgbClr val="EAF0F6"/>
          </a:solidFill>
          <a:ln/>
        </p:spPr>
      </p:sp>
      <p:sp>
        <p:nvSpPr>
          <p:cNvPr id="10" name="Text 6"/>
          <p:cNvSpPr txBox="1"/>
          <p:nvPr/>
        </p:nvSpPr>
        <p:spPr>
          <a:xfrm>
            <a:off x="502920" y="3337560"/>
            <a:ext cx="3794760" cy="111556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2F6DB5"/>
                </a:solidFill>
                <a:latin typeface="BIZ UDPGothic" pitchFamily="34" charset="0"/>
                <a:ea typeface="BIZ UDPGothic" pitchFamily="34" charset="-122"/>
                <a:cs typeface="BIZ UDPGothic" pitchFamily="34" charset="-120"/>
              </a:rPr>
              <a:t>年10%の根拠</a:t>
            </a:r>
            <a:endParaRPr lang="en-US" sz="900" dirty="0"/>
          </a:p>
          <a:p>
            <a:pPr algn="l" indent="0" marL="0">
              <a:lnSpc>
                <a:spcPct val="115000"/>
              </a:lnSpc>
              <a:spcAft>
                <a:spcPts val="200"/>
              </a:spcAft>
              <a:buNone/>
            </a:pPr>
            <a:r>
              <a:rPr lang="en-US" sz="900" dirty="0">
                <a:solidFill>
                  <a:srgbClr val="1F2933"/>
                </a:solidFill>
                <a:latin typeface="BIZ UDPGothic" pitchFamily="34" charset="0"/>
                <a:ea typeface="BIZ UDPGothic" pitchFamily="34" charset="-122"/>
                <a:cs typeface="BIZ UDPGothic" pitchFamily="34" charset="-120"/>
              </a:rPr>
              <a:t>海外の目安：B2B SaaSの年間の解約は大企業5〜10%、中小30〜50%。記録が貯まるほど乗り換えにくいので、中堅として低めに置いた（日本の調査は見つからず）</a:t>
            </a:r>
            <a:endParaRPr lang="en-US" sz="900" dirty="0"/>
          </a:p>
        </p:txBody>
      </p:sp>
      <p:sp>
        <p:nvSpPr>
          <p:cNvPr id="11" name="Shape 7"/>
          <p:cNvSpPr/>
          <p:nvPr/>
        </p:nvSpPr>
        <p:spPr>
          <a:xfrm>
            <a:off x="4709160" y="3337560"/>
            <a:ext cx="4069080" cy="1115568"/>
          </a:xfrm>
          <a:prstGeom prst="rect">
            <a:avLst/>
          </a:prstGeom>
          <a:solidFill>
            <a:srgbClr val="FFFFFF"/>
          </a:solidFill>
          <a:ln w="19050">
            <a:solidFill>
              <a:srgbClr val="2F6DB5"/>
            </a:solidFill>
            <a:prstDash val="solid"/>
          </a:ln>
        </p:spPr>
      </p:sp>
      <p:sp>
        <p:nvSpPr>
          <p:cNvPr id="12" name="Text 8"/>
          <p:cNvSpPr txBox="1"/>
          <p:nvPr/>
        </p:nvSpPr>
        <p:spPr>
          <a:xfrm>
            <a:off x="4846320" y="3337560"/>
            <a:ext cx="3794760" cy="111556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2F6DB5"/>
                </a:solidFill>
                <a:latin typeface="BIZ UDPGothic" pitchFamily="34" charset="0"/>
                <a:ea typeface="BIZ UDPGothic" pitchFamily="34" charset="-122"/>
                <a:cs typeface="BIZ UDPGothic" pitchFamily="34" charset="-120"/>
              </a:rPr>
              <a:t>解約を減らす手</a:t>
            </a:r>
            <a:endParaRPr lang="en-US" sz="900" dirty="0"/>
          </a:p>
          <a:p>
            <a:pPr algn="l" indent="0" marL="0">
              <a:lnSpc>
                <a:spcPct val="115000"/>
              </a:lnSpc>
              <a:spcAft>
                <a:spcPts val="200"/>
              </a:spcAft>
              <a:buNone/>
            </a:pPr>
            <a:r>
              <a:rPr lang="en-US" sz="900" dirty="0">
                <a:solidFill>
                  <a:srgbClr val="1F2933"/>
                </a:solidFill>
                <a:latin typeface="BIZ UDPGothic" pitchFamily="34" charset="0"/>
                <a:ea typeface="BIZ UDPGothic" pitchFamily="34" charset="-122"/>
                <a:cs typeface="BIZ UDPGothic" pitchFamily="34" charset="-120"/>
              </a:rPr>
              <a:t>月次の効果レポートで「何分減ったか」を毎月見せる。年額前払いで、更新の3か月前に効果の振り返りをする。解約の理由は必ず聞いて記録する</a:t>
            </a:r>
            <a:endParaRPr lang="en-US" sz="900" dirty="0"/>
          </a:p>
        </p:txBody>
      </p:sp>
      <p:sp>
        <p:nvSpPr>
          <p:cNvPr id="13" name="Text 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1年目の3拠点は有償の試験導入（利用料なし）。解約は期首に起きると置いた控えめな計算</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収支と資金</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p.23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売上の内訳：柱は既存の利用料。個社設定は社内で</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売上＝既存の利用料＋新規の利用料（半年分）＋導入支援＋個社設定（万円）</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16" name="sales"/>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2697480"/>
                <a:gridCol w="1143000"/>
                <a:gridCol w="1143000"/>
                <a:gridCol w="1143000"/>
                <a:gridCol w="1143000"/>
                <a:gridCol w="1143000"/>
              </a:tblGrid>
              <a:tr h="274320">
                <a:tc>
                  <a:txBody>
                    <a:bodyPr/>
                    <a:lstStyle/>
                    <a:p>
                      <a:pPr algn="l" indent="0" marL="0">
                        <a:buNone/>
                      </a:pP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1年目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2年目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3年目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4年目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5年目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既存の利用料</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900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3,300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7,800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14,400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新規の利用料</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1,350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2,700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4,050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4,950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導入支援</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600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1,800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3,600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5,400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6,600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個社設定</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600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750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1,100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550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950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売上</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1,200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4,800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10,700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17,800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26,900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既存の利用料の割合</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19%</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31%</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44%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54%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365760" y="3035808"/>
            <a:ext cx="84124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個社設定の中身（件数×単価の仮置き。当社の導入コンサルタントとエンジニアが行う）</a:t>
            </a:r>
            <a:endParaRPr lang="en-US" sz="1050" dirty="0"/>
          </a:p>
        </p:txBody>
      </p:sp>
      <p:graphicFrame>
        <p:nvGraphicFramePr>
          <p:cNvPr id="31" name="contract"/>
          <p:cNvGraphicFramePr>
            <a:graphicFrameLocks noGrp="1"/>
          </p:cNvGraphicFramePr>
          <p:nvPr>
            <p:extLst>
              <p:ext uri="{D42A27DB-BD31-4B8C-83A1-F6EECF244321}">
                <p14:modId xmlns:p14="http://schemas.microsoft.com/office/powerpoint/2010/main" val="1579011935"/>
              </p:ext>
            </p:extLst>
          </p:nvPr>
        </p:nvGraphicFramePr>
        <p:xfrm>
          <a:off x="365760" y="3310128"/>
          <a:ext cx="8412480" cy="914400"/>
        </p:xfrm>
        <a:graphic>
          <a:graphicData uri="http://schemas.openxmlformats.org/drawingml/2006/table">
            <a:tbl>
              <a:tblPr/>
              <a:tblGrid>
                <a:gridCol w="548640"/>
                <a:gridCol w="1828800"/>
                <a:gridCol w="1417320"/>
                <a:gridCol w="1691640"/>
                <a:gridCol w="1188720"/>
                <a:gridCol w="1737360"/>
              </a:tblGrid>
              <a:tr h="256032">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年</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1年目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2年目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3年目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4年目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43891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中身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試験導入先の施工管理アプリ連携 2件×300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連携・帳票の調整 3件×250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大手の基幹連携600＋2件×250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2件×275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大手の追加450＋2件×250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1" name="Text 6"/>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報告書の書式を整える工程は利用料に含む。有償は標準の出力で足りない連携だけ。粗利は1/3（人件費を原価に振り替え）。作った型は製品に戻す</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収支と資金</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p.23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オフィスと広告：何にいくら使い、何件の商談を生むか</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家賃＝オフィスの賃料＋共益費。広告は展示会・業界団体・事例動画が中心</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17" name="other"/>
          <p:cNvGraphicFramePr>
            <a:graphicFrameLocks noGrp="1"/>
          </p:cNvGraphicFramePr>
          <p:nvPr>
            <p:extLst>
              <p:ext uri="{D42A27DB-BD31-4B8C-83A1-F6EECF244321}">
                <p14:modId xmlns:p14="http://schemas.microsoft.com/office/powerpoint/2010/main" val="1579011935"/>
              </p:ext>
            </p:extLst>
          </p:nvPr>
        </p:nvGraphicFramePr>
        <p:xfrm>
          <a:off x="365760" y="1024128"/>
          <a:ext cx="4069080" cy="914400"/>
        </p:xfrm>
        <a:graphic>
          <a:graphicData uri="http://schemas.openxmlformats.org/drawingml/2006/table">
            <a:tbl>
              <a:tblPr/>
              <a:tblGrid>
                <a:gridCol w="2240280"/>
                <a:gridCol w="594360"/>
                <a:gridCol w="594360"/>
                <a:gridCol w="640080"/>
              </a:tblGrid>
              <a:tr h="274320">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その他の経費（万円）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1年目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3年目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オフィス（賃料＋共益費）</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240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360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600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広告・展示会</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営業・定着支援の交通費</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150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検証用の端末・ソフト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400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専門家（税理士・弁護士・弁理士・社労士）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150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社外顧問（技術・業界）</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180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180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180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雑費</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190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365760" y="3291840"/>
            <a:ext cx="4069080" cy="365760"/>
          </a:xfrm>
          <a:prstGeom prst="rect">
            <a:avLst/>
          </a:prstGeom>
          <a:noFill/>
          <a:ln/>
        </p:spPr>
        <p:txBody>
          <a:bodyPr wrap="square" lIns="0" tIns="0" rIns="0" bIns="0" rtlCol="0" anchor="t"/>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オフィス：川崎市。1年目15坪→5年目40坪、坪1.25〜1.3万円（相場は要確認）</a:t>
            </a:r>
            <a:endParaRPr lang="en-US" sz="850" dirty="0"/>
          </a:p>
        </p:txBody>
      </p:sp>
      <p:sp>
        <p:nvSpPr>
          <p:cNvPr id="10" name="Text 6"/>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5年目の広告500万円の内訳と商談数</a:t>
            </a:r>
            <a:endParaRPr lang="en-US" sz="1050" dirty="0"/>
          </a:p>
        </p:txBody>
      </p:sp>
      <p:graphicFrame>
        <p:nvGraphicFramePr>
          <p:cNvPr id="33" name="ads"/>
          <p:cNvGraphicFramePr>
            <a:graphicFrameLocks noGrp="1"/>
          </p:cNvGraphicFramePr>
          <p:nvPr>
            <p:extLst>
              <p:ext uri="{D42A27DB-BD31-4B8C-83A1-F6EECF244321}">
                <p14:modId xmlns:p14="http://schemas.microsoft.com/office/powerpoint/2010/main" val="1579011935"/>
              </p:ext>
            </p:extLst>
          </p:nvPr>
        </p:nvGraphicFramePr>
        <p:xfrm>
          <a:off x="4709160" y="1298448"/>
          <a:ext cx="4069080" cy="914400"/>
        </p:xfrm>
        <a:graphic>
          <a:graphicData uri="http://schemas.openxmlformats.org/drawingml/2006/table">
            <a:tbl>
              <a:tblPr/>
              <a:tblGrid>
                <a:gridCol w="2743200"/>
                <a:gridCol w="640080"/>
                <a:gridCol w="685800"/>
              </a:tblGrid>
              <a:tr h="256032">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媒体</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商談</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展示会（電設の展示会など）</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150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業界団体の勉強会・業界紙</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事例動画・ホームページ（YouTubeに置く）</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150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検索・SNS広告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60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営業資料・デモ機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40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紹介（既存のお客様・協力会社・メーカー）</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40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合計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1F2933"/>
                          </a:solidFill>
                          <a:latin typeface="BIZ UDPGothic" pitchFamily="34" charset="0"/>
                          <a:ea typeface="BIZ UDPGothic" pitchFamily="34" charset="-122"/>
                          <a:cs typeface="BIZ UDPGothic" pitchFamily="34" charset="-120"/>
                        </a:rPr>
                        <a:t>500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1F2933"/>
                          </a:solidFill>
                          <a:latin typeface="BIZ UDPGothic" pitchFamily="34" charset="0"/>
                          <a:ea typeface="BIZ UDPGothic" pitchFamily="34" charset="-122"/>
                          <a:cs typeface="BIZ UDPGothic" pitchFamily="34" charset="-120"/>
                        </a:rPr>
                        <a:t>100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sp>
        <p:nvSpPr>
          <p:cNvPr id="12" name="Shape 7"/>
          <p:cNvSpPr/>
          <p:nvPr/>
        </p:nvSpPr>
        <p:spPr>
          <a:xfrm>
            <a:off x="365760" y="3749040"/>
            <a:ext cx="8412480" cy="704088"/>
          </a:xfrm>
          <a:prstGeom prst="rect">
            <a:avLst/>
          </a:prstGeom>
          <a:solidFill>
            <a:srgbClr val="1B365D"/>
          </a:solidFill>
          <a:ln/>
        </p:spPr>
      </p:sp>
      <p:sp>
        <p:nvSpPr>
          <p:cNvPr id="13" name="Text 8"/>
          <p:cNvSpPr txBox="1"/>
          <p:nvPr/>
        </p:nvSpPr>
        <p:spPr>
          <a:xfrm>
            <a:off x="502920" y="3749040"/>
            <a:ext cx="8138160" cy="70408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F5C400"/>
                </a:solidFill>
                <a:latin typeface="BIZ UDPGothic" pitchFamily="34" charset="0"/>
                <a:ea typeface="BIZ UDPGothic" pitchFamily="34" charset="-122"/>
                <a:cs typeface="BIZ UDPGothic" pitchFamily="34" charset="-120"/>
              </a:rPr>
              <a:t>費用対効果：</a:t>
            </a:r>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5年目は新規33拠点≒約25社。成約率25%なら商談約100件。500万円÷100件＝1商談5万円、1拠点約15万円。</a:t>
            </a:r>
            <a:endParaRPr lang="en-US" sz="9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媒体ごとの商談数は仮説。最初の1年で媒体ごとに「名刺→商談→成約」を記録し、効かない媒体はやめる</a:t>
            </a:r>
            <a:endParaRPr lang="en-US" sz="900" dirty="0"/>
          </a:p>
        </p:txBody>
      </p:sp>
      <p:sp>
        <p:nvSpPr>
          <p:cNvPr id="14" name="Text 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YouTubeは単独の広告ではなく、事例動画の置き場所。現場の人が「自分の工事で使えるか」を見て、展示会や勉強会から来てもらう</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収支と資金</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p.16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チームと採用計画：役割ごとに人数と年収を決める</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人件費＝役割別の年収×1.2（会社負担）。これに採用費と社外顧問の費用を足す</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18" name="team"/>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2011680"/>
                <a:gridCol w="777240"/>
                <a:gridCol w="457200"/>
                <a:gridCol w="457200"/>
                <a:gridCol w="457200"/>
                <a:gridCol w="457200"/>
                <a:gridCol w="457200"/>
                <a:gridCol w="3337560"/>
              </a:tblGrid>
              <a:tr h="219456">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役割</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750" b="1" dirty="0">
                          <a:solidFill>
                            <a:srgbClr val="FFFFFF"/>
                          </a:solidFill>
                          <a:latin typeface="BIZ UDPGothic" pitchFamily="34" charset="0"/>
                          <a:ea typeface="BIZ UDPGothic" pitchFamily="34" charset="-122"/>
                          <a:cs typeface="BIZ UDPGothic" pitchFamily="34" charset="-120"/>
                        </a:rPr>
                        <a:t>年収（万円）</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750" b="1" dirty="0">
                          <a:solidFill>
                            <a:srgbClr val="FFFFFF"/>
                          </a:solidFill>
                          <a:latin typeface="BIZ UDPGothic" pitchFamily="34" charset="0"/>
                          <a:ea typeface="BIZ UDPGothic" pitchFamily="34" charset="-122"/>
                          <a:cs typeface="BIZ UDPGothic" pitchFamily="34" charset="-120"/>
                        </a:rPr>
                        <a:t>1年目</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750" b="1" dirty="0">
                          <a:solidFill>
                            <a:srgbClr val="FFFFFF"/>
                          </a:solidFill>
                          <a:latin typeface="BIZ UDPGothic" pitchFamily="34" charset="0"/>
                          <a:ea typeface="BIZ UDPGothic" pitchFamily="34" charset="-122"/>
                          <a:cs typeface="BIZ UDPGothic" pitchFamily="34" charset="-120"/>
                        </a:rPr>
                        <a:t>2年目</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750" b="1" dirty="0">
                          <a:solidFill>
                            <a:srgbClr val="FFFFFF"/>
                          </a:solidFill>
                          <a:latin typeface="BIZ UDPGothic" pitchFamily="34" charset="0"/>
                          <a:ea typeface="BIZ UDPGothic" pitchFamily="34" charset="-122"/>
                          <a:cs typeface="BIZ UDPGothic" pitchFamily="34" charset="-120"/>
                        </a:rPr>
                        <a:t>3年目</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750" b="1" dirty="0">
                          <a:solidFill>
                            <a:srgbClr val="FFFFFF"/>
                          </a:solidFill>
                          <a:latin typeface="BIZ UDPGothic" pitchFamily="34" charset="0"/>
                          <a:ea typeface="BIZ UDPGothic" pitchFamily="34" charset="-122"/>
                          <a:cs typeface="BIZ UDPGothic" pitchFamily="34" charset="-120"/>
                        </a:rPr>
                        <a:t>4年目</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750" b="1" dirty="0">
                          <a:solidFill>
                            <a:srgbClr val="FFFFFF"/>
                          </a:solidFill>
                          <a:latin typeface="BIZ UDPGothic" pitchFamily="34" charset="0"/>
                          <a:ea typeface="BIZ UDPGothic" pitchFamily="34" charset="-122"/>
                          <a:cs typeface="BIZ UDPGothic" pitchFamily="34" charset="-120"/>
                        </a:rPr>
                        <a:t>5年目</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主な仕事</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1945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代表（創業者）</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480〜720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4A5563"/>
                          </a:solidFill>
                          <a:latin typeface="BIZ UDPGothic" pitchFamily="34" charset="0"/>
                          <a:ea typeface="BIZ UDPGothic" pitchFamily="34" charset="-122"/>
                          <a:cs typeface="BIZ UDPGothic" pitchFamily="34" charset="-120"/>
                        </a:rPr>
                        <a:t>最初の営業・現場監修の統括・理念と判断の基準づくり</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CTO</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1000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4A5563"/>
                          </a:solidFill>
                          <a:latin typeface="BIZ UDPGothic" pitchFamily="34" charset="0"/>
                          <a:ea typeface="BIZ UDPGothic" pitchFamily="34" charset="-122"/>
                          <a:cs typeface="BIZ UDPGothic" pitchFamily="34" charset="-120"/>
                        </a:rPr>
                        <a:t>映像AI・データ基盤の設計と開発の責任者</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エンジニア</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800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5</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4A5563"/>
                          </a:solidFill>
                          <a:latin typeface="BIZ UDPGothic" pitchFamily="34" charset="0"/>
                          <a:ea typeface="BIZ UDPGothic" pitchFamily="34" charset="-122"/>
                          <a:cs typeface="BIZ UDPGothic" pitchFamily="34" charset="-120"/>
                        </a:rPr>
                        <a:t>アプリ・AI処理・クラウド・グラス連携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現場監修（施工管理経験者）</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650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4A5563"/>
                          </a:solidFill>
                          <a:latin typeface="BIZ UDPGothic" pitchFamily="34" charset="0"/>
                          <a:ea typeface="BIZ UDPGothic" pitchFamily="34" charset="-122"/>
                          <a:cs typeface="BIZ UDPGothic" pitchFamily="34" charset="-120"/>
                        </a:rPr>
                        <a:t>映像の意味づけ（ラベル付け）・工種の型・品質の確認</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導入コンサルタント</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600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6</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8</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4A5563"/>
                          </a:solidFill>
                          <a:latin typeface="BIZ UDPGothic" pitchFamily="34" charset="0"/>
                          <a:ea typeface="BIZ UDPGothic" pitchFamily="34" charset="-122"/>
                          <a:cs typeface="BIZ UDPGothic" pitchFamily="34" charset="-120"/>
                        </a:rPr>
                        <a:t>導入支援・各社の帳票と連携の設定・定着支援（当社のコンサル部隊）</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営業（技術営業）</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650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4A5563"/>
                          </a:solidFill>
                          <a:latin typeface="BIZ UDPGothic" pitchFamily="34" charset="0"/>
                          <a:ea typeface="BIZ UDPGothic" pitchFamily="34" charset="-122"/>
                          <a:cs typeface="BIZ UDPGothic" pitchFamily="34" charset="-120"/>
                        </a:rPr>
                        <a:t>商談・試験導入の提案。年30商談／人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管理（人事・経理・総務）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550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4A5563"/>
                          </a:solidFill>
                          <a:latin typeface="BIZ UDPGothic" pitchFamily="34" charset="0"/>
                          <a:ea typeface="BIZ UDPGothic" pitchFamily="34" charset="-122"/>
                          <a:cs typeface="BIZ UDPGothic" pitchFamily="34" charset="-120"/>
                        </a:rPr>
                        <a:t>採用・労務・経理・契約</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戦略企画</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700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4A5563"/>
                          </a:solidFill>
                          <a:latin typeface="BIZ UDPGothic" pitchFamily="34" charset="0"/>
                          <a:ea typeface="BIZ UDPGothic" pitchFamily="34" charset="-122"/>
                          <a:cs typeface="BIZ UDPGothic" pitchFamily="34" charset="-120"/>
                        </a:rPr>
                        <a:t>価格・提携・大手顧客の企画</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750" b="1" dirty="0">
                          <a:solidFill>
                            <a:srgbClr val="1F2933"/>
                          </a:solidFill>
                          <a:latin typeface="BIZ UDPGothic" pitchFamily="34" charset="0"/>
                          <a:ea typeface="BIZ UDPGothic" pitchFamily="34" charset="-122"/>
                          <a:cs typeface="BIZ UDPGothic" pitchFamily="34" charset="-120"/>
                        </a:rPr>
                        <a:t>社員数</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750" b="1" dirty="0">
                          <a:solidFill>
                            <a:srgbClr val="1F2933"/>
                          </a:solidFill>
                          <a:latin typeface="BIZ UDPGothic" pitchFamily="34" charset="0"/>
                          <a:ea typeface="BIZ UDPGothic" pitchFamily="34" charset="-122"/>
                          <a:cs typeface="BIZ UDPGothic" pitchFamily="34" charset="-120"/>
                        </a:rPr>
                        <a:t>5</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750" b="1" dirty="0">
                          <a:solidFill>
                            <a:srgbClr val="1F2933"/>
                          </a:solidFill>
                          <a:latin typeface="BIZ UDPGothic" pitchFamily="34" charset="0"/>
                          <a:ea typeface="BIZ UDPGothic" pitchFamily="34" charset="-122"/>
                          <a:cs typeface="BIZ UDPGothic" pitchFamily="34" charset="-120"/>
                        </a:rPr>
                        <a:t>8</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750" b="1" dirty="0">
                          <a:solidFill>
                            <a:srgbClr val="1F2933"/>
                          </a:solidFill>
                          <a:latin typeface="BIZ UDPGothic" pitchFamily="34" charset="0"/>
                          <a:ea typeface="BIZ UDPGothic" pitchFamily="34" charset="-122"/>
                          <a:cs typeface="BIZ UDPGothic" pitchFamily="34" charset="-120"/>
                        </a:rPr>
                        <a:t>12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750" b="1" dirty="0">
                          <a:solidFill>
                            <a:srgbClr val="1F2933"/>
                          </a:solidFill>
                          <a:latin typeface="BIZ UDPGothic" pitchFamily="34" charset="0"/>
                          <a:ea typeface="BIZ UDPGothic" pitchFamily="34" charset="-122"/>
                          <a:cs typeface="BIZ UDPGothic" pitchFamily="34" charset="-120"/>
                        </a:rPr>
                        <a:t>18</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750" b="1" dirty="0">
                          <a:solidFill>
                            <a:srgbClr val="1F2933"/>
                          </a:solidFill>
                          <a:latin typeface="BIZ UDPGothic" pitchFamily="34" charset="0"/>
                          <a:ea typeface="BIZ UDPGothic" pitchFamily="34" charset="-122"/>
                          <a:cs typeface="BIZ UDPGothic" pitchFamily="34" charset="-120"/>
                        </a:rPr>
                        <a:t>23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l" indent="0" marL="0">
                        <a:buNone/>
                      </a:pP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1945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人件費（会社負担込み）</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4,236</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6,840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10,044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14,844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18,684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年収×1.2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採用費</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530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308</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383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600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480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年収の30%×紹介会社経由50%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Shape 5"/>
          <p:cNvSpPr/>
          <p:nvPr/>
        </p:nvSpPr>
        <p:spPr>
          <a:xfrm>
            <a:off x="365760" y="3822192"/>
            <a:ext cx="8412480" cy="640080"/>
          </a:xfrm>
          <a:prstGeom prst="rect">
            <a:avLst/>
          </a:prstGeom>
          <a:solidFill>
            <a:srgbClr val="1B365D"/>
          </a:solidFill>
          <a:ln/>
        </p:spPr>
      </p:sp>
      <p:sp>
        <p:nvSpPr>
          <p:cNvPr id="10" name="Text 6"/>
          <p:cNvSpPr txBox="1"/>
          <p:nvPr/>
        </p:nvSpPr>
        <p:spPr>
          <a:xfrm>
            <a:off x="502920" y="3822192"/>
            <a:ext cx="8138160" cy="640080"/>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F5C400"/>
                </a:solidFill>
                <a:latin typeface="BIZ UDPGothic" pitchFamily="34" charset="0"/>
                <a:ea typeface="BIZ UDPGothic" pitchFamily="34" charset="-122"/>
                <a:cs typeface="BIZ UDPGothic" pitchFamily="34" charset="-120"/>
              </a:rPr>
              <a:t>社外：</a:t>
            </a:r>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技術顧問（大学・映像AI）月10万円、業界顧問（電気工事業のOB）月5万円 ＝ 年180万円。</a:t>
            </a:r>
            <a:endParaRPr lang="en-US" sz="9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導入コンサルタントは「その年の新規拠点÷6」で先に採用する。外部に委託せず社内に知見を貯める。採用は拠点数の実績に合わせて遅らせられる（p.22）</a:t>
            </a:r>
            <a:endParaRPr lang="en-US" sz="900" dirty="0"/>
          </a:p>
        </p:txBody>
      </p:sp>
      <p:sp>
        <p:nvSpPr>
          <p:cNvPr id="11" name="Text 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年収はすべて見積（採用市場の相場は要確認）。代表の年収は1年目480万円から段階的に上げる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収支と資金</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p.23〜24・27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収支：10台のままでは5年で黒字にならない。15台なら5年目</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ここまでの前提をすべて入れた5年間の損益（万円）</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19" name="pl"/>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2697480"/>
                <a:gridCol w="1143000"/>
                <a:gridCol w="1143000"/>
                <a:gridCol w="1143000"/>
                <a:gridCol w="1143000"/>
                <a:gridCol w="1143000"/>
              </a:tblGrid>
              <a:tr h="228600">
                <a:tc>
                  <a:txBody>
                    <a:bodyPr/>
                    <a:lstStyle/>
                    <a:p>
                      <a:pPr algn="l"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1年目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2年目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3年目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4年目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売上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1,200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4,800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10,700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17,800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26,900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粗利</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314</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2,401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5,749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10,308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16,196</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粗利率</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26%</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54%</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60%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人件費（原価に振り替えた分を除く）</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3,458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5,206</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7,043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11,075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13,893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採用費</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530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308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383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600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480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その他の経費（AIの学習費を含む）</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1,170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1,650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2,020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2,490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2,940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営業利益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C62828"/>
                          </a:solidFill>
                          <a:latin typeface="BIZ UDPGothic" pitchFamily="34" charset="0"/>
                          <a:ea typeface="BIZ UDPGothic" pitchFamily="34" charset="-122"/>
                          <a:cs typeface="BIZ UDPGothic" pitchFamily="34" charset="-120"/>
                        </a:rPr>
                        <a:t>▲4,844</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C62828"/>
                          </a:solidFill>
                          <a:latin typeface="BIZ UDPGothic" pitchFamily="34" charset="0"/>
                          <a:ea typeface="BIZ UDPGothic" pitchFamily="34" charset="-122"/>
                          <a:cs typeface="BIZ UDPGothic" pitchFamily="34" charset="-120"/>
                        </a:rPr>
                        <a:t>▲4,763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C62828"/>
                          </a:solidFill>
                          <a:latin typeface="BIZ UDPGothic" pitchFamily="34" charset="0"/>
                          <a:ea typeface="BIZ UDPGothic" pitchFamily="34" charset="-122"/>
                          <a:cs typeface="BIZ UDPGothic" pitchFamily="34" charset="-120"/>
                        </a:rPr>
                        <a:t>▲3,696</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C62828"/>
                          </a:solidFill>
                          <a:latin typeface="BIZ UDPGothic" pitchFamily="34" charset="0"/>
                          <a:ea typeface="BIZ UDPGothic" pitchFamily="34" charset="-122"/>
                          <a:cs typeface="BIZ UDPGothic" pitchFamily="34" charset="-120"/>
                        </a:rPr>
                        <a:t>▲3,857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C62828"/>
                          </a:solidFill>
                          <a:latin typeface="BIZ UDPGothic" pitchFamily="34" charset="0"/>
                          <a:ea typeface="BIZ UDPGothic" pitchFamily="34" charset="-122"/>
                          <a:cs typeface="BIZ UDPGothic" pitchFamily="34" charset="-120"/>
                        </a:rPr>
                        <a:t>▲1,117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累積の営業損益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▲4,844</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▲9,606</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▲13,303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▲17,160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▲18,277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graphicFrame>
        <p:nvGraphicFramePr>
          <p:cNvPr id="37" name="whatif"/>
          <p:cNvGraphicFramePr>
            <a:graphicFrameLocks noGrp="1"/>
          </p:cNvGraphicFramePr>
          <p:nvPr>
            <p:extLst>
              <p:ext uri="{D42A27DB-BD31-4B8C-83A1-F6EECF244321}">
                <p14:modId xmlns:p14="http://schemas.microsoft.com/office/powerpoint/2010/main" val="1579011935"/>
              </p:ext>
            </p:extLst>
          </p:nvPr>
        </p:nvGraphicFramePr>
        <p:xfrm>
          <a:off x="365760" y="3456432"/>
          <a:ext cx="8412480" cy="914400"/>
        </p:xfrm>
        <a:graphic>
          <a:graphicData uri="http://schemas.openxmlformats.org/drawingml/2006/table">
            <a:tbl>
              <a:tblPr/>
              <a:tblGrid>
                <a:gridCol w="2926080"/>
                <a:gridCol w="1554480"/>
                <a:gridCol w="1920240"/>
                <a:gridCol w="2011680"/>
              </a:tblGrid>
              <a:tr h="201168">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もし</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00" b="1" dirty="0">
                          <a:solidFill>
                            <a:srgbClr val="FFFFFF"/>
                          </a:solidFill>
                          <a:latin typeface="BIZ UDPGothic" pitchFamily="34" charset="0"/>
                          <a:ea typeface="BIZ UDPGothic" pitchFamily="34" charset="-122"/>
                          <a:cs typeface="BIZ UDPGothic" pitchFamily="34" charset="-120"/>
                        </a:rPr>
                        <a:t>黒字化</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00" b="1" dirty="0">
                          <a:solidFill>
                            <a:srgbClr val="FFFFFF"/>
                          </a:solidFill>
                          <a:latin typeface="BIZ UDPGothic" pitchFamily="34" charset="0"/>
                          <a:ea typeface="BIZ UDPGothic" pitchFamily="34" charset="-122"/>
                          <a:cs typeface="BIZ UDPGothic" pitchFamily="34" charset="-120"/>
                        </a:rPr>
                        <a:t>5年目の営業利益</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00" b="1" dirty="0">
                          <a:solidFill>
                            <a:srgbClr val="FFFFFF"/>
                          </a:solidFill>
                          <a:latin typeface="BIZ UDPGothic" pitchFamily="34" charset="0"/>
                          <a:ea typeface="BIZ UDPGothic" pitchFamily="34" charset="-122"/>
                          <a:cs typeface="BIZ UDPGothic" pitchFamily="34" charset="-120"/>
                        </a:rPr>
                        <a:t>累積赤字のピーク</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0116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計画どおり（10台）</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C62828"/>
                          </a:solidFill>
                          <a:latin typeface="BIZ UDPGothic" pitchFamily="34" charset="0"/>
                          <a:ea typeface="BIZ UDPGothic" pitchFamily="34" charset="-122"/>
                          <a:cs typeface="BIZ UDPGothic" pitchFamily="34" charset="-120"/>
                        </a:rPr>
                        <a:t>しない</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C62828"/>
                          </a:solidFill>
                          <a:latin typeface="BIZ UDPGothic" pitchFamily="34" charset="0"/>
                          <a:ea typeface="BIZ UDPGothic" pitchFamily="34" charset="-122"/>
                          <a:cs typeface="BIZ UDPGothic" pitchFamily="34" charset="-120"/>
                        </a:rPr>
                        <a:t>▲1,117</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18,277</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0116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1拠点15台に増やす</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2E7D32"/>
                          </a:solidFill>
                          <a:latin typeface="BIZ UDPGothic" pitchFamily="34" charset="0"/>
                          <a:ea typeface="BIZ UDPGothic" pitchFamily="34" charset="-122"/>
                          <a:cs typeface="BIZ UDPGothic" pitchFamily="34" charset="-120"/>
                        </a:rPr>
                        <a:t>5年目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B365D"/>
                          </a:solidFill>
                          <a:latin typeface="BIZ UDPGothic" pitchFamily="34" charset="0"/>
                          <a:ea typeface="BIZ UDPGothic" pitchFamily="34" charset="-122"/>
                          <a:cs typeface="BIZ UDPGothic" pitchFamily="34" charset="-120"/>
                        </a:rPr>
                        <a:t>4,301</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11,559</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0116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解約が年5%</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C62828"/>
                          </a:solidFill>
                          <a:latin typeface="BIZ UDPGothic" pitchFamily="34" charset="0"/>
                          <a:ea typeface="BIZ UDPGothic" pitchFamily="34" charset="-122"/>
                          <a:cs typeface="BIZ UDPGothic" pitchFamily="34" charset="-120"/>
                        </a:rPr>
                        <a:t>しない</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C62828"/>
                          </a:solidFill>
                          <a:latin typeface="BIZ UDPGothic" pitchFamily="34" charset="0"/>
                          <a:ea typeface="BIZ UDPGothic" pitchFamily="34" charset="-122"/>
                          <a:cs typeface="BIZ UDPGothic" pitchFamily="34" charset="-120"/>
                        </a:rPr>
                        <a:t>▲253</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16,981</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0116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月18万円に値下げ</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C62828"/>
                          </a:solidFill>
                          <a:latin typeface="BIZ UDPGothic" pitchFamily="34" charset="0"/>
                          <a:ea typeface="BIZ UDPGothic" pitchFamily="34" charset="-122"/>
                          <a:cs typeface="BIZ UDPGothic" pitchFamily="34" charset="-120"/>
                        </a:rPr>
                        <a:t>しない</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C62828"/>
                          </a:solidFill>
                          <a:latin typeface="BIZ UDPGothic" pitchFamily="34" charset="0"/>
                          <a:ea typeface="BIZ UDPGothic" pitchFamily="34" charset="-122"/>
                          <a:cs typeface="BIZ UDPGothic" pitchFamily="34" charset="-120"/>
                        </a:rPr>
                        <a:t>▲6,535</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29,323</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0" name="Text 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累積赤字のピークは約1.83億円。自己資金は1年目2億円＋3年目5,000万円（p.23）</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収支と資金</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p.24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損益分岐点：5年目は分岐点の約94%。人で見ても届かない</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二つの見方が同じ答えになることを確かめる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sp>
        <p:nvSpPr>
          <p:cNvPr id="8" name="Text 5"/>
          <p:cNvSpPr txBox="1"/>
          <p:nvPr/>
        </p:nvSpPr>
        <p:spPr>
          <a:xfrm>
            <a:off x="365760" y="1051560"/>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① 売上で見る：損益分岐点売上＝販管費÷粗利率</a:t>
            </a:r>
            <a:endParaRPr lang="en-US" sz="1050" dirty="0"/>
          </a:p>
        </p:txBody>
      </p:sp>
      <p:graphicFrame>
        <p:nvGraphicFramePr>
          <p:cNvPr id="20" name="bep-sales"/>
          <p:cNvGraphicFramePr>
            <a:graphicFrameLocks noGrp="1"/>
          </p:cNvGraphicFramePr>
          <p:nvPr>
            <p:extLst>
              <p:ext uri="{D42A27DB-BD31-4B8C-83A1-F6EECF244321}">
                <p14:modId xmlns:p14="http://schemas.microsoft.com/office/powerpoint/2010/main" val="1579011935"/>
              </p:ext>
            </p:extLst>
          </p:nvPr>
        </p:nvGraphicFramePr>
        <p:xfrm>
          <a:off x="365760" y="1325880"/>
          <a:ext cx="4069080" cy="914400"/>
        </p:xfrm>
        <a:graphic>
          <a:graphicData uri="http://schemas.openxmlformats.org/drawingml/2006/table">
            <a:tbl>
              <a:tblPr/>
              <a:tblGrid>
                <a:gridCol w="1097280"/>
                <a:gridCol w="594360"/>
                <a:gridCol w="594360"/>
                <a:gridCol w="594360"/>
                <a:gridCol w="594360"/>
                <a:gridCol w="594360"/>
              </a:tblGrid>
              <a:tr h="274320">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1年目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2年目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3年目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4年目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5年目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販管費</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52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72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94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142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173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粗利率</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26%</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50%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54%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58%</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60%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分岐点売上</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197</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143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176</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245</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288</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実際の売上</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48</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107</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178</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269</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安全余裕率</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0" name="Text 6"/>
          <p:cNvSpPr txBox="1"/>
          <p:nvPr/>
        </p:nvSpPr>
        <p:spPr>
          <a:xfrm>
            <a:off x="4709160" y="1051560"/>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② 人で見る：社員1人あたりの拠点数</a:t>
            </a:r>
            <a:endParaRPr lang="en-US" sz="1050" dirty="0"/>
          </a:p>
        </p:txBody>
      </p:sp>
      <p:sp>
        <p:nvSpPr>
          <p:cNvPr id="11" name="Shape 7"/>
          <p:cNvSpPr/>
          <p:nvPr/>
        </p:nvSpPr>
        <p:spPr>
          <a:xfrm>
            <a:off x="4709160" y="1325880"/>
            <a:ext cx="4069080" cy="868680"/>
          </a:xfrm>
          <a:prstGeom prst="rect">
            <a:avLst/>
          </a:prstGeom>
          <a:solidFill>
            <a:srgbClr val="1B365D"/>
          </a:solidFill>
          <a:ln/>
        </p:spPr>
      </p:sp>
      <p:sp>
        <p:nvSpPr>
          <p:cNvPr id="12" name="Text 8"/>
          <p:cNvSpPr txBox="1"/>
          <p:nvPr/>
        </p:nvSpPr>
        <p:spPr>
          <a:xfrm>
            <a:off x="4846320" y="1344168"/>
            <a:ext cx="3794760" cy="822960"/>
          </a:xfrm>
          <a:prstGeom prst="rect">
            <a:avLst/>
          </a:prstGeom>
          <a:noFill/>
          <a:ln/>
        </p:spPr>
        <p:txBody>
          <a:bodyPr wrap="square" lIns="0" tIns="0" rIns="0" bIns="0" rtlCol="0" anchor="ctr"/>
          <a:lstStyle/>
          <a:p>
            <a:pPr algn="l" indent="0" marL="0">
              <a:lnSpc>
                <a:spcPct val="115000"/>
              </a:lnSpc>
              <a:buNone/>
            </a:pPr>
            <a:r>
              <a:rPr lang="en-US" sz="950" dirty="0">
                <a:solidFill>
                  <a:srgbClr val="FFFFFF"/>
                </a:solidFill>
                <a:latin typeface="BIZ UDPGothic" pitchFamily="34" charset="0"/>
                <a:ea typeface="BIZ UDPGothic" pitchFamily="34" charset="-122"/>
                <a:cs typeface="BIZ UDPGothic" pitchFamily="34" charset="-120"/>
              </a:rPr>
              <a:t>社員1人の販管費 753万円（5年目：17,313万円÷23人）</a:t>
            </a:r>
            <a:endParaRPr lang="en-US" sz="950" dirty="0"/>
          </a:p>
          <a:p>
            <a:pPr algn="l" indent="0" marL="0">
              <a:lnSpc>
                <a:spcPct val="115000"/>
              </a:lnSpc>
              <a:buNone/>
            </a:pPr>
            <a:r>
              <a:rPr lang="en-US" sz="950" dirty="0">
                <a:solidFill>
                  <a:srgbClr val="FFFFFF"/>
                </a:solidFill>
                <a:latin typeface="BIZ UDPGothic" pitchFamily="34" charset="0"/>
                <a:ea typeface="BIZ UDPGothic" pitchFamily="34" charset="-122"/>
                <a:cs typeface="BIZ UDPGothic" pitchFamily="34" charset="-120"/>
              </a:rPr>
              <a:t>÷ 1拠点の粗利 216万円 ＝ 3.5拠点／人</a:t>
            </a:r>
            <a:endParaRPr lang="en-US" sz="950" dirty="0"/>
          </a:p>
          <a:p>
            <a:pPr algn="l" indent="0" marL="0">
              <a:lnSpc>
                <a:spcPct val="115000"/>
              </a:lnSpc>
              <a:buNone/>
            </a:pPr>
            <a:r>
              <a:rPr lang="en-US" sz="1300" b="1" dirty="0">
                <a:solidFill>
                  <a:srgbClr val="F5C400"/>
                </a:solidFill>
                <a:latin typeface="BIZ UDPGothic" pitchFamily="34" charset="0"/>
                <a:ea typeface="BIZ UDPGothic" pitchFamily="34" charset="-122"/>
                <a:cs typeface="BIZ UDPGothic" pitchFamily="34" charset="-120"/>
              </a:rPr>
              <a:t>新規は初年度半額 → 期末で1人約4拠点</a:t>
            </a:r>
            <a:endParaRPr lang="en-US" sz="950" dirty="0"/>
          </a:p>
        </p:txBody>
      </p:sp>
      <p:graphicFrame>
        <p:nvGraphicFramePr>
          <p:cNvPr id="39" name="bep-people"/>
          <p:cNvGraphicFramePr>
            <a:graphicFrameLocks noGrp="1"/>
          </p:cNvGraphicFramePr>
          <p:nvPr>
            <p:extLst>
              <p:ext uri="{D42A27DB-BD31-4B8C-83A1-F6EECF244321}">
                <p14:modId xmlns:p14="http://schemas.microsoft.com/office/powerpoint/2010/main" val="1579011935"/>
              </p:ext>
            </p:extLst>
          </p:nvPr>
        </p:nvGraphicFramePr>
        <p:xfrm>
          <a:off x="4709160" y="2286000"/>
          <a:ext cx="4069080" cy="914400"/>
        </p:xfrm>
        <a:graphic>
          <a:graphicData uri="http://schemas.openxmlformats.org/drawingml/2006/table">
            <a:tbl>
              <a:tblPr/>
              <a:tblGrid>
                <a:gridCol w="1097280"/>
                <a:gridCol w="594360"/>
                <a:gridCol w="594360"/>
                <a:gridCol w="594360"/>
                <a:gridCol w="594360"/>
                <a:gridCol w="594360"/>
              </a:tblGrid>
              <a:tr h="274320">
                <a:tc>
                  <a:txBody>
                    <a:bodyPr/>
                    <a:lstStyle/>
                    <a:p>
                      <a:pPr algn="l" indent="0" marL="0">
                        <a:buNone/>
                      </a:pP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1年目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2年目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3年目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4年目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5年目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拠点÷社員</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B365D"/>
                          </a:solidFill>
                          <a:latin typeface="BIZ UDPGothic" pitchFamily="34" charset="0"/>
                          <a:ea typeface="BIZ UDPGothic" pitchFamily="34" charset="-122"/>
                          <a:cs typeface="BIZ UDPGothic" pitchFamily="34" charset="-120"/>
                        </a:rPr>
                        <a:t>0.60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B365D"/>
                          </a:solidFill>
                          <a:latin typeface="BIZ UDPGothic" pitchFamily="34" charset="0"/>
                          <a:ea typeface="BIZ UDPGothic" pitchFamily="34" charset="-122"/>
                          <a:cs typeface="BIZ UDPGothic" pitchFamily="34" charset="-120"/>
                        </a:rPr>
                        <a:t>1.50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B365D"/>
                          </a:solidFill>
                          <a:latin typeface="BIZ UDPGothic" pitchFamily="34" charset="0"/>
                          <a:ea typeface="BIZ UDPGothic" pitchFamily="34" charset="-122"/>
                          <a:cs typeface="BIZ UDPGothic" pitchFamily="34" charset="-120"/>
                        </a:rPr>
                        <a:t>2.42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B365D"/>
                          </a:solidFill>
                          <a:latin typeface="BIZ UDPGothic" pitchFamily="34" charset="0"/>
                          <a:ea typeface="BIZ UDPGothic" pitchFamily="34" charset="-122"/>
                          <a:cs typeface="BIZ UDPGothic" pitchFamily="34" charset="-120"/>
                        </a:rPr>
                        <a:t>2.94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B365D"/>
                          </a:solidFill>
                          <a:latin typeface="BIZ UDPGothic" pitchFamily="34" charset="0"/>
                          <a:ea typeface="BIZ UDPGothic" pitchFamily="34" charset="-122"/>
                          <a:cs typeface="BIZ UDPGothic" pitchFamily="34" charset="-120"/>
                        </a:rPr>
                        <a:t>3.52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4" name="Shape 9"/>
          <p:cNvSpPr/>
          <p:nvPr/>
        </p:nvSpPr>
        <p:spPr>
          <a:xfrm>
            <a:off x="365760" y="3154680"/>
            <a:ext cx="8412480" cy="1188720"/>
          </a:xfrm>
          <a:prstGeom prst="rect">
            <a:avLst/>
          </a:prstGeom>
          <a:solidFill>
            <a:srgbClr val="EAF0F6"/>
          </a:solidFill>
          <a:ln/>
        </p:spPr>
      </p:sp>
      <p:sp>
        <p:nvSpPr>
          <p:cNvPr id="15" name="Text 10"/>
          <p:cNvSpPr txBox="1"/>
          <p:nvPr/>
        </p:nvSpPr>
        <p:spPr>
          <a:xfrm>
            <a:off x="502920" y="3154680"/>
            <a:ext cx="8138160" cy="1188720"/>
          </a:xfrm>
          <a:prstGeom prst="rect">
            <a:avLst/>
          </a:prstGeom>
          <a:noFill/>
          <a:ln/>
        </p:spPr>
        <p:txBody>
          <a:bodyPr wrap="square" lIns="0" tIns="0" rIns="0" bIns="0" rtlCol="0" anchor="ctr"/>
          <a:lstStyle/>
          <a:p>
            <a:pPr algn="l" indent="0" marL="0">
              <a:lnSpc>
                <a:spcPct val="115000"/>
              </a:lnSpc>
              <a:spcAft>
                <a:spcPts val="300"/>
              </a:spcAft>
              <a:buNone/>
            </a:pPr>
            <a:r>
              <a:rPr lang="en-US" sz="950" b="1" dirty="0">
                <a:solidFill>
                  <a:srgbClr val="2F6DB5"/>
                </a:solidFill>
                <a:latin typeface="BIZ UDPGothic" pitchFamily="34" charset="0"/>
                <a:ea typeface="BIZ UDPGothic" pitchFamily="34" charset="-122"/>
                <a:cs typeface="BIZ UDPGothic" pitchFamily="34" charset="-120"/>
              </a:rPr>
              <a:t>なぜ販管費を「固定費」とみなすか：</a:t>
            </a:r>
            <a:pPr algn="l" indent="0" marL="0">
              <a:lnSpc>
                <a:spcPct val="115000"/>
              </a:lnSpc>
              <a:spcAft>
                <a:spcPts val="300"/>
              </a:spcAft>
              <a:buNone/>
            </a:pPr>
            <a:r>
              <a:rPr lang="en-US" sz="950" dirty="0">
                <a:solidFill>
                  <a:srgbClr val="1F2933"/>
                </a:solidFill>
                <a:latin typeface="BIZ UDPGothic" pitchFamily="34" charset="0"/>
                <a:ea typeface="BIZ UDPGothic" pitchFamily="34" charset="-122"/>
                <a:cs typeface="BIZ UDPGothic" pitchFamily="34" charset="-120"/>
              </a:rPr>
              <a:t>販管費の大半は人件費と家賃で、売上が増えても1年の中では動かない。変動費（AI・保存の費用、導入支援と個社設定の人件費）は原価に入れてある</a:t>
            </a:r>
            <a:endParaRPr lang="en-US" sz="950" dirty="0"/>
          </a:p>
          <a:p>
            <a:pPr algn="l" indent="0" marL="0">
              <a:lnSpc>
                <a:spcPct val="115000"/>
              </a:lnSpc>
              <a:spcAft>
                <a:spcPts val="300"/>
              </a:spcAft>
              <a:buNone/>
            </a:pPr>
            <a:r>
              <a:rPr lang="en-US" sz="950" b="1" dirty="0">
                <a:solidFill>
                  <a:srgbClr val="2F6DB5"/>
                </a:solidFill>
                <a:latin typeface="BIZ UDPGothic" pitchFamily="34" charset="0"/>
                <a:ea typeface="BIZ UDPGothic" pitchFamily="34" charset="-122"/>
                <a:cs typeface="BIZ UDPGothic" pitchFamily="34" charset="-120"/>
              </a:rPr>
              <a:t>聞かれたらこう答える：</a:t>
            </a:r>
            <a:pPr algn="l" indent="0" marL="0">
              <a:lnSpc>
                <a:spcPct val="115000"/>
              </a:lnSpc>
              <a:spcAft>
                <a:spcPts val="300"/>
              </a:spcAft>
              <a:buNone/>
            </a:pPr>
            <a:r>
              <a:rPr lang="en-US" sz="950" dirty="0">
                <a:solidFill>
                  <a:srgbClr val="1F2933"/>
                </a:solidFill>
                <a:latin typeface="BIZ UDPGothic" pitchFamily="34" charset="0"/>
                <a:ea typeface="BIZ UDPGothic" pitchFamily="34" charset="-122"/>
                <a:cs typeface="BIZ UDPGothic" pitchFamily="34" charset="-120"/>
              </a:rPr>
              <a:t>「5年目は23人で81拠点、1人3.52で約4拠点に届かず赤字です。あと約6拠点分、または1拠点15台で越えます」</a:t>
            </a:r>
            <a:endParaRPr lang="en-US" sz="950" dirty="0"/>
          </a:p>
          <a:p>
            <a:pPr algn="l" indent="0" marL="0">
              <a:lnSpc>
                <a:spcPct val="115000"/>
              </a:lnSpc>
              <a:spcAft>
                <a:spcPts val="300"/>
              </a:spcAft>
              <a:buNone/>
            </a:pPr>
            <a:r>
              <a:rPr lang="en-US" sz="950" b="1" dirty="0">
                <a:solidFill>
                  <a:srgbClr val="2F6DB5"/>
                </a:solidFill>
                <a:latin typeface="BIZ UDPGothic" pitchFamily="34" charset="0"/>
                <a:ea typeface="BIZ UDPGothic" pitchFamily="34" charset="-122"/>
                <a:cs typeface="BIZ UDPGothic" pitchFamily="34" charset="-120"/>
              </a:rPr>
              <a:t>経営のルール：</a:t>
            </a:r>
            <a:pPr algn="l" indent="0" marL="0">
              <a:lnSpc>
                <a:spcPct val="115000"/>
              </a:lnSpc>
              <a:spcAft>
                <a:spcPts val="300"/>
              </a:spcAft>
              <a:buNone/>
            </a:pPr>
            <a:r>
              <a:rPr lang="en-US" sz="950" dirty="0">
                <a:solidFill>
                  <a:srgbClr val="1F2933"/>
                </a:solidFill>
                <a:latin typeface="BIZ UDPGothic" pitchFamily="34" charset="0"/>
                <a:ea typeface="BIZ UDPGothic" pitchFamily="34" charset="-122"/>
                <a:cs typeface="BIZ UDPGothic" pitchFamily="34" charset="-120"/>
              </a:rPr>
              <a:t>採用は「期末で1人約4拠点を超える見込み」が立ってから（p.22）</a:t>
            </a:r>
            <a:endParaRPr lang="en-US" sz="950" dirty="0"/>
          </a:p>
        </p:txBody>
      </p:sp>
      <p:sp>
        <p:nvSpPr>
          <p:cNvPr id="16" name="Text 11"/>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社員1人の販管費は年で動く（1年目1,032万円、5年目753万円）。安全余裕率＝（売上−分岐点売上）÷売上</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収支と資金</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p.21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LTV・CAC：控えめに7年。3年で解約されても8倍</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LTV＝1拠点の年の粗利×継続年数＋導入支援の粗利　CAC＝営業・広告費÷新規拠点数</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sp>
        <p:nvSpPr>
          <p:cNvPr id="8" name="Shape 5"/>
          <p:cNvSpPr/>
          <p:nvPr/>
        </p:nvSpPr>
        <p:spPr>
          <a:xfrm>
            <a:off x="365760" y="1051560"/>
            <a:ext cx="4069080" cy="1143000"/>
          </a:xfrm>
          <a:prstGeom prst="rect">
            <a:avLst/>
          </a:prstGeom>
          <a:solidFill>
            <a:srgbClr val="EAF0F6"/>
          </a:solidFill>
          <a:ln/>
        </p:spPr>
      </p:sp>
      <p:sp>
        <p:nvSpPr>
          <p:cNvPr id="9" name="Text 6"/>
          <p:cNvSpPr txBox="1"/>
          <p:nvPr/>
        </p:nvSpPr>
        <p:spPr>
          <a:xfrm>
            <a:off x="502920" y="1097280"/>
            <a:ext cx="3794760" cy="1051560"/>
          </a:xfrm>
          <a:prstGeom prst="rect">
            <a:avLst/>
          </a:prstGeom>
          <a:noFill/>
          <a:ln/>
        </p:spPr>
        <p:txBody>
          <a:bodyPr wrap="square" lIns="0" tIns="0" rIns="0" bIns="0" rtlCol="0" anchor="ctr"/>
          <a:lstStyle/>
          <a:p>
            <a:pPr algn="l" indent="0" marL="0">
              <a:lnSpc>
                <a:spcPct val="115000"/>
              </a:lnSpc>
              <a:spcAft>
                <a:spcPts val="300"/>
              </a:spcAft>
              <a:buNone/>
            </a:pPr>
            <a:r>
              <a:rPr lang="en-US" sz="1050" b="1" dirty="0">
                <a:solidFill>
                  <a:srgbClr val="1F2933"/>
                </a:solidFill>
                <a:latin typeface="BIZ UDPGothic" pitchFamily="34" charset="0"/>
                <a:ea typeface="BIZ UDPGothic" pitchFamily="34" charset="-122"/>
                <a:cs typeface="BIZ UDPGothic" pitchFamily="34" charset="-120"/>
              </a:rPr>
              <a:t>LTV（1拠点が残す粗利）</a:t>
            </a:r>
            <a:endParaRPr lang="en-US" sz="1050" dirty="0"/>
          </a:p>
          <a:p>
            <a:pPr algn="l" indent="0" marL="0">
              <a:lnSpc>
                <a:spcPct val="115000"/>
              </a:lnSpc>
              <a:spcAft>
                <a:spcPts val="300"/>
              </a:spcAft>
              <a:buNone/>
            </a:pPr>
            <a:r>
              <a:rPr lang="en-US" sz="1050" dirty="0">
                <a:solidFill>
                  <a:srgbClr val="1F2933"/>
                </a:solidFill>
                <a:latin typeface="BIZ UDPGothic" pitchFamily="34" charset="0"/>
                <a:ea typeface="BIZ UDPGothic" pitchFamily="34" charset="-122"/>
                <a:cs typeface="BIZ UDPGothic" pitchFamily="34" charset="-120"/>
              </a:rPr>
              <a:t>216万円 × 7年 ＋ 59万円 ＝ </a:t>
            </a:r>
            <a:pPr algn="l" indent="0" marL="0">
              <a:lnSpc>
                <a:spcPct val="115000"/>
              </a:lnSpc>
              <a:spcAft>
                <a:spcPts val="300"/>
              </a:spcAft>
              <a:buNone/>
            </a:pPr>
            <a:r>
              <a:rPr lang="en-US" sz="1600" b="1" dirty="0">
                <a:solidFill>
                  <a:srgbClr val="2F6DB5"/>
                </a:solidFill>
                <a:latin typeface="BIZ UDPGothic" pitchFamily="34" charset="0"/>
                <a:ea typeface="BIZ UDPGothic" pitchFamily="34" charset="-122"/>
                <a:cs typeface="BIZ UDPGothic" pitchFamily="34" charset="-120"/>
              </a:rPr>
              <a:t>約1,571万円</a:t>
            </a:r>
            <a:endParaRPr lang="en-US" sz="1050" dirty="0"/>
          </a:p>
          <a:p>
            <a:pPr algn="l" indent="0" marL="0">
              <a:lnSpc>
                <a:spcPct val="115000"/>
              </a:lnSpc>
              <a:spcAft>
                <a:spcPts val="300"/>
              </a:spcAft>
              <a:buNone/>
            </a:pPr>
            <a:r>
              <a:rPr lang="en-US" sz="850" dirty="0">
                <a:solidFill>
                  <a:srgbClr val="4A5563"/>
                </a:solidFill>
                <a:latin typeface="BIZ UDPGothic" pitchFamily="34" charset="0"/>
                <a:ea typeface="BIZ UDPGothic" pitchFamily="34" charset="-122"/>
                <a:cs typeface="BIZ UDPGothic" pitchFamily="34" charset="-120"/>
              </a:rPr>
              <a:t>216万円＝300万円−AI・保存84万円　59万円＝200万円−141万円</a:t>
            </a:r>
            <a:endParaRPr lang="en-US" sz="1050" dirty="0"/>
          </a:p>
        </p:txBody>
      </p:sp>
      <p:sp>
        <p:nvSpPr>
          <p:cNvPr id="10" name="Shape 7"/>
          <p:cNvSpPr/>
          <p:nvPr/>
        </p:nvSpPr>
        <p:spPr>
          <a:xfrm>
            <a:off x="4709160" y="1051560"/>
            <a:ext cx="4069080" cy="1143000"/>
          </a:xfrm>
          <a:prstGeom prst="rect">
            <a:avLst/>
          </a:prstGeom>
          <a:solidFill>
            <a:srgbClr val="EAF0F6"/>
          </a:solidFill>
          <a:ln/>
        </p:spPr>
      </p:sp>
      <p:sp>
        <p:nvSpPr>
          <p:cNvPr id="11" name="Text 8"/>
          <p:cNvSpPr txBox="1"/>
          <p:nvPr/>
        </p:nvSpPr>
        <p:spPr>
          <a:xfrm>
            <a:off x="4846320" y="1097280"/>
            <a:ext cx="3794760" cy="1051560"/>
          </a:xfrm>
          <a:prstGeom prst="rect">
            <a:avLst/>
          </a:prstGeom>
          <a:noFill/>
          <a:ln/>
        </p:spPr>
        <p:txBody>
          <a:bodyPr wrap="square" lIns="0" tIns="0" rIns="0" bIns="0" rtlCol="0" anchor="ctr"/>
          <a:lstStyle/>
          <a:p>
            <a:pPr algn="l" indent="0" marL="0">
              <a:lnSpc>
                <a:spcPct val="115000"/>
              </a:lnSpc>
              <a:spcAft>
                <a:spcPts val="300"/>
              </a:spcAft>
              <a:buNone/>
            </a:pPr>
            <a:r>
              <a:rPr lang="en-US" sz="1050" b="1" dirty="0">
                <a:solidFill>
                  <a:srgbClr val="1F2933"/>
                </a:solidFill>
                <a:latin typeface="BIZ UDPGothic" pitchFamily="34" charset="0"/>
                <a:ea typeface="BIZ UDPGothic" pitchFamily="34" charset="-122"/>
                <a:cs typeface="BIZ UDPGothic" pitchFamily="34" charset="-120"/>
              </a:rPr>
              <a:t>CAC（1拠点を獲得する費用）</a:t>
            </a:r>
            <a:endParaRPr lang="en-US" sz="1050" dirty="0"/>
          </a:p>
          <a:p>
            <a:pPr algn="l" indent="0" marL="0">
              <a:lnSpc>
                <a:spcPct val="115000"/>
              </a:lnSpc>
              <a:spcAft>
                <a:spcPts val="300"/>
              </a:spcAft>
              <a:buNone/>
            </a:pPr>
            <a:r>
              <a:rPr lang="en-US" sz="1050" dirty="0">
                <a:solidFill>
                  <a:srgbClr val="1F2933"/>
                </a:solidFill>
                <a:latin typeface="BIZ UDPGothic" pitchFamily="34" charset="0"/>
                <a:ea typeface="BIZ UDPGothic" pitchFamily="34" charset="-122"/>
                <a:cs typeface="BIZ UDPGothic" pitchFamily="34" charset="-120"/>
              </a:rPr>
              <a:t>（2,340万円＋500万円）÷ 33拠点 ＝ </a:t>
            </a:r>
            <a:pPr algn="l" indent="0" marL="0">
              <a:lnSpc>
                <a:spcPct val="115000"/>
              </a:lnSpc>
              <a:spcAft>
                <a:spcPts val="300"/>
              </a:spcAft>
              <a:buNone/>
            </a:pPr>
            <a:r>
              <a:rPr lang="en-US" sz="1600" b="1" dirty="0">
                <a:solidFill>
                  <a:srgbClr val="2F6DB5"/>
                </a:solidFill>
                <a:latin typeface="BIZ UDPGothic" pitchFamily="34" charset="0"/>
                <a:ea typeface="BIZ UDPGothic" pitchFamily="34" charset="-122"/>
                <a:cs typeface="BIZ UDPGothic" pitchFamily="34" charset="-120"/>
              </a:rPr>
              <a:t>約86万円</a:t>
            </a:r>
            <a:endParaRPr lang="en-US" sz="1050" dirty="0"/>
          </a:p>
          <a:p>
            <a:pPr algn="l" indent="0" marL="0">
              <a:lnSpc>
                <a:spcPct val="115000"/>
              </a:lnSpc>
              <a:spcAft>
                <a:spcPts val="300"/>
              </a:spcAft>
              <a:buNone/>
            </a:pPr>
            <a:r>
              <a:rPr lang="en-US" sz="850" dirty="0">
                <a:solidFill>
                  <a:srgbClr val="4A5563"/>
                </a:solidFill>
                <a:latin typeface="BIZ UDPGothic" pitchFamily="34" charset="0"/>
                <a:ea typeface="BIZ UDPGothic" pitchFamily="34" charset="-122"/>
                <a:cs typeface="BIZ UDPGothic" pitchFamily="34" charset="-120"/>
              </a:rPr>
              <a:t>5年目：営業3人（年収650万円×1.2）＋広告・展示会 ÷ 新規拠点</a:t>
            </a:r>
            <a:endParaRPr lang="en-US" sz="1050" dirty="0"/>
          </a:p>
        </p:txBody>
      </p:sp>
      <p:sp>
        <p:nvSpPr>
          <p:cNvPr id="12" name="Text 9"/>
          <p:cNvSpPr txBox="1"/>
          <p:nvPr/>
        </p:nvSpPr>
        <p:spPr>
          <a:xfrm>
            <a:off x="365760" y="235000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継続年数を変えたら</a:t>
            </a:r>
            <a:endParaRPr lang="en-US" sz="1050" dirty="0"/>
          </a:p>
        </p:txBody>
      </p:sp>
      <p:graphicFrame>
        <p:nvGraphicFramePr>
          <p:cNvPr id="21" name="ltv-years"/>
          <p:cNvGraphicFramePr>
            <a:graphicFrameLocks noGrp="1"/>
          </p:cNvGraphicFramePr>
          <p:nvPr>
            <p:extLst>
              <p:ext uri="{D42A27DB-BD31-4B8C-83A1-F6EECF244321}">
                <p14:modId xmlns:p14="http://schemas.microsoft.com/office/powerpoint/2010/main" val="1579011935"/>
              </p:ext>
            </p:extLst>
          </p:nvPr>
        </p:nvGraphicFramePr>
        <p:xfrm>
          <a:off x="365760" y="2624328"/>
          <a:ext cx="4069080" cy="914400"/>
        </p:xfrm>
        <a:graphic>
          <a:graphicData uri="http://schemas.openxmlformats.org/drawingml/2006/table">
            <a:tbl>
              <a:tblPr/>
              <a:tblGrid>
                <a:gridCol w="1508760"/>
                <a:gridCol w="1280160"/>
                <a:gridCol w="1280160"/>
              </a:tblGrid>
              <a:tr h="246888">
                <a:tc>
                  <a:txBody>
                    <a:bodyPr/>
                    <a:lstStyle/>
                    <a:p>
                      <a:pPr algn="l" indent="0" marL="0">
                        <a:buNone/>
                      </a:pPr>
                      <a:r>
                        <a:rPr lang="en-US" sz="950" b="1" dirty="0">
                          <a:solidFill>
                            <a:srgbClr val="FFFFFF"/>
                          </a:solidFill>
                          <a:latin typeface="BIZ UDPGothic" pitchFamily="34" charset="0"/>
                          <a:ea typeface="BIZ UDPGothic" pitchFamily="34" charset="-122"/>
                          <a:cs typeface="BIZ UDPGothic" pitchFamily="34" charset="-120"/>
                        </a:rPr>
                        <a:t>継続年数</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50" b="1" dirty="0">
                          <a:solidFill>
                            <a:srgbClr val="FFFFFF"/>
                          </a:solidFill>
                          <a:latin typeface="BIZ UDPGothic" pitchFamily="34" charset="0"/>
                          <a:ea typeface="BIZ UDPGothic" pitchFamily="34" charset="-122"/>
                          <a:cs typeface="BIZ UDPGothic" pitchFamily="34" charset="-120"/>
                        </a:rPr>
                        <a:t>LTV</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50" b="1" dirty="0">
                          <a:solidFill>
                            <a:srgbClr val="FFFFFF"/>
                          </a:solidFill>
                          <a:latin typeface="BIZ UDPGothic" pitchFamily="34" charset="0"/>
                          <a:ea typeface="BIZ UDPGothic" pitchFamily="34" charset="-122"/>
                          <a:cs typeface="BIZ UDPGothic" pitchFamily="34" charset="-120"/>
                        </a:rPr>
                        <a:t>LTV÷CAC</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46888">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3年</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707万円</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8倍</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5年</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1,139万円</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13倍</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7年（計画）</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1,571万円</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F2933"/>
                          </a:solidFill>
                          <a:latin typeface="BIZ UDPGothic" pitchFamily="34" charset="0"/>
                          <a:ea typeface="BIZ UDPGothic" pitchFamily="34" charset="-122"/>
                          <a:cs typeface="BIZ UDPGothic" pitchFamily="34" charset="-120"/>
                        </a:rPr>
                        <a:t>18倍</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10年</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2,219万円</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26倍</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4" name="Text 10"/>
          <p:cNvSpPr txBox="1"/>
          <p:nvPr/>
        </p:nvSpPr>
        <p:spPr>
          <a:xfrm>
            <a:off x="4709160" y="235000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獲得が難しくなったら</a:t>
            </a:r>
            <a:endParaRPr lang="en-US" sz="1050" dirty="0"/>
          </a:p>
        </p:txBody>
      </p:sp>
      <p:graphicFrame>
        <p:nvGraphicFramePr>
          <p:cNvPr id="41" name="cac-stress"/>
          <p:cNvGraphicFramePr>
            <a:graphicFrameLocks noGrp="1"/>
          </p:cNvGraphicFramePr>
          <p:nvPr>
            <p:extLst>
              <p:ext uri="{D42A27DB-BD31-4B8C-83A1-F6EECF244321}">
                <p14:modId xmlns:p14="http://schemas.microsoft.com/office/powerpoint/2010/main" val="1579011935"/>
              </p:ext>
            </p:extLst>
          </p:nvPr>
        </p:nvGraphicFramePr>
        <p:xfrm>
          <a:off x="4709160" y="2624328"/>
          <a:ext cx="4069080" cy="914400"/>
        </p:xfrm>
        <a:graphic>
          <a:graphicData uri="http://schemas.openxmlformats.org/drawingml/2006/table">
            <a:tbl>
              <a:tblPr/>
              <a:tblGrid>
                <a:gridCol w="1600200"/>
                <a:gridCol w="1234440"/>
                <a:gridCol w="1234440"/>
              </a:tblGrid>
              <a:tr h="246888">
                <a:tc>
                  <a:txBody>
                    <a:bodyPr/>
                    <a:lstStyle/>
                    <a:p>
                      <a:pPr algn="l" indent="0" marL="0">
                        <a:buNone/>
                      </a:pPr>
                      <a:r>
                        <a:rPr lang="en-US" sz="950" b="1" dirty="0">
                          <a:solidFill>
                            <a:srgbClr val="FFFFFF"/>
                          </a:solidFill>
                          <a:latin typeface="BIZ UDPGothic" pitchFamily="34" charset="0"/>
                          <a:ea typeface="BIZ UDPGothic" pitchFamily="34" charset="-122"/>
                          <a:cs typeface="BIZ UDPGothic" pitchFamily="34" charset="-120"/>
                        </a:rPr>
                        <a:t>CAC</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50" b="1" dirty="0">
                          <a:solidFill>
                            <a:srgbClr val="FFFFFF"/>
                          </a:solidFill>
                          <a:latin typeface="BIZ UDPGothic" pitchFamily="34" charset="0"/>
                          <a:ea typeface="BIZ UDPGothic" pitchFamily="34" charset="-122"/>
                          <a:cs typeface="BIZ UDPGothic" pitchFamily="34" charset="-120"/>
                        </a:rPr>
                        <a:t>LTV÷CAC（7年）</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50" b="1" dirty="0">
                          <a:solidFill>
                            <a:srgbClr val="FFFFFF"/>
                          </a:solidFill>
                          <a:latin typeface="BIZ UDPGothic" pitchFamily="34" charset="0"/>
                          <a:ea typeface="BIZ UDPGothic" pitchFamily="34" charset="-122"/>
                          <a:cs typeface="BIZ UDPGothic" pitchFamily="34" charset="-120"/>
                        </a:rPr>
                        <a:t>回収期間</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46888">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86万円（計画）</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18倍</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5か月</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172万円（2倍）</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9倍</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10か月</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344万円（4倍）</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5倍</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19か月</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6" name="Shape 11"/>
          <p:cNvSpPr/>
          <p:nvPr/>
        </p:nvSpPr>
        <p:spPr>
          <a:xfrm>
            <a:off x="365760" y="3931920"/>
            <a:ext cx="8412480" cy="585216"/>
          </a:xfrm>
          <a:prstGeom prst="rect">
            <a:avLst/>
          </a:prstGeom>
          <a:solidFill>
            <a:srgbClr val="FFFFFF"/>
          </a:solidFill>
          <a:ln w="19050">
            <a:solidFill>
              <a:srgbClr val="2F6DB5"/>
            </a:solidFill>
            <a:prstDash val="solid"/>
          </a:ln>
        </p:spPr>
      </p:sp>
      <p:sp>
        <p:nvSpPr>
          <p:cNvPr id="17" name="Text 12"/>
          <p:cNvSpPr txBox="1"/>
          <p:nvPr/>
        </p:nvSpPr>
        <p:spPr>
          <a:xfrm>
            <a:off x="502920" y="3931920"/>
            <a:ext cx="8138160" cy="585216"/>
          </a:xfrm>
          <a:prstGeom prst="rect">
            <a:avLst/>
          </a:prstGeom>
          <a:noFill/>
          <a:ln/>
        </p:spPr>
        <p:txBody>
          <a:bodyPr wrap="square" lIns="0" tIns="0" rIns="0" bIns="0" rtlCol="0" anchor="ctr"/>
          <a:lstStyle/>
          <a:p>
            <a:pPr algn="l" indent="0" marL="0">
              <a:lnSpc>
                <a:spcPct val="115000"/>
              </a:lnSpc>
              <a:spcAft>
                <a:spcPts val="100"/>
              </a:spcAft>
              <a:buNone/>
            </a:pPr>
            <a:r>
              <a:rPr lang="en-US" sz="900" b="1" dirty="0">
                <a:solidFill>
                  <a:srgbClr val="2F6DB5"/>
                </a:solidFill>
                <a:latin typeface="BIZ UDPGothic" pitchFamily="34" charset="0"/>
                <a:ea typeface="BIZ UDPGothic" pitchFamily="34" charset="-122"/>
                <a:cs typeface="BIZ UDPGothic" pitchFamily="34" charset="-120"/>
              </a:rPr>
              <a:t>7年は控えめ：</a:t>
            </a:r>
            <a:pPr algn="l" indent="0" marL="0">
              <a:lnSpc>
                <a:spcPct val="115000"/>
              </a:lnSpc>
              <a:spcAft>
                <a:spcPts val="100"/>
              </a:spcAft>
              <a:buNone/>
            </a:pPr>
            <a:r>
              <a:rPr lang="en-US" sz="900" dirty="0">
                <a:solidFill>
                  <a:srgbClr val="1F2933"/>
                </a:solidFill>
                <a:latin typeface="BIZ UDPGothic" pitchFamily="34" charset="0"/>
                <a:ea typeface="BIZ UDPGothic" pitchFamily="34" charset="-122"/>
                <a:cs typeface="BIZ UDPGothic" pitchFamily="34" charset="-120"/>
              </a:rPr>
              <a:t>解約が年10%なら平均10年続く計算。7年は年約14%の解約に相当</a:t>
            </a:r>
            <a:endParaRPr lang="en-US" sz="900" dirty="0"/>
          </a:p>
          <a:p>
            <a:pPr algn="l" indent="0" marL="0">
              <a:lnSpc>
                <a:spcPct val="115000"/>
              </a:lnSpc>
              <a:spcAft>
                <a:spcPts val="100"/>
              </a:spcAft>
              <a:buNone/>
            </a:pPr>
            <a:r>
              <a:rPr lang="en-US" sz="900" b="1" dirty="0">
                <a:solidFill>
                  <a:srgbClr val="2F6DB5"/>
                </a:solidFill>
                <a:latin typeface="BIZ UDPGothic" pitchFamily="34" charset="0"/>
                <a:ea typeface="BIZ UDPGothic" pitchFamily="34" charset="-122"/>
                <a:cs typeface="BIZ UDPGothic" pitchFamily="34" charset="-120"/>
              </a:rPr>
              <a:t>目安：</a:t>
            </a:r>
            <a:pPr algn="l" indent="0" marL="0">
              <a:lnSpc>
                <a:spcPct val="115000"/>
              </a:lnSpc>
              <a:spcAft>
                <a:spcPts val="100"/>
              </a:spcAft>
              <a:buNone/>
            </a:pPr>
            <a:r>
              <a:rPr lang="en-US" sz="900" dirty="0">
                <a:solidFill>
                  <a:srgbClr val="1F2933"/>
                </a:solidFill>
                <a:latin typeface="BIZ UDPGothic" pitchFamily="34" charset="0"/>
                <a:ea typeface="BIZ UDPGothic" pitchFamily="34" charset="-122"/>
                <a:cs typeface="BIZ UDPGothic" pitchFamily="34" charset="-120"/>
              </a:rPr>
              <a:t>SaaSでよく使われる目安は「LTV÷CACが3倍以上、回収12か月以内」。当社は18倍・約5か月</a:t>
            </a:r>
            <a:endParaRPr lang="en-US" sz="900" dirty="0"/>
          </a:p>
        </p:txBody>
      </p:sp>
      <p:sp>
        <p:nvSpPr>
          <p:cNvPr id="18" name="Text 13"/>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1〜2年目は創業者が営業するため、CACに創業者の人件費は入れていない（聞かれたらそのまま答える）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収支と資金</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p.26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崩れたら：前提を一つずつ崩したストレステスト</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同じ計算モデルで1つずつ前提を変えた結果。最低現金のライン＝固定費3か月分</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22" name="stress"/>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2651760"/>
                <a:gridCol w="2011680"/>
                <a:gridCol w="1005840"/>
                <a:gridCol w="1325880"/>
                <a:gridCol w="1417320"/>
              </a:tblGrid>
              <a:tr h="265176">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シナリオ</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想定する事態</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黒字化</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5年目 営業利益</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最低の現金残高</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65176">
                <a:tc>
                  <a:txBody>
                    <a:bodyPr/>
                    <a:lstStyle/>
                    <a:p>
                      <a:pPr algn="l" indent="0" marL="0">
                        <a:buNone/>
                      </a:pPr>
                      <a:r>
                        <a:rPr lang="en-US" sz="900" b="1" dirty="0">
                          <a:solidFill>
                            <a:srgbClr val="1B365D"/>
                          </a:solidFill>
                          <a:latin typeface="BIZ UDPGothic" pitchFamily="34" charset="0"/>
                          <a:ea typeface="BIZ UDPGothic" pitchFamily="34" charset="-122"/>
                          <a:cs typeface="BIZ UDPGothic" pitchFamily="34" charset="-120"/>
                        </a:rPr>
                        <a:t>計画どおり</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l" indent="0" marL="0">
                        <a:buNone/>
                      </a:pPr>
                      <a:r>
                        <a:rPr lang="en-US" sz="900" b="1" dirty="0">
                          <a:solidFill>
                            <a:srgbClr val="4A5563"/>
                          </a:solidFill>
                          <a:latin typeface="BIZ UDPGothic" pitchFamily="34" charset="0"/>
                          <a:ea typeface="BIZ UDPGothic" pitchFamily="34" charset="-122"/>
                          <a:cs typeface="BIZ UDPGothic" pitchFamily="34" charset="-120"/>
                        </a:rPr>
                        <a:t>─</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5年でしない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▲11百万円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B365D"/>
                          </a:solidFill>
                          <a:latin typeface="BIZ UDPGothic" pitchFamily="34" charset="0"/>
                          <a:ea typeface="BIZ UDPGothic" pitchFamily="34" charset="-122"/>
                          <a:cs typeface="BIZ UDPGothic" pitchFamily="34" charset="-120"/>
                        </a:rPr>
                        <a:t>67百万円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65176">
                <a:tc>
                  <a:txBody>
                    <a:bodyPr/>
                    <a:lstStyle/>
                    <a:p>
                      <a:pPr algn="l" indent="0" marL="0">
                        <a:buNone/>
                      </a:pPr>
                      <a:r>
                        <a:rPr lang="en-US" sz="900" dirty="0">
                          <a:solidFill>
                            <a:srgbClr val="1B365D"/>
                          </a:solidFill>
                          <a:latin typeface="BIZ UDPGothic" pitchFamily="34" charset="0"/>
                          <a:ea typeface="BIZ UDPGothic" pitchFamily="34" charset="-122"/>
                          <a:cs typeface="BIZ UDPGothic" pitchFamily="34" charset="-120"/>
                        </a:rPr>
                        <a:t>単価 −20%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4A5563"/>
                          </a:solidFill>
                          <a:latin typeface="BIZ UDPGothic" pitchFamily="34" charset="0"/>
                          <a:ea typeface="BIZ UDPGothic" pitchFamily="34" charset="-122"/>
                          <a:cs typeface="BIZ UDPGothic" pitchFamily="34" charset="-120"/>
                        </a:rPr>
                        <a:t>値引きされた</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5年でしない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C62828"/>
                          </a:solidFill>
                          <a:latin typeface="BIZ UDPGothic" pitchFamily="34" charset="0"/>
                          <a:ea typeface="BIZ UDPGothic" pitchFamily="34" charset="-122"/>
                          <a:cs typeface="BIZ UDPGothic" pitchFamily="34" charset="-120"/>
                        </a:rPr>
                        <a:t>▲50百万円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▲12百万円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1B365D"/>
                          </a:solidFill>
                          <a:latin typeface="BIZ UDPGothic" pitchFamily="34" charset="0"/>
                          <a:ea typeface="BIZ UDPGothic" pitchFamily="34" charset="-122"/>
                          <a:cs typeface="BIZ UDPGothic" pitchFamily="34" charset="-120"/>
                        </a:rPr>
                        <a:t>解約 年20%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4A5563"/>
                          </a:solidFill>
                          <a:latin typeface="BIZ UDPGothic" pitchFamily="34" charset="0"/>
                          <a:ea typeface="BIZ UDPGothic" pitchFamily="34" charset="-122"/>
                          <a:cs typeface="BIZ UDPGothic" pitchFamily="34" charset="-120"/>
                        </a:rPr>
                        <a:t>定着しなかった</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5年でしない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C62828"/>
                          </a:solidFill>
                          <a:latin typeface="BIZ UDPGothic" pitchFamily="34" charset="0"/>
                          <a:ea typeface="BIZ UDPGothic" pitchFamily="34" charset="-122"/>
                          <a:cs typeface="BIZ UDPGothic" pitchFamily="34" charset="-120"/>
                        </a:rPr>
                        <a:t>▲31百万円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33百万円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1B365D"/>
                          </a:solidFill>
                          <a:latin typeface="BIZ UDPGothic" pitchFamily="34" charset="0"/>
                          <a:ea typeface="BIZ UDPGothic" pitchFamily="34" charset="-122"/>
                          <a:cs typeface="BIZ UDPGothic" pitchFamily="34" charset="-120"/>
                        </a:rPr>
                        <a:t>AI・保存費が2倍</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4A5563"/>
                          </a:solidFill>
                          <a:latin typeface="BIZ UDPGothic" pitchFamily="34" charset="0"/>
                          <a:ea typeface="BIZ UDPGothic" pitchFamily="34" charset="-122"/>
                          <a:cs typeface="BIZ UDPGothic" pitchFamily="34" charset="-120"/>
                        </a:rPr>
                        <a:t>処理量が想定より多い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5年でしない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C62828"/>
                          </a:solidFill>
                          <a:latin typeface="BIZ UDPGothic" pitchFamily="34" charset="0"/>
                          <a:ea typeface="BIZ UDPGothic" pitchFamily="34" charset="-122"/>
                          <a:cs typeface="BIZ UDPGothic" pitchFamily="34" charset="-120"/>
                        </a:rPr>
                        <a:t>▲58百万円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▲28百万円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1B365D"/>
                          </a:solidFill>
                          <a:latin typeface="BIZ UDPGothic" pitchFamily="34" charset="0"/>
                          <a:ea typeface="BIZ UDPGothic" pitchFamily="34" charset="-122"/>
                          <a:cs typeface="BIZ UDPGothic" pitchFamily="34" charset="-120"/>
                        </a:rPr>
                        <a:t>年収 +100万円／人</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4A5563"/>
                          </a:solidFill>
                          <a:latin typeface="BIZ UDPGothic" pitchFamily="34" charset="0"/>
                          <a:ea typeface="BIZ UDPGothic" pitchFamily="34" charset="-122"/>
                          <a:cs typeface="BIZ UDPGothic" pitchFamily="34" charset="-120"/>
                        </a:rPr>
                        <a:t>採用市場が厳しい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5年でしない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C62828"/>
                          </a:solidFill>
                          <a:latin typeface="BIZ UDPGothic" pitchFamily="34" charset="0"/>
                          <a:ea typeface="BIZ UDPGothic" pitchFamily="34" charset="-122"/>
                          <a:cs typeface="BIZ UDPGothic" pitchFamily="34" charset="-120"/>
                        </a:rPr>
                        <a:t>▲39百万円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▲12百万円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1B365D"/>
                          </a:solidFill>
                          <a:latin typeface="BIZ UDPGothic" pitchFamily="34" charset="0"/>
                          <a:ea typeface="BIZ UDPGothic" pitchFamily="34" charset="-122"/>
                          <a:cs typeface="BIZ UDPGothic" pitchFamily="34" charset="-120"/>
                        </a:rPr>
                        <a:t>新規 −30%（採用も連動）</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4A5563"/>
                          </a:solidFill>
                          <a:latin typeface="BIZ UDPGothic" pitchFamily="34" charset="0"/>
                          <a:ea typeface="BIZ UDPGothic" pitchFamily="34" charset="-122"/>
                          <a:cs typeface="BIZ UDPGothic" pitchFamily="34" charset="-120"/>
                        </a:rPr>
                        <a:t>営業が想定より遅い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5年でしない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C62828"/>
                          </a:solidFill>
                          <a:latin typeface="BIZ UDPGothic" pitchFamily="34" charset="0"/>
                          <a:ea typeface="BIZ UDPGothic" pitchFamily="34" charset="-122"/>
                          <a:cs typeface="BIZ UDPGothic" pitchFamily="34" charset="-120"/>
                        </a:rPr>
                        <a:t>▲26百万円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28百万円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1B365D"/>
                          </a:solidFill>
                          <a:latin typeface="BIZ UDPGothic" pitchFamily="34" charset="0"/>
                          <a:ea typeface="BIZ UDPGothic" pitchFamily="34" charset="-122"/>
                          <a:cs typeface="BIZ UDPGothic" pitchFamily="34" charset="-120"/>
                        </a:rPr>
                        <a:t>1拠点15台に増やせた</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4A5563"/>
                          </a:solidFill>
                          <a:latin typeface="BIZ UDPGothic" pitchFamily="34" charset="0"/>
                          <a:ea typeface="BIZ UDPGothic" pitchFamily="34" charset="-122"/>
                          <a:cs typeface="BIZ UDPGothic" pitchFamily="34" charset="-120"/>
                        </a:rPr>
                        <a:t>効果が出た班から追加</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2E7D32"/>
                          </a:solidFill>
                          <a:latin typeface="BIZ UDPGothic" pitchFamily="34" charset="0"/>
                          <a:ea typeface="BIZ UDPGothic" pitchFamily="34" charset="-122"/>
                          <a:cs typeface="BIZ UDPGothic" pitchFamily="34" charset="-120"/>
                        </a:rPr>
                        <a:t>5年目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B365D"/>
                          </a:solidFill>
                          <a:latin typeface="BIZ UDPGothic" pitchFamily="34" charset="0"/>
                          <a:ea typeface="BIZ UDPGothic" pitchFamily="34" charset="-122"/>
                          <a:cs typeface="BIZ UDPGothic" pitchFamily="34" charset="-120"/>
                        </a:rPr>
                        <a:t>43百万円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B365D"/>
                          </a:solidFill>
                          <a:latin typeface="BIZ UDPGothic" pitchFamily="34" charset="0"/>
                          <a:ea typeface="BIZ UDPGothic" pitchFamily="34" charset="-122"/>
                          <a:cs typeface="BIZ UDPGothic" pitchFamily="34" charset="-120"/>
                        </a:rPr>
                        <a:t>110百万円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C62828"/>
                          </a:solidFill>
                          <a:latin typeface="BIZ UDPGothic" pitchFamily="34" charset="0"/>
                          <a:ea typeface="BIZ UDPGothic" pitchFamily="34" charset="-122"/>
                          <a:cs typeface="BIZ UDPGothic" pitchFamily="34" charset="-120"/>
                        </a:rPr>
                        <a:t>全編をクラウドで解析</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C62828"/>
                          </a:solidFill>
                          <a:latin typeface="BIZ UDPGothic" pitchFamily="34" charset="0"/>
                          <a:ea typeface="BIZ UDPGothic" pitchFamily="34" charset="-122"/>
                          <a:cs typeface="BIZ UDPGothic" pitchFamily="34" charset="-120"/>
                        </a:rPr>
                        <a:t>やってはいけない例</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5年でしない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C62828"/>
                          </a:solidFill>
                          <a:latin typeface="BIZ UDPGothic" pitchFamily="34" charset="0"/>
                          <a:ea typeface="BIZ UDPGothic" pitchFamily="34" charset="-122"/>
                          <a:cs typeface="BIZ UDPGothic" pitchFamily="34" charset="-120"/>
                        </a:rPr>
                        <a:t>▲352百万円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▲631百万円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C62828"/>
                          </a:solidFill>
                          <a:latin typeface="BIZ UDPGothic" pitchFamily="34" charset="0"/>
                          <a:ea typeface="BIZ UDPGothic" pitchFamily="34" charset="-122"/>
                          <a:cs typeface="BIZ UDPGothic" pitchFamily="34" charset="-120"/>
                        </a:rPr>
                        <a:t>新規 −30%（採用は計画どおり）</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C62828"/>
                          </a:solidFill>
                          <a:latin typeface="BIZ UDPGothic" pitchFamily="34" charset="0"/>
                          <a:ea typeface="BIZ UDPGothic" pitchFamily="34" charset="-122"/>
                          <a:cs typeface="BIZ UDPGothic" pitchFamily="34" charset="-120"/>
                        </a:rPr>
                        <a:t>やってはいけない例</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5年でしない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C62828"/>
                          </a:solidFill>
                          <a:latin typeface="BIZ UDPGothic" pitchFamily="34" charset="0"/>
                          <a:ea typeface="BIZ UDPGothic" pitchFamily="34" charset="-122"/>
                          <a:cs typeface="BIZ UDPGothic" pitchFamily="34" charset="-120"/>
                        </a:rPr>
                        <a:t>▲76百万円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▲83百万円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Shape 5"/>
          <p:cNvSpPr/>
          <p:nvPr/>
        </p:nvSpPr>
        <p:spPr>
          <a:xfrm>
            <a:off x="365760" y="3840480"/>
            <a:ext cx="8412480" cy="658368"/>
          </a:xfrm>
          <a:prstGeom prst="rect">
            <a:avLst/>
          </a:prstGeom>
          <a:solidFill>
            <a:srgbClr val="1B365D"/>
          </a:solidFill>
          <a:ln/>
        </p:spPr>
      </p:sp>
      <p:sp>
        <p:nvSpPr>
          <p:cNvPr id="10" name="Text 6"/>
          <p:cNvSpPr txBox="1"/>
          <p:nvPr/>
        </p:nvSpPr>
        <p:spPr>
          <a:xfrm>
            <a:off x="502920" y="3840480"/>
            <a:ext cx="8138160" cy="65836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F5C400"/>
                </a:solidFill>
                <a:latin typeface="BIZ UDPGothic" pitchFamily="34" charset="0"/>
                <a:ea typeface="BIZ UDPGothic" pitchFamily="34" charset="-122"/>
                <a:cs typeface="BIZ UDPGothic" pitchFamily="34" charset="-120"/>
              </a:rPr>
              <a:t>結論：</a:t>
            </a:r>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10台のままでは計画どおりでも5年以内に黒字にならない。値引き・解約・AI費用・年収のどれも赤字を広げる。</a:t>
            </a:r>
            <a:endParaRPr lang="en-US" sz="9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守りは2つ。1拠点の台数を増やす（15台で5年目に黒字）と、採用を拠点数に合わせて遅らせる（p.22）</a:t>
            </a:r>
            <a:endParaRPr lang="en-US" sz="900" dirty="0"/>
          </a:p>
        </p:txBody>
      </p:sp>
      <p:sp>
        <p:nvSpPr>
          <p:cNvPr id="11" name="Text 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最低現金のライン＝4年目の販管費の3か月分（約35百万円）。自己資金は全シナリオで同じ（1年目2億円＋3年目0.5億円）。簡易計算（税・償却・運転資本は含めない）</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収支と資金</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p.26・29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黒字化の条件と撤退ライン：拠点数より1拠点の台数</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新規が計画に届かないとき、10台のままと15台に増やせた場合を比べる。止まる線を先に引く</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sp>
        <p:nvSpPr>
          <p:cNvPr id="8" name="Text 5"/>
          <p:cNvSpPr txBox="1"/>
          <p:nvPr/>
        </p:nvSpPr>
        <p:spPr>
          <a:xfrm>
            <a:off x="365760" y="1024128"/>
            <a:ext cx="8412480" cy="237744"/>
          </a:xfrm>
          <a:prstGeom prst="rect">
            <a:avLst/>
          </a:prstGeom>
          <a:noFill/>
          <a:ln/>
        </p:spPr>
        <p:txBody>
          <a:bodyPr wrap="square" lIns="0" tIns="0" rIns="0" bIns="0" rtlCol="0" anchor="t"/>
          <a:lstStyle/>
          <a:p>
            <a:pPr algn="l" indent="0" marL="0">
              <a:lnSpc>
                <a:spcPct val="115000"/>
              </a:lnSpc>
              <a:buNone/>
            </a:pPr>
            <a:r>
              <a:rPr lang="en-US" sz="1000" b="1" dirty="0">
                <a:solidFill>
                  <a:srgbClr val="1B365D"/>
                </a:solidFill>
                <a:latin typeface="BIZ UDPGothic" pitchFamily="34" charset="0"/>
                <a:ea typeface="BIZ UDPGothic" pitchFamily="34" charset="-122"/>
                <a:cs typeface="BIZ UDPGothic" pitchFamily="34" charset="-120"/>
              </a:rPr>
              <a:t>新規拠点が計画に届かなかったら（採用も拠点数に合わせて遅らせる・百万円）</a:t>
            </a:r>
            <a:endParaRPr lang="en-US" sz="1000" dirty="0"/>
          </a:p>
        </p:txBody>
      </p:sp>
      <p:graphicFrame>
        <p:nvGraphicFramePr>
          <p:cNvPr id="23" name="shortfall"/>
          <p:cNvGraphicFramePr>
            <a:graphicFrameLocks noGrp="1"/>
          </p:cNvGraphicFramePr>
          <p:nvPr>
            <p:extLst>
              <p:ext uri="{D42A27DB-BD31-4B8C-83A1-F6EECF244321}">
                <p14:modId xmlns:p14="http://schemas.microsoft.com/office/powerpoint/2010/main" val="1579011935"/>
              </p:ext>
            </p:extLst>
          </p:nvPr>
        </p:nvGraphicFramePr>
        <p:xfrm>
          <a:off x="365760" y="1527048"/>
          <a:ext cx="8412480" cy="914400"/>
        </p:xfrm>
        <a:graphic>
          <a:graphicData uri="http://schemas.openxmlformats.org/drawingml/2006/table">
            <a:tbl>
              <a:tblPr/>
              <a:tblGrid>
                <a:gridCol w="1143000"/>
                <a:gridCol w="1600200"/>
                <a:gridCol w="960120"/>
                <a:gridCol w="960120"/>
                <a:gridCol w="868680"/>
                <a:gridCol w="960120"/>
                <a:gridCol w="1051560"/>
                <a:gridCol w="868680"/>
              </a:tblGrid>
              <a:tr h="228600">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新規の達成度</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新規拠点（1〜5年目）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黒字化</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5年目利益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最低現金</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黒字化</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5年目利益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最低現金</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28600">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計画どおり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4A5563"/>
                          </a:solidFill>
                          <a:latin typeface="BIZ UDPGothic" pitchFamily="34" charset="0"/>
                          <a:ea typeface="BIZ UDPGothic" pitchFamily="34" charset="-122"/>
                          <a:cs typeface="BIZ UDPGothic" pitchFamily="34" charset="-120"/>
                        </a:rPr>
                        <a:t>3・9・18・27・33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5年でしない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▲11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1B365D"/>
                          </a:solidFill>
                          <a:latin typeface="BIZ UDPGothic" pitchFamily="34" charset="0"/>
                          <a:ea typeface="BIZ UDPGothic" pitchFamily="34" charset="-122"/>
                          <a:cs typeface="BIZ UDPGothic" pitchFamily="34" charset="-120"/>
                        </a:rPr>
                        <a:t>67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2E7D32"/>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1B365D"/>
                          </a:solidFill>
                          <a:latin typeface="BIZ UDPGothic" pitchFamily="34" charset="0"/>
                          <a:ea typeface="BIZ UDPGothic" pitchFamily="34" charset="-122"/>
                          <a:cs typeface="BIZ UDPGothic" pitchFamily="34" charset="-120"/>
                        </a:rPr>
                        <a:t>43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1B365D"/>
                          </a:solidFill>
                          <a:latin typeface="BIZ UDPGothic" pitchFamily="34" charset="0"/>
                          <a:ea typeface="BIZ UDPGothic" pitchFamily="34" charset="-122"/>
                          <a:cs typeface="BIZ UDPGothic" pitchFamily="34" charset="-120"/>
                        </a:rPr>
                        <a:t>110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計画の9割</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A5563"/>
                          </a:solidFill>
                          <a:latin typeface="BIZ UDPGothic" pitchFamily="34" charset="0"/>
                          <a:ea typeface="BIZ UDPGothic" pitchFamily="34" charset="-122"/>
                          <a:cs typeface="BIZ UDPGothic" pitchFamily="34" charset="-120"/>
                        </a:rPr>
                        <a:t>3・8・16・24・30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5年でしない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C62828"/>
                          </a:solidFill>
                          <a:latin typeface="BIZ UDPGothic" pitchFamily="34" charset="0"/>
                          <a:ea typeface="BIZ UDPGothic" pitchFamily="34" charset="-122"/>
                          <a:cs typeface="BIZ UDPGothic" pitchFamily="34" charset="-120"/>
                        </a:rPr>
                        <a:t>▲17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49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2E7D32"/>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31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105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計画の8割</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A5563"/>
                          </a:solidFill>
                          <a:latin typeface="BIZ UDPGothic" pitchFamily="34" charset="0"/>
                          <a:ea typeface="BIZ UDPGothic" pitchFamily="34" charset="-122"/>
                          <a:cs typeface="BIZ UDPGothic" pitchFamily="34" charset="-120"/>
                        </a:rPr>
                        <a:t>2・7・14・22・26</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5年でしない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C62828"/>
                          </a:solidFill>
                          <a:latin typeface="BIZ UDPGothic" pitchFamily="34" charset="0"/>
                          <a:ea typeface="BIZ UDPGothic" pitchFamily="34" charset="-122"/>
                          <a:cs typeface="BIZ UDPGothic" pitchFamily="34" charset="-120"/>
                        </a:rPr>
                        <a:t>▲22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47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2E7D32"/>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21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105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計画の7割</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A5563"/>
                          </a:solidFill>
                          <a:latin typeface="BIZ UDPGothic" pitchFamily="34" charset="0"/>
                          <a:ea typeface="BIZ UDPGothic" pitchFamily="34" charset="-122"/>
                          <a:cs typeface="BIZ UDPGothic" pitchFamily="34" charset="-120"/>
                        </a:rPr>
                        <a:t>2・6・13・19・23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5年でしない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C62828"/>
                          </a:solidFill>
                          <a:latin typeface="BIZ UDPGothic" pitchFamily="34" charset="0"/>
                          <a:ea typeface="BIZ UDPGothic" pitchFamily="34" charset="-122"/>
                          <a:cs typeface="BIZ UDPGothic" pitchFamily="34" charset="-120"/>
                        </a:rPr>
                        <a:t>▲26</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28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2E7D32"/>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12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92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計画の6割</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A5563"/>
                          </a:solidFill>
                          <a:latin typeface="BIZ UDPGothic" pitchFamily="34" charset="0"/>
                          <a:ea typeface="BIZ UDPGothic" pitchFamily="34" charset="-122"/>
                          <a:cs typeface="BIZ UDPGothic" pitchFamily="34" charset="-120"/>
                        </a:rPr>
                        <a:t>2・5・11・16・20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5年でしない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C62828"/>
                          </a:solidFill>
                          <a:latin typeface="BIZ UDPGothic" pitchFamily="34" charset="0"/>
                          <a:ea typeface="BIZ UDPGothic" pitchFamily="34" charset="-122"/>
                          <a:cs typeface="BIZ UDPGothic" pitchFamily="34" charset="-120"/>
                        </a:rPr>
                        <a:t>▲30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29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2E7D32"/>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92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0" name="Text 6"/>
          <p:cNvSpPr txBox="1"/>
          <p:nvPr/>
        </p:nvSpPr>
        <p:spPr>
          <a:xfrm>
            <a:off x="3108960" y="1298448"/>
            <a:ext cx="2788920" cy="210312"/>
          </a:xfrm>
          <a:prstGeom prst="rect">
            <a:avLst/>
          </a:prstGeom>
          <a:solidFill>
            <a:srgbClr val="EAF0F6"/>
          </a:solidFill>
          <a:ln/>
        </p:spPr>
        <p:txBody>
          <a:bodyPr wrap="square" lIns="0" tIns="0" rIns="0" bIns="0" rtlCol="0" anchor="ctr"/>
          <a:lstStyle/>
          <a:p>
            <a:pPr algn="ctr" indent="0" marL="0">
              <a:lnSpc>
                <a:spcPct val="115000"/>
              </a:lnSpc>
              <a:buNone/>
            </a:pPr>
            <a:r>
              <a:rPr lang="en-US" sz="850" b="1" dirty="0">
                <a:solidFill>
                  <a:srgbClr val="1B365D"/>
                </a:solidFill>
                <a:latin typeface="BIZ UDPGothic" pitchFamily="34" charset="0"/>
                <a:ea typeface="BIZ UDPGothic" pitchFamily="34" charset="-122"/>
                <a:cs typeface="BIZ UDPGothic" pitchFamily="34" charset="-120"/>
              </a:rPr>
              <a:t>1拠点10台のまま</a:t>
            </a:r>
            <a:endParaRPr lang="en-US" sz="850" dirty="0"/>
          </a:p>
        </p:txBody>
      </p:sp>
      <p:sp>
        <p:nvSpPr>
          <p:cNvPr id="11" name="Text 7"/>
          <p:cNvSpPr txBox="1"/>
          <p:nvPr/>
        </p:nvSpPr>
        <p:spPr>
          <a:xfrm>
            <a:off x="5897880" y="1298448"/>
            <a:ext cx="2880360" cy="210312"/>
          </a:xfrm>
          <a:prstGeom prst="rect">
            <a:avLst/>
          </a:prstGeom>
          <a:solidFill>
            <a:srgbClr val="FFF4C2"/>
          </a:solidFill>
          <a:ln/>
        </p:spPr>
        <p:txBody>
          <a:bodyPr wrap="square" lIns="0" tIns="0" rIns="0" bIns="0" rtlCol="0" anchor="ctr"/>
          <a:lstStyle/>
          <a:p>
            <a:pPr algn="ctr" indent="0" marL="0">
              <a:lnSpc>
                <a:spcPct val="115000"/>
              </a:lnSpc>
              <a:buNone/>
            </a:pPr>
            <a:r>
              <a:rPr lang="en-US" sz="850" b="1" dirty="0">
                <a:solidFill>
                  <a:srgbClr val="1B365D"/>
                </a:solidFill>
                <a:latin typeface="BIZ UDPGothic" pitchFamily="34" charset="0"/>
                <a:ea typeface="BIZ UDPGothic" pitchFamily="34" charset="-122"/>
                <a:cs typeface="BIZ UDPGothic" pitchFamily="34" charset="-120"/>
              </a:rPr>
              <a:t>1拠点15台に増やせた場合</a:t>
            </a:r>
            <a:endParaRPr lang="en-US" sz="850" dirty="0"/>
          </a:p>
        </p:txBody>
      </p:sp>
      <p:sp>
        <p:nvSpPr>
          <p:cNvPr id="12" name="Text 8"/>
          <p:cNvSpPr txBox="1"/>
          <p:nvPr/>
        </p:nvSpPr>
        <p:spPr>
          <a:xfrm>
            <a:off x="365760" y="2962656"/>
            <a:ext cx="8412480" cy="237744"/>
          </a:xfrm>
          <a:prstGeom prst="rect">
            <a:avLst/>
          </a:prstGeom>
          <a:noFill/>
          <a:ln/>
        </p:spPr>
        <p:txBody>
          <a:bodyPr wrap="square" lIns="0" tIns="0" rIns="0" bIns="0" rtlCol="0" anchor="t"/>
          <a:lstStyle/>
          <a:p>
            <a:pPr algn="l" indent="0" marL="0">
              <a:lnSpc>
                <a:spcPct val="115000"/>
              </a:lnSpc>
              <a:buNone/>
            </a:pPr>
            <a:r>
              <a:rPr lang="en-US" sz="1000" b="1" dirty="0">
                <a:solidFill>
                  <a:srgbClr val="1B365D"/>
                </a:solidFill>
                <a:latin typeface="BIZ UDPGothic" pitchFamily="34" charset="0"/>
                <a:ea typeface="BIZ UDPGothic" pitchFamily="34" charset="-122"/>
                <a:cs typeface="BIZ UDPGothic" pitchFamily="34" charset="-120"/>
              </a:rPr>
              <a:t>進む・直す・止まるの線（案）</a:t>
            </a:r>
            <a:endParaRPr lang="en-US" sz="1000" dirty="0"/>
          </a:p>
        </p:txBody>
      </p:sp>
      <p:graphicFrame>
        <p:nvGraphicFramePr>
          <p:cNvPr id="45" name="gates"/>
          <p:cNvGraphicFramePr>
            <a:graphicFrameLocks noGrp="1"/>
          </p:cNvGraphicFramePr>
          <p:nvPr>
            <p:extLst>
              <p:ext uri="{D42A27DB-BD31-4B8C-83A1-F6EECF244321}">
                <p14:modId xmlns:p14="http://schemas.microsoft.com/office/powerpoint/2010/main" val="1579011935"/>
              </p:ext>
            </p:extLst>
          </p:nvPr>
        </p:nvGraphicFramePr>
        <p:xfrm>
          <a:off x="365760" y="3218688"/>
          <a:ext cx="8412480" cy="914400"/>
        </p:xfrm>
        <a:graphic>
          <a:graphicData uri="http://schemas.openxmlformats.org/drawingml/2006/table">
            <a:tbl>
              <a:tblPr/>
              <a:tblGrid>
                <a:gridCol w="1097280"/>
                <a:gridCol w="1737360"/>
                <a:gridCol w="1463040"/>
                <a:gridCol w="2286000"/>
                <a:gridCol w="1828800"/>
              </a:tblGrid>
              <a:tr h="228600">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時期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測るもの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進む</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直す</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止まる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実証（準備期）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1台1日の削減時間</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2E7D32"/>
                          </a:solidFill>
                          <a:latin typeface="BIZ UDPGothic" pitchFamily="34" charset="0"/>
                          <a:ea typeface="BIZ UDPGothic" pitchFamily="34" charset="-122"/>
                          <a:cs typeface="BIZ UDPGothic" pitchFamily="34" charset="-120"/>
                        </a:rPr>
                        <a:t>23分以上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15〜23分：機能を写真台帳に絞る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4C2"/>
                    </a:solidFill>
                  </a:tcPr>
                </a:tc>
                <a:tc>
                  <a:txBody>
                    <a:bodyPr/>
                    <a:lstStyle/>
                    <a:p>
                      <a:pPr algn="l" indent="0" marL="0">
                        <a:buNone/>
                      </a:pPr>
                      <a:r>
                        <a:rPr lang="en-US" sz="850" b="1" dirty="0">
                          <a:solidFill>
                            <a:srgbClr val="C62828"/>
                          </a:solidFill>
                          <a:latin typeface="BIZ UDPGothic" pitchFamily="34" charset="0"/>
                          <a:ea typeface="BIZ UDPGothic" pitchFamily="34" charset="-122"/>
                          <a:cs typeface="BIZ UDPGothic" pitchFamily="34" charset="-120"/>
                        </a:rPr>
                        <a:t>15分未満：撤退</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1年目末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試験導入3社の本契約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2E7D32"/>
                          </a:solidFill>
                          <a:latin typeface="BIZ UDPGothic" pitchFamily="34" charset="0"/>
                          <a:ea typeface="BIZ UDPGothic" pitchFamily="34" charset="-122"/>
                          <a:cs typeface="BIZ UDPGothic" pitchFamily="34" charset="-120"/>
                        </a:rPr>
                        <a:t>2社以上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1社：値段と顧客を見直す</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4C2"/>
                    </a:solidFill>
                  </a:tcPr>
                </a:tc>
                <a:tc>
                  <a:txBody>
                    <a:bodyPr/>
                    <a:lstStyle/>
                    <a:p>
                      <a:pPr algn="l" indent="0" marL="0">
                        <a:buNone/>
                      </a:pPr>
                      <a:r>
                        <a:rPr lang="en-US" sz="850" b="1" dirty="0">
                          <a:solidFill>
                            <a:srgbClr val="C62828"/>
                          </a:solidFill>
                          <a:latin typeface="BIZ UDPGothic" pitchFamily="34" charset="0"/>
                          <a:ea typeface="BIZ UDPGothic" pitchFamily="34" charset="-122"/>
                          <a:cs typeface="BIZ UDPGothic" pitchFamily="34" charset="-120"/>
                        </a:rPr>
                        <a:t>0社：撤退か方向転換</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2年目末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新規拠点・1拠点の台数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2E7D32"/>
                          </a:solidFill>
                          <a:latin typeface="BIZ UDPGothic" pitchFamily="34" charset="0"/>
                          <a:ea typeface="BIZ UDPGothic" pitchFamily="34" charset="-122"/>
                          <a:cs typeface="BIZ UDPGothic" pitchFamily="34" charset="-120"/>
                        </a:rPr>
                        <a:t>5拠点以上・平均12台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5拠点未満：採用を止める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4C2"/>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3年目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追加の5,000万円を入れるか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2E7D32"/>
                          </a:solidFill>
                          <a:latin typeface="BIZ UDPGothic" pitchFamily="34" charset="0"/>
                          <a:ea typeface="BIZ UDPGothic" pitchFamily="34" charset="-122"/>
                          <a:cs typeface="BIZ UDPGothic" pitchFamily="34" charset="-120"/>
                        </a:rPr>
                        <a:t>継続率90%以上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未達：追加額と採用を絞る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4C2"/>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4" name="Text 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新規拠点・個社設定を同じ割合で減らし、社員数＝4＋（計画−4）×達成度で採用も遅らせた簡易計算。15台はAIグラス12台＋表示付き3台</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収支と資金</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p.25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資金計画：自己資金 約2.55億円は積み上げで出した</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課題の前提「豊富な資金」。それでも「あるだけ使う」ではなく「必要額を積み、段階に分けて入れる」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sp>
        <p:nvSpPr>
          <p:cNvPr id="8" name="Text 5"/>
          <p:cNvSpPr txBox="1"/>
          <p:nvPr/>
        </p:nvSpPr>
        <p:spPr>
          <a:xfrm>
            <a:off x="365760" y="1051560"/>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必要資金の積み上げ</a:t>
            </a:r>
            <a:endParaRPr lang="en-US" sz="1050" dirty="0"/>
          </a:p>
        </p:txBody>
      </p:sp>
      <p:graphicFrame>
        <p:nvGraphicFramePr>
          <p:cNvPr id="24" name="need"/>
          <p:cNvGraphicFramePr>
            <a:graphicFrameLocks noGrp="1"/>
          </p:cNvGraphicFramePr>
          <p:nvPr>
            <p:extLst>
              <p:ext uri="{D42A27DB-BD31-4B8C-83A1-F6EECF244321}">
                <p14:modId xmlns:p14="http://schemas.microsoft.com/office/powerpoint/2010/main" val="1579011935"/>
              </p:ext>
            </p:extLst>
          </p:nvPr>
        </p:nvGraphicFramePr>
        <p:xfrm>
          <a:off x="365760" y="1325880"/>
          <a:ext cx="4069080" cy="914400"/>
        </p:xfrm>
        <a:graphic>
          <a:graphicData uri="http://schemas.openxmlformats.org/drawingml/2006/table">
            <a:tbl>
              <a:tblPr/>
              <a:tblGrid>
                <a:gridCol w="1325880"/>
                <a:gridCol w="1005840"/>
                <a:gridCol w="1737360"/>
              </a:tblGrid>
              <a:tr h="256032">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項目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金額</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計算</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赤字の累計のピーク</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18,280万円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1〜5年目の赤字の合計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最低残高</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3,540万円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4年目の販管費の3か月分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遅れへの備え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3,180万円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残り（計画が遅れたときの吸収分）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準備期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500万円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試作品・実証</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合計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1F2933"/>
                          </a:solidFill>
                          <a:latin typeface="BIZ UDPGothic" pitchFamily="34" charset="0"/>
                          <a:ea typeface="BIZ UDPGothic" pitchFamily="34" charset="-122"/>
                          <a:cs typeface="BIZ UDPGothic" pitchFamily="34" charset="-120"/>
                        </a:rPr>
                        <a:t>2億5,500万円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すべて自己資金</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sp>
        <p:nvSpPr>
          <p:cNvPr id="10" name="Text 6"/>
          <p:cNvSpPr txBox="1"/>
          <p:nvPr/>
        </p:nvSpPr>
        <p:spPr>
          <a:xfrm>
            <a:off x="365760" y="2953512"/>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入れる順番と条件</a:t>
            </a:r>
            <a:endParaRPr lang="en-US" sz="1050" dirty="0"/>
          </a:p>
        </p:txBody>
      </p:sp>
      <p:graphicFrame>
        <p:nvGraphicFramePr>
          <p:cNvPr id="47" name="raise"/>
          <p:cNvGraphicFramePr>
            <a:graphicFrameLocks noGrp="1"/>
          </p:cNvGraphicFramePr>
          <p:nvPr>
            <p:extLst>
              <p:ext uri="{D42A27DB-BD31-4B8C-83A1-F6EECF244321}">
                <p14:modId xmlns:p14="http://schemas.microsoft.com/office/powerpoint/2010/main" val="1579011935"/>
              </p:ext>
            </p:extLst>
          </p:nvPr>
        </p:nvGraphicFramePr>
        <p:xfrm>
          <a:off x="365760" y="3227832"/>
          <a:ext cx="4069080" cy="914400"/>
        </p:xfrm>
        <a:graphic>
          <a:graphicData uri="http://schemas.openxmlformats.org/drawingml/2006/table">
            <a:tbl>
              <a:tblPr/>
              <a:tblGrid>
                <a:gridCol w="731520"/>
                <a:gridCol w="2194560"/>
                <a:gridCol w="1143000"/>
              </a:tblGrid>
              <a:tr h="246888">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時期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条件</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金額</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4688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準備期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500万円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実証で1台1日23分以上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2億円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3年目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継続率90%・平均12台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5,000万円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2" name="Text 7"/>
          <p:cNvSpPr txBox="1"/>
          <p:nvPr/>
        </p:nvSpPr>
        <p:spPr>
          <a:xfrm>
            <a:off x="4709160" y="1051560"/>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期末の現金残高（簡易計算・百万円）</a:t>
            </a:r>
            <a:endParaRPr lang="en-US" sz="1050" dirty="0"/>
          </a:p>
        </p:txBody>
      </p:sp>
      <p:graphicFrame>
        <p:nvGraphicFramePr>
          <p:cNvPr id="70" name="cash"/>
          <p:cNvGraphicFramePr>
            <a:graphicFrameLocks noGrp="1"/>
          </p:cNvGraphicFramePr>
          <p:nvPr>
            <p:extLst>
              <p:ext uri="{D42A27DB-BD31-4B8C-83A1-F6EECF244321}">
                <p14:modId xmlns:p14="http://schemas.microsoft.com/office/powerpoint/2010/main" val="1579011935"/>
              </p:ext>
            </p:extLst>
          </p:nvPr>
        </p:nvGraphicFramePr>
        <p:xfrm>
          <a:off x="4709160" y="1325880"/>
          <a:ext cx="4069080" cy="914400"/>
        </p:xfrm>
        <a:graphic>
          <a:graphicData uri="http://schemas.openxmlformats.org/drawingml/2006/table">
            <a:tbl>
              <a:tblPr/>
              <a:tblGrid>
                <a:gridCol w="1097280"/>
                <a:gridCol w="594360"/>
                <a:gridCol w="594360"/>
                <a:gridCol w="594360"/>
                <a:gridCol w="594360"/>
                <a:gridCol w="594360"/>
              </a:tblGrid>
              <a:tr h="274320">
                <a:tc>
                  <a:txBody>
                    <a:bodyPr/>
                    <a:lstStyle/>
                    <a:p>
                      <a:pPr algn="l" indent="0" marL="0">
                        <a:buNone/>
                      </a:pP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1年目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2年目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3年目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4年目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5年目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調達</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50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営業損益</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▲48</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▲48</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▲37</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▲39</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▲11</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期末現金</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152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104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117</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78</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67</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sp>
        <p:nvSpPr>
          <p:cNvPr id="14" name="Shape 8"/>
          <p:cNvSpPr/>
          <p:nvPr/>
        </p:nvSpPr>
        <p:spPr>
          <a:xfrm>
            <a:off x="4709160" y="2560320"/>
            <a:ext cx="4069080" cy="1828800"/>
          </a:xfrm>
          <a:prstGeom prst="rect">
            <a:avLst/>
          </a:prstGeom>
          <a:solidFill>
            <a:srgbClr val="1B365D"/>
          </a:solidFill>
          <a:ln/>
        </p:spPr>
      </p:sp>
      <p:sp>
        <p:nvSpPr>
          <p:cNvPr id="15" name="Text 9"/>
          <p:cNvSpPr txBox="1"/>
          <p:nvPr/>
        </p:nvSpPr>
        <p:spPr>
          <a:xfrm>
            <a:off x="4846320" y="2606040"/>
            <a:ext cx="3794760" cy="1737360"/>
          </a:xfrm>
          <a:prstGeom prst="rect">
            <a:avLst/>
          </a:prstGeom>
          <a:noFill/>
          <a:ln/>
        </p:spPr>
        <p:txBody>
          <a:bodyPr wrap="square" lIns="0" tIns="0" rIns="0" bIns="0" rtlCol="0" anchor="ctr"/>
          <a:lstStyle/>
          <a:p>
            <a:pPr algn="l" indent="0" marL="0">
              <a:lnSpc>
                <a:spcPct val="115000"/>
              </a:lnSpc>
              <a:spcAft>
                <a:spcPts val="400"/>
              </a:spcAft>
              <a:buNone/>
            </a:pPr>
            <a:r>
              <a:rPr lang="en-US" sz="950" b="1" dirty="0">
                <a:solidFill>
                  <a:srgbClr val="F5C400"/>
                </a:solidFill>
                <a:latin typeface="BIZ UDPGothic" pitchFamily="34" charset="0"/>
                <a:ea typeface="BIZ UDPGothic" pitchFamily="34" charset="-122"/>
                <a:cs typeface="BIZ UDPGothic" pitchFamily="34" charset="-120"/>
              </a:rPr>
              <a:t>黒字倒産を防ぐ4つのルール</a:t>
            </a:r>
            <a:endParaRPr lang="en-US" sz="950" dirty="0"/>
          </a:p>
          <a:p>
            <a:pPr algn="l" indent="0" marL="0">
              <a:lnSpc>
                <a:spcPct val="115000"/>
              </a:lnSpc>
              <a:spcAft>
                <a:spcPts val="400"/>
              </a:spcAft>
              <a:buNone/>
            </a:pPr>
            <a:r>
              <a:rPr lang="en-US" sz="950" dirty="0">
                <a:solidFill>
                  <a:srgbClr val="FFFFFF"/>
                </a:solidFill>
                <a:latin typeface="BIZ UDPGothic" pitchFamily="34" charset="0"/>
                <a:ea typeface="BIZ UDPGothic" pitchFamily="34" charset="-122"/>
                <a:cs typeface="BIZ UDPGothic" pitchFamily="34" charset="-120"/>
              </a:rPr>
              <a:t>① 利用料は年額前払い。導入支援は着手金50%</a:t>
            </a:r>
            <a:endParaRPr lang="en-US" sz="950" dirty="0"/>
          </a:p>
          <a:p>
            <a:pPr algn="l" indent="0" marL="0">
              <a:lnSpc>
                <a:spcPct val="115000"/>
              </a:lnSpc>
              <a:spcAft>
                <a:spcPts val="400"/>
              </a:spcAft>
              <a:buNone/>
            </a:pPr>
            <a:r>
              <a:rPr lang="en-US" sz="950" dirty="0">
                <a:solidFill>
                  <a:srgbClr val="FFFFFF"/>
                </a:solidFill>
                <a:latin typeface="BIZ UDPGothic" pitchFamily="34" charset="0"/>
                <a:ea typeface="BIZ UDPGothic" pitchFamily="34" charset="-122"/>
                <a:cs typeface="BIZ UDPGothic" pitchFamily="34" charset="-120"/>
              </a:rPr>
              <a:t>② 現金が固定費3か月分を割りそうなら、先に採用を止める</a:t>
            </a:r>
            <a:endParaRPr lang="en-US" sz="950" dirty="0"/>
          </a:p>
          <a:p>
            <a:pPr algn="l" indent="0" marL="0">
              <a:lnSpc>
                <a:spcPct val="115000"/>
              </a:lnSpc>
              <a:spcAft>
                <a:spcPts val="400"/>
              </a:spcAft>
              <a:buNone/>
            </a:pPr>
            <a:r>
              <a:rPr lang="en-US" sz="950" dirty="0">
                <a:solidFill>
                  <a:srgbClr val="FFFFFF"/>
                </a:solidFill>
                <a:latin typeface="BIZ UDPGothic" pitchFamily="34" charset="0"/>
                <a:ea typeface="BIZ UDPGothic" pitchFamily="34" charset="-122"/>
                <a:cs typeface="BIZ UDPGothic" pitchFamily="34" charset="-120"/>
              </a:rPr>
              <a:t>③ 資金繰り表で12か月先までの入出金を管理</a:t>
            </a:r>
            <a:endParaRPr lang="en-US" sz="950" dirty="0"/>
          </a:p>
          <a:p>
            <a:pPr algn="l" indent="0" marL="0">
              <a:lnSpc>
                <a:spcPct val="115000"/>
              </a:lnSpc>
              <a:spcAft>
                <a:spcPts val="400"/>
              </a:spcAft>
              <a:buNone/>
            </a:pPr>
            <a:r>
              <a:rPr lang="en-US" sz="950" dirty="0">
                <a:solidFill>
                  <a:srgbClr val="FFFFFF"/>
                </a:solidFill>
                <a:latin typeface="BIZ UDPGothic" pitchFamily="34" charset="0"/>
                <a:ea typeface="BIZ UDPGothic" pitchFamily="34" charset="-122"/>
                <a:cs typeface="BIZ UDPGothic" pitchFamily="34" charset="-120"/>
              </a:rPr>
              <a:t>④ 採用は期末で社員1人約4拠点の見込みが立ってから</a:t>
            </a:r>
            <a:endParaRPr lang="en-US" sz="950" dirty="0"/>
          </a:p>
        </p:txBody>
      </p:sp>
      <p:sp>
        <p:nvSpPr>
          <p:cNvPr id="16" name="Text 10"/>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融資・出資は使わないので返済・利息はない。外の資金を入れるなら成熟期（上場）。簡易計算（税・償却・運転資本を除く）</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市場と実証</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p.18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市場規模の計算：業種×規模で数えて約141億円</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全体市場は第三者の調査、ターゲット市場は「顧客数×年額×年1回」を足し上げる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25" name="seg-matrix"/>
          <p:cNvGraphicFramePr>
            <a:graphicFrameLocks noGrp="1"/>
          </p:cNvGraphicFramePr>
          <p:nvPr>
            <p:extLst>
              <p:ext uri="{D42A27DB-BD31-4B8C-83A1-F6EECF244321}">
                <p14:modId xmlns:p14="http://schemas.microsoft.com/office/powerpoint/2010/main" val="1579011935"/>
              </p:ext>
            </p:extLst>
          </p:nvPr>
        </p:nvGraphicFramePr>
        <p:xfrm>
          <a:off x="365760" y="1051560"/>
          <a:ext cx="5577840" cy="914400"/>
        </p:xfrm>
        <a:graphic>
          <a:graphicData uri="http://schemas.openxmlformats.org/drawingml/2006/table">
            <a:tbl>
              <a:tblPr/>
              <a:tblGrid>
                <a:gridCol w="1325880"/>
                <a:gridCol w="1463040"/>
                <a:gridCol w="1508760"/>
                <a:gridCol w="1280160"/>
              </a:tblGrid>
              <a:tr h="347472">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業種＼規模</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大（300人以上）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中（30〜299人）</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小（30人未満）</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4747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電気工事会社</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300社×1,500万＝45億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F2933"/>
                          </a:solidFill>
                          <a:latin typeface="BIZ UDPGothic" pitchFamily="34" charset="0"/>
                          <a:ea typeface="BIZ UDPGothic" pitchFamily="34" charset="-122"/>
                          <a:cs typeface="BIZ UDPGothic" pitchFamily="34" charset="-120"/>
                        </a:rPr>
                        <a:t>2,100社×300万＝63億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4C2"/>
                    </a:solidFill>
                  </a:tcPr>
                </a:tc>
                <a:tc>
                  <a:txBody>
                    <a:bodyPr/>
                    <a:lstStyle/>
                    <a:p>
                      <a:pPr algn="ctr" indent="0" marL="0">
                        <a:buNone/>
                      </a:pPr>
                      <a:r>
                        <a:rPr lang="en-US" sz="850" dirty="0">
                          <a:solidFill>
                            <a:srgbClr val="7B8794"/>
                          </a:solidFill>
                          <a:latin typeface="BIZ UDPGothic" pitchFamily="34" charset="0"/>
                          <a:ea typeface="BIZ UDPGothic" pitchFamily="34" charset="-122"/>
                          <a:cs typeface="BIZ UDPGothic" pitchFamily="34" charset="-120"/>
                        </a:rPr>
                        <a:t>対象外</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電気通信工事会社</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100社×1,500万＝15億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600社×300万＝18億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7B8794"/>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電線・ケーブル工場</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7B8794"/>
                          </a:solidFill>
                          <a:latin typeface="BIZ UDPGothic" pitchFamily="34" charset="0"/>
                          <a:ea typeface="BIZ UDPGothic" pitchFamily="34" charset="-122"/>
                          <a:cs typeface="BIZ UDPGothic" pitchFamily="34" charset="-120"/>
                        </a:rPr>
                        <a:t>隣接市場</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7B8794"/>
                          </a:solidFill>
                          <a:latin typeface="BIZ UDPGothic" pitchFamily="34" charset="0"/>
                          <a:ea typeface="BIZ UDPGothic" pitchFamily="34" charset="-122"/>
                          <a:cs typeface="BIZ UDPGothic" pitchFamily="34" charset="-120"/>
                        </a:rPr>
                        <a:t>隣接市場</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7B8794"/>
                          </a:solidFill>
                          <a:latin typeface="BIZ UDPGothic" pitchFamily="34" charset="0"/>
                          <a:ea typeface="BIZ UDPGothic" pitchFamily="34" charset="-122"/>
                          <a:cs typeface="BIZ UDPGothic" pitchFamily="34" charset="-120"/>
                        </a:rPr>
                        <a:t>隣接市場</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graphicFrame>
        <p:nvGraphicFramePr>
          <p:cNvPr id="49" name="market-assump"/>
          <p:cNvGraphicFramePr>
            <a:graphicFrameLocks noGrp="1"/>
          </p:cNvGraphicFramePr>
          <p:nvPr>
            <p:extLst>
              <p:ext uri="{D42A27DB-BD31-4B8C-83A1-F6EECF244321}">
                <p14:modId xmlns:p14="http://schemas.microsoft.com/office/powerpoint/2010/main" val="1579011935"/>
              </p:ext>
            </p:extLst>
          </p:nvPr>
        </p:nvGraphicFramePr>
        <p:xfrm>
          <a:off x="365760" y="2560320"/>
          <a:ext cx="5577840" cy="914400"/>
        </p:xfrm>
        <a:graphic>
          <a:graphicData uri="http://schemas.openxmlformats.org/drawingml/2006/table">
            <a:tbl>
              <a:tblPr/>
              <a:tblGrid>
                <a:gridCol w="2011680"/>
                <a:gridCol w="3017520"/>
                <a:gridCol w="548640"/>
              </a:tblGrid>
              <a:tr h="246888">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前提</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値</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00" b="1" dirty="0">
                          <a:solidFill>
                            <a:srgbClr val="FFFFFF"/>
                          </a:solidFill>
                          <a:latin typeface="BIZ UDPGothic" pitchFamily="34" charset="0"/>
                          <a:ea typeface="BIZ UDPGothic" pitchFamily="34" charset="-122"/>
                          <a:cs typeface="BIZ UDPGothic" pitchFamily="34" charset="-120"/>
                        </a:rPr>
                        <a:t>確度</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電気工事業の許可業者</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65,497社（令和7年3月末）</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統計</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規模別の内訳（大300・中2,100）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資本金5,000万円以上 約2,400社を分けた</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仮説</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電気通信工事の中堅以上</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約700社（完成工事高の比率から）</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仮説</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1拠点の年額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標準10台で300万円。大手は支店5拠点</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見積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小規模を外す理由</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書類の量が少なく、1台1日23分を満たしにくい</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見積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0" name="Shape 5"/>
          <p:cNvSpPr/>
          <p:nvPr/>
        </p:nvSpPr>
        <p:spPr>
          <a:xfrm>
            <a:off x="6126480" y="1051560"/>
            <a:ext cx="2651760" cy="1371600"/>
          </a:xfrm>
          <a:prstGeom prst="rect">
            <a:avLst/>
          </a:prstGeom>
          <a:solidFill>
            <a:srgbClr val="1B365D"/>
          </a:solidFill>
          <a:ln/>
        </p:spPr>
      </p:sp>
      <p:sp>
        <p:nvSpPr>
          <p:cNvPr id="11" name="Text 6"/>
          <p:cNvSpPr txBox="1"/>
          <p:nvPr/>
        </p:nvSpPr>
        <p:spPr>
          <a:xfrm>
            <a:off x="6236208" y="1097280"/>
            <a:ext cx="2432304" cy="1280160"/>
          </a:xfrm>
          <a:prstGeom prst="rect">
            <a:avLst/>
          </a:prstGeom>
          <a:noFill/>
          <a:ln/>
        </p:spPr>
        <p:txBody>
          <a:bodyPr wrap="square" lIns="0" tIns="0" rIns="0" bIns="0" rtlCol="0" anchor="ctr"/>
          <a:lstStyle/>
          <a:p>
            <a:pPr algn="l" indent="0" marL="0">
              <a:lnSpc>
                <a:spcPct val="115000"/>
              </a:lnSpc>
              <a:spcAft>
                <a:spcPts val="200"/>
              </a:spcAft>
              <a:buNone/>
            </a:pPr>
            <a:r>
              <a:rPr lang="en-US" sz="1000" b="1" dirty="0">
                <a:solidFill>
                  <a:srgbClr val="F5C400"/>
                </a:solidFill>
                <a:latin typeface="BIZ UDPGothic" pitchFamily="34" charset="0"/>
                <a:ea typeface="BIZ UDPGothic" pitchFamily="34" charset="-122"/>
                <a:cs typeface="BIZ UDPGothic" pitchFamily="34" charset="-120"/>
              </a:rPr>
              <a:t>ターゲット市場</a:t>
            </a:r>
            <a:endParaRPr lang="en-US" sz="1000" dirty="0"/>
          </a:p>
          <a:p>
            <a:pPr algn="l" indent="0" marL="0">
              <a:lnSpc>
                <a:spcPct val="115000"/>
              </a:lnSpc>
              <a:spcAft>
                <a:spcPts val="200"/>
              </a:spcAft>
              <a:buNone/>
            </a:pPr>
            <a:r>
              <a:rPr lang="en-US" sz="2000" b="1" dirty="0">
                <a:solidFill>
                  <a:srgbClr val="FFFFFF"/>
                </a:solidFill>
                <a:latin typeface="BIZ UDPGothic" pitchFamily="34" charset="0"/>
                <a:ea typeface="BIZ UDPGothic" pitchFamily="34" charset="-122"/>
                <a:cs typeface="BIZ UDPGothic" pitchFamily="34" charset="-120"/>
              </a:rPr>
              <a:t>約141億円</a:t>
            </a:r>
            <a:endParaRPr lang="en-US" sz="10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中堅以上 約3,100社</a:t>
            </a:r>
            <a:endParaRPr lang="en-US" sz="1000" dirty="0"/>
          </a:p>
        </p:txBody>
      </p:sp>
      <p:sp>
        <p:nvSpPr>
          <p:cNvPr id="12" name="Shape 7"/>
          <p:cNvSpPr/>
          <p:nvPr/>
        </p:nvSpPr>
        <p:spPr>
          <a:xfrm>
            <a:off x="6126480" y="2514600"/>
            <a:ext cx="2651760" cy="1325880"/>
          </a:xfrm>
          <a:prstGeom prst="rect">
            <a:avLst/>
          </a:prstGeom>
          <a:solidFill>
            <a:srgbClr val="EAF0F6"/>
          </a:solidFill>
          <a:ln/>
        </p:spPr>
      </p:sp>
      <p:sp>
        <p:nvSpPr>
          <p:cNvPr id="13" name="Text 8"/>
          <p:cNvSpPr txBox="1"/>
          <p:nvPr/>
        </p:nvSpPr>
        <p:spPr>
          <a:xfrm>
            <a:off x="6236208" y="2560320"/>
            <a:ext cx="2432304" cy="1234440"/>
          </a:xfrm>
          <a:prstGeom prst="rect">
            <a:avLst/>
          </a:prstGeom>
          <a:noFill/>
          <a:ln/>
        </p:spPr>
        <p:txBody>
          <a:bodyPr wrap="square" lIns="0" tIns="0" rIns="0" bIns="0" rtlCol="0" anchor="ctr"/>
          <a:lstStyle/>
          <a:p>
            <a:pPr algn="l" indent="0" marL="0">
              <a:lnSpc>
                <a:spcPct val="115000"/>
              </a:lnSpc>
              <a:spcAft>
                <a:spcPts val="100"/>
              </a:spcAft>
              <a:buNone/>
            </a:pPr>
            <a:r>
              <a:rPr lang="en-US" sz="850" b="1" dirty="0">
                <a:solidFill>
                  <a:srgbClr val="1F2933"/>
                </a:solidFill>
                <a:latin typeface="BIZ UDPGothic" pitchFamily="34" charset="0"/>
                <a:ea typeface="BIZ UDPGothic" pitchFamily="34" charset="-122"/>
                <a:cs typeface="BIZ UDPGothic" pitchFamily="34" charset="-120"/>
              </a:rPr>
              <a:t>全体市場（第三者の調査）</a:t>
            </a:r>
            <a:endParaRPr lang="en-US" sz="850" dirty="0"/>
          </a:p>
          <a:p>
            <a:pPr algn="l" indent="0" marL="0">
              <a:lnSpc>
                <a:spcPct val="115000"/>
              </a:lnSpc>
              <a:spcAft>
                <a:spcPts val="100"/>
              </a:spcAft>
              <a:buNone/>
            </a:pPr>
            <a:r>
              <a:rPr lang="en-US" sz="850" dirty="0">
                <a:solidFill>
                  <a:srgbClr val="1F2933"/>
                </a:solidFill>
                <a:latin typeface="BIZ UDPGothic" pitchFamily="34" charset="0"/>
                <a:ea typeface="BIZ UDPGothic" pitchFamily="34" charset="-122"/>
                <a:cs typeface="BIZ UDPGothic" pitchFamily="34" charset="-120"/>
              </a:rPr>
              <a:t>建設テック（建築分野）</a:t>
            </a:r>
            <a:endParaRPr lang="en-US" sz="850" dirty="0"/>
          </a:p>
          <a:p>
            <a:pPr algn="l" indent="0" marL="0">
              <a:lnSpc>
                <a:spcPct val="115000"/>
              </a:lnSpc>
              <a:spcAft>
                <a:spcPts val="100"/>
              </a:spcAft>
              <a:buNone/>
            </a:pPr>
            <a:r>
              <a:rPr lang="en-US" sz="850" b="1" dirty="0">
                <a:solidFill>
                  <a:srgbClr val="1F2933"/>
                </a:solidFill>
                <a:latin typeface="BIZ UDPGothic" pitchFamily="34" charset="0"/>
                <a:ea typeface="BIZ UDPGothic" pitchFamily="34" charset="-122"/>
                <a:cs typeface="BIZ UDPGothic" pitchFamily="34" charset="-120"/>
              </a:rPr>
              <a:t>1,845億→3,043億円、年7.4%</a:t>
            </a:r>
            <a:endParaRPr lang="en-US" sz="850" dirty="0"/>
          </a:p>
          <a:p>
            <a:pPr algn="l" indent="0" marL="0">
              <a:lnSpc>
                <a:spcPct val="115000"/>
              </a:lnSpc>
              <a:spcAft>
                <a:spcPts val="100"/>
              </a:spcAft>
              <a:buNone/>
            </a:pPr>
            <a:r>
              <a:rPr lang="en-US" sz="850" dirty="0">
                <a:solidFill>
                  <a:srgbClr val="1F2933"/>
                </a:solidFill>
                <a:latin typeface="BIZ UDPGothic" pitchFamily="34" charset="0"/>
                <a:ea typeface="BIZ UDPGothic" pitchFamily="34" charset="-122"/>
                <a:cs typeface="BIZ UDPGothic" pitchFamily="34" charset="-120"/>
              </a:rPr>
              <a:t>スマートファクトリー（国内）</a:t>
            </a:r>
            <a:endParaRPr lang="en-US" sz="850" dirty="0"/>
          </a:p>
          <a:p>
            <a:pPr algn="l" indent="0" marL="0">
              <a:lnSpc>
                <a:spcPct val="115000"/>
              </a:lnSpc>
              <a:spcAft>
                <a:spcPts val="100"/>
              </a:spcAft>
              <a:buNone/>
            </a:pPr>
            <a:r>
              <a:rPr lang="en-US" sz="850" b="1" dirty="0">
                <a:solidFill>
                  <a:srgbClr val="1F2933"/>
                </a:solidFill>
                <a:latin typeface="BIZ UDPGothic" pitchFamily="34" charset="0"/>
                <a:ea typeface="BIZ UDPGothic" pitchFamily="34" charset="-122"/>
                <a:cs typeface="BIZ UDPGothic" pitchFamily="34" charset="-120"/>
              </a:rPr>
              <a:t>42億→92億米ドル、年9.03%</a:t>
            </a:r>
            <a:endParaRPr lang="en-US" sz="850" dirty="0"/>
          </a:p>
        </p:txBody>
      </p:sp>
      <p:sp>
        <p:nvSpPr>
          <p:cNvPr id="14" name="Shape 9"/>
          <p:cNvSpPr/>
          <p:nvPr/>
        </p:nvSpPr>
        <p:spPr>
          <a:xfrm>
            <a:off x="365760" y="4069080"/>
            <a:ext cx="8412480" cy="438912"/>
          </a:xfrm>
          <a:prstGeom prst="rect">
            <a:avLst/>
          </a:prstGeom>
          <a:solidFill>
            <a:srgbClr val="FFFFFF"/>
          </a:solidFill>
          <a:ln w="19050">
            <a:solidFill>
              <a:srgbClr val="2F6DB5"/>
            </a:solidFill>
            <a:prstDash val="solid"/>
          </a:ln>
        </p:spPr>
      </p:sp>
      <p:sp>
        <p:nvSpPr>
          <p:cNvPr id="15" name="Text 10"/>
          <p:cNvSpPr txBox="1"/>
          <p:nvPr/>
        </p:nvSpPr>
        <p:spPr>
          <a:xfrm>
            <a:off x="502920" y="4069080"/>
            <a:ext cx="8138160" cy="438912"/>
          </a:xfrm>
          <a:prstGeom prst="rect">
            <a:avLst/>
          </a:prstGeom>
          <a:noFill/>
          <a:ln/>
        </p:spPr>
        <p:txBody>
          <a:bodyPr wrap="square" lIns="0" tIns="0" rIns="0" bIns="0" rtlCol="0" anchor="ctr"/>
          <a:lstStyle/>
          <a:p>
            <a:pPr algn="l" indent="0" marL="0">
              <a:lnSpc>
                <a:spcPct val="115000"/>
              </a:lnSpc>
              <a:buNone/>
            </a:pPr>
            <a:r>
              <a:rPr lang="en-US" sz="850" b="1" dirty="0">
                <a:solidFill>
                  <a:srgbClr val="2F6DB5"/>
                </a:solidFill>
                <a:latin typeface="BIZ UDPGothic" pitchFamily="34" charset="0"/>
                <a:ea typeface="BIZ UDPGothic" pitchFamily="34" charset="-122"/>
                <a:cs typeface="BIZ UDPGothic" pitchFamily="34" charset="-120"/>
              </a:rPr>
              <a:t>聞かれたら：</a:t>
            </a:r>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「土台の65,497社は国の統計、規模別の内訳は推計です。業界団体の名簿と経済センサスで数え直します」。5年目の売上は約2.43億円で、ターゲット市場の約1.7%</a:t>
            </a:r>
            <a:endParaRPr lang="en-US" sz="850" dirty="0"/>
          </a:p>
        </p:txBody>
      </p:sp>
      <p:sp>
        <p:nvSpPr>
          <p:cNvPr id="16" name="Text 11"/>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計算は tora_market.js。差し替える統計：国交省「建設業許可業者数調査」業種別・資本金階層別、経済センサス（設備工事業の従業者規模別）</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市場と実証</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p.19・22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ターゲットと営業：規模ではなく条件で絞る</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中堅2,100社を規模だけで追うと会えない。4つの条件で一次ターゲットを決める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sp>
        <p:nvSpPr>
          <p:cNvPr id="8" name="Text 5"/>
          <p:cNvSpPr txBox="1"/>
          <p:nvPr/>
        </p:nvSpPr>
        <p:spPr>
          <a:xfrm>
            <a:off x="3657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一次ターゲットの4条件（ペルソナ）</a:t>
            </a:r>
            <a:endParaRPr lang="en-US" sz="1050" dirty="0"/>
          </a:p>
        </p:txBody>
      </p:sp>
      <p:sp>
        <p:nvSpPr>
          <p:cNvPr id="9" name="Shape 6"/>
          <p:cNvSpPr/>
          <p:nvPr/>
        </p:nvSpPr>
        <p:spPr>
          <a:xfrm>
            <a:off x="365760" y="1316736"/>
            <a:ext cx="1051560" cy="384048"/>
          </a:xfrm>
          <a:prstGeom prst="rect">
            <a:avLst/>
          </a:prstGeom>
          <a:solidFill>
            <a:srgbClr val="1B365D"/>
          </a:solidFill>
          <a:ln/>
        </p:spPr>
      </p:sp>
      <p:sp>
        <p:nvSpPr>
          <p:cNvPr id="10" name="Text 7"/>
          <p:cNvSpPr txBox="1"/>
          <p:nvPr/>
        </p:nvSpPr>
        <p:spPr>
          <a:xfrm>
            <a:off x="365760" y="1316736"/>
            <a:ext cx="1051560" cy="384048"/>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規模</a:t>
            </a:r>
            <a:endParaRPr lang="en-US" sz="900" dirty="0"/>
          </a:p>
        </p:txBody>
      </p:sp>
      <p:sp>
        <p:nvSpPr>
          <p:cNvPr id="11" name="Text 8"/>
          <p:cNvSpPr txBox="1"/>
          <p:nvPr/>
        </p:nvSpPr>
        <p:spPr>
          <a:xfrm>
            <a:off x="1508760" y="1316736"/>
            <a:ext cx="2926080" cy="384048"/>
          </a:xfrm>
          <a:prstGeom prst="rect">
            <a:avLst/>
          </a:prstGeom>
          <a:noFill/>
          <a:ln/>
        </p:spPr>
        <p:txBody>
          <a:bodyPr wrap="square" lIns="0" tIns="0" rIns="0" bIns="0" rtlCol="0" anchor="ctr"/>
          <a:lstStyle/>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施工管理者30人以上、拠点（支店）が1〜3つ</a:t>
            </a:r>
            <a:endParaRPr lang="en-US" sz="900" dirty="0"/>
          </a:p>
        </p:txBody>
      </p:sp>
      <p:sp>
        <p:nvSpPr>
          <p:cNvPr id="12" name="Shape 9"/>
          <p:cNvSpPr/>
          <p:nvPr/>
        </p:nvSpPr>
        <p:spPr>
          <a:xfrm>
            <a:off x="365760" y="1773936"/>
            <a:ext cx="1051560" cy="384048"/>
          </a:xfrm>
          <a:prstGeom prst="rect">
            <a:avLst/>
          </a:prstGeom>
          <a:solidFill>
            <a:srgbClr val="1B365D"/>
          </a:solidFill>
          <a:ln/>
        </p:spPr>
      </p:sp>
      <p:sp>
        <p:nvSpPr>
          <p:cNvPr id="13" name="Text 10"/>
          <p:cNvSpPr txBox="1"/>
          <p:nvPr/>
        </p:nvSpPr>
        <p:spPr>
          <a:xfrm>
            <a:off x="365760" y="1773936"/>
            <a:ext cx="1051560" cy="384048"/>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書類の重さ</a:t>
            </a:r>
            <a:endParaRPr lang="en-US" sz="900" dirty="0"/>
          </a:p>
        </p:txBody>
      </p:sp>
      <p:sp>
        <p:nvSpPr>
          <p:cNvPr id="14" name="Text 11"/>
          <p:cNvSpPr txBox="1"/>
          <p:nvPr/>
        </p:nvSpPr>
        <p:spPr>
          <a:xfrm>
            <a:off x="1508760" y="1773936"/>
            <a:ext cx="2926080" cy="384048"/>
          </a:xfrm>
          <a:prstGeom prst="rect">
            <a:avLst/>
          </a:prstGeom>
          <a:noFill/>
          <a:ln/>
        </p:spPr>
        <p:txBody>
          <a:bodyPr wrap="square" lIns="0" tIns="0" rIns="0" bIns="0" rtlCol="0" anchor="ctr"/>
          <a:lstStyle/>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電力会社・官公庁の工事が多く、写真台帳と報告書の提出が多い</a:t>
            </a:r>
            <a:endParaRPr lang="en-US" sz="900" dirty="0"/>
          </a:p>
        </p:txBody>
      </p:sp>
      <p:sp>
        <p:nvSpPr>
          <p:cNvPr id="15" name="Shape 12"/>
          <p:cNvSpPr/>
          <p:nvPr/>
        </p:nvSpPr>
        <p:spPr>
          <a:xfrm>
            <a:off x="365760" y="2231136"/>
            <a:ext cx="1051560" cy="384048"/>
          </a:xfrm>
          <a:prstGeom prst="rect">
            <a:avLst/>
          </a:prstGeom>
          <a:solidFill>
            <a:srgbClr val="1B365D"/>
          </a:solidFill>
          <a:ln/>
        </p:spPr>
      </p:sp>
      <p:sp>
        <p:nvSpPr>
          <p:cNvPr id="16" name="Text 13"/>
          <p:cNvSpPr txBox="1"/>
          <p:nvPr/>
        </p:nvSpPr>
        <p:spPr>
          <a:xfrm>
            <a:off x="365760" y="2231136"/>
            <a:ext cx="1051560" cy="384048"/>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手戻りの痛さ</a:t>
            </a:r>
            <a:endParaRPr lang="en-US" sz="900" dirty="0"/>
          </a:p>
        </p:txBody>
      </p:sp>
      <p:sp>
        <p:nvSpPr>
          <p:cNvPr id="17" name="Text 14"/>
          <p:cNvSpPr txBox="1"/>
          <p:nvPr/>
        </p:nvSpPr>
        <p:spPr>
          <a:xfrm>
            <a:off x="1508760" y="2231136"/>
            <a:ext cx="2926080" cy="384048"/>
          </a:xfrm>
          <a:prstGeom prst="rect">
            <a:avLst/>
          </a:prstGeom>
          <a:noFill/>
          <a:ln/>
        </p:spPr>
        <p:txBody>
          <a:bodyPr wrap="square" lIns="0" tIns="0" rIns="0" bIns="0" rtlCol="0" anchor="ctr"/>
          <a:lstStyle/>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ケーブル接続・端末処理など、やり直しが高くつく工種がある</a:t>
            </a:r>
            <a:endParaRPr lang="en-US" sz="900" dirty="0"/>
          </a:p>
        </p:txBody>
      </p:sp>
      <p:sp>
        <p:nvSpPr>
          <p:cNvPr id="18" name="Shape 15"/>
          <p:cNvSpPr/>
          <p:nvPr/>
        </p:nvSpPr>
        <p:spPr>
          <a:xfrm>
            <a:off x="365760" y="2688336"/>
            <a:ext cx="1051560" cy="384048"/>
          </a:xfrm>
          <a:prstGeom prst="rect">
            <a:avLst/>
          </a:prstGeom>
          <a:solidFill>
            <a:srgbClr val="1B365D"/>
          </a:solidFill>
          <a:ln/>
        </p:spPr>
      </p:sp>
      <p:sp>
        <p:nvSpPr>
          <p:cNvPr id="19" name="Text 16"/>
          <p:cNvSpPr txBox="1"/>
          <p:nvPr/>
        </p:nvSpPr>
        <p:spPr>
          <a:xfrm>
            <a:off x="365760" y="2688336"/>
            <a:ext cx="1051560" cy="384048"/>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デジタルの素地</a:t>
            </a:r>
            <a:endParaRPr lang="en-US" sz="900" dirty="0"/>
          </a:p>
        </p:txBody>
      </p:sp>
      <p:sp>
        <p:nvSpPr>
          <p:cNvPr id="20" name="Text 17"/>
          <p:cNvSpPr txBox="1"/>
          <p:nvPr/>
        </p:nvSpPr>
        <p:spPr>
          <a:xfrm>
            <a:off x="1508760" y="2688336"/>
            <a:ext cx="2926080" cy="384048"/>
          </a:xfrm>
          <a:prstGeom prst="rect">
            <a:avLst/>
          </a:prstGeom>
          <a:noFill/>
          <a:ln/>
        </p:spPr>
        <p:txBody>
          <a:bodyPr wrap="square" lIns="0" tIns="0" rIns="0" bIns="0" rtlCol="0" anchor="ctr"/>
          <a:lstStyle/>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施工管理アプリを使っている、またはDX担当がいる</a:t>
            </a:r>
            <a:endParaRPr lang="en-US" sz="900" dirty="0"/>
          </a:p>
        </p:txBody>
      </p:sp>
      <p:sp>
        <p:nvSpPr>
          <p:cNvPr id="21" name="Text 18"/>
          <p:cNvSpPr txBox="1"/>
          <p:nvPr/>
        </p:nvSpPr>
        <p:spPr>
          <a:xfrm>
            <a:off x="365760" y="3172968"/>
            <a:ext cx="4069080" cy="274320"/>
          </a:xfrm>
          <a:prstGeom prst="rect">
            <a:avLst/>
          </a:prstGeom>
          <a:noFill/>
          <a:ln/>
        </p:spPr>
        <p:txBody>
          <a:bodyPr wrap="square" lIns="0" tIns="0" rIns="0" bIns="0" rtlCol="0" anchor="t"/>
          <a:lstStyle/>
          <a:p>
            <a:pPr algn="l" indent="0" marL="0">
              <a:lnSpc>
                <a:spcPct val="115000"/>
              </a:lnSpc>
              <a:buNone/>
            </a:pPr>
            <a:r>
              <a:rPr lang="en-US" sz="900" dirty="0">
                <a:solidFill>
                  <a:srgbClr val="4A5563"/>
                </a:solidFill>
                <a:latin typeface="BIZ UDPGothic" pitchFamily="34" charset="0"/>
                <a:ea typeface="BIZ UDPGothic" pitchFamily="34" charset="-122"/>
                <a:cs typeface="BIZ UDPGothic" pitchFamily="34" charset="-120"/>
              </a:rPr>
              <a:t>決裁は社長・工事部長、使うのは職長と施工管理者、推進はDX担当</a:t>
            </a:r>
            <a:endParaRPr lang="en-US" sz="900" dirty="0"/>
          </a:p>
        </p:txBody>
      </p:sp>
      <p:sp>
        <p:nvSpPr>
          <p:cNvPr id="22" name="Text 19"/>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5年間の積み上げ（仮説）</a:t>
            </a:r>
            <a:endParaRPr lang="en-US" sz="1050" dirty="0"/>
          </a:p>
        </p:txBody>
      </p:sp>
      <p:graphicFrame>
        <p:nvGraphicFramePr>
          <p:cNvPr id="26" name="funnel"/>
          <p:cNvGraphicFramePr>
            <a:graphicFrameLocks noGrp="1"/>
          </p:cNvGraphicFramePr>
          <p:nvPr>
            <p:extLst>
              <p:ext uri="{D42A27DB-BD31-4B8C-83A1-F6EECF244321}">
                <p14:modId xmlns:p14="http://schemas.microsoft.com/office/powerpoint/2010/main" val="1579011935"/>
              </p:ext>
            </p:extLst>
          </p:nvPr>
        </p:nvGraphicFramePr>
        <p:xfrm>
          <a:off x="4709160" y="1298448"/>
          <a:ext cx="4069080" cy="914400"/>
        </p:xfrm>
        <a:graphic>
          <a:graphicData uri="http://schemas.openxmlformats.org/drawingml/2006/table">
            <a:tbl>
              <a:tblPr/>
              <a:tblGrid>
                <a:gridCol w="1600200"/>
                <a:gridCol w="548640"/>
                <a:gridCol w="640080"/>
                <a:gridCol w="594360"/>
                <a:gridCol w="685800"/>
              </a:tblGrid>
              <a:tr h="274320">
                <a:tc>
                  <a:txBody>
                    <a:bodyPr/>
                    <a:lstStyle/>
                    <a:p>
                      <a:pPr algn="l"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社数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会える率</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成約率</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成約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関東の中堅</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735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条件に合う（約25%）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180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60%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30%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32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それ以外</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555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35%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29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合計×1社1.3拠点＋大手5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2F6DB5"/>
                          </a:solidFill>
                          <a:latin typeface="BIZ UDPGothic" pitchFamily="34" charset="0"/>
                          <a:ea typeface="BIZ UDPGothic" pitchFamily="34" charset="-122"/>
                          <a:cs typeface="BIZ UDPGothic" pitchFamily="34" charset="-120"/>
                        </a:rPr>
                        <a:t>約85拠点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sp>
        <p:nvSpPr>
          <p:cNvPr id="24" name="Shape 20"/>
          <p:cNvSpPr/>
          <p:nvPr/>
        </p:nvSpPr>
        <p:spPr>
          <a:xfrm>
            <a:off x="4709160" y="2807208"/>
            <a:ext cx="4069080" cy="685800"/>
          </a:xfrm>
          <a:prstGeom prst="rect">
            <a:avLst/>
          </a:prstGeom>
          <a:solidFill>
            <a:srgbClr val="EAF0F6"/>
          </a:solidFill>
          <a:ln/>
        </p:spPr>
      </p:sp>
      <p:sp>
        <p:nvSpPr>
          <p:cNvPr id="25" name="Text 21"/>
          <p:cNvSpPr txBox="1"/>
          <p:nvPr/>
        </p:nvSpPr>
        <p:spPr>
          <a:xfrm>
            <a:off x="4846320" y="2807208"/>
            <a:ext cx="3794760" cy="685800"/>
          </a:xfrm>
          <a:prstGeom prst="rect">
            <a:avLst/>
          </a:prstGeom>
          <a:noFill/>
          <a:ln/>
        </p:spPr>
        <p:txBody>
          <a:bodyPr wrap="square" lIns="0" tIns="0" rIns="0" bIns="0" rtlCol="0" anchor="ctr"/>
          <a:lstStyle/>
          <a:p>
            <a:pPr algn="l" indent="0" marL="0">
              <a:lnSpc>
                <a:spcPct val="115000"/>
              </a:lnSpc>
              <a:buNone/>
            </a:pPr>
            <a:r>
              <a:rPr lang="en-US" sz="900" b="1" dirty="0">
                <a:solidFill>
                  <a:srgbClr val="2F6DB5"/>
                </a:solidFill>
                <a:latin typeface="BIZ UDPGothic" pitchFamily="34" charset="0"/>
                <a:ea typeface="BIZ UDPGothic" pitchFamily="34" charset="-122"/>
                <a:cs typeface="BIZ UDPGothic" pitchFamily="34" charset="-120"/>
              </a:rPr>
              <a:t>営業1人の量：</a:t>
            </a:r>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5年目の商談約100件÷3人＝1人月約3件。商談は4〜6か月かかるので、常に10〜15件を同時に追う</a:t>
            </a:r>
            <a:endParaRPr lang="en-US" sz="900" dirty="0"/>
          </a:p>
        </p:txBody>
      </p:sp>
      <p:sp>
        <p:nvSpPr>
          <p:cNvPr id="26" name="Shape 22"/>
          <p:cNvSpPr/>
          <p:nvPr/>
        </p:nvSpPr>
        <p:spPr>
          <a:xfrm>
            <a:off x="365760" y="3611880"/>
            <a:ext cx="8412480" cy="841248"/>
          </a:xfrm>
          <a:prstGeom prst="rect">
            <a:avLst/>
          </a:prstGeom>
          <a:solidFill>
            <a:srgbClr val="1B365D"/>
          </a:solidFill>
          <a:ln/>
        </p:spPr>
      </p:sp>
      <p:sp>
        <p:nvSpPr>
          <p:cNvPr id="27" name="Text 23"/>
          <p:cNvSpPr txBox="1"/>
          <p:nvPr/>
        </p:nvSpPr>
        <p:spPr>
          <a:xfrm>
            <a:off x="502920" y="3611880"/>
            <a:ext cx="8138160" cy="84124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F5C400"/>
                </a:solidFill>
                <a:latin typeface="BIZ UDPGothic" pitchFamily="34" charset="0"/>
                <a:ea typeface="BIZ UDPGothic" pitchFamily="34" charset="-122"/>
                <a:cs typeface="BIZ UDPGothic" pitchFamily="34" charset="-120"/>
              </a:rPr>
              <a:t>「1人が毎年4件取る」ではない：</a:t>
            </a:r>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黒字の目安「社員1人約4拠点」は、続いている拠点の累計÷全社員。新規は全社で年3→33拠点。</a:t>
            </a:r>
            <a:endParaRPr lang="en-US" sz="9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未知数なのは会える率・成約率・商談期間。最初の3社で実測し、届かなければ撤退ライン（p.22）で判断する</a:t>
            </a:r>
            <a:endParaRPr lang="en-US" sz="900" dirty="0"/>
          </a:p>
        </p:txBody>
      </p:sp>
      <p:sp>
        <p:nvSpPr>
          <p:cNvPr id="28" name="Text 24"/>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条件に合う割合・会える率・成約率・1社あたりの拠点数はすべて仮説。業界団体の名簿と経済センサスで数え直す</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市場と実証</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p.13・30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グラスの条件と実証：足りるかを実機で確かめる</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現場の条件と、候補のグラスの公表値。足りない所は記録の仕方と端末の選び方で補う</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27" name="device-spec"/>
          <p:cNvGraphicFramePr>
            <a:graphicFrameLocks noGrp="1"/>
          </p:cNvGraphicFramePr>
          <p:nvPr>
            <p:extLst>
              <p:ext uri="{D42A27DB-BD31-4B8C-83A1-F6EECF244321}">
                <p14:modId xmlns:p14="http://schemas.microsoft.com/office/powerpoint/2010/main" val="1579011935"/>
              </p:ext>
            </p:extLst>
          </p:nvPr>
        </p:nvGraphicFramePr>
        <p:xfrm>
          <a:off x="365760" y="1051560"/>
          <a:ext cx="5257800" cy="914400"/>
        </p:xfrm>
        <a:graphic>
          <a:graphicData uri="http://schemas.openxmlformats.org/drawingml/2006/table">
            <a:tbl>
              <a:tblPr/>
              <a:tblGrid>
                <a:gridCol w="960120"/>
                <a:gridCol w="1463040"/>
                <a:gridCol w="1417320"/>
                <a:gridCol w="1417320"/>
              </a:tblGrid>
              <a:tr h="265176">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現場の条件</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AIグラス（Ray-Ban Meta 第2世代）</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表示付き（Meta Ray-Ban Display）</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産業用（RealWear）</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6517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重さ</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約50g</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約69g</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約180g〜</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録画</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1回3分程度まで（報道）</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カメラあり</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長時間・4K（Arc 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開発者向けの映像</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720p・30fps（スマホ経由）</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同左</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Android（自由度が高い）</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電池</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連続撮影では短い</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約6時間（公表）</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交換式</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落下・粉じん</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一般向け</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一般向け</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IP66・2m落下（520）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保護めがね</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要確認</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要確認</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保護めがねと併用</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値段</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約8万円</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約12万円（$799）</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約37万円〜</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Shape 5"/>
          <p:cNvSpPr/>
          <p:nvPr/>
        </p:nvSpPr>
        <p:spPr>
          <a:xfrm>
            <a:off x="5806440" y="1051560"/>
            <a:ext cx="2971800" cy="2377440"/>
          </a:xfrm>
          <a:prstGeom prst="rect">
            <a:avLst/>
          </a:prstGeom>
          <a:solidFill>
            <a:srgbClr val="EAF0F6"/>
          </a:solidFill>
          <a:ln/>
        </p:spPr>
      </p:sp>
      <p:sp>
        <p:nvSpPr>
          <p:cNvPr id="10" name="Text 6"/>
          <p:cNvSpPr txBox="1"/>
          <p:nvPr/>
        </p:nvSpPr>
        <p:spPr>
          <a:xfrm>
            <a:off x="5943600" y="1097280"/>
            <a:ext cx="2697480" cy="2286000"/>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2F6DB5"/>
                </a:solidFill>
                <a:latin typeface="BIZ UDPGothic" pitchFamily="34" charset="0"/>
                <a:ea typeface="BIZ UDPGothic" pitchFamily="34" charset="-122"/>
                <a:cs typeface="BIZ UDPGothic" pitchFamily="34" charset="-120"/>
              </a:rPr>
              <a:t>実証（準備期の3か月）</a:t>
            </a:r>
            <a:endParaRPr lang="en-US" sz="900" dirty="0"/>
          </a:p>
          <a:p>
            <a:pPr algn="l" indent="0" marL="0">
              <a:lnSpc>
                <a:spcPct val="115000"/>
              </a:lnSpc>
              <a:spcAft>
                <a:spcPts val="200"/>
              </a:spcAft>
              <a:buNone/>
            </a:pPr>
            <a:r>
              <a:rPr lang="en-US" sz="900" dirty="0">
                <a:solidFill>
                  <a:srgbClr val="1F2933"/>
                </a:solidFill>
                <a:latin typeface="BIZ UDPGothic" pitchFamily="34" charset="0"/>
                <a:ea typeface="BIZ UDPGothic" pitchFamily="34" charset="-122"/>
                <a:cs typeface="BIZ UDPGothic" pitchFamily="34" charset="-120"/>
              </a:rPr>
              <a:t>グラスで1日記録できるかも測る</a:t>
            </a:r>
            <a:endParaRPr lang="en-US" sz="900" dirty="0"/>
          </a:p>
          <a:p>
            <a:pPr algn="l" indent="0" marL="0">
              <a:lnSpc>
                <a:spcPct val="115000"/>
              </a:lnSpc>
              <a:spcAft>
                <a:spcPts val="200"/>
              </a:spcAft>
              <a:buNone/>
            </a:pPr>
            <a:r>
              <a:rPr lang="en-US" sz="900" dirty="0">
                <a:solidFill>
                  <a:srgbClr val="1F2933"/>
                </a:solidFill>
                <a:latin typeface="BIZ UDPGothic" pitchFamily="34" charset="0"/>
                <a:ea typeface="BIZ UDPGothic" pitchFamily="34" charset="-122"/>
                <a:cs typeface="BIZ UDPGothic" pitchFamily="34" charset="-120"/>
              </a:rPr>
              <a:t>対象：1拠点・2〜3班</a:t>
            </a:r>
            <a:endParaRPr lang="en-US" sz="900" dirty="0"/>
          </a:p>
          <a:p>
            <a:pPr algn="l" indent="0" marL="0">
              <a:lnSpc>
                <a:spcPct val="115000"/>
              </a:lnSpc>
              <a:spcAft>
                <a:spcPts val="200"/>
              </a:spcAft>
              <a:buNone/>
            </a:pPr>
            <a:r>
              <a:rPr lang="en-US" sz="900" dirty="0">
                <a:solidFill>
                  <a:srgbClr val="1F2933"/>
                </a:solidFill>
                <a:latin typeface="BIZ UDPGothic" pitchFamily="34" charset="0"/>
                <a:ea typeface="BIZ UDPGothic" pitchFamily="34" charset="-122"/>
                <a:cs typeface="BIZ UDPGothic" pitchFamily="34" charset="-120"/>
              </a:rPr>
              <a:t>導入前2週間と導入後4週間を比べる</a:t>
            </a:r>
            <a:endParaRPr lang="en-US" sz="900" dirty="0"/>
          </a:p>
          <a:p>
            <a:pPr algn="l" indent="0" marL="0">
              <a:lnSpc>
                <a:spcPct val="115000"/>
              </a:lnSpc>
              <a:spcAft>
                <a:spcPts val="200"/>
              </a:spcAft>
              <a:buNone/>
            </a:pPr>
            <a:r>
              <a:rPr lang="en-US" sz="900" b="1" dirty="0">
                <a:solidFill>
                  <a:srgbClr val="1F2933"/>
                </a:solidFill>
                <a:latin typeface="BIZ UDPGothic" pitchFamily="34" charset="0"/>
                <a:ea typeface="BIZ UDPGothic" pitchFamily="34" charset="-122"/>
                <a:cs typeface="BIZ UDPGothic" pitchFamily="34" charset="-120"/>
              </a:rPr>
              <a:t>測る数字</a:t>
            </a:r>
            <a:endParaRPr lang="en-US" sz="900" dirty="0"/>
          </a:p>
          <a:p>
            <a:pPr algn="l" indent="0" marL="0">
              <a:lnSpc>
                <a:spcPct val="115000"/>
              </a:lnSpc>
              <a:spcAft>
                <a:spcPts val="200"/>
              </a:spcAft>
              <a:buNone/>
            </a:pPr>
            <a:r>
              <a:rPr lang="en-US" sz="900" dirty="0">
                <a:solidFill>
                  <a:srgbClr val="1F2933"/>
                </a:solidFill>
                <a:latin typeface="BIZ UDPGothic" pitchFamily="34" charset="0"/>
                <a:ea typeface="BIZ UDPGothic" pitchFamily="34" charset="-122"/>
                <a:cs typeface="BIZ UDPGothic" pitchFamily="34" charset="-120"/>
              </a:rPr>
              <a:t>① 1台1日の削減時間（合格 23分以上）</a:t>
            </a:r>
            <a:endParaRPr lang="en-US" sz="900" dirty="0"/>
          </a:p>
          <a:p>
            <a:pPr algn="l" indent="0" marL="0">
              <a:lnSpc>
                <a:spcPct val="115000"/>
              </a:lnSpc>
              <a:spcAft>
                <a:spcPts val="200"/>
              </a:spcAft>
              <a:buNone/>
            </a:pPr>
            <a:r>
              <a:rPr lang="en-US" sz="900" dirty="0">
                <a:solidFill>
                  <a:srgbClr val="1F2933"/>
                </a:solidFill>
                <a:latin typeface="BIZ UDPGothic" pitchFamily="34" charset="0"/>
                <a:ea typeface="BIZ UDPGothic" pitchFamily="34" charset="-122"/>
                <a:cs typeface="BIZ UDPGothic" pitchFamily="34" charset="-120"/>
              </a:rPr>
              <a:t>② 手戻り・施工ミスの件数</a:t>
            </a:r>
            <a:endParaRPr lang="en-US" sz="900" dirty="0"/>
          </a:p>
          <a:p>
            <a:pPr algn="l" indent="0" marL="0">
              <a:lnSpc>
                <a:spcPct val="115000"/>
              </a:lnSpc>
              <a:spcAft>
                <a:spcPts val="200"/>
              </a:spcAft>
              <a:buNone/>
            </a:pPr>
            <a:r>
              <a:rPr lang="en-US" sz="900" dirty="0">
                <a:solidFill>
                  <a:srgbClr val="1F2933"/>
                </a:solidFill>
                <a:latin typeface="BIZ UDPGothic" pitchFamily="34" charset="0"/>
                <a:ea typeface="BIZ UDPGothic" pitchFamily="34" charset="-122"/>
                <a:cs typeface="BIZ UDPGothic" pitchFamily="34" charset="-120"/>
              </a:rPr>
              <a:t>③ 1台あたりのAI・保存の実費</a:t>
            </a:r>
            <a:endParaRPr lang="en-US" sz="900" dirty="0"/>
          </a:p>
          <a:p>
            <a:pPr algn="l" indent="0" marL="0">
              <a:lnSpc>
                <a:spcPct val="115000"/>
              </a:lnSpc>
              <a:spcAft>
                <a:spcPts val="200"/>
              </a:spcAft>
              <a:buNone/>
            </a:pPr>
            <a:r>
              <a:rPr lang="en-US" sz="900" dirty="0">
                <a:solidFill>
                  <a:srgbClr val="1F2933"/>
                </a:solidFill>
                <a:latin typeface="BIZ UDPGothic" pitchFamily="34" charset="0"/>
                <a:ea typeface="BIZ UDPGothic" pitchFamily="34" charset="-122"/>
                <a:cs typeface="BIZ UDPGothic" pitchFamily="34" charset="-120"/>
              </a:rPr>
              <a:t>④ 新人が独り立ちするまでの期間</a:t>
            </a:r>
            <a:endParaRPr lang="en-US" sz="900" dirty="0"/>
          </a:p>
        </p:txBody>
      </p:sp>
      <p:sp>
        <p:nvSpPr>
          <p:cNvPr id="11" name="Shape 7"/>
          <p:cNvSpPr/>
          <p:nvPr/>
        </p:nvSpPr>
        <p:spPr>
          <a:xfrm>
            <a:off x="365760" y="3657600"/>
            <a:ext cx="8412480" cy="777240"/>
          </a:xfrm>
          <a:prstGeom prst="rect">
            <a:avLst/>
          </a:prstGeom>
          <a:solidFill>
            <a:srgbClr val="1B365D"/>
          </a:solidFill>
          <a:ln/>
        </p:spPr>
      </p:sp>
      <p:sp>
        <p:nvSpPr>
          <p:cNvPr id="12" name="Text 8"/>
          <p:cNvSpPr txBox="1"/>
          <p:nvPr/>
        </p:nvSpPr>
        <p:spPr>
          <a:xfrm>
            <a:off x="502920" y="3657600"/>
            <a:ext cx="8138160" cy="777240"/>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F5C400"/>
                </a:solidFill>
                <a:latin typeface="BIZ UDPGothic" pitchFamily="34" charset="0"/>
                <a:ea typeface="BIZ UDPGothic" pitchFamily="34" charset="-122"/>
                <a:cs typeface="BIZ UDPGothic" pitchFamily="34" charset="-120"/>
              </a:rPr>
              <a:t>聞かれたら：</a:t>
            </a:r>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「グラスは作りません。標準は普段使いのAIグラスで、要所だけを記録します。厳しい現場は産業用も選べます。端末が進化したら乗り換えます」</a:t>
            </a:r>
            <a:endParaRPr lang="en-US" sz="900" dirty="0"/>
          </a:p>
          <a:p>
            <a:pPr algn="l" indent="0" marL="0">
              <a:lnSpc>
                <a:spcPct val="115000"/>
              </a:lnSpc>
              <a:spcAft>
                <a:spcPts val="200"/>
              </a:spcAft>
              <a:buNone/>
            </a:pPr>
            <a:r>
              <a:rPr lang="en-US" sz="900" b="1" dirty="0">
                <a:solidFill>
                  <a:srgbClr val="F5C400"/>
                </a:solidFill>
                <a:latin typeface="BIZ UDPGothic" pitchFamily="34" charset="0"/>
                <a:ea typeface="BIZ UDPGothic" pitchFamily="34" charset="-122"/>
                <a:cs typeface="BIZ UDPGothic" pitchFamily="34" charset="-120"/>
              </a:rPr>
              <a:t>手元ARの初期コスト：</a:t>
            </a:r>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組立図の3D化が必要。工種ごとのオプション（初期50万円）にして、1種類から始める</a:t>
            </a:r>
            <a:endParaRPr lang="en-US" sz="900" dirty="0"/>
          </a:p>
        </p:txBody>
      </p:sp>
      <p:sp>
        <p:nvSpPr>
          <p:cNvPr id="13" name="Text 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公表値・報道（2024〜2025年）。国内の正規販売・技適・保護めがねの規格・開発キットの国内提供は要確認</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市場と実証</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p.21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データ基盤の中身：会社ごとに1つ、月5万円で何を持つか</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基盤は「会社の記録の置き場」と「各社の型」。原価は月1万円、残りは設定と運用の人の時間で回収する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28" name="platform"/>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1463040"/>
                <a:gridCol w="5029200"/>
                <a:gridCol w="1920240"/>
              </a:tblGrid>
              <a:tr h="283464">
                <a:tc>
                  <a:txBody>
                    <a:bodyPr/>
                    <a:lstStyle/>
                    <a:p>
                      <a:pPr algn="l"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中身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誰が作る・整える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 記録の保管庫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動画クリップ・音声・写真・日報を現場と工種ごとに保存（3年）</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自動</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2 図面と手順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図面・施工要領・チェックリストを登録し、照合に使う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導入コンサルタント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3 報告書の型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各社の写真台帳・日報・検査帳票の書式（AIの出力をこの形に整える）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導入コンサルタント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4 工種の型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電気工事の工種ごとの手順と、大事な場面の定義（業界共通）</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現場監修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5 権限と同意</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誰が何を見られるか、記録の本人同意、削除の依頼</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自動＋管理画面</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6 管理画面</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台ごとの利用時間・解析した場面の数・粗利の目安</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自動</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7 効果レポート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毎月「何分減ったか」を班ごとに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自動＋コンサルが説明</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8 連携の口</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施工管理アプリ・基幹システムへの出力（標準の形式）</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エンジニア</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Shape 5"/>
          <p:cNvSpPr/>
          <p:nvPr/>
        </p:nvSpPr>
        <p:spPr>
          <a:xfrm>
            <a:off x="365760" y="3657600"/>
            <a:ext cx="8412480" cy="795528"/>
          </a:xfrm>
          <a:prstGeom prst="rect">
            <a:avLst/>
          </a:prstGeom>
          <a:solidFill>
            <a:srgbClr val="1B365D"/>
          </a:solidFill>
          <a:ln/>
        </p:spPr>
      </p:sp>
      <p:sp>
        <p:nvSpPr>
          <p:cNvPr id="10" name="Text 6"/>
          <p:cNvSpPr txBox="1"/>
          <p:nvPr/>
        </p:nvSpPr>
        <p:spPr>
          <a:xfrm>
            <a:off x="502920" y="3657600"/>
            <a:ext cx="8138160" cy="79552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F5C400"/>
                </a:solidFill>
                <a:latin typeface="BIZ UDPGothic" pitchFamily="34" charset="0"/>
                <a:ea typeface="BIZ UDPGothic" pitchFamily="34" charset="-122"/>
                <a:cs typeface="BIZ UDPGothic" pitchFamily="34" charset="-120"/>
              </a:rPr>
              <a:t>原価と値段：</a:t>
            </a:r>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基盤の原価は月1万円（年12万円：保管・データベース・監視）。値段は月5万円で、差の月4万円が設定・定着支援の人の時間と開発を回収する。</a:t>
            </a:r>
            <a:endParaRPr lang="en-US" sz="9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3と4は外部に委託せず社内で作る。各社の型が増えるほど、次のお客様の設定が速くなる（知見が貯まる）</a:t>
            </a:r>
            <a:endParaRPr lang="en-US" sz="900" dirty="0"/>
          </a:p>
        </p:txBody>
      </p:sp>
      <p:sp>
        <p:nvSpPr>
          <p:cNvPr id="11" name="Text 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保存期間・解析の上限は実証で決める。報告書の書式を整える工程は利用料に含み、個社の基幹連携だけを有償の個社設定にする（p.15）</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市場と実証</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p.11・30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場面の選び方とAIの学習：全部は送らず、3段階で賢くする</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録画は端末に全部残す。クラウドで解析するのは選んだ場面だけ。選び方を段階的に自社のAIへ置き換える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sp>
        <p:nvSpPr>
          <p:cNvPr id="8" name="Shape 5"/>
          <p:cNvSpPr/>
          <p:nvPr/>
        </p:nvSpPr>
        <p:spPr>
          <a:xfrm>
            <a:off x="365760" y="1024128"/>
            <a:ext cx="2724912" cy="475488"/>
          </a:xfrm>
          <a:prstGeom prst="rect">
            <a:avLst/>
          </a:prstGeom>
          <a:solidFill>
            <a:srgbClr val="1B365D"/>
          </a:solidFill>
          <a:ln/>
        </p:spPr>
      </p:sp>
      <p:sp>
        <p:nvSpPr>
          <p:cNvPr id="9" name="Text 6"/>
          <p:cNvSpPr txBox="1"/>
          <p:nvPr/>
        </p:nvSpPr>
        <p:spPr>
          <a:xfrm>
            <a:off x="457200" y="1024128"/>
            <a:ext cx="2542032" cy="475488"/>
          </a:xfrm>
          <a:prstGeom prst="rect">
            <a:avLst/>
          </a:prstGeom>
          <a:noFill/>
          <a:ln/>
        </p:spPr>
        <p:txBody>
          <a:bodyPr wrap="square" lIns="0" tIns="0" rIns="0" bIns="0" rtlCol="0" anchor="ctr"/>
          <a:lstStyle/>
          <a:p>
            <a:pPr algn="l"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1 決まりで選ぶ</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　準備期〜1年目</a:t>
            </a:r>
            <a:endParaRPr lang="en-US" sz="1100" dirty="0"/>
          </a:p>
        </p:txBody>
      </p:sp>
      <p:sp>
        <p:nvSpPr>
          <p:cNvPr id="10" name="Shape 7"/>
          <p:cNvSpPr/>
          <p:nvPr/>
        </p:nvSpPr>
        <p:spPr>
          <a:xfrm>
            <a:off x="365760" y="1536192"/>
            <a:ext cx="2724912" cy="960120"/>
          </a:xfrm>
          <a:prstGeom prst="rect">
            <a:avLst/>
          </a:prstGeom>
          <a:solidFill>
            <a:srgbClr val="EAF0F6"/>
          </a:solidFill>
          <a:ln/>
        </p:spPr>
      </p:sp>
      <p:sp>
        <p:nvSpPr>
          <p:cNvPr id="11" name="Text 8"/>
          <p:cNvSpPr txBox="1"/>
          <p:nvPr/>
        </p:nvSpPr>
        <p:spPr>
          <a:xfrm>
            <a:off x="457200" y="1554480"/>
            <a:ext cx="2542032" cy="914400"/>
          </a:xfrm>
          <a:prstGeom prst="rect">
            <a:avLst/>
          </a:prstGeom>
          <a:noFill/>
          <a:ln/>
        </p:spPr>
        <p:txBody>
          <a:bodyPr wrap="square" lIns="0" tIns="0" rIns="0" bIns="0" rtlCol="0" anchor="ctr"/>
          <a:lstStyle/>
          <a:p>
            <a:pPr algn="l" indent="0" marL="0">
              <a:lnSpc>
                <a:spcPct val="115000"/>
              </a:lnSpc>
              <a:spcAft>
                <a:spcPts val="300"/>
              </a:spcAft>
              <a:buNone/>
            </a:pPr>
            <a:r>
              <a:rPr lang="en-US" sz="850" dirty="0">
                <a:solidFill>
                  <a:srgbClr val="1F2933"/>
                </a:solidFill>
                <a:latin typeface="BIZ UDPGothic" pitchFamily="34" charset="0"/>
                <a:ea typeface="BIZ UDPGothic" pitchFamily="34" charset="-122"/>
                <a:cs typeface="BIZ UDPGothic" pitchFamily="34" charset="-120"/>
              </a:rPr>
              <a:t>作業の区切り・「ここ撮って」の声・検査の前後など、決まりで切り出す</a:t>
            </a:r>
            <a:endParaRPr lang="en-US" sz="850" dirty="0"/>
          </a:p>
          <a:p>
            <a:pPr algn="l" indent="0" marL="0">
              <a:lnSpc>
                <a:spcPct val="115000"/>
              </a:lnSpc>
              <a:spcAft>
                <a:spcPts val="300"/>
              </a:spcAft>
              <a:buNone/>
            </a:pPr>
            <a:r>
              <a:rPr lang="en-US" sz="800" dirty="0">
                <a:solidFill>
                  <a:srgbClr val="4A5563"/>
                </a:solidFill>
                <a:latin typeface="BIZ UDPGothic" pitchFamily="34" charset="0"/>
                <a:ea typeface="BIZ UDPGothic" pitchFamily="34" charset="-122"/>
                <a:cs typeface="BIZ UDPGothic" pitchFamily="34" charset="-120"/>
              </a:rPr>
              <a:t>原価が読める。取りこぼしがある</a:t>
            </a:r>
            <a:endParaRPr lang="en-US" sz="850" dirty="0"/>
          </a:p>
        </p:txBody>
      </p:sp>
      <p:sp>
        <p:nvSpPr>
          <p:cNvPr id="12" name="Shape 9"/>
          <p:cNvSpPr/>
          <p:nvPr/>
        </p:nvSpPr>
        <p:spPr>
          <a:xfrm>
            <a:off x="3090672" y="1261872"/>
            <a:ext cx="91440" cy="0"/>
          </a:xfrm>
          <a:prstGeom prst="line">
            <a:avLst/>
          </a:prstGeom>
          <a:noFill/>
          <a:ln w="25400">
            <a:solidFill>
              <a:srgbClr val="2F6DB5"/>
            </a:solidFill>
            <a:prstDash val="solid"/>
            <a:tailEnd type="triangle"/>
          </a:ln>
        </p:spPr>
      </p:sp>
      <p:sp>
        <p:nvSpPr>
          <p:cNvPr id="13" name="Shape 10"/>
          <p:cNvSpPr/>
          <p:nvPr/>
        </p:nvSpPr>
        <p:spPr>
          <a:xfrm>
            <a:off x="3182112" y="1024128"/>
            <a:ext cx="2724912" cy="475488"/>
          </a:xfrm>
          <a:prstGeom prst="rect">
            <a:avLst/>
          </a:prstGeom>
          <a:solidFill>
            <a:srgbClr val="1B365D"/>
          </a:solidFill>
          <a:ln/>
        </p:spPr>
      </p:sp>
      <p:sp>
        <p:nvSpPr>
          <p:cNvPr id="14" name="Text 11"/>
          <p:cNvSpPr txBox="1"/>
          <p:nvPr/>
        </p:nvSpPr>
        <p:spPr>
          <a:xfrm>
            <a:off x="3273552" y="1024128"/>
            <a:ext cx="2542032" cy="475488"/>
          </a:xfrm>
          <a:prstGeom prst="rect">
            <a:avLst/>
          </a:prstGeom>
          <a:noFill/>
          <a:ln/>
        </p:spPr>
        <p:txBody>
          <a:bodyPr wrap="square" lIns="0" tIns="0" rIns="0" bIns="0" rtlCol="0" anchor="ctr"/>
          <a:lstStyle/>
          <a:p>
            <a:pPr algn="l"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2 汎用のAIで選ぶ</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　1〜2年目</a:t>
            </a:r>
            <a:endParaRPr lang="en-US" sz="1100" dirty="0"/>
          </a:p>
        </p:txBody>
      </p:sp>
      <p:sp>
        <p:nvSpPr>
          <p:cNvPr id="15" name="Shape 12"/>
          <p:cNvSpPr/>
          <p:nvPr/>
        </p:nvSpPr>
        <p:spPr>
          <a:xfrm>
            <a:off x="3182112" y="1536192"/>
            <a:ext cx="2724912" cy="960120"/>
          </a:xfrm>
          <a:prstGeom prst="rect">
            <a:avLst/>
          </a:prstGeom>
          <a:solidFill>
            <a:srgbClr val="EAF0F6"/>
          </a:solidFill>
          <a:ln/>
        </p:spPr>
      </p:sp>
      <p:sp>
        <p:nvSpPr>
          <p:cNvPr id="16" name="Text 13"/>
          <p:cNvSpPr txBox="1"/>
          <p:nvPr/>
        </p:nvSpPr>
        <p:spPr>
          <a:xfrm>
            <a:off x="3273552" y="1554480"/>
            <a:ext cx="2542032" cy="914400"/>
          </a:xfrm>
          <a:prstGeom prst="rect">
            <a:avLst/>
          </a:prstGeom>
          <a:noFill/>
          <a:ln/>
        </p:spPr>
        <p:txBody>
          <a:bodyPr wrap="square" lIns="0" tIns="0" rIns="0" bIns="0" rtlCol="0" anchor="ctr"/>
          <a:lstStyle/>
          <a:p>
            <a:pPr algn="l" indent="0" marL="0">
              <a:lnSpc>
                <a:spcPct val="115000"/>
              </a:lnSpc>
              <a:spcAft>
                <a:spcPts val="300"/>
              </a:spcAft>
              <a:buNone/>
            </a:pPr>
            <a:r>
              <a:rPr lang="en-US" sz="850" dirty="0">
                <a:solidFill>
                  <a:srgbClr val="1F2933"/>
                </a:solidFill>
                <a:latin typeface="BIZ UDPGothic" pitchFamily="34" charset="0"/>
                <a:ea typeface="BIZ UDPGothic" pitchFamily="34" charset="-122"/>
                <a:cs typeface="BIZ UDPGothic" pitchFamily="34" charset="-120"/>
              </a:rPr>
              <a:t>Claudeなどの汎用AIに、文字起こしと間引いた静止画を渡して「大事な場面か」を判定</a:t>
            </a:r>
            <a:endParaRPr lang="en-US" sz="850" dirty="0"/>
          </a:p>
          <a:p>
            <a:pPr algn="l" indent="0" marL="0">
              <a:lnSpc>
                <a:spcPct val="115000"/>
              </a:lnSpc>
              <a:spcAft>
                <a:spcPts val="300"/>
              </a:spcAft>
              <a:buNone/>
            </a:pPr>
            <a:r>
              <a:rPr lang="en-US" sz="800" dirty="0">
                <a:solidFill>
                  <a:srgbClr val="4A5563"/>
                </a:solidFill>
                <a:latin typeface="BIZ UDPGothic" pitchFamily="34" charset="0"/>
                <a:ea typeface="BIZ UDPGothic" pitchFamily="34" charset="-122"/>
                <a:cs typeface="BIZ UDPGothic" pitchFamily="34" charset="-120"/>
              </a:rPr>
              <a:t>賢いが、1件ごとに費用がかかる</a:t>
            </a:r>
            <a:endParaRPr lang="en-US" sz="850" dirty="0"/>
          </a:p>
        </p:txBody>
      </p:sp>
      <p:sp>
        <p:nvSpPr>
          <p:cNvPr id="17" name="Shape 14"/>
          <p:cNvSpPr/>
          <p:nvPr/>
        </p:nvSpPr>
        <p:spPr>
          <a:xfrm>
            <a:off x="5907024" y="1261872"/>
            <a:ext cx="91440" cy="0"/>
          </a:xfrm>
          <a:prstGeom prst="line">
            <a:avLst/>
          </a:prstGeom>
          <a:noFill/>
          <a:ln w="25400">
            <a:solidFill>
              <a:srgbClr val="2F6DB5"/>
            </a:solidFill>
            <a:prstDash val="solid"/>
            <a:tailEnd type="triangle"/>
          </a:ln>
        </p:spPr>
      </p:sp>
      <p:sp>
        <p:nvSpPr>
          <p:cNvPr id="18" name="Shape 15"/>
          <p:cNvSpPr/>
          <p:nvPr/>
        </p:nvSpPr>
        <p:spPr>
          <a:xfrm>
            <a:off x="5998464" y="1024128"/>
            <a:ext cx="2724912" cy="475488"/>
          </a:xfrm>
          <a:prstGeom prst="rect">
            <a:avLst/>
          </a:prstGeom>
          <a:solidFill>
            <a:srgbClr val="2F6DB5"/>
          </a:solidFill>
          <a:ln/>
        </p:spPr>
      </p:sp>
      <p:sp>
        <p:nvSpPr>
          <p:cNvPr id="19" name="Text 16"/>
          <p:cNvSpPr txBox="1"/>
          <p:nvPr/>
        </p:nvSpPr>
        <p:spPr>
          <a:xfrm>
            <a:off x="6089904" y="1024128"/>
            <a:ext cx="2542032" cy="475488"/>
          </a:xfrm>
          <a:prstGeom prst="rect">
            <a:avLst/>
          </a:prstGeom>
          <a:noFill/>
          <a:ln/>
        </p:spPr>
        <p:txBody>
          <a:bodyPr wrap="square" lIns="0" tIns="0" rIns="0" bIns="0" rtlCol="0" anchor="ctr"/>
          <a:lstStyle/>
          <a:p>
            <a:pPr algn="l"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3 自社のAIで選ぶ</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　3年目〜</a:t>
            </a:r>
            <a:endParaRPr lang="en-US" sz="1100" dirty="0"/>
          </a:p>
        </p:txBody>
      </p:sp>
      <p:sp>
        <p:nvSpPr>
          <p:cNvPr id="20" name="Shape 17"/>
          <p:cNvSpPr/>
          <p:nvPr/>
        </p:nvSpPr>
        <p:spPr>
          <a:xfrm>
            <a:off x="5998464" y="1536192"/>
            <a:ext cx="2724912" cy="960120"/>
          </a:xfrm>
          <a:prstGeom prst="rect">
            <a:avLst/>
          </a:prstGeom>
          <a:solidFill>
            <a:srgbClr val="EAF0F6"/>
          </a:solidFill>
          <a:ln/>
        </p:spPr>
      </p:sp>
      <p:sp>
        <p:nvSpPr>
          <p:cNvPr id="21" name="Text 18"/>
          <p:cNvSpPr txBox="1"/>
          <p:nvPr/>
        </p:nvSpPr>
        <p:spPr>
          <a:xfrm>
            <a:off x="6089904" y="1554480"/>
            <a:ext cx="2542032" cy="914400"/>
          </a:xfrm>
          <a:prstGeom prst="rect">
            <a:avLst/>
          </a:prstGeom>
          <a:noFill/>
          <a:ln/>
        </p:spPr>
        <p:txBody>
          <a:bodyPr wrap="square" lIns="0" tIns="0" rIns="0" bIns="0" rtlCol="0" anchor="ctr"/>
          <a:lstStyle/>
          <a:p>
            <a:pPr algn="l" indent="0" marL="0">
              <a:lnSpc>
                <a:spcPct val="115000"/>
              </a:lnSpc>
              <a:spcAft>
                <a:spcPts val="300"/>
              </a:spcAft>
              <a:buNone/>
            </a:pPr>
            <a:r>
              <a:rPr lang="en-US" sz="850" dirty="0">
                <a:solidFill>
                  <a:srgbClr val="1F2933"/>
                </a:solidFill>
                <a:latin typeface="BIZ UDPGothic" pitchFamily="34" charset="0"/>
                <a:ea typeface="BIZ UDPGothic" pitchFamily="34" charset="-122"/>
                <a:cs typeface="BIZ UDPGothic" pitchFamily="34" charset="-120"/>
              </a:rPr>
              <a:t>現場監修が付けた「大事／不要」の印で、自社の小さな判定AIを学習させる</a:t>
            </a:r>
            <a:endParaRPr lang="en-US" sz="850" dirty="0"/>
          </a:p>
          <a:p>
            <a:pPr algn="l" indent="0" marL="0">
              <a:lnSpc>
                <a:spcPct val="115000"/>
              </a:lnSpc>
              <a:spcAft>
                <a:spcPts val="300"/>
              </a:spcAft>
              <a:buNone/>
            </a:pPr>
            <a:r>
              <a:rPr lang="en-US" sz="800" dirty="0">
                <a:solidFill>
                  <a:srgbClr val="4A5563"/>
                </a:solidFill>
                <a:latin typeface="BIZ UDPGothic" pitchFamily="34" charset="0"/>
                <a:ea typeface="BIZ UDPGothic" pitchFamily="34" charset="-122"/>
                <a:cs typeface="BIZ UDPGothic" pitchFamily="34" charset="-120"/>
              </a:rPr>
              <a:t>安く速い。真似されにくさの源</a:t>
            </a:r>
            <a:endParaRPr lang="en-US" sz="850" dirty="0"/>
          </a:p>
        </p:txBody>
      </p:sp>
      <p:graphicFrame>
        <p:nvGraphicFramePr>
          <p:cNvPr id="29" name="label"/>
          <p:cNvGraphicFramePr>
            <a:graphicFrameLocks noGrp="1"/>
          </p:cNvGraphicFramePr>
          <p:nvPr>
            <p:extLst>
              <p:ext uri="{D42A27DB-BD31-4B8C-83A1-F6EECF244321}">
                <p14:modId xmlns:p14="http://schemas.microsoft.com/office/powerpoint/2010/main" val="1579011935"/>
              </p:ext>
            </p:extLst>
          </p:nvPr>
        </p:nvGraphicFramePr>
        <p:xfrm>
          <a:off x="365760" y="2624328"/>
          <a:ext cx="5120640" cy="914400"/>
        </p:xfrm>
        <a:graphic>
          <a:graphicData uri="http://schemas.openxmlformats.org/drawingml/2006/table">
            <a:tbl>
              <a:tblPr/>
              <a:tblGrid>
                <a:gridCol w="1463040"/>
                <a:gridCol w="2194560"/>
                <a:gridCol w="1463040"/>
              </a:tblGrid>
              <a:tr h="228600">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ラベル付け（印付け）の手間</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式</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量</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送られる場面</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1台1日4時間の作業から約20場面</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1拠点 月約4,000場面</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人が印を付ける割合</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AIが迷った場面だけ・約5%</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1拠点 月約200場面</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1場面あたり</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約45秒（見る・印を付ける）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1拠点 月約2.5時間</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b="1" dirty="0">
                          <a:solidFill>
                            <a:srgbClr val="1F2933"/>
                          </a:solidFill>
                          <a:latin typeface="BIZ UDPGothic" pitchFamily="34" charset="0"/>
                          <a:ea typeface="BIZ UDPGothic" pitchFamily="34" charset="-122"/>
                          <a:cs typeface="BIZ UDPGothic" pitchFamily="34" charset="-120"/>
                        </a:rPr>
                        <a:t>5年目（81拠点）</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l" indent="0" marL="0">
                        <a:buNone/>
                      </a:pPr>
                      <a:r>
                        <a:rPr lang="en-US" sz="800" b="1" dirty="0">
                          <a:solidFill>
                            <a:srgbClr val="1F2933"/>
                          </a:solidFill>
                          <a:latin typeface="BIZ UDPGothic" pitchFamily="34" charset="0"/>
                          <a:ea typeface="BIZ UDPGothic" pitchFamily="34" charset="-122"/>
                          <a:cs typeface="BIZ UDPGothic" pitchFamily="34" charset="-120"/>
                        </a:rPr>
                        <a:t>81拠点×月2.5時間×12か月</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l" indent="0" marL="0">
                        <a:buNone/>
                      </a:pPr>
                      <a:r>
                        <a:rPr lang="en-US" sz="800" b="1" dirty="0">
                          <a:solidFill>
                            <a:srgbClr val="2F6DB5"/>
                          </a:solidFill>
                          <a:latin typeface="BIZ UDPGothic" pitchFamily="34" charset="0"/>
                          <a:ea typeface="BIZ UDPGothic" pitchFamily="34" charset="-122"/>
                          <a:cs typeface="BIZ UDPGothic" pitchFamily="34" charset="-120"/>
                        </a:rPr>
                        <a:t>年約2,400時間＝約1.3人分</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sp>
        <p:nvSpPr>
          <p:cNvPr id="23" name="Shape 19"/>
          <p:cNvSpPr/>
          <p:nvPr/>
        </p:nvSpPr>
        <p:spPr>
          <a:xfrm>
            <a:off x="5623560" y="2624328"/>
            <a:ext cx="3154680" cy="1188720"/>
          </a:xfrm>
          <a:prstGeom prst="rect">
            <a:avLst/>
          </a:prstGeom>
          <a:solidFill>
            <a:srgbClr val="1B365D"/>
          </a:solidFill>
          <a:ln/>
        </p:spPr>
      </p:sp>
      <p:sp>
        <p:nvSpPr>
          <p:cNvPr id="24" name="Text 20"/>
          <p:cNvSpPr txBox="1"/>
          <p:nvPr/>
        </p:nvSpPr>
        <p:spPr>
          <a:xfrm>
            <a:off x="5760720" y="2624328"/>
            <a:ext cx="2880360" cy="1188720"/>
          </a:xfrm>
          <a:prstGeom prst="rect">
            <a:avLst/>
          </a:prstGeom>
          <a:noFill/>
          <a:ln/>
        </p:spPr>
        <p:txBody>
          <a:bodyPr wrap="square" lIns="0" tIns="0" rIns="0" bIns="0" rtlCol="0" anchor="ctr"/>
          <a:lstStyle/>
          <a:p>
            <a:pPr algn="l" indent="0" marL="0">
              <a:lnSpc>
                <a:spcPct val="115000"/>
              </a:lnSpc>
              <a:spcAft>
                <a:spcPts val="300"/>
              </a:spcAft>
              <a:buNone/>
            </a:pPr>
            <a:r>
              <a:rPr lang="en-US" sz="900" b="1" dirty="0">
                <a:solidFill>
                  <a:srgbClr val="F5C400"/>
                </a:solidFill>
                <a:latin typeface="BIZ UDPGothic" pitchFamily="34" charset="0"/>
                <a:ea typeface="BIZ UDPGothic" pitchFamily="34" charset="-122"/>
                <a:cs typeface="BIZ UDPGothic" pitchFamily="34" charset="-120"/>
              </a:rPr>
              <a:t>AIの学習の計算費</a:t>
            </a:r>
            <a:endParaRPr lang="en-US" sz="900" dirty="0"/>
          </a:p>
          <a:p>
            <a:pPr algn="l" indent="0" marL="0">
              <a:lnSpc>
                <a:spcPct val="115000"/>
              </a:lnSpc>
              <a:spcAft>
                <a:spcPts val="300"/>
              </a:spcAft>
              <a:buNone/>
            </a:pPr>
            <a:r>
              <a:rPr lang="en-US" sz="900" dirty="0">
                <a:solidFill>
                  <a:srgbClr val="FFFFFF"/>
                </a:solidFill>
                <a:latin typeface="BIZ UDPGothic" pitchFamily="34" charset="0"/>
                <a:ea typeface="BIZ UDPGothic" pitchFamily="34" charset="-122"/>
                <a:cs typeface="BIZ UDPGothic" pitchFamily="34" charset="-120"/>
              </a:rPr>
              <a:t>2年目から年180〜360万円（クラウドのGPU 月15〜30万円）を経費に入れた</a:t>
            </a:r>
            <a:endParaRPr lang="en-US" sz="900" dirty="0"/>
          </a:p>
          <a:p>
            <a:pPr algn="l" indent="0" marL="0">
              <a:lnSpc>
                <a:spcPct val="115000"/>
              </a:lnSpc>
              <a:spcAft>
                <a:spcPts val="300"/>
              </a:spcAft>
              <a:buNone/>
            </a:pPr>
            <a:r>
              <a:rPr lang="en-US" sz="850" dirty="0">
                <a:solidFill>
                  <a:srgbClr val="FFFFFF"/>
                </a:solidFill>
                <a:latin typeface="BIZ UDPGothic" pitchFamily="34" charset="0"/>
                <a:ea typeface="BIZ UDPGothic" pitchFamily="34" charset="-122"/>
                <a:cs typeface="BIZ UDPGothic" pitchFamily="34" charset="-120"/>
              </a:rPr>
              <a:t>判定AIは小さく作り、毎月の新しい印で作り直す</a:t>
            </a:r>
            <a:endParaRPr lang="en-US" sz="900" dirty="0"/>
          </a:p>
        </p:txBody>
      </p:sp>
      <p:sp>
        <p:nvSpPr>
          <p:cNvPr id="25" name="Shape 21"/>
          <p:cNvSpPr/>
          <p:nvPr/>
        </p:nvSpPr>
        <p:spPr>
          <a:xfrm>
            <a:off x="365760" y="3886200"/>
            <a:ext cx="8412480" cy="566928"/>
          </a:xfrm>
          <a:prstGeom prst="rect">
            <a:avLst/>
          </a:prstGeom>
          <a:solidFill>
            <a:srgbClr val="1B365D"/>
          </a:solidFill>
          <a:ln/>
        </p:spPr>
      </p:sp>
      <p:sp>
        <p:nvSpPr>
          <p:cNvPr id="26" name="Text 22"/>
          <p:cNvSpPr txBox="1"/>
          <p:nvPr/>
        </p:nvSpPr>
        <p:spPr>
          <a:xfrm>
            <a:off x="502920" y="3886200"/>
            <a:ext cx="8138160" cy="56692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F5C400"/>
                </a:solidFill>
                <a:latin typeface="BIZ UDPGothic" pitchFamily="34" charset="0"/>
                <a:ea typeface="BIZ UDPGothic" pitchFamily="34" charset="-122"/>
                <a:cs typeface="BIZ UDPGothic" pitchFamily="34" charset="-120"/>
              </a:rPr>
              <a:t>営業と技術の約束：</a:t>
            </a:r>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何を撮るかは提案の段階で営業と技術が決める。3段目の判定AIができるまでは、決まりと汎用AIで選び、解析する場面の数に月の上限を置く（p.12）</a:t>
            </a:r>
            <a:endParaRPr lang="en-US" sz="900" dirty="0"/>
          </a:p>
        </p:txBody>
      </p:sp>
      <p:sp>
        <p:nvSpPr>
          <p:cNvPr id="27" name="Text 23"/>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場面の数・印の割合・1場面の秒数はすべて仮説。現場監修の人数（5年目2人）の中で回るかを2年目に確かめる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市場と実証</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p.13・21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グラスの持ち方：レンタル → リース → 端末込みの料金</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お客様に一から契約の手間をかけさせない。段階ごとに、誰が持ち、誰が手続きするかを変える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30" name="lease"/>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1143000"/>
                <a:gridCol w="1234440"/>
                <a:gridCol w="2286000"/>
                <a:gridCol w="868680"/>
                <a:gridCol w="1417320"/>
                <a:gridCol w="1463040"/>
              </a:tblGrid>
              <a:tr h="274320">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段階</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いつ</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持ち方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手続き</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お客様の負担（10台）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当社の負担</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4572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 レンタル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試験導入（3か月）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レンタル会社から当社が借りて渡す</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当社</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導入支援に含む</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1台 月約1.7万円（30日5万円の例）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5029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2 リース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本契約（1〜2年目）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お客様名義でリース。当社が販売店・リース会社との手続きを代行</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当社が代行</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年約32万円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なし（在庫を持たない）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4572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3 端末込みの料金</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3年目〜（選べる）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当社がまとめて調達し、利用料に端末代を含める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当社</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端末1台 月約2.6万円（ライセンス込み）</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在庫・故障の手当て</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graphicFrame>
        <p:nvGraphicFramePr>
          <p:cNvPr id="59" name="glassprice"/>
          <p:cNvGraphicFramePr>
            <a:graphicFrameLocks noGrp="1"/>
          </p:cNvGraphicFramePr>
          <p:nvPr>
            <p:extLst>
              <p:ext uri="{D42A27DB-BD31-4B8C-83A1-F6EECF244321}">
                <p14:modId xmlns:p14="http://schemas.microsoft.com/office/powerpoint/2010/main" val="1579011935"/>
              </p:ext>
            </p:extLst>
          </p:nvPr>
        </p:nvGraphicFramePr>
        <p:xfrm>
          <a:off x="365760" y="2852928"/>
          <a:ext cx="8412480" cy="914400"/>
        </p:xfrm>
        <a:graphic>
          <a:graphicData uri="http://schemas.openxmlformats.org/drawingml/2006/table">
            <a:tbl>
              <a:tblPr/>
              <a:tblGrid>
                <a:gridCol w="1920240"/>
                <a:gridCol w="3840480"/>
                <a:gridCol w="2651760"/>
              </a:tblGrid>
              <a:tr h="265176">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グラス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参考価格</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3年リース（料率 月約3%）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65176">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カメラ付きAIグラス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約8万円（Ray-Ban Meta 第2世代 7.4〜8.9万円）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1台 年約3万円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表示付きARグラス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約12万円（Meta Ray-Ban Display $799）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1台 年約4万円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参考：産業用ヘッドセット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約37万円〜（RealWear Arc 3 の国内キャンペーン価格）</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1台 年約13万円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0" name="Shape 5"/>
          <p:cNvSpPr/>
          <p:nvPr/>
        </p:nvSpPr>
        <p:spPr>
          <a:xfrm>
            <a:off x="365760" y="3886200"/>
            <a:ext cx="8412480" cy="566928"/>
          </a:xfrm>
          <a:prstGeom prst="rect">
            <a:avLst/>
          </a:prstGeom>
          <a:solidFill>
            <a:srgbClr val="1B365D"/>
          </a:solidFill>
          <a:ln/>
        </p:spPr>
      </p:sp>
      <p:sp>
        <p:nvSpPr>
          <p:cNvPr id="11" name="Text 6"/>
          <p:cNvSpPr txBox="1"/>
          <p:nvPr/>
        </p:nvSpPr>
        <p:spPr>
          <a:xfrm>
            <a:off x="502920" y="3886200"/>
            <a:ext cx="8138160" cy="56692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F5C400"/>
                </a:solidFill>
                <a:latin typeface="BIZ UDPGothic" pitchFamily="34" charset="0"/>
                <a:ea typeface="BIZ UDPGothic" pitchFamily="34" charset="-122"/>
                <a:cs typeface="BIZ UDPGothic" pitchFamily="34" charset="-120"/>
              </a:rPr>
              <a:t>なぜ最初からお客様に直接リースさせないか：</a:t>
            </a:r>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試験導入の3か月のためにリースを組むのは重い。本契約からは名義はお客様、手続きは当社。端末の売上を当社に入れないので、利用料の粗利率が見えやすい</a:t>
            </a:r>
            <a:endParaRPr lang="en-US" sz="900" dirty="0"/>
          </a:p>
        </p:txBody>
      </p:sp>
      <p:sp>
        <p:nvSpPr>
          <p:cNvPr id="12" name="Text 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価格は販売店・メーカーの公表値（国内の正規販売は要確認）。リース料率とレンタル料は見積を取って確認する。端末込みの料金は計画の売上に入れていない</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延長と質問</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p.28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10年の延長：10台でも6年目に黒字、8年目に累積を回収</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5年目までの計画は変えずに、6〜10年目を同じ式で延ばした（万円）</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31" name="ten"/>
          <p:cNvGraphicFramePr>
            <a:graphicFrameLocks noGrp="1"/>
          </p:cNvGraphicFramePr>
          <p:nvPr>
            <p:extLst>
              <p:ext uri="{D42A27DB-BD31-4B8C-83A1-F6EECF244321}">
                <p14:modId xmlns:p14="http://schemas.microsoft.com/office/powerpoint/2010/main" val="1579011935"/>
              </p:ext>
            </p:extLst>
          </p:nvPr>
        </p:nvGraphicFramePr>
        <p:xfrm>
          <a:off x="365760" y="1005840"/>
          <a:ext cx="8412480" cy="914400"/>
        </p:xfrm>
        <a:graphic>
          <a:graphicData uri="http://schemas.openxmlformats.org/drawingml/2006/table">
            <a:tbl>
              <a:tblPr/>
              <a:tblGrid>
                <a:gridCol w="1371600"/>
                <a:gridCol w="704088"/>
                <a:gridCol w="704088"/>
                <a:gridCol w="704088"/>
                <a:gridCol w="704088"/>
                <a:gridCol w="704088"/>
                <a:gridCol w="704088"/>
                <a:gridCol w="704088"/>
                <a:gridCol w="704088"/>
                <a:gridCol w="704088"/>
                <a:gridCol w="704088"/>
              </a:tblGrid>
              <a:tr h="246888">
                <a:tc>
                  <a:txBody>
                    <a:bodyPr/>
                    <a:lstStyle/>
                    <a:p>
                      <a:pPr algn="l" indent="0" marL="0">
                        <a:buNone/>
                      </a:pP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1年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2年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3年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4年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5年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6年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7年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8年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9年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10年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新規／期末の拠点</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9／12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18／29</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27／53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33／81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36／109</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38／136</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40／162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40／186</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40／207</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社員</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5</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8</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18</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23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24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27</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29</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売上</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1,200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4,800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10,700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17,800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26,900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35,500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43,800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51,800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59,100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65,500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b="1" dirty="0">
                          <a:solidFill>
                            <a:srgbClr val="1F2933"/>
                          </a:solidFill>
                          <a:latin typeface="BIZ UDPGothic" pitchFamily="34" charset="0"/>
                          <a:ea typeface="BIZ UDPGothic" pitchFamily="34" charset="-122"/>
                          <a:cs typeface="BIZ UDPGothic" pitchFamily="34" charset="-120"/>
                        </a:rPr>
                        <a:t>営業損益</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750" b="1" dirty="0">
                          <a:solidFill>
                            <a:srgbClr val="C62828"/>
                          </a:solidFill>
                          <a:latin typeface="BIZ UDPGothic" pitchFamily="34" charset="0"/>
                          <a:ea typeface="BIZ UDPGothic" pitchFamily="34" charset="-122"/>
                          <a:cs typeface="BIZ UDPGothic" pitchFamily="34" charset="-120"/>
                        </a:rPr>
                        <a:t>▲4,844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750" b="1" dirty="0">
                          <a:solidFill>
                            <a:srgbClr val="C62828"/>
                          </a:solidFill>
                          <a:latin typeface="BIZ UDPGothic" pitchFamily="34" charset="0"/>
                          <a:ea typeface="BIZ UDPGothic" pitchFamily="34" charset="-122"/>
                          <a:cs typeface="BIZ UDPGothic" pitchFamily="34" charset="-120"/>
                        </a:rPr>
                        <a:t>▲4,763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750" b="1" dirty="0">
                          <a:solidFill>
                            <a:srgbClr val="C62828"/>
                          </a:solidFill>
                          <a:latin typeface="BIZ UDPGothic" pitchFamily="34" charset="0"/>
                          <a:ea typeface="BIZ UDPGothic" pitchFamily="34" charset="-122"/>
                          <a:cs typeface="BIZ UDPGothic" pitchFamily="34" charset="-120"/>
                        </a:rPr>
                        <a:t>▲3,696</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750" b="1" dirty="0">
                          <a:solidFill>
                            <a:srgbClr val="C62828"/>
                          </a:solidFill>
                          <a:latin typeface="BIZ UDPGothic" pitchFamily="34" charset="0"/>
                          <a:ea typeface="BIZ UDPGothic" pitchFamily="34" charset="-122"/>
                          <a:cs typeface="BIZ UDPGothic" pitchFamily="34" charset="-120"/>
                        </a:rPr>
                        <a:t>▲3,857</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750" b="1" dirty="0">
                          <a:solidFill>
                            <a:srgbClr val="C62828"/>
                          </a:solidFill>
                          <a:latin typeface="BIZ UDPGothic" pitchFamily="34" charset="0"/>
                          <a:ea typeface="BIZ UDPGothic" pitchFamily="34" charset="-122"/>
                          <a:cs typeface="BIZ UDPGothic" pitchFamily="34" charset="-120"/>
                        </a:rPr>
                        <a:t>▲1,117</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750" b="1" dirty="0">
                          <a:solidFill>
                            <a:srgbClr val="1B365D"/>
                          </a:solidFill>
                          <a:latin typeface="BIZ UDPGothic" pitchFamily="34" charset="0"/>
                          <a:ea typeface="BIZ UDPGothic" pitchFamily="34" charset="-122"/>
                          <a:cs typeface="BIZ UDPGothic" pitchFamily="34" charset="-120"/>
                        </a:rPr>
                        <a:t>4,522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750" b="1" dirty="0">
                          <a:solidFill>
                            <a:srgbClr val="1B365D"/>
                          </a:solidFill>
                          <a:latin typeface="BIZ UDPGothic" pitchFamily="34" charset="0"/>
                          <a:ea typeface="BIZ UDPGothic" pitchFamily="34" charset="-122"/>
                          <a:cs typeface="BIZ UDPGothic" pitchFamily="34" charset="-120"/>
                        </a:rPr>
                        <a:t>7,883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750" b="1" dirty="0">
                          <a:solidFill>
                            <a:srgbClr val="1B365D"/>
                          </a:solidFill>
                          <a:latin typeface="BIZ UDPGothic" pitchFamily="34" charset="0"/>
                          <a:ea typeface="BIZ UDPGothic" pitchFamily="34" charset="-122"/>
                          <a:cs typeface="BIZ UDPGothic" pitchFamily="34" charset="-120"/>
                        </a:rPr>
                        <a:t>12,006</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750" b="1" dirty="0">
                          <a:solidFill>
                            <a:srgbClr val="1B365D"/>
                          </a:solidFill>
                          <a:latin typeface="BIZ UDPGothic" pitchFamily="34" charset="0"/>
                          <a:ea typeface="BIZ UDPGothic" pitchFamily="34" charset="-122"/>
                          <a:cs typeface="BIZ UDPGothic" pitchFamily="34" charset="-120"/>
                        </a:rPr>
                        <a:t>16,307</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750" b="1" dirty="0">
                          <a:solidFill>
                            <a:srgbClr val="1B365D"/>
                          </a:solidFill>
                          <a:latin typeface="BIZ UDPGothic" pitchFamily="34" charset="0"/>
                          <a:ea typeface="BIZ UDPGothic" pitchFamily="34" charset="-122"/>
                          <a:cs typeface="BIZ UDPGothic" pitchFamily="34" charset="-120"/>
                        </a:rPr>
                        <a:t>18,981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累積の営業損益</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▲4,844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▲9,606</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▲13,303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▲17,160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▲18,277</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▲13,754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▲5,872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6,134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22,441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41,422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期末の現金</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15,157</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10,394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11,698</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7,840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6,723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11,246</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19,128</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31,134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47,441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66,422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graphicFrame>
        <p:nvGraphicFramePr>
          <p:cNvPr id="61" name="ext"/>
          <p:cNvGraphicFramePr>
            <a:graphicFrameLocks noGrp="1"/>
          </p:cNvGraphicFramePr>
          <p:nvPr>
            <p:extLst>
              <p:ext uri="{D42A27DB-BD31-4B8C-83A1-F6EECF244321}">
                <p14:modId xmlns:p14="http://schemas.microsoft.com/office/powerpoint/2010/main" val="1579011935"/>
              </p:ext>
            </p:extLst>
          </p:nvPr>
        </p:nvGraphicFramePr>
        <p:xfrm>
          <a:off x="365760" y="2834640"/>
          <a:ext cx="4937760" cy="914400"/>
        </p:xfrm>
        <a:graphic>
          <a:graphicData uri="http://schemas.openxmlformats.org/drawingml/2006/table">
            <a:tbl>
              <a:tblPr/>
              <a:tblGrid>
                <a:gridCol w="1737360"/>
                <a:gridCol w="640080"/>
                <a:gridCol w="640080"/>
                <a:gridCol w="640080"/>
                <a:gridCol w="640080"/>
                <a:gridCol w="640080"/>
              </a:tblGrid>
              <a:tr h="182880">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6〜10年目の前提</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6年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7年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8年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9年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10年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182880">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新規の拠点</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36</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38</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182880">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エンジニア</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6</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6</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7</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7</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8</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182880">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現場監修</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182880">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導入コンサルタント</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8</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9</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9</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9</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9</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182880">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営業</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182880">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管理</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182880">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戦略企画</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182880">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AIの学習費</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440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480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520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560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0" name="Shape 5"/>
          <p:cNvSpPr/>
          <p:nvPr/>
        </p:nvSpPr>
        <p:spPr>
          <a:xfrm>
            <a:off x="5486400" y="2834640"/>
            <a:ext cx="3291840" cy="1600200"/>
          </a:xfrm>
          <a:prstGeom prst="rect">
            <a:avLst/>
          </a:prstGeom>
          <a:solidFill>
            <a:srgbClr val="1B365D"/>
          </a:solidFill>
          <a:ln/>
        </p:spPr>
      </p:sp>
      <p:sp>
        <p:nvSpPr>
          <p:cNvPr id="11" name="Text 6"/>
          <p:cNvSpPr txBox="1"/>
          <p:nvPr/>
        </p:nvSpPr>
        <p:spPr>
          <a:xfrm>
            <a:off x="5623560" y="2834640"/>
            <a:ext cx="3017520" cy="1600200"/>
          </a:xfrm>
          <a:prstGeom prst="rect">
            <a:avLst/>
          </a:prstGeom>
          <a:noFill/>
          <a:ln/>
        </p:spPr>
        <p:txBody>
          <a:bodyPr wrap="square" lIns="0" tIns="0" rIns="0" bIns="0" rtlCol="0" anchor="ctr"/>
          <a:lstStyle/>
          <a:p>
            <a:pPr algn="l" indent="0" marL="0">
              <a:lnSpc>
                <a:spcPct val="115000"/>
              </a:lnSpc>
              <a:spcAft>
                <a:spcPts val="200"/>
              </a:spcAft>
              <a:buNone/>
            </a:pPr>
            <a:r>
              <a:rPr lang="en-US" sz="850" b="1" dirty="0">
                <a:solidFill>
                  <a:srgbClr val="F5C400"/>
                </a:solidFill>
                <a:latin typeface="BIZ UDPGothic" pitchFamily="34" charset="0"/>
                <a:ea typeface="BIZ UDPGothic" pitchFamily="34" charset="-122"/>
                <a:cs typeface="BIZ UDPGothic" pitchFamily="34" charset="-120"/>
              </a:rPr>
              <a:t>ポイント</a:t>
            </a:r>
            <a:endParaRPr lang="en-US" sz="8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積み上げ型なので、採用を落とせば6年目に黒字が厚くなる。</a:t>
            </a:r>
            <a:endParaRPr lang="en-US" sz="8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採用を1.3倍にすると黒字は7年目、値下げ20%やAI費用2倍では現金がいったんマイナス（自己資金の追加が要る）</a:t>
            </a:r>
            <a:endParaRPr lang="en-US" sz="8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電線工場・海外・端末込みの料金は入れていない（上振れ）</a:t>
            </a:r>
            <a:endParaRPr lang="en-US" sz="850" dirty="0"/>
          </a:p>
        </p:txBody>
      </p:sp>
      <p:sp>
        <p:nvSpPr>
          <p:cNvPr id="12" name="Text 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代表・CTOは1人のまま。導入コンサルタントは新規÷6＋定着支援、現場監修は印付けの量（81拠点で約1.3人分）に合わせた。オフィス・広告・交通も段階的に増やした</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延長と質問</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質問への答え</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厳しい質問：数字 → 式 → 前提の順で答える</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一言で答え、このページ番号を示す</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32" name="qa"/>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1920240"/>
                <a:gridCol w="5486400"/>
                <a:gridCol w="1005840"/>
              </a:tblGrid>
              <a:tr h="233172">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質問</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一言の答え</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750" b="1" dirty="0">
                          <a:solidFill>
                            <a:srgbClr val="FFFFFF"/>
                          </a:solidFill>
                          <a:latin typeface="BIZ UDPGothic" pitchFamily="34" charset="0"/>
                          <a:ea typeface="BIZ UDPGothic" pitchFamily="34" charset="-122"/>
                          <a:cs typeface="BIZ UDPGothic" pitchFamily="34" charset="-120"/>
                        </a:rPr>
                        <a:t>詳細版</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本当に年300万円払う？</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1台1日23分減れば元が取れます。想定は35分で、実証で測ります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p.8</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1時間の人件費の根拠は？</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統計の年収×会社負担1.17÷残業を含む年1,938時間です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p.5</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4,000万円も得するのでは？</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全員ではなく、AIグラスを掛けた班だけで数えています。手戻りは測れてから足します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p.6〜7</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グラス代は誰が払う？</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お客様の名義でリース、手続きは当社が代行。10台で年約32万円です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p.29</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台数が増えると原価は？</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1台の値段が1台の原価を賄うので粗利率は約70%のまま。崩れるのは全編を送る使い方です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p.11〜12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なぜ5年で黒字にならない？</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人を先に雇うからです。1拠点15台にできれば5年目に黒字です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p.19・22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獲得が遅れたら？</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採用も遅らせ、台数を増やします。2年目に5拠点未満なら採用を止めます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p.22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解約率の根拠は？</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海外のB2B SaaSの目安から年10%と置きました。日本の実績で更新します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p.14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普段使いのグラスで足りる？</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録画と電池に制約があります。要所だけ記録し、実機で確かめます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p.26</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市場が小さくない？</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5年目でターゲット市場の約1.7%。工場と海外は含めていません</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p.24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全部AIで解析したら高い？</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録画は端末に残し、選んだ場面だけ解析します。選び方は3段階で賢くします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p.28</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日立のAI Safetyと同じでは？</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方向は同じ。日立は自社の保守契約にAIを組み込む。当社は中堅の施工の書類と技能継承を月額で</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本編 p.15</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5年で黒字にならないなら？</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10年で見れば10台でも6年目に黒字、8年目に赤字を取り戻します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p.30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あなたが倒れたら？</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役割を絞り判断基準を先に決め、1か月不在でも回る形にします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本編 p.32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詳しい想定問答は「カンツギ_想定問答.md」</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出典</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出典</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出典：公的統計と公表価格</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★＝最新年の値・原表を確認していない</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33" name="sources"/>
          <p:cNvGraphicFramePr>
            <a:graphicFrameLocks noGrp="1"/>
          </p:cNvGraphicFramePr>
          <p:nvPr>
            <p:extLst>
              <p:ext uri="{D42A27DB-BD31-4B8C-83A1-F6EECF244321}">
                <p14:modId xmlns:p14="http://schemas.microsoft.com/office/powerpoint/2010/main" val="1579011935"/>
              </p:ext>
            </p:extLst>
          </p:nvPr>
        </p:nvGraphicFramePr>
        <p:xfrm>
          <a:off x="365760" y="1005840"/>
          <a:ext cx="8412480" cy="914400"/>
        </p:xfrm>
        <a:graphic>
          <a:graphicData uri="http://schemas.openxmlformats.org/drawingml/2006/table">
            <a:tbl>
              <a:tblPr/>
              <a:tblGrid>
                <a:gridCol w="2103120"/>
                <a:gridCol w="6309360"/>
              </a:tblGrid>
              <a:tr h="246888">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項目</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出典</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電気工事従事者の年収 ★</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厚生労働省「令和5年賃金構造基本統計調査」（月36.74万円×12＋賞与110.06万円＝約551万円）。職業情報提供サイト（令和6年）約548〜551万円</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建築・土木技術者の年収 ★</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同調査 建築技術者 約642万円（令和6年）・土木技術者 約604万円（令和5年）。施工管理者の区分はないため代用</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年間総実労働時間</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厚生労働省「毎月勤労統計調査」令和6年 建設業 月161.5時間（×12＝1,938時間・残業込み）</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会社負担の社会保険料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健康保険 約5.0%・厚生年金9.15%・雇用保険（建設）1.1%・子ども・子育て拠出金0.36%・労災 約1.2%。計 約17%</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時間外の割増・上限</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労働基準法（割増25%以上、建設業は2024年4月から原則 月45時間・年360時間）</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建設業の就業者・年齢</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国土交通省（総務省「労働力調査」2024年平均）477万人、55歳以上36.7%</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電気工事業の許可業者数 ★</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国土交通省 建設業許可業者数（令和7年3月末）65,497社（二次資料で確認）</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市場の伸び</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矢野経済研究所 No.3789（建設テック）、IMARC Group（Japan Smart Factory）</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手戻り率・建設投資 ★</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海外研究で工事費の0.4〜6%。建設投資は国交省 2025年度見通し 約75.6兆円</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グラス・リース ★</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Ray-Ban Meta 第2世代、Meta Ray-Ban Display $799、RealWear Arc 3（国内37万円）。開発キットの映像720p（UploadVR）。リース料率3年約3%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クラウド・AIの単価 ★</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音声文字起こし $0.003／分、オブジェクト保存 約$0.025／GB・月など各社の公表価格</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解約率の目安</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B2B SaaSの年間解約：大企業5〜10%・中小30〜50%（海外の業界記事。一次調査ではない）</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競合・国の方針</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日立 ニュースリリース（2025年3月・10月）、日立 Physical AI 事例（日立パワーソリューションズ 2026年7月）、Safie Pocket2、内閣府「人工知能基本計画」</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数字はすべて tora_v2.js から出力。前提を変えると、本編・やさしい版・この資料の表が同じ式で計算し直される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32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BIZ UDP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IZ UDP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カンツギ 事業計画書 計算詳細版（質問用）</dc:title>
  <dc:subject>PptxGenJS Presentation</dc:subject>
  <dc:creator>PptxGenJS</dc:creator>
  <cp:lastModifiedBy>PptxGenJS</cp:lastModifiedBy>
  <cp:revision>1</cp:revision>
  <dcterms:created xsi:type="dcterms:W3CDTF">2026-10-17T05:37:40Z</dcterms:created>
  <dcterms:modified xsi:type="dcterms:W3CDTF">2026-10-17T05:37:40Z</dcterms:modified>
</cp:coreProperties>
</file>