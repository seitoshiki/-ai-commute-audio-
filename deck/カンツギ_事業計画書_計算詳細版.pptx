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要約：得をするのは端末を着けた班だけ。1台1日35分で年約480万円
得をするのは、端末を着けた班だけで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が1年に払うの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要約：全員には着けない。1班に1台、職長が着ける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要約：黒字の鍵は拠点数より、1拠点の台数。止まる線も先に決める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329184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960120"/>
            <a:ext cx="2743200" cy="587829"/>
          </a:xfrm>
          <a:prstGeom prst="rect">
            <a:avLst/>
          </a:prstGeom>
        </p:spPr>
      </p:pic>
      <p:sp>
        <p:nvSpPr>
          <p:cNvPr id="5" name="Text 1"/>
          <p:cNvSpPr txBox="1"/>
          <p:nvPr/>
        </p:nvSpPr>
        <p:spPr>
          <a:xfrm>
            <a:off x="365760" y="1920240"/>
            <a:ext cx="2743200" cy="128016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数字には、</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すべて式と</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前提がある。</a:t>
            </a:r>
            <a:endParaRPr lang="en-US" sz="2000" dirty="0"/>
          </a:p>
        </p:txBody>
      </p:sp>
      <p:sp>
        <p:nvSpPr>
          <p:cNvPr id="6" name="Text 2"/>
          <p:cNvSpPr txBox="1"/>
          <p:nvPr/>
        </p:nvSpPr>
        <p:spPr>
          <a:xfrm>
            <a:off x="3657600" y="502920"/>
            <a:ext cx="5029200" cy="256032"/>
          </a:xfrm>
          <a:prstGeom prst="rect">
            <a:avLst/>
          </a:prstGeom>
          <a:noFill/>
          <a:ln/>
        </p:spPr>
        <p:txBody>
          <a:bodyPr wrap="square" lIns="0" tIns="0" rIns="0" bIns="0" rtlCol="0" anchor="t"/>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カンツギ　事業計画書　別冊</a:t>
            </a:r>
            <a:endParaRPr lang="en-US" sz="1200" dirty="0"/>
          </a:p>
        </p:txBody>
      </p:sp>
      <p:sp>
        <p:nvSpPr>
          <p:cNvPr id="7" name="Text 3"/>
          <p:cNvSpPr txBox="1"/>
          <p:nvPr/>
        </p:nvSpPr>
        <p:spPr>
          <a:xfrm>
            <a:off x="3657600" y="822960"/>
            <a:ext cx="5120640" cy="914400"/>
          </a:xfrm>
          <a:prstGeom prst="rect">
            <a:avLst/>
          </a:prstGeom>
          <a:noFill/>
          <a:ln/>
        </p:spPr>
        <p:txBody>
          <a:bodyPr wrap="square" lIns="0" tIns="0" rIns="0" bIns="0" rtlCol="0" anchor="t"/>
          <a:lstStyle/>
          <a:p>
            <a:pPr algn="l" indent="0" marL="0">
              <a:lnSpc>
                <a:spcPct val="115000"/>
              </a:lnSpc>
              <a:buNone/>
            </a:pPr>
            <a:r>
              <a:rPr lang="en-US" sz="2400" b="1" dirty="0">
                <a:solidFill>
                  <a:srgbClr val="B8692E"/>
                </a:solidFill>
                <a:latin typeface="Meiryo" pitchFamily="34" charset="0"/>
                <a:ea typeface="Meiryo" pitchFamily="34" charset="-122"/>
                <a:cs typeface="Meiryo" pitchFamily="34" charset="-120"/>
              </a:rPr>
              <a:t>計算詳細版</a:t>
            </a:r>
            <a:endParaRPr lang="en-US" sz="2400" dirty="0"/>
          </a:p>
          <a:p>
            <a:pPr algn="l" indent="0" marL="0">
              <a:lnSpc>
                <a:spcPct val="115000"/>
              </a:lnSpc>
              <a:buNone/>
            </a:pPr>
            <a:r>
              <a:rPr lang="en-US" sz="2400" b="1" dirty="0">
                <a:solidFill>
                  <a:srgbClr val="1A1A1A"/>
                </a:solidFill>
                <a:latin typeface="Meiryo" pitchFamily="34" charset="0"/>
                <a:ea typeface="Meiryo" pitchFamily="34" charset="-122"/>
                <a:cs typeface="Meiryo" pitchFamily="34" charset="-120"/>
              </a:rPr>
              <a:t>質問されたら、ここを開く</a:t>
            </a:r>
            <a:endParaRPr lang="en-US" sz="2400" dirty="0"/>
          </a:p>
        </p:txBody>
      </p:sp>
      <p:sp>
        <p:nvSpPr>
          <p:cNvPr id="8" name="Shape 4"/>
          <p:cNvSpPr/>
          <p:nvPr/>
        </p:nvSpPr>
        <p:spPr>
          <a:xfrm>
            <a:off x="3657600" y="1828800"/>
            <a:ext cx="5120640" cy="0"/>
          </a:xfrm>
          <a:prstGeom prst="line">
            <a:avLst/>
          </a:prstGeom>
          <a:noFill/>
          <a:ln w="9525">
            <a:solidFill>
              <a:srgbClr val="BFBFBF"/>
            </a:solidFill>
            <a:prstDash val="solid"/>
          </a:ln>
        </p:spPr>
      </p:sp>
      <p:sp>
        <p:nvSpPr>
          <p:cNvPr id="9" name="Text 5"/>
          <p:cNvSpPr txBox="1"/>
          <p:nvPr/>
        </p:nvSpPr>
        <p:spPr>
          <a:xfrm>
            <a:off x="3657600" y="182880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p.3〜4</a:t>
            </a:r>
            <a:endParaRPr lang="en-US" sz="1000" dirty="0"/>
          </a:p>
        </p:txBody>
      </p:sp>
      <p:sp>
        <p:nvSpPr>
          <p:cNvPr id="10" name="Text 6"/>
          <p:cNvSpPr txBox="1"/>
          <p:nvPr/>
        </p:nvSpPr>
        <p:spPr>
          <a:xfrm>
            <a:off x="4663440" y="182880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数字の木・前提の一覧</a:t>
            </a:r>
            <a:endParaRPr lang="en-US" sz="950" dirty="0"/>
          </a:p>
        </p:txBody>
      </p:sp>
      <p:sp>
        <p:nvSpPr>
          <p:cNvPr id="11" name="Shape 7"/>
          <p:cNvSpPr/>
          <p:nvPr/>
        </p:nvSpPr>
        <p:spPr>
          <a:xfrm>
            <a:off x="3657600" y="2176272"/>
            <a:ext cx="5120640" cy="0"/>
          </a:xfrm>
          <a:prstGeom prst="line">
            <a:avLst/>
          </a:prstGeom>
          <a:noFill/>
          <a:ln w="9525">
            <a:solidFill>
              <a:srgbClr val="BFBFBF"/>
            </a:solidFill>
            <a:prstDash val="solid"/>
          </a:ln>
        </p:spPr>
      </p:sp>
      <p:sp>
        <p:nvSpPr>
          <p:cNvPr id="12" name="Text 8"/>
          <p:cNvSpPr txBox="1"/>
          <p:nvPr/>
        </p:nvSpPr>
        <p:spPr>
          <a:xfrm>
            <a:off x="3657600" y="2176272"/>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p.5〜8</a:t>
            </a:r>
            <a:endParaRPr lang="en-US" sz="1000" dirty="0"/>
          </a:p>
        </p:txBody>
      </p:sp>
      <p:sp>
        <p:nvSpPr>
          <p:cNvPr id="13" name="Text 9"/>
          <p:cNvSpPr txBox="1"/>
          <p:nvPr/>
        </p:nvSpPr>
        <p:spPr>
          <a:xfrm>
            <a:off x="4663440" y="2176272"/>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お客様の得：人件費・削減時間・手戻り・元が取れる条件</a:t>
            </a:r>
            <a:endParaRPr lang="en-US" sz="950" dirty="0"/>
          </a:p>
        </p:txBody>
      </p:sp>
      <p:sp>
        <p:nvSpPr>
          <p:cNvPr id="14" name="Shape 10"/>
          <p:cNvSpPr/>
          <p:nvPr/>
        </p:nvSpPr>
        <p:spPr>
          <a:xfrm>
            <a:off x="3657600" y="2523744"/>
            <a:ext cx="5120640" cy="0"/>
          </a:xfrm>
          <a:prstGeom prst="line">
            <a:avLst/>
          </a:prstGeom>
          <a:noFill/>
          <a:ln w="9525">
            <a:solidFill>
              <a:srgbClr val="BFBFBF"/>
            </a:solidFill>
            <a:prstDash val="solid"/>
          </a:ln>
        </p:spPr>
      </p:sp>
      <p:sp>
        <p:nvSpPr>
          <p:cNvPr id="15" name="Text 11"/>
          <p:cNvSpPr txBox="1"/>
          <p:nvPr/>
        </p:nvSpPr>
        <p:spPr>
          <a:xfrm>
            <a:off x="3657600" y="2523744"/>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p.9〜13</a:t>
            </a:r>
            <a:endParaRPr lang="en-US" sz="1000" dirty="0"/>
          </a:p>
        </p:txBody>
      </p:sp>
      <p:sp>
        <p:nvSpPr>
          <p:cNvPr id="16" name="Text 12"/>
          <p:cNvSpPr txBox="1"/>
          <p:nvPr/>
        </p:nvSpPr>
        <p:spPr>
          <a:xfrm>
            <a:off x="4663440" y="2523744"/>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値段と原価：内訳・台数・AI費用・粗利率・導入支援</a:t>
            </a:r>
            <a:endParaRPr lang="en-US" sz="950" dirty="0"/>
          </a:p>
        </p:txBody>
      </p:sp>
      <p:sp>
        <p:nvSpPr>
          <p:cNvPr id="17" name="Shape 13"/>
          <p:cNvSpPr/>
          <p:nvPr/>
        </p:nvSpPr>
        <p:spPr>
          <a:xfrm>
            <a:off x="3657600" y="2871216"/>
            <a:ext cx="5120640" cy="0"/>
          </a:xfrm>
          <a:prstGeom prst="line">
            <a:avLst/>
          </a:prstGeom>
          <a:noFill/>
          <a:ln w="9525">
            <a:solidFill>
              <a:srgbClr val="BFBFBF"/>
            </a:solidFill>
            <a:prstDash val="solid"/>
          </a:ln>
        </p:spPr>
      </p:sp>
      <p:sp>
        <p:nvSpPr>
          <p:cNvPr id="18" name="Text 14"/>
          <p:cNvSpPr txBox="1"/>
          <p:nvPr/>
        </p:nvSpPr>
        <p:spPr>
          <a:xfrm>
            <a:off x="3657600" y="2871216"/>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p.14〜23</a:t>
            </a:r>
            <a:endParaRPr lang="en-US" sz="1000" dirty="0"/>
          </a:p>
        </p:txBody>
      </p:sp>
      <p:sp>
        <p:nvSpPr>
          <p:cNvPr id="19" name="Text 15"/>
          <p:cNvSpPr txBox="1"/>
          <p:nvPr/>
        </p:nvSpPr>
        <p:spPr>
          <a:xfrm>
            <a:off x="4663440" y="2871216"/>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売上・費用・チーム・収支・損益分岐点・LTV・崩れたとき・資金</a:t>
            </a:r>
            <a:endParaRPr lang="en-US" sz="950" dirty="0"/>
          </a:p>
        </p:txBody>
      </p:sp>
      <p:sp>
        <p:nvSpPr>
          <p:cNvPr id="20" name="Shape 16"/>
          <p:cNvSpPr/>
          <p:nvPr/>
        </p:nvSpPr>
        <p:spPr>
          <a:xfrm>
            <a:off x="3657600" y="3218688"/>
            <a:ext cx="5120640" cy="0"/>
          </a:xfrm>
          <a:prstGeom prst="line">
            <a:avLst/>
          </a:prstGeom>
          <a:noFill/>
          <a:ln w="9525">
            <a:solidFill>
              <a:srgbClr val="BFBFBF"/>
            </a:solidFill>
            <a:prstDash val="solid"/>
          </a:ln>
        </p:spPr>
      </p:sp>
      <p:sp>
        <p:nvSpPr>
          <p:cNvPr id="21" name="Text 17"/>
          <p:cNvSpPr txBox="1"/>
          <p:nvPr/>
        </p:nvSpPr>
        <p:spPr>
          <a:xfrm>
            <a:off x="3657600" y="3218688"/>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p.24〜29</a:t>
            </a:r>
            <a:endParaRPr lang="en-US" sz="1000" dirty="0"/>
          </a:p>
        </p:txBody>
      </p:sp>
      <p:sp>
        <p:nvSpPr>
          <p:cNvPr id="22" name="Text 18"/>
          <p:cNvSpPr txBox="1"/>
          <p:nvPr/>
        </p:nvSpPr>
        <p:spPr>
          <a:xfrm>
            <a:off x="4663440" y="3218688"/>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市場・ターゲット・グラスと実証・データ基盤・AIの学習・リース</a:t>
            </a:r>
            <a:endParaRPr lang="en-US" sz="950" dirty="0"/>
          </a:p>
        </p:txBody>
      </p:sp>
      <p:sp>
        <p:nvSpPr>
          <p:cNvPr id="23" name="Shape 19"/>
          <p:cNvSpPr/>
          <p:nvPr/>
        </p:nvSpPr>
        <p:spPr>
          <a:xfrm>
            <a:off x="3657600" y="3566160"/>
            <a:ext cx="5120640" cy="0"/>
          </a:xfrm>
          <a:prstGeom prst="line">
            <a:avLst/>
          </a:prstGeom>
          <a:noFill/>
          <a:ln w="9525">
            <a:solidFill>
              <a:srgbClr val="BFBFBF"/>
            </a:solidFill>
            <a:prstDash val="solid"/>
          </a:ln>
        </p:spPr>
      </p:sp>
      <p:sp>
        <p:nvSpPr>
          <p:cNvPr id="24" name="Text 20"/>
          <p:cNvSpPr txBox="1"/>
          <p:nvPr/>
        </p:nvSpPr>
        <p:spPr>
          <a:xfrm>
            <a:off x="3657600" y="3566160"/>
            <a:ext cx="100584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p.30〜31</a:t>
            </a:r>
            <a:endParaRPr lang="en-US" sz="1000" dirty="0"/>
          </a:p>
        </p:txBody>
      </p:sp>
      <p:sp>
        <p:nvSpPr>
          <p:cNvPr id="25" name="Text 21"/>
          <p:cNvSpPr txBox="1"/>
          <p:nvPr/>
        </p:nvSpPr>
        <p:spPr>
          <a:xfrm>
            <a:off x="4663440" y="3566160"/>
            <a:ext cx="4114800" cy="347472"/>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厳しい質問・出典</a:t>
            </a:r>
            <a:endParaRPr lang="en-US" sz="950" dirty="0"/>
          </a:p>
        </p:txBody>
      </p:sp>
      <p:sp>
        <p:nvSpPr>
          <p:cNvPr id="26" name="Text 22"/>
          <p:cNvSpPr txBox="1"/>
          <p:nvPr/>
        </p:nvSpPr>
        <p:spPr>
          <a:xfrm>
            <a:off x="3657600" y="3977640"/>
            <a:ext cx="5120640" cy="41148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二段構え：本編は「結論と一行の式」、この資料は「計算の過程」。本編の右上の「詳細版 p.○」がこの資料のページ。数字はすべて tora_v2.js から出力</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本編との対応表 ─ この数字は、どこで計算しているか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本編の右上にも同じページ番号を書いている</a:t>
            </a:r>
            <a:endParaRPr lang="en-US" sz="1200" dirty="0"/>
          </a:p>
        </p:txBody>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394960"/>
                <a:gridCol w="1005840"/>
              </a:tblGrid>
              <a:tr h="28346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本編で言う数字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詳細版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p.9 導入効果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1拠点10台で年約499万円・払う額の約1.5倍・元が取れるのは1台1日23分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p.13 端末と使い方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1班に1台・職長。AIグラス8台＋表示付き2台、リース年約32万円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p.10・26・29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p.15 スタッフ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5年目23人。役割別の年収×1.2＋採用費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p.19〜20 ビジネス・収益モデル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年300万円・導入支援200万円。粗利 年216万円（72%）、LTV約1,571万円・CAC約86万円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p.9〜13・20・27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p.21 売り方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条件に合う約180社 → 5年で約85拠点（解約を引いて81拠点）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p.22 売上予測</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5年目の売上 約269百万円、解約は年10%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p.14〜16・18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p.23 損益分岐点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5年目は分岐点の約94%。社員1人約4拠点が目安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p.19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p.24 資金計画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自己資金 約2.55億円。現金の谷 約6,700万円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p.25 黒字化の条件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10台のままでは黒字にならない。15台なら計画の6割でも5年目に黒字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p.21〜22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p.17 市場規模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ターゲット市場 約141億円、5年目 約2.43億円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p.24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Shape 2"/>
          <p:cNvSpPr/>
          <p:nvPr/>
        </p:nvSpPr>
        <p:spPr>
          <a:xfrm>
            <a:off x="365760" y="4206240"/>
            <a:ext cx="8412480" cy="292608"/>
          </a:xfrm>
          <a:prstGeom prst="rect">
            <a:avLst/>
          </a:prstGeom>
          <a:solidFill>
            <a:srgbClr val="1A1A1A"/>
          </a:solidFill>
          <a:ln/>
        </p:spPr>
      </p:sp>
      <p:sp>
        <p:nvSpPr>
          <p:cNvPr id="7" name="Text 3"/>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答え方：</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p.22〜23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数字の木 ─ 5年目の営業損益 約▲1,120万円を分解する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どの数字を聞かれても、この木のどこかを指せば答えられる（単位：百万円）</a:t>
            </a:r>
            <a:endParaRPr lang="en-US" sz="1200" dirty="0"/>
          </a:p>
        </p:txBody>
      </p:sp>
      <p:sp>
        <p:nvSpPr>
          <p:cNvPr id="6" name="Shape 3"/>
          <p:cNvSpPr/>
          <p:nvPr/>
        </p:nvSpPr>
        <p:spPr>
          <a:xfrm>
            <a:off x="365760" y="2377440"/>
            <a:ext cx="1600200" cy="566928"/>
          </a:xfrm>
          <a:prstGeom prst="rect">
            <a:avLst/>
          </a:prstGeom>
          <a:solidFill>
            <a:srgbClr val="1A1A1A"/>
          </a:solidFill>
          <a:ln/>
        </p:spPr>
      </p:sp>
      <p:sp>
        <p:nvSpPr>
          <p:cNvPr id="7" name="Text 4"/>
          <p:cNvSpPr txBox="1"/>
          <p:nvPr/>
        </p:nvSpPr>
        <p:spPr>
          <a:xfrm>
            <a:off x="438912" y="2395728"/>
            <a:ext cx="1453896"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営業損益  </a:t>
            </a:r>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-11.2</a:t>
            </a:r>
            <a:endParaRPr lang="en-US" sz="1400" dirty="0"/>
          </a:p>
        </p:txBody>
      </p:sp>
      <p:sp>
        <p:nvSpPr>
          <p:cNvPr id="8" name="Text 5"/>
          <p:cNvSpPr txBox="1"/>
          <p:nvPr/>
        </p:nvSpPr>
        <p:spPr>
          <a:xfrm>
            <a:off x="438912" y="2679192"/>
            <a:ext cx="1453896" cy="237744"/>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Meiryo" pitchFamily="34" charset="0"/>
                <a:ea typeface="Meiryo" pitchFamily="34" charset="-122"/>
                <a:cs typeface="Meiryo" pitchFamily="34" charset="-120"/>
              </a:rPr>
              <a:t>粗利 − 販管費</a:t>
            </a:r>
            <a:endParaRPr lang="en-US" sz="750" dirty="0"/>
          </a:p>
        </p:txBody>
      </p:sp>
      <p:sp>
        <p:nvSpPr>
          <p:cNvPr id="9" name="Shape 6"/>
          <p:cNvSpPr/>
          <p:nvPr/>
        </p:nvSpPr>
        <p:spPr>
          <a:xfrm>
            <a:off x="2240280" y="1325880"/>
            <a:ext cx="1737360" cy="566928"/>
          </a:xfrm>
          <a:prstGeom prst="rect">
            <a:avLst/>
          </a:prstGeom>
          <a:solidFill>
            <a:srgbClr val="F2F2F2"/>
          </a:solidFill>
          <a:ln/>
        </p:spPr>
      </p:sp>
      <p:sp>
        <p:nvSpPr>
          <p:cNvPr id="10" name="Text 7"/>
          <p:cNvSpPr txBox="1"/>
          <p:nvPr/>
        </p:nvSpPr>
        <p:spPr>
          <a:xfrm>
            <a:off x="2313432" y="134416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162.0</a:t>
            </a:r>
            <a:endParaRPr lang="en-US" sz="1400" dirty="0"/>
          </a:p>
        </p:txBody>
      </p:sp>
      <p:sp>
        <p:nvSpPr>
          <p:cNvPr id="11" name="Text 8"/>
          <p:cNvSpPr txBox="1"/>
          <p:nvPr/>
        </p:nvSpPr>
        <p:spPr>
          <a:xfrm>
            <a:off x="2313432" y="162763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利用料の粗利＋サービスの粗利</a:t>
            </a:r>
            <a:endParaRPr lang="en-US" sz="750" dirty="0"/>
          </a:p>
        </p:txBody>
      </p:sp>
      <p:sp>
        <p:nvSpPr>
          <p:cNvPr id="12" name="Shape 9"/>
          <p:cNvSpPr/>
          <p:nvPr/>
        </p:nvSpPr>
        <p:spPr>
          <a:xfrm>
            <a:off x="2240280" y="3429000"/>
            <a:ext cx="1737360" cy="566928"/>
          </a:xfrm>
          <a:prstGeom prst="rect">
            <a:avLst/>
          </a:prstGeom>
          <a:solidFill>
            <a:srgbClr val="F2F2F2"/>
          </a:solidFill>
          <a:ln/>
        </p:spPr>
      </p:sp>
      <p:sp>
        <p:nvSpPr>
          <p:cNvPr id="13" name="Text 10"/>
          <p:cNvSpPr txBox="1"/>
          <p:nvPr/>
        </p:nvSpPr>
        <p:spPr>
          <a:xfrm>
            <a:off x="2313432" y="3447288"/>
            <a:ext cx="159105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販管費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173.1</a:t>
            </a:r>
            <a:endParaRPr lang="en-US" sz="1400" dirty="0"/>
          </a:p>
        </p:txBody>
      </p:sp>
      <p:sp>
        <p:nvSpPr>
          <p:cNvPr id="14" name="Text 11"/>
          <p:cNvSpPr txBox="1"/>
          <p:nvPr/>
        </p:nvSpPr>
        <p:spPr>
          <a:xfrm>
            <a:off x="2313432" y="3730752"/>
            <a:ext cx="159105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人件費−振替＋採用費＋その他</a:t>
            </a:r>
            <a:endParaRPr lang="en-US" sz="750" dirty="0"/>
          </a:p>
        </p:txBody>
      </p:sp>
      <p:sp>
        <p:nvSpPr>
          <p:cNvPr id="15" name="Shape 12"/>
          <p:cNvSpPr/>
          <p:nvPr/>
        </p:nvSpPr>
        <p:spPr>
          <a:xfrm>
            <a:off x="4251960" y="1024128"/>
            <a:ext cx="2103120" cy="566928"/>
          </a:xfrm>
          <a:prstGeom prst="rect">
            <a:avLst/>
          </a:prstGeom>
          <a:solidFill>
            <a:srgbClr val="F2F2F2"/>
          </a:solidFill>
          <a:ln/>
        </p:spPr>
      </p:sp>
      <p:sp>
        <p:nvSpPr>
          <p:cNvPr id="16" name="Text 13"/>
          <p:cNvSpPr txBox="1"/>
          <p:nvPr/>
        </p:nvSpPr>
        <p:spPr>
          <a:xfrm>
            <a:off x="4325112" y="104241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利用料の粗利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139.3</a:t>
            </a:r>
            <a:endParaRPr lang="en-US" sz="1400" dirty="0"/>
          </a:p>
        </p:txBody>
      </p:sp>
      <p:sp>
        <p:nvSpPr>
          <p:cNvPr id="17" name="Text 14"/>
          <p:cNvSpPr txBox="1"/>
          <p:nvPr/>
        </p:nvSpPr>
        <p:spPr>
          <a:xfrm>
            <a:off x="4325112" y="132588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利用料193.5−AI・保存54.2</a:t>
            </a:r>
            <a:endParaRPr lang="en-US" sz="750" dirty="0"/>
          </a:p>
        </p:txBody>
      </p:sp>
      <p:sp>
        <p:nvSpPr>
          <p:cNvPr id="18" name="Shape 15"/>
          <p:cNvSpPr/>
          <p:nvPr/>
        </p:nvSpPr>
        <p:spPr>
          <a:xfrm>
            <a:off x="4251960" y="1682496"/>
            <a:ext cx="2103120" cy="566928"/>
          </a:xfrm>
          <a:prstGeom prst="rect">
            <a:avLst/>
          </a:prstGeom>
          <a:solidFill>
            <a:srgbClr val="F2F2F2"/>
          </a:solidFill>
          <a:ln/>
        </p:spPr>
      </p:sp>
      <p:sp>
        <p:nvSpPr>
          <p:cNvPr id="19" name="Text 16"/>
          <p:cNvSpPr txBox="1"/>
          <p:nvPr/>
        </p:nvSpPr>
        <p:spPr>
          <a:xfrm>
            <a:off x="4325112" y="1700784"/>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サービスの粗利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22.6</a:t>
            </a:r>
            <a:endParaRPr lang="en-US" sz="1400" dirty="0"/>
          </a:p>
        </p:txBody>
      </p:sp>
      <p:sp>
        <p:nvSpPr>
          <p:cNvPr id="20" name="Text 17"/>
          <p:cNvSpPr txBox="1"/>
          <p:nvPr/>
        </p:nvSpPr>
        <p:spPr>
          <a:xfrm>
            <a:off x="4325112" y="1984248"/>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支援・個社設定75.5−人件費・交通52.9</a:t>
            </a:r>
            <a:endParaRPr lang="en-US" sz="750" dirty="0"/>
          </a:p>
        </p:txBody>
      </p:sp>
      <p:sp>
        <p:nvSpPr>
          <p:cNvPr id="21" name="Shape 18"/>
          <p:cNvSpPr/>
          <p:nvPr/>
        </p:nvSpPr>
        <p:spPr>
          <a:xfrm>
            <a:off x="4251960" y="3017520"/>
            <a:ext cx="2103120" cy="566928"/>
          </a:xfrm>
          <a:prstGeom prst="rect">
            <a:avLst/>
          </a:prstGeom>
          <a:solidFill>
            <a:srgbClr val="F2F2F2"/>
          </a:solidFill>
          <a:ln/>
        </p:spPr>
      </p:sp>
      <p:sp>
        <p:nvSpPr>
          <p:cNvPr id="22" name="Text 19"/>
          <p:cNvSpPr txBox="1"/>
          <p:nvPr/>
        </p:nvSpPr>
        <p:spPr>
          <a:xfrm>
            <a:off x="4325112" y="3035808"/>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人件費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186.8</a:t>
            </a:r>
            <a:endParaRPr lang="en-US" sz="1400" dirty="0"/>
          </a:p>
        </p:txBody>
      </p:sp>
      <p:sp>
        <p:nvSpPr>
          <p:cNvPr id="23" name="Text 20"/>
          <p:cNvSpPr txBox="1"/>
          <p:nvPr/>
        </p:nvSpPr>
        <p:spPr>
          <a:xfrm>
            <a:off x="4325112" y="3319272"/>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社員23人・役割別の年収×1.2</a:t>
            </a:r>
            <a:endParaRPr lang="en-US" sz="750" dirty="0"/>
          </a:p>
        </p:txBody>
      </p:sp>
      <p:sp>
        <p:nvSpPr>
          <p:cNvPr id="24" name="Shape 21"/>
          <p:cNvSpPr/>
          <p:nvPr/>
        </p:nvSpPr>
        <p:spPr>
          <a:xfrm>
            <a:off x="4251960" y="3675888"/>
            <a:ext cx="2103120" cy="566928"/>
          </a:xfrm>
          <a:prstGeom prst="rect">
            <a:avLst/>
          </a:prstGeom>
          <a:solidFill>
            <a:srgbClr val="F2F2F2"/>
          </a:solidFill>
          <a:ln/>
        </p:spPr>
      </p:sp>
      <p:sp>
        <p:nvSpPr>
          <p:cNvPr id="25" name="Text 22"/>
          <p:cNvSpPr txBox="1"/>
          <p:nvPr/>
        </p:nvSpPr>
        <p:spPr>
          <a:xfrm>
            <a:off x="4325112" y="3694176"/>
            <a:ext cx="195681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振替・採用・その他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−47.9 / +34.2</a:t>
            </a:r>
            <a:endParaRPr lang="en-US" sz="1400" dirty="0"/>
          </a:p>
        </p:txBody>
      </p:sp>
      <p:sp>
        <p:nvSpPr>
          <p:cNvPr id="26" name="Text 23"/>
          <p:cNvSpPr txBox="1"/>
          <p:nvPr/>
        </p:nvSpPr>
        <p:spPr>
          <a:xfrm>
            <a:off x="4325112" y="3977640"/>
            <a:ext cx="195681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原価へ振替／採用費・家賃・広告など</a:t>
            </a:r>
            <a:endParaRPr lang="en-US" sz="750" dirty="0"/>
          </a:p>
        </p:txBody>
      </p:sp>
      <p:sp>
        <p:nvSpPr>
          <p:cNvPr id="27" name="Shape 24"/>
          <p:cNvSpPr/>
          <p:nvPr/>
        </p:nvSpPr>
        <p:spPr>
          <a:xfrm>
            <a:off x="6629400" y="1005840"/>
            <a:ext cx="2148840" cy="566928"/>
          </a:xfrm>
          <a:prstGeom prst="rect">
            <a:avLst/>
          </a:prstGeom>
          <a:solidFill>
            <a:srgbClr val="FFFFFF"/>
          </a:solidFill>
          <a:ln w="22225">
            <a:solidFill>
              <a:srgbClr val="B8692E"/>
            </a:solidFill>
            <a:prstDash val="solid"/>
          </a:ln>
        </p:spPr>
      </p:sp>
      <p:sp>
        <p:nvSpPr>
          <p:cNvPr id="28" name="Text 25"/>
          <p:cNvSpPr txBox="1"/>
          <p:nvPr/>
        </p:nvSpPr>
        <p:spPr>
          <a:xfrm>
            <a:off x="6702552" y="1024128"/>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前の年までの利用料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144.0</a:t>
            </a:r>
            <a:endParaRPr lang="en-US" sz="1400" dirty="0"/>
          </a:p>
        </p:txBody>
      </p:sp>
      <p:sp>
        <p:nvSpPr>
          <p:cNvPr id="29" name="Text 26"/>
          <p:cNvSpPr txBox="1"/>
          <p:nvPr/>
        </p:nvSpPr>
        <p:spPr>
          <a:xfrm>
            <a:off x="6702552" y="1307592"/>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（期首53−解約5）拠点×300万円</a:t>
            </a:r>
            <a:endParaRPr lang="en-US" sz="750" dirty="0"/>
          </a:p>
        </p:txBody>
      </p:sp>
      <p:sp>
        <p:nvSpPr>
          <p:cNvPr id="30" name="Shape 27"/>
          <p:cNvSpPr/>
          <p:nvPr/>
        </p:nvSpPr>
        <p:spPr>
          <a:xfrm>
            <a:off x="6629400" y="1609344"/>
            <a:ext cx="2148840" cy="566928"/>
          </a:xfrm>
          <a:prstGeom prst="rect">
            <a:avLst/>
          </a:prstGeom>
          <a:solidFill>
            <a:srgbClr val="FFFFFF"/>
          </a:solidFill>
          <a:ln w="22225">
            <a:solidFill>
              <a:srgbClr val="B8692E"/>
            </a:solidFill>
            <a:prstDash val="solid"/>
          </a:ln>
        </p:spPr>
      </p:sp>
      <p:sp>
        <p:nvSpPr>
          <p:cNvPr id="31" name="Text 28"/>
          <p:cNvSpPr txBox="1"/>
          <p:nvPr/>
        </p:nvSpPr>
        <p:spPr>
          <a:xfrm>
            <a:off x="6702552" y="1627632"/>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新しいお客様の利用料  </a:t>
            </a:r>
            <a:pPr algn="l" indent="0" marL="0">
              <a:lnSpc>
                <a:spcPct val="115000"/>
              </a:lnSpc>
              <a:buNone/>
            </a:pPr>
            <a:r>
              <a:rPr lang="en-US" sz="1300" b="1" dirty="0">
                <a:solidFill>
                  <a:srgbClr val="B8692E"/>
                </a:solidFill>
                <a:latin typeface="Meiryo" pitchFamily="34" charset="0"/>
                <a:ea typeface="Meiryo" pitchFamily="34" charset="-122"/>
                <a:cs typeface="Meiryo" pitchFamily="34" charset="-120"/>
              </a:rPr>
              <a:t>49.5</a:t>
            </a:r>
            <a:endParaRPr lang="en-US" sz="1400" dirty="0"/>
          </a:p>
        </p:txBody>
      </p:sp>
      <p:sp>
        <p:nvSpPr>
          <p:cNvPr id="32" name="Text 29"/>
          <p:cNvSpPr txBox="1"/>
          <p:nvPr/>
        </p:nvSpPr>
        <p:spPr>
          <a:xfrm>
            <a:off x="6702552" y="1911096"/>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新規33拠点×300万円×半年</a:t>
            </a:r>
            <a:endParaRPr lang="en-US" sz="750" dirty="0"/>
          </a:p>
        </p:txBody>
      </p:sp>
      <p:sp>
        <p:nvSpPr>
          <p:cNvPr id="33" name="Shape 30"/>
          <p:cNvSpPr/>
          <p:nvPr/>
        </p:nvSpPr>
        <p:spPr>
          <a:xfrm>
            <a:off x="6629400" y="2267712"/>
            <a:ext cx="2148840" cy="566928"/>
          </a:xfrm>
          <a:prstGeom prst="rect">
            <a:avLst/>
          </a:prstGeom>
          <a:solidFill>
            <a:srgbClr val="F2F2F2"/>
          </a:solidFill>
          <a:ln/>
        </p:spPr>
      </p:sp>
      <p:sp>
        <p:nvSpPr>
          <p:cNvPr id="34" name="Text 31"/>
          <p:cNvSpPr txBox="1"/>
          <p:nvPr/>
        </p:nvSpPr>
        <p:spPr>
          <a:xfrm>
            <a:off x="6702552" y="2286000"/>
            <a:ext cx="2002536" cy="292608"/>
          </a:xfrm>
          <a:prstGeom prst="rect">
            <a:avLst/>
          </a:prstGeom>
          <a:noFill/>
          <a:ln/>
        </p:spPr>
        <p:txBody>
          <a:bodyPr wrap="square" lIns="0" tIns="0" rIns="0" bIns="0" rtlCol="0" anchor="ctr"/>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導入支援  </a:t>
            </a:r>
            <a:pPr algn="l" indent="0" marL="0">
              <a:lnSpc>
                <a:spcPct val="115000"/>
              </a:lnSpc>
              <a:buNone/>
            </a:pPr>
            <a:r>
              <a:rPr lang="en-US" sz="1300" b="1" dirty="0">
                <a:solidFill>
                  <a:srgbClr val="1A1A1A"/>
                </a:solidFill>
                <a:latin typeface="Meiryo" pitchFamily="34" charset="0"/>
                <a:ea typeface="Meiryo" pitchFamily="34" charset="-122"/>
                <a:cs typeface="Meiryo" pitchFamily="34" charset="-120"/>
              </a:rPr>
              <a:t>66.0</a:t>
            </a:r>
            <a:endParaRPr lang="en-US" sz="1400" dirty="0"/>
          </a:p>
        </p:txBody>
      </p:sp>
      <p:sp>
        <p:nvSpPr>
          <p:cNvPr id="35" name="Text 32"/>
          <p:cNvSpPr txBox="1"/>
          <p:nvPr/>
        </p:nvSpPr>
        <p:spPr>
          <a:xfrm>
            <a:off x="6702552" y="2569464"/>
            <a:ext cx="2002536" cy="237744"/>
          </a:xfrm>
          <a:prstGeom prst="rect">
            <a:avLst/>
          </a:prstGeom>
          <a:noFill/>
          <a:ln/>
        </p:spPr>
        <p:txBody>
          <a:bodyPr wrap="square" lIns="0" tIns="0" rIns="0" bIns="0" rtlCol="0" anchor="ctr"/>
          <a:lstStyle/>
          <a:p>
            <a:pPr algn="l" indent="0" marL="0">
              <a:lnSpc>
                <a:spcPct val="115000"/>
              </a:lnSpc>
              <a:buNone/>
            </a:pPr>
            <a:r>
              <a:rPr lang="en-US" sz="750" dirty="0">
                <a:solidFill>
                  <a:srgbClr val="4D4D4D"/>
                </a:solidFill>
                <a:latin typeface="Meiryo" pitchFamily="34" charset="0"/>
                <a:ea typeface="Meiryo" pitchFamily="34" charset="-122"/>
                <a:cs typeface="Meiryo" pitchFamily="34" charset="-120"/>
              </a:rPr>
              <a:t>新規33拠点×200万円</a:t>
            </a:r>
            <a:endParaRPr lang="en-US" sz="750" dirty="0"/>
          </a:p>
        </p:txBody>
      </p:sp>
      <p:sp>
        <p:nvSpPr>
          <p:cNvPr id="36" name="Shape 33"/>
          <p:cNvSpPr/>
          <p:nvPr/>
        </p:nvSpPr>
        <p:spPr>
          <a:xfrm>
            <a:off x="2103120" y="1609344"/>
            <a:ext cx="0" cy="2103120"/>
          </a:xfrm>
          <a:prstGeom prst="line">
            <a:avLst/>
          </a:prstGeom>
          <a:noFill/>
          <a:ln w="12700">
            <a:solidFill>
              <a:srgbClr val="8C8C8C"/>
            </a:solidFill>
            <a:prstDash val="solid"/>
          </a:ln>
        </p:spPr>
      </p:sp>
      <p:sp>
        <p:nvSpPr>
          <p:cNvPr id="37" name="Shape 34"/>
          <p:cNvSpPr/>
          <p:nvPr/>
        </p:nvSpPr>
        <p:spPr>
          <a:xfrm>
            <a:off x="1965960" y="2660904"/>
            <a:ext cx="137160" cy="0"/>
          </a:xfrm>
          <a:prstGeom prst="line">
            <a:avLst/>
          </a:prstGeom>
          <a:noFill/>
          <a:ln w="12700">
            <a:solidFill>
              <a:srgbClr val="8C8C8C"/>
            </a:solidFill>
            <a:prstDash val="solid"/>
          </a:ln>
        </p:spPr>
      </p:sp>
      <p:sp>
        <p:nvSpPr>
          <p:cNvPr id="38" name="Shape 35"/>
          <p:cNvSpPr/>
          <p:nvPr/>
        </p:nvSpPr>
        <p:spPr>
          <a:xfrm>
            <a:off x="2103120" y="1609344"/>
            <a:ext cx="137160" cy="0"/>
          </a:xfrm>
          <a:prstGeom prst="line">
            <a:avLst/>
          </a:prstGeom>
          <a:noFill/>
          <a:ln w="12700">
            <a:solidFill>
              <a:srgbClr val="8C8C8C"/>
            </a:solidFill>
            <a:prstDash val="solid"/>
          </a:ln>
        </p:spPr>
      </p:sp>
      <p:sp>
        <p:nvSpPr>
          <p:cNvPr id="39" name="Shape 36"/>
          <p:cNvSpPr/>
          <p:nvPr/>
        </p:nvSpPr>
        <p:spPr>
          <a:xfrm>
            <a:off x="2103120" y="3712464"/>
            <a:ext cx="137160" cy="0"/>
          </a:xfrm>
          <a:prstGeom prst="line">
            <a:avLst/>
          </a:prstGeom>
          <a:noFill/>
          <a:ln w="12700">
            <a:solidFill>
              <a:srgbClr val="8C8C8C"/>
            </a:solidFill>
            <a:prstDash val="solid"/>
          </a:ln>
        </p:spPr>
      </p:sp>
      <p:sp>
        <p:nvSpPr>
          <p:cNvPr id="40" name="Shape 37"/>
          <p:cNvSpPr/>
          <p:nvPr/>
        </p:nvSpPr>
        <p:spPr>
          <a:xfrm>
            <a:off x="4114800" y="1307592"/>
            <a:ext cx="0" cy="658368"/>
          </a:xfrm>
          <a:prstGeom prst="line">
            <a:avLst/>
          </a:prstGeom>
          <a:noFill/>
          <a:ln w="12700">
            <a:solidFill>
              <a:srgbClr val="8C8C8C"/>
            </a:solidFill>
            <a:prstDash val="solid"/>
          </a:ln>
        </p:spPr>
      </p:sp>
      <p:sp>
        <p:nvSpPr>
          <p:cNvPr id="41" name="Shape 38"/>
          <p:cNvSpPr/>
          <p:nvPr/>
        </p:nvSpPr>
        <p:spPr>
          <a:xfrm>
            <a:off x="3977640" y="1609344"/>
            <a:ext cx="137160" cy="0"/>
          </a:xfrm>
          <a:prstGeom prst="line">
            <a:avLst/>
          </a:prstGeom>
          <a:noFill/>
          <a:ln w="12700">
            <a:solidFill>
              <a:srgbClr val="8C8C8C"/>
            </a:solidFill>
            <a:prstDash val="solid"/>
          </a:ln>
        </p:spPr>
      </p:sp>
      <p:sp>
        <p:nvSpPr>
          <p:cNvPr id="42" name="Shape 39"/>
          <p:cNvSpPr/>
          <p:nvPr/>
        </p:nvSpPr>
        <p:spPr>
          <a:xfrm>
            <a:off x="4114800" y="1307592"/>
            <a:ext cx="137160" cy="0"/>
          </a:xfrm>
          <a:prstGeom prst="line">
            <a:avLst/>
          </a:prstGeom>
          <a:noFill/>
          <a:ln w="12700">
            <a:solidFill>
              <a:srgbClr val="8C8C8C"/>
            </a:solidFill>
            <a:prstDash val="solid"/>
          </a:ln>
        </p:spPr>
      </p:sp>
      <p:sp>
        <p:nvSpPr>
          <p:cNvPr id="43" name="Shape 40"/>
          <p:cNvSpPr/>
          <p:nvPr/>
        </p:nvSpPr>
        <p:spPr>
          <a:xfrm>
            <a:off x="4114800" y="1965960"/>
            <a:ext cx="137160" cy="0"/>
          </a:xfrm>
          <a:prstGeom prst="line">
            <a:avLst/>
          </a:prstGeom>
          <a:noFill/>
          <a:ln w="12700">
            <a:solidFill>
              <a:srgbClr val="8C8C8C"/>
            </a:solidFill>
            <a:prstDash val="solid"/>
          </a:ln>
        </p:spPr>
      </p:sp>
      <p:sp>
        <p:nvSpPr>
          <p:cNvPr id="44" name="Shape 41"/>
          <p:cNvSpPr/>
          <p:nvPr/>
        </p:nvSpPr>
        <p:spPr>
          <a:xfrm>
            <a:off x="4114800" y="3300984"/>
            <a:ext cx="0" cy="658368"/>
          </a:xfrm>
          <a:prstGeom prst="line">
            <a:avLst/>
          </a:prstGeom>
          <a:noFill/>
          <a:ln w="12700">
            <a:solidFill>
              <a:srgbClr val="8C8C8C"/>
            </a:solidFill>
            <a:prstDash val="solid"/>
          </a:ln>
        </p:spPr>
      </p:sp>
      <p:sp>
        <p:nvSpPr>
          <p:cNvPr id="45" name="Shape 42"/>
          <p:cNvSpPr/>
          <p:nvPr/>
        </p:nvSpPr>
        <p:spPr>
          <a:xfrm>
            <a:off x="3977640" y="3712464"/>
            <a:ext cx="137160" cy="0"/>
          </a:xfrm>
          <a:prstGeom prst="line">
            <a:avLst/>
          </a:prstGeom>
          <a:noFill/>
          <a:ln w="12700">
            <a:solidFill>
              <a:srgbClr val="8C8C8C"/>
            </a:solidFill>
            <a:prstDash val="solid"/>
          </a:ln>
        </p:spPr>
      </p:sp>
      <p:sp>
        <p:nvSpPr>
          <p:cNvPr id="46" name="Shape 43"/>
          <p:cNvSpPr/>
          <p:nvPr/>
        </p:nvSpPr>
        <p:spPr>
          <a:xfrm>
            <a:off x="4114800" y="3300984"/>
            <a:ext cx="137160" cy="0"/>
          </a:xfrm>
          <a:prstGeom prst="line">
            <a:avLst/>
          </a:prstGeom>
          <a:noFill/>
          <a:ln w="12700">
            <a:solidFill>
              <a:srgbClr val="8C8C8C"/>
            </a:solidFill>
            <a:prstDash val="solid"/>
          </a:ln>
        </p:spPr>
      </p:sp>
      <p:sp>
        <p:nvSpPr>
          <p:cNvPr id="47" name="Shape 44"/>
          <p:cNvSpPr/>
          <p:nvPr/>
        </p:nvSpPr>
        <p:spPr>
          <a:xfrm>
            <a:off x="4114800" y="3959352"/>
            <a:ext cx="137160" cy="0"/>
          </a:xfrm>
          <a:prstGeom prst="line">
            <a:avLst/>
          </a:prstGeom>
          <a:noFill/>
          <a:ln w="12700">
            <a:solidFill>
              <a:srgbClr val="8C8C8C"/>
            </a:solidFill>
            <a:prstDash val="solid"/>
          </a:ln>
        </p:spPr>
      </p:sp>
      <p:sp>
        <p:nvSpPr>
          <p:cNvPr id="48" name="Shape 45"/>
          <p:cNvSpPr/>
          <p:nvPr/>
        </p:nvSpPr>
        <p:spPr>
          <a:xfrm>
            <a:off x="6492240" y="1289304"/>
            <a:ext cx="0" cy="603504"/>
          </a:xfrm>
          <a:prstGeom prst="line">
            <a:avLst/>
          </a:prstGeom>
          <a:noFill/>
          <a:ln w="12700">
            <a:solidFill>
              <a:srgbClr val="8C8C8C"/>
            </a:solidFill>
            <a:prstDash val="solid"/>
          </a:ln>
        </p:spPr>
      </p:sp>
      <p:sp>
        <p:nvSpPr>
          <p:cNvPr id="49" name="Shape 46"/>
          <p:cNvSpPr/>
          <p:nvPr/>
        </p:nvSpPr>
        <p:spPr>
          <a:xfrm>
            <a:off x="6355080" y="1307592"/>
            <a:ext cx="137160" cy="0"/>
          </a:xfrm>
          <a:prstGeom prst="line">
            <a:avLst/>
          </a:prstGeom>
          <a:noFill/>
          <a:ln w="12700">
            <a:solidFill>
              <a:srgbClr val="8C8C8C"/>
            </a:solidFill>
            <a:prstDash val="solid"/>
          </a:ln>
        </p:spPr>
      </p:sp>
      <p:sp>
        <p:nvSpPr>
          <p:cNvPr id="50" name="Shape 47"/>
          <p:cNvSpPr/>
          <p:nvPr/>
        </p:nvSpPr>
        <p:spPr>
          <a:xfrm>
            <a:off x="6492240" y="1892808"/>
            <a:ext cx="137160" cy="0"/>
          </a:xfrm>
          <a:prstGeom prst="line">
            <a:avLst/>
          </a:prstGeom>
          <a:noFill/>
          <a:ln w="12700">
            <a:solidFill>
              <a:srgbClr val="8C8C8C"/>
            </a:solidFill>
            <a:prstDash val="solid"/>
          </a:ln>
        </p:spPr>
      </p:sp>
      <p:sp>
        <p:nvSpPr>
          <p:cNvPr id="51" name="Shape 48"/>
          <p:cNvSpPr/>
          <p:nvPr/>
        </p:nvSpPr>
        <p:spPr>
          <a:xfrm>
            <a:off x="6355080" y="1965960"/>
            <a:ext cx="137160" cy="0"/>
          </a:xfrm>
          <a:prstGeom prst="line">
            <a:avLst/>
          </a:prstGeom>
          <a:noFill/>
          <a:ln w="12700">
            <a:solidFill>
              <a:srgbClr val="8C8C8C"/>
            </a:solidFill>
            <a:prstDash val="solid"/>
          </a:ln>
        </p:spPr>
      </p:sp>
      <p:sp>
        <p:nvSpPr>
          <p:cNvPr id="52" name="Shape 49"/>
          <p:cNvSpPr/>
          <p:nvPr/>
        </p:nvSpPr>
        <p:spPr>
          <a:xfrm>
            <a:off x="6492240" y="1965960"/>
            <a:ext cx="0" cy="585216"/>
          </a:xfrm>
          <a:prstGeom prst="line">
            <a:avLst/>
          </a:prstGeom>
          <a:noFill/>
          <a:ln w="12700">
            <a:solidFill>
              <a:srgbClr val="8C8C8C"/>
            </a:solidFill>
            <a:prstDash val="solid"/>
          </a:ln>
        </p:spPr>
      </p:sp>
      <p:sp>
        <p:nvSpPr>
          <p:cNvPr id="53" name="Shape 50"/>
          <p:cNvSpPr/>
          <p:nvPr/>
        </p:nvSpPr>
        <p:spPr>
          <a:xfrm>
            <a:off x="6492240" y="2551176"/>
            <a:ext cx="137160" cy="0"/>
          </a:xfrm>
          <a:prstGeom prst="line">
            <a:avLst/>
          </a:prstGeom>
          <a:noFill/>
          <a:ln w="12700">
            <a:solidFill>
              <a:srgbClr val="8C8C8C"/>
            </a:solidFill>
            <a:prstDash val="solid"/>
          </a:ln>
        </p:spPr>
      </p:sp>
      <p:sp>
        <p:nvSpPr>
          <p:cNvPr id="54" name="Shape 51"/>
          <p:cNvSpPr/>
          <p:nvPr/>
        </p:nvSpPr>
        <p:spPr>
          <a:xfrm>
            <a:off x="6629400" y="3017520"/>
            <a:ext cx="2148840" cy="1225296"/>
          </a:xfrm>
          <a:prstGeom prst="rect">
            <a:avLst/>
          </a:prstGeom>
          <a:solidFill>
            <a:srgbClr val="1A1A1A"/>
          </a:solidFill>
          <a:ln/>
        </p:spPr>
      </p:sp>
      <p:sp>
        <p:nvSpPr>
          <p:cNvPr id="55" name="Text 52"/>
          <p:cNvSpPr txBox="1"/>
          <p:nvPr/>
        </p:nvSpPr>
        <p:spPr>
          <a:xfrm>
            <a:off x="6739128" y="3063240"/>
            <a:ext cx="1965960" cy="11430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動かせるのは3つだけ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① 拠点数（新規−解約）</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② 1拠点の台数</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③ 社員数（採用のペース）</a:t>
            </a:r>
            <a:endParaRPr lang="en-US" sz="950" dirty="0"/>
          </a:p>
        </p:txBody>
      </p:sp>
      <p:sp>
        <p:nvSpPr>
          <p:cNvPr id="56" name="Text 5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個社設定（9.5百万円・当社の導入コンサルタントが行う）はサービスに含む。端数は四捨五入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全ページ共通</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前提と懸念の一覧 ─ 確度の低いものから実証で測る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統計＝公的統計・制度　公表＝メーカー・クラウドの公表価格　見積＝社内見積　仮説＝実証で測る</a:t>
            </a:r>
            <a:endParaRPr lang="en-US" sz="1200" dirty="0"/>
          </a:p>
        </p:txBody>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194560"/>
                <a:gridCol w="256032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懸念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どう確かめるか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1時間の人件費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3,300円／3,700円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最新年の原表を未確認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e-Statで令和6年値に差し替え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1台1日の削減時間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35分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得の大半を占める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実証で導入前後を記録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端末の台数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職長だけで足りるか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実証で班ごとに使い方を見る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値段</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基盤月5万＋月2万／台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払ってもらえるか未検証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実証3社に価格を聞く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AI・保存の原価</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1台月6,000円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使い方で大きく変わる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実証で台ごとの実費を測る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グラスとリース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AIグラス8万・表示付き12万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公表</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国内の正規販売・料率が未確認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販売店・リース会社の見積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グラスの性能</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要所の記録で1日もつ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録画の長さ・電池・規格</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準備期に実機で1日使う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導入支援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42人日・200万円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3D化で人日が増える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1社目の実績で更新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手戻りの削減</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対象30%×20%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AIの精度と監修の手間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手戻り件数を実証で記録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年10%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日本の調査がない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更新時の継続率を記録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会える率・成約率</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45〜60%・15〜30%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B8692E"/>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4年続けられるか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最初の商談で記録</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年収・採用費</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役割別×1.2＋紹介料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採用市場の相場</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紹介会社の見積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自己資金</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1年目2億＋3年目0.5億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線を越えたときだけ入れる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撤退ラインで判断</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1時間の人件費 ─ 統計の年収÷残業を含む総労働時間</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年収（残業代・賞与込み）を、残業も含めた1年の総労働時間で割る</a:t>
            </a:r>
            <a:endParaRPr lang="en-US" sz="1200" dirty="0"/>
          </a:p>
        </p:txBody>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電工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根拠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年収（残業代・賞与込み）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551万円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620万円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賃金構造基本統計調査（電気工事従事者 令和5年。令和6年も約548〜551万円）／建築・土木技術者で代用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会社負担の社会保険料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健保約5.0%＋厚年9.15%＋雇用（建設）1.1%＋子ども・子育て拠出金0.36%＋労災 約1.2%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年間の総実労働時間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1,938時間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毎月勤労統計調査 令和6年 建設業 月161.5時間×12。残業を含む</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 1時間あたり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約3,300円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約3,700円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残業が減る分は×1.25で評価できるが、計画では使わない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2834640"/>
            <a:ext cx="4069080" cy="1600200"/>
          </a:xfrm>
          <a:prstGeom prst="rect">
            <a:avLst/>
          </a:prstGeom>
          <a:solidFill>
            <a:srgbClr val="F2F2F2"/>
          </a:solidFill>
          <a:ln/>
        </p:spPr>
      </p:sp>
      <p:sp>
        <p:nvSpPr>
          <p:cNvPr id="8" name="Text 4"/>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1,950時間との違い</a:t>
            </a:r>
            <a:endParaRPr lang="en-US" sz="950" dirty="0"/>
          </a:p>
          <a:p>
            <a:pPr algn="l" indent="0" marL="0">
              <a:lnSpc>
                <a:spcPct val="115000"/>
              </a:lnSpc>
              <a:spcAft>
                <a:spcPts val="300"/>
              </a:spcAft>
              <a:buNone/>
            </a:pPr>
            <a:r>
              <a:rPr lang="en-US" sz="950" b="1" dirty="0">
                <a:solidFill>
                  <a:srgbClr val="1A1A1A"/>
                </a:solidFill>
                <a:latin typeface="Meiryo" pitchFamily="34" charset="0"/>
                <a:ea typeface="Meiryo" pitchFamily="34" charset="-122"/>
                <a:cs typeface="Meiryo" pitchFamily="34" charset="-120"/>
              </a:rPr>
              <a:t>1日8時間 × 約244日 ＝ 1,952時間</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これは所定の時間の目安で、残業を含まない。統計の実績1,938時間は残業込み。値は近いが意味が違うので、計画は統計の実績を使う</a:t>
            </a:r>
            <a:endParaRPr lang="en-US" sz="950" dirty="0"/>
          </a:p>
        </p:txBody>
      </p:sp>
      <p:sp>
        <p:nvSpPr>
          <p:cNvPr id="9" name="Shape 5"/>
          <p:cNvSpPr/>
          <p:nvPr/>
        </p:nvSpPr>
        <p:spPr>
          <a:xfrm>
            <a:off x="4709160" y="2834640"/>
            <a:ext cx="4069080" cy="1600200"/>
          </a:xfrm>
          <a:prstGeom prst="rect">
            <a:avLst/>
          </a:prstGeom>
          <a:solidFill>
            <a:srgbClr val="FFFFFF"/>
          </a:solidFill>
          <a:ln w="19050">
            <a:solidFill>
              <a:srgbClr val="B8692E"/>
            </a:solidFill>
            <a:prstDash val="solid"/>
          </a:ln>
        </p:spPr>
      </p:sp>
      <p:sp>
        <p:nvSpPr>
          <p:cNvPr id="10" name="Text 6"/>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なぜ残業を含めるか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年収には残業代が含まれるので、割る時間も残業を含めないと単価が高く出る。</a:t>
            </a:r>
            <a:endParaRPr lang="en-US" sz="950" dirty="0"/>
          </a:p>
          <a:p>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書類の時間が減って残業が減るなら、その時間は割増25%の分だけ価値が高い（上振れ）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削減時間 ─ 得をするのは、グラスを掛けた班だけ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「社員全員が減る」とは数えない。1拠点10台×1台1日35分で数える</a:t>
            </a:r>
            <a:endParaRPr lang="en-US" sz="1200" dirty="0"/>
          </a:p>
        </p:txBody>
      </p:sp>
      <p:sp>
        <p:nvSpPr>
          <p:cNvPr id="6" name="Shape 3"/>
          <p:cNvSpPr/>
          <p:nvPr/>
        </p:nvSpPr>
        <p:spPr>
          <a:xfrm>
            <a:off x="365760" y="1024128"/>
            <a:ext cx="4069080" cy="1371600"/>
          </a:xfrm>
          <a:prstGeom prst="rect">
            <a:avLst/>
          </a:prstGeom>
          <a:solidFill>
            <a:srgbClr val="F2F2F2"/>
          </a:solidFill>
          <a:ln/>
        </p:spPr>
      </p:sp>
      <p:sp>
        <p:nvSpPr>
          <p:cNvPr id="7" name="Text 4"/>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式</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B8692E"/>
                </a:solidFill>
                <a:latin typeface="Meiryo" pitchFamily="34" charset="0"/>
                <a:ea typeface="Meiryo" pitchFamily="34" charset="-122"/>
                <a:cs typeface="Meiryo" pitchFamily="34" charset="-120"/>
              </a:rPr>
              <a:t>＝ 年 約499万円</a:t>
            </a:r>
            <a:endParaRPr lang="en-US" sz="950" dirty="0"/>
          </a:p>
          <a:p>
            <a:pPr algn="l" indent="0" marL="0">
              <a:lnSpc>
                <a:spcPct val="115000"/>
              </a:lnSpc>
              <a:spcAft>
                <a:spcPts val="200"/>
              </a:spcAft>
              <a:buNone/>
            </a:pPr>
            <a:r>
              <a:rPr lang="en-US" sz="900" dirty="0">
                <a:solidFill>
                  <a:srgbClr val="4D4D4D"/>
                </a:solidFill>
                <a:latin typeface="Meiryo" pitchFamily="34" charset="0"/>
                <a:ea typeface="Meiryo" pitchFamily="34" charset="-122"/>
                <a:cs typeface="Meiryo" pitchFamily="34" charset="-120"/>
              </a:rPr>
              <a:t>浮く時間は年1,400時間（10台分）</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中身（1台1日・仮説）</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誰の時間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日報・撮影・黒板の書き込み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職長</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写真の整理・写真台帳・報告書</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施工管理者</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1台1日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お客様の得（書類）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÷費用</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手戻り込み</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358万円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1.1倍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35分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499万円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60分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857万円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2.6倍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3.7倍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Shape 6"/>
          <p:cNvSpPr/>
          <p:nvPr/>
        </p:nvSpPr>
        <p:spPr>
          <a:xfrm>
            <a:off x="4709160" y="2505456"/>
            <a:ext cx="4069080" cy="914400"/>
          </a:xfrm>
          <a:prstGeom prst="rect">
            <a:avLst/>
          </a:prstGeom>
          <a:solidFill>
            <a:srgbClr val="FFFFFF"/>
          </a:solidFill>
          <a:ln w="19050">
            <a:solidFill>
              <a:srgbClr val="B8692E"/>
            </a:solidFill>
            <a:prstDash val="solid"/>
          </a:ln>
        </p:spPr>
      </p:sp>
      <p:sp>
        <p:nvSpPr>
          <p:cNvPr id="12" name="Text 7"/>
          <p:cNvSpPr txBox="1"/>
          <p:nvPr/>
        </p:nvSpPr>
        <p:spPr>
          <a:xfrm>
            <a:off x="4846320" y="2505456"/>
            <a:ext cx="3794760" cy="91440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借りてきた数字は使わない</a:t>
            </a:r>
            <a:endParaRPr lang="en-US" sz="950" dirty="0"/>
          </a:p>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建設業の書類電子化の実績（月6.5時間）は原典を確認できておらず、ARグラスの効果とも違う。削減時間は実証で測る</a:t>
            </a:r>
            <a:endParaRPr lang="en-US" sz="950" dirty="0"/>
          </a:p>
        </p:txBody>
      </p:sp>
      <p:sp>
        <p:nvSpPr>
          <p:cNvPr id="13" name="Shape 8"/>
          <p:cNvSpPr/>
          <p:nvPr/>
        </p:nvSpPr>
        <p:spPr>
          <a:xfrm>
            <a:off x="365760" y="3611880"/>
            <a:ext cx="8412480" cy="841248"/>
          </a:xfrm>
          <a:prstGeom prst="rect">
            <a:avLst/>
          </a:prstGeom>
          <a:solidFill>
            <a:srgbClr val="1A1A1A"/>
          </a:solidFill>
          <a:ln/>
        </p:spPr>
      </p:sp>
      <p:sp>
        <p:nvSpPr>
          <p:cNvPr id="14" name="Text 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実証での測り方：</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合格ラインは1台1日23分以上（p.8）</a:t>
            </a:r>
            <a:endParaRPr lang="en-US" sz="95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年240日は端末を使う日数の見積。1拠点10台は「1班に1台・職長が着ける」前提（p.10）</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p.7・9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手戻りと新人指導 ─ 実証で測るまで計画に入れない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AIの出力がそのまま現場で使える前提の数字は、計画に入れない</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手戻り：対象工種に絞って上振れに回す</a:t>
            </a:r>
            <a:endParaRPr lang="en-US" sz="1050" dirty="0"/>
          </a:p>
        </p:txBody>
      </p:sp>
      <p:sp>
        <p:nvSpPr>
          <p:cNvPr id="7" name="Shape 4"/>
          <p:cNvSpPr/>
          <p:nvPr/>
        </p:nvSpPr>
        <p:spPr>
          <a:xfrm>
            <a:off x="365760" y="1298448"/>
            <a:ext cx="4069080" cy="914400"/>
          </a:xfrm>
          <a:prstGeom prst="rect">
            <a:avLst/>
          </a:prstGeom>
          <a:solidFill>
            <a:srgbClr val="F2F2F2"/>
          </a:solidFill>
          <a:ln/>
        </p:spPr>
      </p:sp>
      <p:sp>
        <p:nvSpPr>
          <p:cNvPr id="8" name="Text 5"/>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完成工事高30億円 × 手戻り2% × 対象工種30% × 削減20%</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年360万円（上振れ・計画に入れない）</a:t>
            </a:r>
            <a:endParaRPr lang="en-US" sz="950" dirty="0"/>
          </a:p>
        </p:txBody>
      </p:sp>
      <p:sp>
        <p:nvSpPr>
          <p:cNvPr id="9" name="Text 6"/>
          <p:cNvSpPr txBox="1"/>
          <p:nvPr/>
        </p:nvSpPr>
        <p:spPr>
          <a:xfrm>
            <a:off x="365760" y="2322576"/>
            <a:ext cx="4069080" cy="118872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かかる手間（当社）</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・AIの出力はそのまま報告書にならない。現場監修が確認する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・工種ごとに組立図の3D化とミス事例の登録がいる</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 導入支援と現場監修の人件費として、当社の費用に入れた</a:t>
            </a:r>
            <a:endParaRPr lang="en-US" sz="950" dirty="0"/>
          </a:p>
        </p:txBody>
      </p:sp>
      <p:sp>
        <p:nvSpPr>
          <p:cNvPr id="10"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新人指導：金額にせず、3つの数で測る</a:t>
            </a:r>
            <a:endParaRPr lang="en-US" sz="1050" dirty="0"/>
          </a:p>
        </p:txBody>
      </p:sp>
      <p:sp>
        <p:nvSpPr>
          <p:cNvPr id="11" name="Shape 8"/>
          <p:cNvSpPr/>
          <p:nvPr/>
        </p:nvSpPr>
        <p:spPr>
          <a:xfrm>
            <a:off x="4709160" y="1298448"/>
            <a:ext cx="4069080" cy="914400"/>
          </a:xfrm>
          <a:prstGeom prst="rect">
            <a:avLst/>
          </a:prstGeom>
          <a:solidFill>
            <a:srgbClr val="FFFFFF"/>
          </a:solidFill>
          <a:ln w="19050">
            <a:solidFill>
              <a:srgbClr val="B8692E"/>
            </a:solidFill>
            <a:prstDash val="solid"/>
          </a:ln>
        </p:spPr>
      </p:sp>
      <p:sp>
        <p:nvSpPr>
          <p:cNvPr id="12" name="Text 9"/>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測る数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測り方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独り立ちまでの月数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職長が「一人で任せられる」と判定した日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先輩が付き添った時間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日報に付き添いの時間を記録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新人のやり直し件数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検査での指摘・やり直しの記録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10"/>
          <p:cNvSpPr/>
          <p:nvPr/>
        </p:nvSpPr>
        <p:spPr>
          <a:xfrm>
            <a:off x="365760" y="3611880"/>
            <a:ext cx="8412480" cy="841248"/>
          </a:xfrm>
          <a:prstGeom prst="rect">
            <a:avLst/>
          </a:prstGeom>
          <a:solidFill>
            <a:srgbClr val="1A1A1A"/>
          </a:solidFill>
          <a:ln/>
        </p:spPr>
      </p:sp>
      <p:sp>
        <p:nvSpPr>
          <p:cNvPr id="15" name="Text 1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計画に入れるのは書類の削減だけ：</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年499万円。手戻り360万円と新人指導は、実証で数字が出てから加える。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本編の導入効果（p.7）は、書類の時間だけで示している</a:t>
            </a:r>
            <a:endParaRPr lang="en-US" sz="950" dirty="0"/>
          </a:p>
        </p:txBody>
      </p:sp>
      <p:sp>
        <p:nvSpPr>
          <p:cNvPr id="16" name="Text 1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p.9・20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お客様が元を取る条件 ─ 1台1日23分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お客様が払うのは「当社への利用料」と「グラスのリース」。初年度は導入支援も</a:t>
            </a:r>
            <a:endParaRPr lang="en-US" sz="1200" dirty="0"/>
          </a:p>
        </p:txBody>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お客様が払うもの（1拠点・年）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当社：基盤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当社：端末ライセンス 月2万円×10台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リース：カメラ付きAIグラス8台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リース：表示付きARグラス2台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2年目以降の合計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332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初年度は＋導入支援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035808"/>
            <a:ext cx="4069080" cy="566928"/>
          </a:xfrm>
          <a:prstGeom prst="rect">
            <a:avLst/>
          </a:prstGeom>
          <a:solidFill>
            <a:srgbClr val="F2F2F2"/>
          </a:solidFill>
          <a:ln/>
        </p:spPr>
      </p:sp>
      <p:sp>
        <p:nvSpPr>
          <p:cNvPr id="8" name="Text 4"/>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332万円 ÷（10台×240日）＝ 1台1日 約1,382円</a:t>
            </a:r>
            <a:endParaRPr lang="en-US" sz="950" dirty="0"/>
          </a:p>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 今の単価で約23分減れば元が取れる</a:t>
            </a:r>
            <a:endParaRPr lang="en-US" sz="95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お客様の倍率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当社の黒字化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月25万円・10台（計画）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月18万円に値下げ</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2.0倍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15台に増やす（同じ単価）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1.5倍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台数を増やしても、お客様の倍率は1台あたりの得で決まるので変わらない。当社は1拠点の売上が増えて黒字化が早まる</a:t>
            </a:r>
            <a:endParaRPr lang="en-US" sz="900" dirty="0"/>
          </a:p>
        </p:txBody>
      </p:sp>
      <p:sp>
        <p:nvSpPr>
          <p:cNvPr id="12" name="Shape 7"/>
          <p:cNvSpPr/>
          <p:nvPr/>
        </p:nvSpPr>
        <p:spPr>
          <a:xfrm>
            <a:off x="365760" y="3611880"/>
            <a:ext cx="8412480" cy="841248"/>
          </a:xfrm>
          <a:prstGeom prst="rect">
            <a:avLst/>
          </a:prstGeom>
          <a:solidFill>
            <a:srgbClr val="1A1A1A"/>
          </a:solidFill>
          <a:ln/>
        </p:spPr>
      </p:sp>
      <p:sp>
        <p:nvSpPr>
          <p:cNvPr id="13" name="Text 8"/>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実証の合格ライン：1台1日23分以上の削減、または手戻りの減少を記録で示せること</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p.3・19・20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値段の内訳 ─ 「会社の基盤」＋「端末の台数」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会社に1つかかる費用と、端末1台ごとにかかる費用を分けた。標準の10台で年300万円</a:t>
            </a:r>
            <a:endParaRPr lang="en-US" sz="1200" dirty="0"/>
          </a:p>
        </p:txBody>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値段</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当社の原価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基盤（1拠点）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会社ごとのデータ保管庫・管理画面・図面と手順の登録・権限・月次の効果レポート・問い合わせ窓口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端末ライセンス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月2万円／台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 → 写真の自動抽出 → 日報・写真台帳を各社の書式で作成。録画は端末に無制限、AIで解析する場面に月の上限、超過は従量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月0.6万円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グラス本体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当社の売上外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お客様の名義でリース、手続きは当社が代行（p.29）。当社は機種の選定・設定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導入支援（初年度）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約2か月・42人日（p.13）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141万円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オプション：教材化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熟練者の作業を手順の動画と注意点にまとめる（年4本まで）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現場監修の時間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オプション：手元AR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初期50万円／工種＋月1万円／台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組立図の3D化とミス事例の登録。表示付きグラスでミスしやすい所を警告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3D化の作業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定着の支援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利用料に含む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月1回の効果レポートと改善の打合せ、四半期ごとの現場巡回、報告書の型の手直し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86200"/>
            <a:ext cx="8412480" cy="566928"/>
          </a:xfrm>
          <a:prstGeom prst="rect">
            <a:avLst/>
          </a:prstGeom>
          <a:solidFill>
            <a:srgbClr val="FFFFFF"/>
          </a:solidFill>
          <a:ln w="19050">
            <a:solidFill>
              <a:srgbClr val="B8692E"/>
            </a:solidFill>
            <a:prstDash val="solid"/>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考え方：</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端末の台数 ─ 全員には配らない。1班に1台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5人の現場が5つで25台、とはしない。班の作業が映る職長の視点を記録する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1拠点（100人）の例</a:t>
            </a:r>
            <a:endParaRPr lang="en-US" sz="1050" dirty="0"/>
          </a:p>
        </p:txBody>
      </p:sp>
      <p:sp>
        <p:nvSpPr>
          <p:cNvPr id="7" name="Shape 4"/>
          <p:cNvSpPr/>
          <p:nvPr/>
        </p:nvSpPr>
        <p:spPr>
          <a:xfrm>
            <a:off x="365760" y="1316736"/>
            <a:ext cx="749808" cy="1188720"/>
          </a:xfrm>
          <a:prstGeom prst="rect">
            <a:avLst/>
          </a:prstGeom>
          <a:solidFill>
            <a:srgbClr val="FFFFFF"/>
          </a:solidFill>
          <a:ln w="12700">
            <a:solidFill>
              <a:srgbClr val="1A1A1A"/>
            </a:solidFill>
            <a:prstDash val="solid"/>
          </a:ln>
        </p:spPr>
      </p:sp>
      <p:sp>
        <p:nvSpPr>
          <p:cNvPr id="8" name="Text 5"/>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現場1</a:t>
            </a:r>
            <a:endParaRPr lang="en-US" sz="850" dirty="0"/>
          </a:p>
        </p:txBody>
      </p:sp>
      <p:sp>
        <p:nvSpPr>
          <p:cNvPr id="9" name="Shape 6"/>
          <p:cNvSpPr/>
          <p:nvPr/>
        </p:nvSpPr>
        <p:spPr>
          <a:xfrm>
            <a:off x="438912" y="1591056"/>
            <a:ext cx="201168" cy="201168"/>
          </a:xfrm>
          <a:prstGeom prst="ellipse">
            <a:avLst/>
          </a:prstGeom>
          <a:solidFill>
            <a:srgbClr val="B8692E"/>
          </a:solidFill>
          <a:ln/>
        </p:spPr>
      </p:sp>
      <p:sp>
        <p:nvSpPr>
          <p:cNvPr id="10" name="Shape 7"/>
          <p:cNvSpPr/>
          <p:nvPr/>
        </p:nvSpPr>
        <p:spPr>
          <a:xfrm>
            <a:off x="640080" y="1636776"/>
            <a:ext cx="128016" cy="128016"/>
          </a:xfrm>
          <a:prstGeom prst="ellipse">
            <a:avLst/>
          </a:prstGeom>
          <a:solidFill>
            <a:srgbClr val="8C8C8C"/>
          </a:solidFill>
          <a:ln/>
        </p:spPr>
      </p:sp>
      <p:sp>
        <p:nvSpPr>
          <p:cNvPr id="11" name="Shape 8"/>
          <p:cNvSpPr/>
          <p:nvPr/>
        </p:nvSpPr>
        <p:spPr>
          <a:xfrm>
            <a:off x="841248" y="1636776"/>
            <a:ext cx="128016" cy="128016"/>
          </a:xfrm>
          <a:prstGeom prst="ellipse">
            <a:avLst/>
          </a:prstGeom>
          <a:solidFill>
            <a:srgbClr val="8C8C8C"/>
          </a:solidFill>
          <a:ln/>
        </p:spPr>
      </p:sp>
      <p:sp>
        <p:nvSpPr>
          <p:cNvPr id="12" name="Shape 9"/>
          <p:cNvSpPr/>
          <p:nvPr/>
        </p:nvSpPr>
        <p:spPr>
          <a:xfrm>
            <a:off x="1042416" y="1636776"/>
            <a:ext cx="128016" cy="128016"/>
          </a:xfrm>
          <a:prstGeom prst="ellipse">
            <a:avLst/>
          </a:prstGeom>
          <a:solidFill>
            <a:srgbClr val="8C8C8C"/>
          </a:solidFill>
          <a:ln/>
        </p:spPr>
      </p:sp>
      <p:sp>
        <p:nvSpPr>
          <p:cNvPr id="13" name="Shape 10"/>
          <p:cNvSpPr/>
          <p:nvPr/>
        </p:nvSpPr>
        <p:spPr>
          <a:xfrm>
            <a:off x="438912" y="2029968"/>
            <a:ext cx="201168" cy="201168"/>
          </a:xfrm>
          <a:prstGeom prst="ellipse">
            <a:avLst/>
          </a:prstGeom>
          <a:solidFill>
            <a:srgbClr val="B8692E"/>
          </a:solidFill>
          <a:ln/>
        </p:spPr>
      </p:sp>
      <p:sp>
        <p:nvSpPr>
          <p:cNvPr id="14" name="Shape 11"/>
          <p:cNvSpPr/>
          <p:nvPr/>
        </p:nvSpPr>
        <p:spPr>
          <a:xfrm>
            <a:off x="640080" y="2075688"/>
            <a:ext cx="128016" cy="128016"/>
          </a:xfrm>
          <a:prstGeom prst="ellipse">
            <a:avLst/>
          </a:prstGeom>
          <a:solidFill>
            <a:srgbClr val="8C8C8C"/>
          </a:solidFill>
          <a:ln/>
        </p:spPr>
      </p:sp>
      <p:sp>
        <p:nvSpPr>
          <p:cNvPr id="15" name="Shape 12"/>
          <p:cNvSpPr/>
          <p:nvPr/>
        </p:nvSpPr>
        <p:spPr>
          <a:xfrm>
            <a:off x="841248" y="2075688"/>
            <a:ext cx="128016" cy="128016"/>
          </a:xfrm>
          <a:prstGeom prst="ellipse">
            <a:avLst/>
          </a:prstGeom>
          <a:solidFill>
            <a:srgbClr val="8C8C8C"/>
          </a:solidFill>
          <a:ln/>
        </p:spPr>
      </p:sp>
      <p:sp>
        <p:nvSpPr>
          <p:cNvPr id="16" name="Shape 13"/>
          <p:cNvSpPr/>
          <p:nvPr/>
        </p:nvSpPr>
        <p:spPr>
          <a:xfrm>
            <a:off x="1042416" y="2075688"/>
            <a:ext cx="128016" cy="128016"/>
          </a:xfrm>
          <a:prstGeom prst="ellipse">
            <a:avLst/>
          </a:prstGeom>
          <a:solidFill>
            <a:srgbClr val="8C8C8C"/>
          </a:solidFill>
          <a:ln/>
        </p:spPr>
      </p:sp>
      <p:sp>
        <p:nvSpPr>
          <p:cNvPr id="17" name="Shape 14"/>
          <p:cNvSpPr/>
          <p:nvPr/>
        </p:nvSpPr>
        <p:spPr>
          <a:xfrm>
            <a:off x="1188720" y="1316736"/>
            <a:ext cx="749808" cy="1188720"/>
          </a:xfrm>
          <a:prstGeom prst="rect">
            <a:avLst/>
          </a:prstGeom>
          <a:solidFill>
            <a:srgbClr val="FFFFFF"/>
          </a:solidFill>
          <a:ln w="12700">
            <a:solidFill>
              <a:srgbClr val="1A1A1A"/>
            </a:solidFill>
            <a:prstDash val="solid"/>
          </a:ln>
        </p:spPr>
      </p:sp>
      <p:sp>
        <p:nvSpPr>
          <p:cNvPr id="18" name="Text 15"/>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現場2</a:t>
            </a:r>
            <a:endParaRPr lang="en-US" sz="850" dirty="0"/>
          </a:p>
        </p:txBody>
      </p:sp>
      <p:sp>
        <p:nvSpPr>
          <p:cNvPr id="19" name="Shape 16"/>
          <p:cNvSpPr/>
          <p:nvPr/>
        </p:nvSpPr>
        <p:spPr>
          <a:xfrm>
            <a:off x="1261872" y="1591056"/>
            <a:ext cx="201168" cy="201168"/>
          </a:xfrm>
          <a:prstGeom prst="ellipse">
            <a:avLst/>
          </a:prstGeom>
          <a:solidFill>
            <a:srgbClr val="B8692E"/>
          </a:solidFill>
          <a:ln/>
        </p:spPr>
      </p:sp>
      <p:sp>
        <p:nvSpPr>
          <p:cNvPr id="20" name="Shape 17"/>
          <p:cNvSpPr/>
          <p:nvPr/>
        </p:nvSpPr>
        <p:spPr>
          <a:xfrm>
            <a:off x="1463040" y="1636776"/>
            <a:ext cx="128016" cy="128016"/>
          </a:xfrm>
          <a:prstGeom prst="ellipse">
            <a:avLst/>
          </a:prstGeom>
          <a:solidFill>
            <a:srgbClr val="8C8C8C"/>
          </a:solidFill>
          <a:ln/>
        </p:spPr>
      </p:sp>
      <p:sp>
        <p:nvSpPr>
          <p:cNvPr id="21" name="Shape 18"/>
          <p:cNvSpPr/>
          <p:nvPr/>
        </p:nvSpPr>
        <p:spPr>
          <a:xfrm>
            <a:off x="1664208" y="1636776"/>
            <a:ext cx="128016" cy="128016"/>
          </a:xfrm>
          <a:prstGeom prst="ellipse">
            <a:avLst/>
          </a:prstGeom>
          <a:solidFill>
            <a:srgbClr val="8C8C8C"/>
          </a:solidFill>
          <a:ln/>
        </p:spPr>
      </p:sp>
      <p:sp>
        <p:nvSpPr>
          <p:cNvPr id="22" name="Shape 19"/>
          <p:cNvSpPr/>
          <p:nvPr/>
        </p:nvSpPr>
        <p:spPr>
          <a:xfrm>
            <a:off x="1865376" y="1636776"/>
            <a:ext cx="128016" cy="128016"/>
          </a:xfrm>
          <a:prstGeom prst="ellipse">
            <a:avLst/>
          </a:prstGeom>
          <a:solidFill>
            <a:srgbClr val="8C8C8C"/>
          </a:solidFill>
          <a:ln/>
        </p:spPr>
      </p:sp>
      <p:sp>
        <p:nvSpPr>
          <p:cNvPr id="23" name="Shape 20"/>
          <p:cNvSpPr/>
          <p:nvPr/>
        </p:nvSpPr>
        <p:spPr>
          <a:xfrm>
            <a:off x="1261872" y="2029968"/>
            <a:ext cx="201168" cy="201168"/>
          </a:xfrm>
          <a:prstGeom prst="ellipse">
            <a:avLst/>
          </a:prstGeom>
          <a:solidFill>
            <a:srgbClr val="B8692E"/>
          </a:solidFill>
          <a:ln/>
        </p:spPr>
      </p:sp>
      <p:sp>
        <p:nvSpPr>
          <p:cNvPr id="24" name="Shape 21"/>
          <p:cNvSpPr/>
          <p:nvPr/>
        </p:nvSpPr>
        <p:spPr>
          <a:xfrm>
            <a:off x="1463040" y="2075688"/>
            <a:ext cx="128016" cy="128016"/>
          </a:xfrm>
          <a:prstGeom prst="ellipse">
            <a:avLst/>
          </a:prstGeom>
          <a:solidFill>
            <a:srgbClr val="8C8C8C"/>
          </a:solidFill>
          <a:ln/>
        </p:spPr>
      </p:sp>
      <p:sp>
        <p:nvSpPr>
          <p:cNvPr id="25" name="Shape 22"/>
          <p:cNvSpPr/>
          <p:nvPr/>
        </p:nvSpPr>
        <p:spPr>
          <a:xfrm>
            <a:off x="1664208" y="2075688"/>
            <a:ext cx="128016" cy="128016"/>
          </a:xfrm>
          <a:prstGeom prst="ellipse">
            <a:avLst/>
          </a:prstGeom>
          <a:solidFill>
            <a:srgbClr val="8C8C8C"/>
          </a:solidFill>
          <a:ln/>
        </p:spPr>
      </p:sp>
      <p:sp>
        <p:nvSpPr>
          <p:cNvPr id="26" name="Shape 23"/>
          <p:cNvSpPr/>
          <p:nvPr/>
        </p:nvSpPr>
        <p:spPr>
          <a:xfrm>
            <a:off x="1865376" y="2075688"/>
            <a:ext cx="128016" cy="128016"/>
          </a:xfrm>
          <a:prstGeom prst="ellipse">
            <a:avLst/>
          </a:prstGeom>
          <a:solidFill>
            <a:srgbClr val="8C8C8C"/>
          </a:solidFill>
          <a:ln/>
        </p:spPr>
      </p:sp>
      <p:sp>
        <p:nvSpPr>
          <p:cNvPr id="27" name="Shape 24"/>
          <p:cNvSpPr/>
          <p:nvPr/>
        </p:nvSpPr>
        <p:spPr>
          <a:xfrm>
            <a:off x="2011680" y="1316736"/>
            <a:ext cx="749808" cy="1188720"/>
          </a:xfrm>
          <a:prstGeom prst="rect">
            <a:avLst/>
          </a:prstGeom>
          <a:solidFill>
            <a:srgbClr val="FFFFFF"/>
          </a:solidFill>
          <a:ln w="12700">
            <a:solidFill>
              <a:srgbClr val="1A1A1A"/>
            </a:solidFill>
            <a:prstDash val="solid"/>
          </a:ln>
        </p:spPr>
      </p:sp>
      <p:sp>
        <p:nvSpPr>
          <p:cNvPr id="28" name="Text 25"/>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現場3</a:t>
            </a:r>
            <a:endParaRPr lang="en-US" sz="850" dirty="0"/>
          </a:p>
        </p:txBody>
      </p:sp>
      <p:sp>
        <p:nvSpPr>
          <p:cNvPr id="29" name="Shape 26"/>
          <p:cNvSpPr/>
          <p:nvPr/>
        </p:nvSpPr>
        <p:spPr>
          <a:xfrm>
            <a:off x="2084832" y="1591056"/>
            <a:ext cx="201168" cy="201168"/>
          </a:xfrm>
          <a:prstGeom prst="ellipse">
            <a:avLst/>
          </a:prstGeom>
          <a:solidFill>
            <a:srgbClr val="B8692E"/>
          </a:solidFill>
          <a:ln/>
        </p:spPr>
      </p:sp>
      <p:sp>
        <p:nvSpPr>
          <p:cNvPr id="30" name="Shape 27"/>
          <p:cNvSpPr/>
          <p:nvPr/>
        </p:nvSpPr>
        <p:spPr>
          <a:xfrm>
            <a:off x="2286000" y="1636776"/>
            <a:ext cx="128016" cy="128016"/>
          </a:xfrm>
          <a:prstGeom prst="ellipse">
            <a:avLst/>
          </a:prstGeom>
          <a:solidFill>
            <a:srgbClr val="8C8C8C"/>
          </a:solidFill>
          <a:ln/>
        </p:spPr>
      </p:sp>
      <p:sp>
        <p:nvSpPr>
          <p:cNvPr id="31" name="Shape 28"/>
          <p:cNvSpPr/>
          <p:nvPr/>
        </p:nvSpPr>
        <p:spPr>
          <a:xfrm>
            <a:off x="2487168" y="1636776"/>
            <a:ext cx="128016" cy="128016"/>
          </a:xfrm>
          <a:prstGeom prst="ellipse">
            <a:avLst/>
          </a:prstGeom>
          <a:solidFill>
            <a:srgbClr val="8C8C8C"/>
          </a:solidFill>
          <a:ln/>
        </p:spPr>
      </p:sp>
      <p:sp>
        <p:nvSpPr>
          <p:cNvPr id="32" name="Shape 29"/>
          <p:cNvSpPr/>
          <p:nvPr/>
        </p:nvSpPr>
        <p:spPr>
          <a:xfrm>
            <a:off x="2688336" y="1636776"/>
            <a:ext cx="128016" cy="128016"/>
          </a:xfrm>
          <a:prstGeom prst="ellipse">
            <a:avLst/>
          </a:prstGeom>
          <a:solidFill>
            <a:srgbClr val="8C8C8C"/>
          </a:solidFill>
          <a:ln/>
        </p:spPr>
      </p:sp>
      <p:sp>
        <p:nvSpPr>
          <p:cNvPr id="33" name="Shape 30"/>
          <p:cNvSpPr/>
          <p:nvPr/>
        </p:nvSpPr>
        <p:spPr>
          <a:xfrm>
            <a:off x="2084832" y="2029968"/>
            <a:ext cx="201168" cy="201168"/>
          </a:xfrm>
          <a:prstGeom prst="ellipse">
            <a:avLst/>
          </a:prstGeom>
          <a:solidFill>
            <a:srgbClr val="B8692E"/>
          </a:solidFill>
          <a:ln/>
        </p:spPr>
      </p:sp>
      <p:sp>
        <p:nvSpPr>
          <p:cNvPr id="34" name="Shape 31"/>
          <p:cNvSpPr/>
          <p:nvPr/>
        </p:nvSpPr>
        <p:spPr>
          <a:xfrm>
            <a:off x="2286000" y="2075688"/>
            <a:ext cx="128016" cy="128016"/>
          </a:xfrm>
          <a:prstGeom prst="ellipse">
            <a:avLst/>
          </a:prstGeom>
          <a:solidFill>
            <a:srgbClr val="8C8C8C"/>
          </a:solidFill>
          <a:ln/>
        </p:spPr>
      </p:sp>
      <p:sp>
        <p:nvSpPr>
          <p:cNvPr id="35" name="Shape 32"/>
          <p:cNvSpPr/>
          <p:nvPr/>
        </p:nvSpPr>
        <p:spPr>
          <a:xfrm>
            <a:off x="2487168" y="2075688"/>
            <a:ext cx="128016" cy="128016"/>
          </a:xfrm>
          <a:prstGeom prst="ellipse">
            <a:avLst/>
          </a:prstGeom>
          <a:solidFill>
            <a:srgbClr val="8C8C8C"/>
          </a:solidFill>
          <a:ln/>
        </p:spPr>
      </p:sp>
      <p:sp>
        <p:nvSpPr>
          <p:cNvPr id="36" name="Shape 33"/>
          <p:cNvSpPr/>
          <p:nvPr/>
        </p:nvSpPr>
        <p:spPr>
          <a:xfrm>
            <a:off x="2688336" y="2075688"/>
            <a:ext cx="128016" cy="128016"/>
          </a:xfrm>
          <a:prstGeom prst="ellipse">
            <a:avLst/>
          </a:prstGeom>
          <a:solidFill>
            <a:srgbClr val="8C8C8C"/>
          </a:solidFill>
          <a:ln/>
        </p:spPr>
      </p:sp>
      <p:sp>
        <p:nvSpPr>
          <p:cNvPr id="37" name="Shape 34"/>
          <p:cNvSpPr/>
          <p:nvPr/>
        </p:nvSpPr>
        <p:spPr>
          <a:xfrm>
            <a:off x="2834640" y="1316736"/>
            <a:ext cx="749808" cy="1188720"/>
          </a:xfrm>
          <a:prstGeom prst="rect">
            <a:avLst/>
          </a:prstGeom>
          <a:solidFill>
            <a:srgbClr val="FFFFFF"/>
          </a:solidFill>
          <a:ln w="12700">
            <a:solidFill>
              <a:srgbClr val="1A1A1A"/>
            </a:solidFill>
            <a:prstDash val="solid"/>
          </a:ln>
        </p:spPr>
      </p:sp>
      <p:sp>
        <p:nvSpPr>
          <p:cNvPr id="38" name="Text 35"/>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現場4</a:t>
            </a:r>
            <a:endParaRPr lang="en-US" sz="850" dirty="0"/>
          </a:p>
        </p:txBody>
      </p:sp>
      <p:sp>
        <p:nvSpPr>
          <p:cNvPr id="39" name="Shape 36"/>
          <p:cNvSpPr/>
          <p:nvPr/>
        </p:nvSpPr>
        <p:spPr>
          <a:xfrm>
            <a:off x="2907792" y="1591056"/>
            <a:ext cx="201168" cy="201168"/>
          </a:xfrm>
          <a:prstGeom prst="ellipse">
            <a:avLst/>
          </a:prstGeom>
          <a:solidFill>
            <a:srgbClr val="B8692E"/>
          </a:solidFill>
          <a:ln/>
        </p:spPr>
      </p:sp>
      <p:sp>
        <p:nvSpPr>
          <p:cNvPr id="40" name="Shape 37"/>
          <p:cNvSpPr/>
          <p:nvPr/>
        </p:nvSpPr>
        <p:spPr>
          <a:xfrm>
            <a:off x="3108960" y="1636776"/>
            <a:ext cx="128016" cy="128016"/>
          </a:xfrm>
          <a:prstGeom prst="ellipse">
            <a:avLst/>
          </a:prstGeom>
          <a:solidFill>
            <a:srgbClr val="8C8C8C"/>
          </a:solidFill>
          <a:ln/>
        </p:spPr>
      </p:sp>
      <p:sp>
        <p:nvSpPr>
          <p:cNvPr id="41" name="Shape 38"/>
          <p:cNvSpPr/>
          <p:nvPr/>
        </p:nvSpPr>
        <p:spPr>
          <a:xfrm>
            <a:off x="3310128" y="1636776"/>
            <a:ext cx="128016" cy="128016"/>
          </a:xfrm>
          <a:prstGeom prst="ellipse">
            <a:avLst/>
          </a:prstGeom>
          <a:solidFill>
            <a:srgbClr val="8C8C8C"/>
          </a:solidFill>
          <a:ln/>
        </p:spPr>
      </p:sp>
      <p:sp>
        <p:nvSpPr>
          <p:cNvPr id="42" name="Shape 39"/>
          <p:cNvSpPr/>
          <p:nvPr/>
        </p:nvSpPr>
        <p:spPr>
          <a:xfrm>
            <a:off x="3511296" y="1636776"/>
            <a:ext cx="128016" cy="128016"/>
          </a:xfrm>
          <a:prstGeom prst="ellipse">
            <a:avLst/>
          </a:prstGeom>
          <a:solidFill>
            <a:srgbClr val="8C8C8C"/>
          </a:solidFill>
          <a:ln/>
        </p:spPr>
      </p:sp>
      <p:sp>
        <p:nvSpPr>
          <p:cNvPr id="43" name="Shape 40"/>
          <p:cNvSpPr/>
          <p:nvPr/>
        </p:nvSpPr>
        <p:spPr>
          <a:xfrm>
            <a:off x="2907792" y="2029968"/>
            <a:ext cx="201168" cy="201168"/>
          </a:xfrm>
          <a:prstGeom prst="ellipse">
            <a:avLst/>
          </a:prstGeom>
          <a:solidFill>
            <a:srgbClr val="B8692E"/>
          </a:solidFill>
          <a:ln/>
        </p:spPr>
      </p:sp>
      <p:sp>
        <p:nvSpPr>
          <p:cNvPr id="44" name="Shape 41"/>
          <p:cNvSpPr/>
          <p:nvPr/>
        </p:nvSpPr>
        <p:spPr>
          <a:xfrm>
            <a:off x="3108960" y="2075688"/>
            <a:ext cx="128016" cy="128016"/>
          </a:xfrm>
          <a:prstGeom prst="ellipse">
            <a:avLst/>
          </a:prstGeom>
          <a:solidFill>
            <a:srgbClr val="8C8C8C"/>
          </a:solidFill>
          <a:ln/>
        </p:spPr>
      </p:sp>
      <p:sp>
        <p:nvSpPr>
          <p:cNvPr id="45" name="Shape 42"/>
          <p:cNvSpPr/>
          <p:nvPr/>
        </p:nvSpPr>
        <p:spPr>
          <a:xfrm>
            <a:off x="3310128" y="2075688"/>
            <a:ext cx="128016" cy="128016"/>
          </a:xfrm>
          <a:prstGeom prst="ellipse">
            <a:avLst/>
          </a:prstGeom>
          <a:solidFill>
            <a:srgbClr val="8C8C8C"/>
          </a:solidFill>
          <a:ln/>
        </p:spPr>
      </p:sp>
      <p:sp>
        <p:nvSpPr>
          <p:cNvPr id="46" name="Shape 43"/>
          <p:cNvSpPr/>
          <p:nvPr/>
        </p:nvSpPr>
        <p:spPr>
          <a:xfrm>
            <a:off x="3511296" y="2075688"/>
            <a:ext cx="128016" cy="128016"/>
          </a:xfrm>
          <a:prstGeom prst="ellipse">
            <a:avLst/>
          </a:prstGeom>
          <a:solidFill>
            <a:srgbClr val="8C8C8C"/>
          </a:solidFill>
          <a:ln/>
        </p:spPr>
      </p:sp>
      <p:sp>
        <p:nvSpPr>
          <p:cNvPr id="47" name="Shape 44"/>
          <p:cNvSpPr/>
          <p:nvPr/>
        </p:nvSpPr>
        <p:spPr>
          <a:xfrm>
            <a:off x="3657600" y="1316736"/>
            <a:ext cx="749808" cy="1188720"/>
          </a:xfrm>
          <a:prstGeom prst="rect">
            <a:avLst/>
          </a:prstGeom>
          <a:solidFill>
            <a:srgbClr val="FFFFFF"/>
          </a:solidFill>
          <a:ln w="12700">
            <a:solidFill>
              <a:srgbClr val="1A1A1A"/>
            </a:solidFill>
            <a:prstDash val="solid"/>
          </a:ln>
        </p:spPr>
      </p:sp>
      <p:sp>
        <p:nvSpPr>
          <p:cNvPr id="48" name="Text 45"/>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現場5</a:t>
            </a:r>
            <a:endParaRPr lang="en-US" sz="850" dirty="0"/>
          </a:p>
        </p:txBody>
      </p:sp>
      <p:sp>
        <p:nvSpPr>
          <p:cNvPr id="49" name="Shape 46"/>
          <p:cNvSpPr/>
          <p:nvPr/>
        </p:nvSpPr>
        <p:spPr>
          <a:xfrm>
            <a:off x="3730752" y="1591056"/>
            <a:ext cx="201168" cy="201168"/>
          </a:xfrm>
          <a:prstGeom prst="ellipse">
            <a:avLst/>
          </a:prstGeom>
          <a:solidFill>
            <a:srgbClr val="B8692E"/>
          </a:solidFill>
          <a:ln/>
        </p:spPr>
      </p:sp>
      <p:sp>
        <p:nvSpPr>
          <p:cNvPr id="50" name="Shape 47"/>
          <p:cNvSpPr/>
          <p:nvPr/>
        </p:nvSpPr>
        <p:spPr>
          <a:xfrm>
            <a:off x="3931920" y="1636776"/>
            <a:ext cx="128016" cy="128016"/>
          </a:xfrm>
          <a:prstGeom prst="ellipse">
            <a:avLst/>
          </a:prstGeom>
          <a:solidFill>
            <a:srgbClr val="8C8C8C"/>
          </a:solidFill>
          <a:ln/>
        </p:spPr>
      </p:sp>
      <p:sp>
        <p:nvSpPr>
          <p:cNvPr id="51" name="Shape 48"/>
          <p:cNvSpPr/>
          <p:nvPr/>
        </p:nvSpPr>
        <p:spPr>
          <a:xfrm>
            <a:off x="4133088" y="1636776"/>
            <a:ext cx="128016" cy="128016"/>
          </a:xfrm>
          <a:prstGeom prst="ellipse">
            <a:avLst/>
          </a:prstGeom>
          <a:solidFill>
            <a:srgbClr val="8C8C8C"/>
          </a:solidFill>
          <a:ln/>
        </p:spPr>
      </p:sp>
      <p:sp>
        <p:nvSpPr>
          <p:cNvPr id="52" name="Shape 49"/>
          <p:cNvSpPr/>
          <p:nvPr/>
        </p:nvSpPr>
        <p:spPr>
          <a:xfrm>
            <a:off x="4334256" y="1636776"/>
            <a:ext cx="128016" cy="128016"/>
          </a:xfrm>
          <a:prstGeom prst="ellipse">
            <a:avLst/>
          </a:prstGeom>
          <a:solidFill>
            <a:srgbClr val="8C8C8C"/>
          </a:solidFill>
          <a:ln/>
        </p:spPr>
      </p:sp>
      <p:sp>
        <p:nvSpPr>
          <p:cNvPr id="53" name="Shape 50"/>
          <p:cNvSpPr/>
          <p:nvPr/>
        </p:nvSpPr>
        <p:spPr>
          <a:xfrm>
            <a:off x="3730752" y="2029968"/>
            <a:ext cx="201168" cy="201168"/>
          </a:xfrm>
          <a:prstGeom prst="ellipse">
            <a:avLst/>
          </a:prstGeom>
          <a:solidFill>
            <a:srgbClr val="B8692E"/>
          </a:solidFill>
          <a:ln/>
        </p:spPr>
      </p:sp>
      <p:sp>
        <p:nvSpPr>
          <p:cNvPr id="54" name="Shape 51"/>
          <p:cNvSpPr/>
          <p:nvPr/>
        </p:nvSpPr>
        <p:spPr>
          <a:xfrm>
            <a:off x="3931920" y="2075688"/>
            <a:ext cx="128016" cy="128016"/>
          </a:xfrm>
          <a:prstGeom prst="ellipse">
            <a:avLst/>
          </a:prstGeom>
          <a:solidFill>
            <a:srgbClr val="8C8C8C"/>
          </a:solidFill>
          <a:ln/>
        </p:spPr>
      </p:sp>
      <p:sp>
        <p:nvSpPr>
          <p:cNvPr id="55" name="Shape 52"/>
          <p:cNvSpPr/>
          <p:nvPr/>
        </p:nvSpPr>
        <p:spPr>
          <a:xfrm>
            <a:off x="4133088" y="2075688"/>
            <a:ext cx="128016" cy="128016"/>
          </a:xfrm>
          <a:prstGeom prst="ellipse">
            <a:avLst/>
          </a:prstGeom>
          <a:solidFill>
            <a:srgbClr val="8C8C8C"/>
          </a:solidFill>
          <a:ln/>
        </p:spPr>
      </p:sp>
      <p:sp>
        <p:nvSpPr>
          <p:cNvPr id="56" name="Shape 53"/>
          <p:cNvSpPr/>
          <p:nvPr/>
        </p:nvSpPr>
        <p:spPr>
          <a:xfrm>
            <a:off x="4334256" y="2075688"/>
            <a:ext cx="128016" cy="128016"/>
          </a:xfrm>
          <a:prstGeom prst="ellipse">
            <a:avLst/>
          </a:prstGeom>
          <a:solidFill>
            <a:srgbClr val="8C8C8C"/>
          </a:solidFill>
          <a:ln/>
        </p:spPr>
      </p:sp>
      <p:sp>
        <p:nvSpPr>
          <p:cNvPr id="57" name="Text 54"/>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 職長（グラスを掛ける）</a:t>
            </a:r>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　● 電工</a:t>
            </a:r>
            <a:endParaRPr lang="en-US" sz="900" dirty="0"/>
          </a:p>
        </p:txBody>
      </p:sp>
      <p:sp>
        <p:nvSpPr>
          <p:cNvPr id="58" name="Text 55"/>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5現場 × 2班 ＝ </a:t>
            </a:r>
            <a:pPr algn="l" indent="0" marL="0">
              <a:lnSpc>
                <a:spcPct val="115000"/>
              </a:lnSpc>
              <a:buNone/>
            </a:pPr>
            <a:r>
              <a:rPr lang="en-US" sz="1400" b="1" dirty="0">
                <a:solidFill>
                  <a:srgbClr val="B8692E"/>
                </a:solidFill>
                <a:latin typeface="Meiryo" pitchFamily="34" charset="0"/>
                <a:ea typeface="Meiryo" pitchFamily="34" charset="-122"/>
                <a:cs typeface="Meiryo" pitchFamily="34" charset="-120"/>
              </a:rPr>
              <a:t>10台</a:t>
            </a:r>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（電工全員なら35台）</a:t>
            </a:r>
            <a:endParaRPr lang="en-US" sz="1050" dirty="0"/>
          </a:p>
        </p:txBody>
      </p:sp>
      <p:sp>
        <p:nvSpPr>
          <p:cNvPr id="59" name="Text 56"/>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台数を増やすのは</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・新人がいる班（教材の素材が貯まる）</a:t>
            </a:r>
            <a:endParaRPr lang="en-US" sz="950" dirty="0"/>
          </a:p>
        </p:txBody>
      </p:sp>
      <p:sp>
        <p:nvSpPr>
          <p:cNvPr id="60" name="Text 5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種類</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使い方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値段（目安）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カメラ付きAIグラス（約50g）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記録・音声メモ。日報・写真台帳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約8万円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表示付きARグラス（約70g）</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手元に図面と手順・ミス警告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約12万円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産業用ヘッドセット（RealWear）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粉じん・高所の現場だけ選べる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約37万円〜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2" name="Shape 58"/>
          <p:cNvSpPr/>
          <p:nvPr/>
        </p:nvSpPr>
        <p:spPr>
          <a:xfrm>
            <a:off x="4709160" y="2990088"/>
            <a:ext cx="4069080" cy="987552"/>
          </a:xfrm>
          <a:prstGeom prst="rect">
            <a:avLst/>
          </a:prstGeom>
          <a:solidFill>
            <a:srgbClr val="F2F2F2"/>
          </a:solidFill>
          <a:ln/>
        </p:spPr>
      </p:sp>
      <p:sp>
        <p:nvSpPr>
          <p:cNvPr id="63" name="Text 59"/>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B8692E"/>
                </a:solidFill>
                <a:latin typeface="Meiryo" pitchFamily="34" charset="0"/>
                <a:ea typeface="Meiryo" pitchFamily="34" charset="-122"/>
                <a:cs typeface="Meiryo" pitchFamily="34" charset="-120"/>
              </a:rPr>
              <a:t>標準の構成：</a:t>
            </a:r>
            <a:pPr algn="l" indent="0" marL="0">
              <a:lnSpc>
                <a:spcPct val="115000"/>
              </a:lnSpc>
              <a:spcAft>
                <a:spcPts val="200"/>
              </a:spcAft>
              <a:buNone/>
            </a:pPr>
            <a:r>
              <a:rPr lang="en-US" sz="950" b="1" dirty="0">
                <a:solidFill>
                  <a:srgbClr val="1A1A1A"/>
                </a:solidFill>
                <a:latin typeface="Meiryo" pitchFamily="34" charset="0"/>
                <a:ea typeface="Meiryo" pitchFamily="34" charset="-122"/>
                <a:cs typeface="Meiryo" pitchFamily="34" charset="-120"/>
              </a:rPr>
              <a:t>AIグラス8台＋表示付き2台</a:t>
            </a:r>
            <a:endParaRPr lang="en-US" sz="950" dirty="0"/>
          </a:p>
          <a:p>
            <a:pPr algn="l" indent="0" marL="0">
              <a:lnSpc>
                <a:spcPct val="115000"/>
              </a:lnSpc>
              <a:spcAft>
                <a:spcPts val="200"/>
              </a:spcAft>
              <a:buNone/>
            </a:pPr>
            <a:r>
              <a:rPr lang="en-US" sz="950" dirty="0">
                <a:solidFill>
                  <a:srgbClr val="1A1A1A"/>
                </a:solidFill>
                <a:latin typeface="Meiryo" pitchFamily="34" charset="0"/>
                <a:ea typeface="Meiryo" pitchFamily="34" charset="-122"/>
                <a:cs typeface="Meiryo" pitchFamily="34" charset="-120"/>
              </a:rPr>
              <a:t>お客様のリース代 年約32万円（3年リース・料率約3%／月）。グラスは当社の売上に入れず、在庫も持たない</a:t>
            </a:r>
            <a:endParaRPr lang="en-US" sz="950" dirty="0"/>
          </a:p>
        </p:txBody>
      </p:sp>
      <p:sp>
        <p:nvSpPr>
          <p:cNvPr id="64" name="Shape 60"/>
          <p:cNvSpPr/>
          <p:nvPr/>
        </p:nvSpPr>
        <p:spPr>
          <a:xfrm>
            <a:off x="365760" y="4005072"/>
            <a:ext cx="8412480" cy="457200"/>
          </a:xfrm>
          <a:prstGeom prst="rect">
            <a:avLst/>
          </a:prstGeom>
          <a:solidFill>
            <a:srgbClr val="1A1A1A"/>
          </a:solidFill>
          <a:ln/>
        </p:spPr>
      </p:sp>
      <p:sp>
        <p:nvSpPr>
          <p:cNvPr id="65" name="Text 61"/>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導入の費用は台数に比例して増える：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だから最初は10台。効果が出た班から増やす（お客様の倍率は台数で変わらない）</a:t>
            </a:r>
            <a:endParaRPr lang="en-US" sz="950" dirty="0"/>
          </a:p>
        </p:txBody>
      </p:sp>
      <p:sp>
        <p:nvSpPr>
          <p:cNvPr id="66" name="Text 6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AI・保存の費用 ─ 積み上げると粗利率は72%</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端末1台あたりの処理代を、クラウド・AIの公表単価から積み上げた</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1554480"/>
                <a:gridCol w="1828800"/>
                <a:gridCol w="68580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円／月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音声の文字起こし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1日4時間×20日＝4,800分×$0.003（多めに見た上限）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大事な場面の画像解析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3,000枚×約1,000トークン</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日報・報告書の文章生成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20日分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動画の保存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切り出した月10GBを3年保存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転送・監視・端末管理・余裕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6,000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92608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売上（基盤60＋端末240）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データ基盤（会社ごとの保管庫）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AI・保存（1台7.2万円×10台）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216（72%）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4709160" y="2807208"/>
            <a:ext cx="4069080" cy="1051560"/>
          </a:xfrm>
          <a:prstGeom prst="rect">
            <a:avLst/>
          </a:prstGeom>
          <a:solidFill>
            <a:srgbClr val="F2F2F2"/>
          </a:solidFill>
          <a:ln/>
        </p:spPr>
      </p:sp>
      <p:sp>
        <p:nvSpPr>
          <p:cNvPr id="11" name="Text 6"/>
          <p:cNvSpPr txBox="1"/>
          <p:nvPr/>
        </p:nvSpPr>
        <p:spPr>
          <a:xfrm>
            <a:off x="4846320" y="2807208"/>
            <a:ext cx="3794760"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データ基盤とAI費用の違い</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データ基盤：会社ごとに1つ。図面・手順・権限・記録の保管庫</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AI費用：端末ごとに増える。録画の文字起こし・解析・保存</a:t>
            </a:r>
            <a:endParaRPr lang="en-US" sz="900" dirty="0"/>
          </a:p>
        </p:txBody>
      </p:sp>
      <p:sp>
        <p:nvSpPr>
          <p:cNvPr id="12" name="Shape 7"/>
          <p:cNvSpPr/>
          <p:nvPr/>
        </p:nvSpPr>
        <p:spPr>
          <a:xfrm>
            <a:off x="365760" y="3886200"/>
            <a:ext cx="8412480" cy="566928"/>
          </a:xfrm>
          <a:prstGeom prst="rect">
            <a:avLst/>
          </a:prstGeom>
          <a:solidFill>
            <a:srgbClr val="1A1A1A"/>
          </a:solidFill>
          <a:ln/>
        </p:spPr>
      </p:sp>
      <p:sp>
        <p:nvSpPr>
          <p:cNvPr id="13" name="Text 8"/>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粗利率は妥当か：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一般のSaaSは70〜80%、AIを多く使うサービスはそれより低いと言われる。72%はその範囲。実証で1台あたりの実費を測って更新する</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単価はクラウド・AIの公表価格（$1＝150円）からの見積。モデル・為替・値下げで変わる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粗利率のトレードオフ ─ 崩れるのは台数より使い方</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動画を全部送って毎秒解析すると、1台の原価が値段を超える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台数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大事な場面だけ</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月0.6万円）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全編を毎秒解析</a:t>
                      </a:r>
                      <a:endParaRPr lang="en-US" sz="900" dirty="0">
                        <a:latin typeface="Meiryo" charset="0"/>
                        <a:ea typeface="Meiryo" charset="0"/>
                        <a:cs typeface="Meiryo" charset="0"/>
                      </a:endParaRPr>
                    </a:p>
                    <a:p>
                      <a:pPr algn="ctr" indent="0" marL="0">
                        <a:buNone/>
                      </a:pPr>
                      <a:r>
                        <a:rPr lang="en-US" sz="900" b="1" dirty="0">
                          <a:solidFill>
                            <a:srgbClr val="1A1A1A"/>
                          </a:solidFill>
                          <a:latin typeface="Meiryo" pitchFamily="34" charset="0"/>
                          <a:ea typeface="Meiryo" pitchFamily="34" charset="-122"/>
                          <a:cs typeface="Meiryo" pitchFamily="34" charset="-120"/>
                        </a:rPr>
                        <a:t>（1台 月5万円）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10台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25台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71%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-129%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715768"/>
            <a:ext cx="4069080" cy="68580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1台の値段（月2万円）が1台の原価（月0.6万円）を賄うので、台数を増やしても粗利率はほぼ一定。全編を送ると台数が増えるほど赤字が膨らむ</a:t>
            </a:r>
            <a:endParaRPr lang="en-US" sz="900" dirty="0"/>
          </a:p>
        </p:txBody>
      </p:sp>
      <p:sp>
        <p:nvSpPr>
          <p:cNvPr id="9" name="Text 5"/>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粗利率を守る4つの仕組み</a:t>
            </a:r>
            <a:endParaRPr lang="en-US" sz="1050" dirty="0"/>
          </a:p>
        </p:txBody>
      </p:sp>
      <p:sp>
        <p:nvSpPr>
          <p:cNvPr id="10" name="Shape 6"/>
          <p:cNvSpPr/>
          <p:nvPr/>
        </p:nvSpPr>
        <p:spPr>
          <a:xfrm>
            <a:off x="4709160" y="1316736"/>
            <a:ext cx="384048" cy="457200"/>
          </a:xfrm>
          <a:prstGeom prst="rect">
            <a:avLst/>
          </a:prstGeom>
          <a:solidFill>
            <a:srgbClr val="B8692E"/>
          </a:solidFill>
          <a:ln/>
        </p:spPr>
      </p:sp>
      <p:sp>
        <p:nvSpPr>
          <p:cNvPr id="11" name="Text 7"/>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8"/>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端末で切り出す</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録画は端末に全部残し、選んだ場面だけを送る（選び方は p.28）</a:t>
            </a:r>
            <a:endParaRPr lang="en-US" sz="950" dirty="0"/>
          </a:p>
        </p:txBody>
      </p:sp>
      <p:sp>
        <p:nvSpPr>
          <p:cNvPr id="13" name="Shape 9"/>
          <p:cNvSpPr/>
          <p:nvPr/>
        </p:nvSpPr>
        <p:spPr>
          <a:xfrm>
            <a:off x="4709160" y="1865376"/>
            <a:ext cx="384048" cy="457200"/>
          </a:xfrm>
          <a:prstGeom prst="rect">
            <a:avLst/>
          </a:prstGeom>
          <a:solidFill>
            <a:srgbClr val="1A1A1A"/>
          </a:solidFill>
          <a:ln/>
        </p:spPr>
      </p:sp>
      <p:sp>
        <p:nvSpPr>
          <p:cNvPr id="14" name="Text 10"/>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5" name="Text 11"/>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解析の上限と超過料金</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録画は無制限。AIで解析する場面に月の上限、超えたら従量</a:t>
            </a:r>
            <a:endParaRPr lang="en-US" sz="950" dirty="0"/>
          </a:p>
        </p:txBody>
      </p:sp>
      <p:sp>
        <p:nvSpPr>
          <p:cNvPr id="16" name="Shape 12"/>
          <p:cNvSpPr/>
          <p:nvPr/>
        </p:nvSpPr>
        <p:spPr>
          <a:xfrm>
            <a:off x="4709160" y="2414016"/>
            <a:ext cx="384048" cy="457200"/>
          </a:xfrm>
          <a:prstGeom prst="rect">
            <a:avLst/>
          </a:prstGeom>
          <a:solidFill>
            <a:srgbClr val="1A1A1A"/>
          </a:solidFill>
          <a:ln/>
        </p:spPr>
      </p:sp>
      <p:sp>
        <p:nvSpPr>
          <p:cNvPr id="17" name="Text 13"/>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8" name="Text 14"/>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撮影計画を営業と技術で決める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提案の段階で「何を・誰が・何時間撮るか」を決めて見積に入れる</a:t>
            </a:r>
            <a:endParaRPr lang="en-US" sz="950" dirty="0"/>
          </a:p>
        </p:txBody>
      </p:sp>
      <p:sp>
        <p:nvSpPr>
          <p:cNvPr id="19" name="Shape 15"/>
          <p:cNvSpPr/>
          <p:nvPr/>
        </p:nvSpPr>
        <p:spPr>
          <a:xfrm>
            <a:off x="4709160" y="2962656"/>
            <a:ext cx="384048" cy="457200"/>
          </a:xfrm>
          <a:prstGeom prst="rect">
            <a:avLst/>
          </a:prstGeom>
          <a:solidFill>
            <a:srgbClr val="1A1A1A"/>
          </a:solidFill>
          <a:ln/>
        </p:spPr>
      </p:sp>
      <p:sp>
        <p:nvSpPr>
          <p:cNvPr id="20" name="Text 16"/>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1" name="Text 17"/>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毎月、台ごとの粗利を見る</a:t>
            </a:r>
            <a:endParaRPr lang="en-US" sz="95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処理量が多い台は、使い方の見直しか料金の相談</a:t>
            </a:r>
            <a:endParaRPr lang="en-US" sz="950" dirty="0"/>
          </a:p>
        </p:txBody>
      </p:sp>
      <p:sp>
        <p:nvSpPr>
          <p:cNvPr id="22" name="Shape 18"/>
          <p:cNvSpPr/>
          <p:nvPr/>
        </p:nvSpPr>
        <p:spPr>
          <a:xfrm>
            <a:off x="365760" y="3657600"/>
            <a:ext cx="8412480" cy="795528"/>
          </a:xfrm>
          <a:prstGeom prst="rect">
            <a:avLst/>
          </a:prstGeom>
          <a:solidFill>
            <a:srgbClr val="1A1A1A"/>
          </a:solidFill>
          <a:ln/>
        </p:spPr>
      </p:sp>
      <p:sp>
        <p:nvSpPr>
          <p:cNvPr id="23" name="Text 19"/>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営業との連携が要になる：</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営業の目標は「拠点数」だけでなく「台ごとの粗利」も見る。事業が大きくなるほど、この最適化が経営の仕事になる</a:t>
            </a:r>
            <a:endParaRPr lang="en-US" sz="95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p.19・20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導入支援200万円の中身 ─ 42人日＋交通費</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200万円は作業を積み上げた原価の約1.4倍として置いた（他社の相場は未確認）</a:t>
            </a:r>
            <a:endParaRPr lang="en-US" sz="1200" dirty="0"/>
          </a:p>
        </p:txBody>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作業</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人日</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現状調査・業務の流れの整理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端末の設定・アカウント・端末管理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図面・手順・報告書の型の登録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職長・施工管理者への研修（2回）</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現場での立ち会い・初期の手直し（週2日×8週）</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導入前後の効果測定レポート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合計（約2か月）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人件費 42人日×約3.0万円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交通費（16回訪問）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原価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値段</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粗利</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59（30%）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日額＝導入コンサルタントの年収600万円×1.2÷240日</a:t>
            </a:r>
            <a:endParaRPr lang="en-US" sz="850" dirty="0"/>
          </a:p>
        </p:txBody>
      </p:sp>
      <p:sp>
        <p:nvSpPr>
          <p:cNvPr id="9" name="Shape 4"/>
          <p:cNvSpPr/>
          <p:nvPr/>
        </p:nvSpPr>
        <p:spPr>
          <a:xfrm>
            <a:off x="365760" y="3337560"/>
            <a:ext cx="8412480" cy="1097280"/>
          </a:xfrm>
          <a:prstGeom prst="rect">
            <a:avLst/>
          </a:prstGeom>
          <a:solidFill>
            <a:srgbClr val="1A1A1A"/>
          </a:solidFill>
          <a:ln/>
        </p:spPr>
      </p:sp>
      <p:sp>
        <p:nvSpPr>
          <p:cNvPr id="10" name="Text 5"/>
          <p:cNvSpPr txBox="1"/>
          <p:nvPr/>
        </p:nvSpPr>
        <p:spPr>
          <a:xfrm>
            <a:off x="502920" y="3337560"/>
            <a:ext cx="8138160" cy="10972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懸念と対策</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・手元AR（3D化）を含めると人日が増える → 手元ARは工種ごとのオプション（初期50万円）に分けた</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・1人で年6拠点（2か月で1拠点）が上限 → 新規が増えるほど導入コンサルタントの採用が先に要る（p.17）</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・お客様の負担が重い → 着手金50%・試験導入の結果で本契約に切り替える</a:t>
            </a:r>
            <a:endParaRPr lang="en-US" sz="900" dirty="0"/>
          </a:p>
        </p:txBody>
      </p:sp>
      <p:sp>
        <p:nvSpPr>
          <p:cNvPr id="11" name="Text 6"/>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p.22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拠点の積み上げ ─ 既存・新規・解約を分けて見る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解約は年10%（期首の拠点に対して）。既存から入る利用料と、解約で減る利用料を分ける</a:t>
            </a:r>
            <a:endParaRPr lang="en-US" sz="1200" dirty="0"/>
          </a:p>
        </p:txBody>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拠点</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期首（既存のお客様）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解約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 新規</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81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既存から入る利用料（万円）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新規から入る利用料（半年分）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解約で減った利用料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▲1,500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337560"/>
            <a:ext cx="4069080" cy="1115568"/>
          </a:xfrm>
          <a:prstGeom prst="rect">
            <a:avLst/>
          </a:prstGeom>
          <a:solidFill>
            <a:srgbClr val="F2F2F2"/>
          </a:solidFill>
          <a:ln/>
        </p:spPr>
      </p:sp>
      <p:sp>
        <p:nvSpPr>
          <p:cNvPr id="8" name="Text 4"/>
          <p:cNvSpPr txBox="1"/>
          <p:nvPr/>
        </p:nvSpPr>
        <p:spPr>
          <a:xfrm>
            <a:off x="5029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年10%の根拠</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海外の目安：B2B SaaSの年間の解約は大企業5〜10%、中小30〜50%。記録が貯まるほど乗り換えにくいので、中堅として低めに置いた（日本の調査は見つからず）</a:t>
            </a:r>
            <a:endParaRPr lang="en-US" sz="900" dirty="0"/>
          </a:p>
        </p:txBody>
      </p:sp>
      <p:sp>
        <p:nvSpPr>
          <p:cNvPr id="9" name="Shape 5"/>
          <p:cNvSpPr/>
          <p:nvPr/>
        </p:nvSpPr>
        <p:spPr>
          <a:xfrm>
            <a:off x="4709160" y="3337560"/>
            <a:ext cx="4069080" cy="1115568"/>
          </a:xfrm>
          <a:prstGeom prst="rect">
            <a:avLst/>
          </a:prstGeom>
          <a:solidFill>
            <a:srgbClr val="FFFFFF"/>
          </a:solidFill>
          <a:ln w="19050">
            <a:solidFill>
              <a:srgbClr val="B8692E"/>
            </a:solidFill>
            <a:prstDash val="solid"/>
          </a:ln>
        </p:spPr>
      </p:sp>
      <p:sp>
        <p:nvSpPr>
          <p:cNvPr id="10" name="Text 6"/>
          <p:cNvSpPr txBox="1"/>
          <p:nvPr/>
        </p:nvSpPr>
        <p:spPr>
          <a:xfrm>
            <a:off x="4846320" y="3337560"/>
            <a:ext cx="3794760" cy="11155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解約を減らす手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p.22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売上の内訳 ─ 柱は既存の利用料。個社設定は社内で</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売上＝既存の利用料＋新規の利用料（半年分）＋導入支援＋個社設定（万円）</a:t>
            </a:r>
            <a:endParaRPr lang="en-US" sz="1200" dirty="0"/>
          </a:p>
        </p:txBody>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3,300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新規の利用料</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1,350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4,050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導入支援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個社設定</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17,800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26,900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既存の利用料の割合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035808"/>
            <a:ext cx="8412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個社設定の中身（件数×単価の仮置き。当社の導入コンサルタントとエンジニアが行う）</a:t>
            </a:r>
            <a:endParaRPr lang="en-US" sz="105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548640"/>
                <a:gridCol w="1828800"/>
                <a:gridCol w="1417320"/>
                <a:gridCol w="1691640"/>
                <a:gridCol w="118872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3891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試験導入先の施工管理アプリ連携 2件×300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連携・帳票の調整 3件×250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大手の基幹連携600＋2件×250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2件×275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大手の追加450＋2件×250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報告書の書式を整える工程は利用料に含む。有償は標準の出力で足りない連携だけ。粗利は1/3（人件費を原価に振り替え）。作った型は製品に戻す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p.22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オフィスと広告 ─ 何にいくら使い、何件の商談を生むか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家賃＝オフィスの賃料＋共益費。広告は展示会・業界団体・事例動画が中心</a:t>
            </a:r>
            <a:endParaRPr lang="en-US" sz="1200" dirty="0"/>
          </a:p>
        </p:txBody>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その他の経費（万円）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オフィス（賃料＋共益費）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広告・展示会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営業・定着支援の交通費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検証用の端末・ソフト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専門家（税理士・弁護士・弁理士・社労士）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社外顧問（技術・業界）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雑費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オフィス：川崎市。1年目15坪→5年目40坪、坪1.25〜1.3万円（相場は要確認）</a:t>
            </a:r>
            <a:endParaRPr lang="en-US" sz="850" dirty="0"/>
          </a:p>
        </p:txBody>
      </p:sp>
      <p:sp>
        <p:nvSpPr>
          <p:cNvPr id="8" name="Text 4"/>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媒体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商談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展示会（電設の展示会など）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業界団体の勉強会・業界紙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事例動画・ホームページ（YouTubeに置く）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検索・SNS広告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営業資料・デモ機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紹介（既存のお客様・協力会社・メーカー）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749040"/>
            <a:ext cx="8412480" cy="704088"/>
          </a:xfrm>
          <a:prstGeom prst="rect">
            <a:avLst/>
          </a:prstGeom>
          <a:solidFill>
            <a:srgbClr val="1A1A1A"/>
          </a:solidFill>
          <a:ln/>
        </p:spPr>
      </p:sp>
      <p:sp>
        <p:nvSpPr>
          <p:cNvPr id="11" name="Text 6"/>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費用対効果：</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5年目は新規33拠点≒約25社。成約率25%なら商談約100件。500万円÷100件＝1商談5万円、1拠点約15万円。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媒体ごとの商談数は仮説。最初の1年で媒体ごとに「名刺→商談→成約」を記録し、効かない媒体はやめる</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p.15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チームと採用計画 ─ 役割ごとに人数と年収を決める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人件費＝役割別の年収×1.2（会社負担）。これに採用費と社外顧問の費用を足す</a:t>
            </a:r>
            <a:endParaRPr lang="en-US" sz="1200" dirty="0"/>
          </a:p>
        </p:txBody>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役割</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年収（万円）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3年目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4年目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5年目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主な仕事</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代表（創業者）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480〜720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最初の営業・現場監修の統括・理念と判断の基準づくり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CTO</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映像AI・データ基盤の設計と開発の責任者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エンジニア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アプリ・AI処理・クラウド・グラス連携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現場監修（施工管理経験者）</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映像の意味づけ（ラベル付け）・工種の型・品質の確認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導入コンサルタント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導入支援・各社の帳票と連携の設定・定着支援（当社のコンサル部隊）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営業（技術営業）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商談・試験導入の提案。年30商談／人</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管理（人事・経理・総務）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採用・労務・経理・契約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戦略企画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700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4D4D4D"/>
                          </a:solidFill>
                          <a:latin typeface="Meiryo" pitchFamily="34" charset="0"/>
                          <a:ea typeface="Meiryo" pitchFamily="34" charset="-122"/>
                          <a:cs typeface="Meiryo" pitchFamily="34" charset="-120"/>
                        </a:rPr>
                        <a:t>価格・提携・大手顧客の企画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社員数</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5</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18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A1A1A"/>
                          </a:solidFill>
                          <a:latin typeface="Meiryo" pitchFamily="34" charset="0"/>
                          <a:ea typeface="Meiryo" pitchFamily="34" charset="-122"/>
                          <a:cs typeface="Meiryo" pitchFamily="34" charset="-120"/>
                        </a:rPr>
                        <a:t>23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人件費（会社負担込み）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4,236</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6,840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10,044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14,844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18,684</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年収×1.2</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採用費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530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308</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383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600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A1A1A"/>
                          </a:solidFill>
                          <a:latin typeface="Meiryo" pitchFamily="34" charset="0"/>
                          <a:ea typeface="Meiryo" pitchFamily="34" charset="-122"/>
                          <a:cs typeface="Meiryo" pitchFamily="34" charset="-120"/>
                        </a:rPr>
                        <a:t>480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年収の30%×紹介会社経由50%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22192"/>
            <a:ext cx="8412480" cy="640080"/>
          </a:xfrm>
          <a:prstGeom prst="rect">
            <a:avLst/>
          </a:prstGeom>
          <a:solidFill>
            <a:srgbClr val="1A1A1A"/>
          </a:solidFill>
          <a:ln/>
        </p:spPr>
      </p:sp>
      <p:sp>
        <p:nvSpPr>
          <p:cNvPr id="8" name="Text 4"/>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社外：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技術顧問（大学・映像AI）月10万円、業界顧問（電気工事業のOB）月5万円 ＝ 年180万円。</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導入コンサルタントは「その年の新規拠点÷6」で先に採用する。外部に委託せず社内に知見を貯める。採用は拠点数の実績に合わせて遅らせられる（p.22）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p.22〜23・26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収支 ─ 10台のままでは5年で黒字にならない。15台なら5年目</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ここまでの前提をすべて入れた5年間の損益（万円）</a:t>
            </a:r>
            <a:endParaRPr lang="en-US" sz="1200" dirty="0"/>
          </a:p>
        </p:txBody>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1,200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10,700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17,800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2,401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5,749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16,196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人件費（原価に振り替えた分を除く）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3,458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5,206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7,043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11,075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13,893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採用費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308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383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600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その他の経費（AIの学習費を含む）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1,170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2,940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▲4,763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▲3,696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▲3,857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B8692E"/>
                          </a:solidFill>
                          <a:latin typeface="Meiryo" pitchFamily="34" charset="0"/>
                          <a:ea typeface="Meiryo" pitchFamily="34" charset="-122"/>
                          <a:cs typeface="Meiryo" pitchFamily="34" charset="-120"/>
                        </a:rPr>
                        <a:t>▲1,117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累積の営業損益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▲4,844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▲9,606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▲13,303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▲17,160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▲18,277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456432"/>
          <a:ext cx="8412480" cy="914400"/>
        </p:xfrm>
        <a:graphic>
          <a:graphicData uri="http://schemas.openxmlformats.org/drawingml/2006/table">
            <a:tbl>
              <a:tblPr/>
              <a:tblGrid>
                <a:gridCol w="2926080"/>
                <a:gridCol w="1554480"/>
                <a:gridCol w="1920240"/>
                <a:gridCol w="2011680"/>
              </a:tblGrid>
              <a:tr h="20116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もし</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黒字化</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5年目の営業利益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累積赤字のピーク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計画どおり（10台）</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-1,117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18,277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1拠点15台に増やす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5年目</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4,301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11,559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解約が年5%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-253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16,981</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0116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月18万円に値下げ</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B8692E"/>
                          </a:solidFill>
                          <a:latin typeface="Meiryo" pitchFamily="34" charset="0"/>
                          <a:ea typeface="Meiryo" pitchFamily="34" charset="-122"/>
                          <a:cs typeface="Meiryo" pitchFamily="34" charset="-120"/>
                        </a:rPr>
                        <a:t>しない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▲6,535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29,323</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累積赤字のピークは約1.83億円。自己資金は1年目2億円＋3年目5,000万円（p.23）</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p.23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損益分岐点 ─ 5年目は分岐点の約94%。人で見ても届かない</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二つの見方が同じ答えになることを確かめる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販管費</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粗利率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分岐点売上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197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143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176</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245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288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実際の売上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269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安全余裕率</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② 人で見る：社員1人あたりの拠点数</a:t>
            </a:r>
            <a:endParaRPr lang="en-US" sz="1050" dirty="0"/>
          </a:p>
        </p:txBody>
      </p:sp>
      <p:sp>
        <p:nvSpPr>
          <p:cNvPr id="9" name="Shape 5"/>
          <p:cNvSpPr/>
          <p:nvPr/>
        </p:nvSpPr>
        <p:spPr>
          <a:xfrm>
            <a:off x="4709160" y="1325880"/>
            <a:ext cx="4069080" cy="868680"/>
          </a:xfrm>
          <a:prstGeom prst="rect">
            <a:avLst/>
          </a:prstGeom>
          <a:solidFill>
            <a:srgbClr val="1A1A1A"/>
          </a:solidFill>
          <a:ln/>
        </p:spPr>
      </p:sp>
      <p:sp>
        <p:nvSpPr>
          <p:cNvPr id="10" name="Text 6"/>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 1拠点の粗利 216万円 ＝ 3.5拠点／人</a:t>
            </a:r>
            <a:endParaRPr lang="en-US" sz="950" dirty="0"/>
          </a:p>
          <a:p>
            <a:pPr algn="l" indent="0" marL="0">
              <a:lnSpc>
                <a:spcPct val="115000"/>
              </a:lnSpc>
              <a:buNone/>
            </a:pPr>
            <a:r>
              <a:rPr lang="en-US" sz="1300" b="1" dirty="0">
                <a:solidFill>
                  <a:srgbClr val="E3A774"/>
                </a:solidFill>
                <a:latin typeface="Meiryo" pitchFamily="34" charset="0"/>
                <a:ea typeface="Meiryo" pitchFamily="34" charset="-122"/>
                <a:cs typeface="Meiryo"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拠点÷社員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0.60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2.42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2.94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7"/>
          <p:cNvSpPr/>
          <p:nvPr/>
        </p:nvSpPr>
        <p:spPr>
          <a:xfrm>
            <a:off x="365760" y="3154680"/>
            <a:ext cx="8412480" cy="1188720"/>
          </a:xfrm>
          <a:prstGeom prst="rect">
            <a:avLst/>
          </a:prstGeom>
          <a:solidFill>
            <a:srgbClr val="F2F2F2"/>
          </a:solidFill>
          <a:ln/>
        </p:spPr>
      </p:sp>
      <p:sp>
        <p:nvSpPr>
          <p:cNvPr id="13" name="Text 8"/>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なぜ販管費を「固定費」とみなすか：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聞かれたらこう答える：</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「5年目は23人で81拠点、1人3.52で約4拠点に届かず赤字です。あと約6拠点分、または1拠点15台で越えます」</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経営のルール：</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採用は「期末で1人約4拠点を超える見込み」が立ってから（p.22）</a:t>
            </a:r>
            <a:endParaRPr lang="en-US" sz="9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LTV・CAC ─ 控えめに7年。3年で解約されても8倍</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LTV＝1拠点の年の粗利×継続年数＋導入支援の粗利　CAC＝営業・広告費÷新規拠点数</a:t>
            </a:r>
            <a:endParaRPr lang="en-US" sz="1200" dirty="0"/>
          </a:p>
        </p:txBody>
      </p:sp>
      <p:sp>
        <p:nvSpPr>
          <p:cNvPr id="6" name="Shape 3"/>
          <p:cNvSpPr/>
          <p:nvPr/>
        </p:nvSpPr>
        <p:spPr>
          <a:xfrm>
            <a:off x="365760" y="1051560"/>
            <a:ext cx="4069080" cy="1143000"/>
          </a:xfrm>
          <a:prstGeom prst="rect">
            <a:avLst/>
          </a:prstGeom>
          <a:solidFill>
            <a:srgbClr val="F2F2F2"/>
          </a:solidFill>
          <a:ln/>
        </p:spPr>
      </p:sp>
      <p:sp>
        <p:nvSpPr>
          <p:cNvPr id="7" name="Text 4"/>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LTV（1拠点が残す粗利）</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216万円 × 7年 ＋ 59万円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約1,571万円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216万円＝300万円−AI・保存84万円　59万円＝200万円−141万円</a:t>
            </a:r>
            <a:endParaRPr lang="en-US" sz="1050" dirty="0"/>
          </a:p>
        </p:txBody>
      </p:sp>
      <p:sp>
        <p:nvSpPr>
          <p:cNvPr id="8" name="Shape 5"/>
          <p:cNvSpPr/>
          <p:nvPr/>
        </p:nvSpPr>
        <p:spPr>
          <a:xfrm>
            <a:off x="4709160" y="1051560"/>
            <a:ext cx="4069080" cy="1143000"/>
          </a:xfrm>
          <a:prstGeom prst="rect">
            <a:avLst/>
          </a:prstGeom>
          <a:solidFill>
            <a:srgbClr val="F2F2F2"/>
          </a:solidFill>
          <a:ln/>
        </p:spPr>
      </p:sp>
      <p:sp>
        <p:nvSpPr>
          <p:cNvPr id="9" name="Text 6"/>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A1A1A"/>
                </a:solidFill>
                <a:latin typeface="Meiryo" pitchFamily="34" charset="0"/>
                <a:ea typeface="Meiryo" pitchFamily="34" charset="-122"/>
                <a:cs typeface="Meiryo" pitchFamily="34" charset="-120"/>
              </a:rPr>
              <a:t>CAC（1拠点を獲得する費用）</a:t>
            </a:r>
            <a:endParaRPr lang="en-US" sz="1050" dirty="0"/>
          </a:p>
          <a:p>
            <a:pPr algn="l" indent="0" marL="0">
              <a:lnSpc>
                <a:spcPct val="115000"/>
              </a:lnSpc>
              <a:spcAft>
                <a:spcPts val="300"/>
              </a:spcAft>
              <a:buNone/>
            </a:pPr>
            <a:r>
              <a:rPr lang="en-US" sz="1050" dirty="0">
                <a:solidFill>
                  <a:srgbClr val="1A1A1A"/>
                </a:solidFill>
                <a:latin typeface="Meiryo" pitchFamily="34" charset="0"/>
                <a:ea typeface="Meiryo" pitchFamily="34" charset="-122"/>
                <a:cs typeface="Meiryo" pitchFamily="34" charset="-120"/>
              </a:rPr>
              <a:t>（2,340万円＋500万円）÷ 33拠点 ＝ </a:t>
            </a:r>
            <a:pPr algn="l" indent="0" marL="0">
              <a:lnSpc>
                <a:spcPct val="115000"/>
              </a:lnSpc>
              <a:spcAft>
                <a:spcPts val="300"/>
              </a:spcAft>
              <a:buNone/>
            </a:pPr>
            <a:r>
              <a:rPr lang="en-US" sz="1600" b="1" dirty="0">
                <a:solidFill>
                  <a:srgbClr val="B8692E"/>
                </a:solidFill>
                <a:latin typeface="Meiryo" pitchFamily="34" charset="0"/>
                <a:ea typeface="Meiryo" pitchFamily="34" charset="-122"/>
                <a:cs typeface="Meiryo" pitchFamily="34" charset="-120"/>
              </a:rPr>
              <a:t>約86万円</a:t>
            </a:r>
            <a:endParaRPr lang="en-US" sz="1050" dirty="0"/>
          </a:p>
          <a:p>
            <a:pPr algn="l" indent="0" marL="0">
              <a:lnSpc>
                <a:spcPct val="115000"/>
              </a:lnSpc>
              <a:spcAft>
                <a:spcPts val="300"/>
              </a:spcAft>
              <a:buNone/>
            </a:pPr>
            <a:r>
              <a:rPr lang="en-US" sz="850" dirty="0">
                <a:solidFill>
                  <a:srgbClr val="4D4D4D"/>
                </a:solidFill>
                <a:latin typeface="Meiryo" pitchFamily="34" charset="0"/>
                <a:ea typeface="Meiryo" pitchFamily="34" charset="-122"/>
                <a:cs typeface="Meiryo" pitchFamily="34" charset="-120"/>
              </a:rPr>
              <a:t>5年目：営業3人（年収650万円×1.2）＋広告・展示会 ÷ 新規拠点</a:t>
            </a:r>
            <a:endParaRPr lang="en-US" sz="1050" dirty="0"/>
          </a:p>
        </p:txBody>
      </p:sp>
      <p:sp>
        <p:nvSpPr>
          <p:cNvPr id="10" name="Text 7"/>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継続年数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707万円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1,139万円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13倍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7年（計画）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1,571万円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10年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2,219万円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26倍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CAC</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LTV÷CAC（7年）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回収期間</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86万円（計画）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18倍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172万円（2倍）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9倍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10か月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344万円（4倍）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19か月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931920"/>
            <a:ext cx="8412480" cy="585216"/>
          </a:xfrm>
          <a:prstGeom prst="rect">
            <a:avLst/>
          </a:prstGeom>
          <a:solidFill>
            <a:srgbClr val="FFFFFF"/>
          </a:solidFill>
          <a:ln w="19050">
            <a:solidFill>
              <a:srgbClr val="B8692E"/>
            </a:solidFill>
            <a:prstDash val="solid"/>
          </a:ln>
        </p:spPr>
      </p:sp>
      <p:sp>
        <p:nvSpPr>
          <p:cNvPr id="15" name="Text 10"/>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7年は控えめ：</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B8692E"/>
                </a:solidFill>
                <a:latin typeface="Meiryo" pitchFamily="34" charset="0"/>
                <a:ea typeface="Meiryo" pitchFamily="34" charset="-122"/>
                <a:cs typeface="Meiryo" pitchFamily="34" charset="-120"/>
              </a:rPr>
              <a:t>目安：</a:t>
            </a:r>
            <a:pPr algn="l" indent="0" marL="0">
              <a:lnSpc>
                <a:spcPct val="115000"/>
              </a:lnSpc>
              <a:spcAft>
                <a:spcPts val="100"/>
              </a:spcAft>
              <a:buNone/>
            </a:pPr>
            <a:r>
              <a:rPr lang="en-US" sz="900" dirty="0">
                <a:solidFill>
                  <a:srgbClr val="1A1A1A"/>
                </a:solidFill>
                <a:latin typeface="Meiryo" pitchFamily="34" charset="0"/>
                <a:ea typeface="Meiryo" pitchFamily="34" charset="-122"/>
                <a:cs typeface="Meiryo" pitchFamily="34" charset="-120"/>
              </a:rPr>
              <a:t>SaaSでよく使われる目安は「LTV÷CACが3倍以上、回収12か月以内」。当社は18倍・約5か月</a:t>
            </a:r>
            <a:endParaRPr lang="en-US" sz="90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1〜2年目は創業者が営業するため、CACに創業者の人件費は入れていない（聞かれたら正直に言う）</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p.25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崩れたら ─ 前提を一つずつ崩したストレステスト</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同じ計算モデルで1つずつ前提を変えた結果。最低現金のライン＝固定費3か月分</a:t>
            </a:r>
            <a:endParaRPr lang="en-US" sz="1200" dirty="0"/>
          </a:p>
        </p:txBody>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シナリオ</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想定する事態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黒字化</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 営業利益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最低の現金残高</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4D4D4D"/>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単価 −20%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値引きされた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解約 年20%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定着しなかった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33百万円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AI・保存費が2倍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処理量が想定より多い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▲58百万円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年収 +100万円／人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採用市場が厳しい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▲39百万円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▲12百万円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新規 −30%（採用も連動）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営業が想定より遅い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▲26百万円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28百万円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1拠点15台に増やせた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4D4D4D"/>
                          </a:solidFill>
                          <a:latin typeface="Meiryo" pitchFamily="34" charset="0"/>
                          <a:ea typeface="Meiryo" pitchFamily="34" charset="-122"/>
                          <a:cs typeface="Meiryo" pitchFamily="34" charset="-120"/>
                        </a:rPr>
                        <a:t>効果が出た班から追加</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110百万円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全編をクラウドで解析</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▲352百万円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▲631百万円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B8692E"/>
                          </a:solidFill>
                          <a:latin typeface="Meiryo" pitchFamily="34" charset="0"/>
                          <a:ea typeface="Meiryo" pitchFamily="34" charset="-122"/>
                          <a:cs typeface="Meiryo" pitchFamily="34" charset="-120"/>
                        </a:rPr>
                        <a:t>新規 −30%（採用は計画どおり）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B8692E"/>
                          </a:solidFill>
                          <a:latin typeface="Meiryo" pitchFamily="34" charset="0"/>
                          <a:ea typeface="Meiryo" pitchFamily="34" charset="-122"/>
                          <a:cs typeface="Meiryo" pitchFamily="34" charset="-120"/>
                        </a:rPr>
                        <a:t>やってはいけない例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B8692E"/>
                          </a:solidFill>
                          <a:latin typeface="Meiryo" pitchFamily="34" charset="0"/>
                          <a:ea typeface="Meiryo" pitchFamily="34" charset="-122"/>
                          <a:cs typeface="Meiryo" pitchFamily="34" charset="-120"/>
                        </a:rPr>
                        <a:t>▲76百万円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B8692E"/>
                          </a:solidFill>
                          <a:latin typeface="Meiryo" pitchFamily="34" charset="0"/>
                          <a:ea typeface="Meiryo" pitchFamily="34" charset="-122"/>
                          <a:cs typeface="Meiryo" pitchFamily="34" charset="-120"/>
                        </a:rPr>
                        <a:t>▲83百万円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840480"/>
            <a:ext cx="8412480" cy="658368"/>
          </a:xfrm>
          <a:prstGeom prst="rect">
            <a:avLst/>
          </a:prstGeom>
          <a:solidFill>
            <a:srgbClr val="1A1A1A"/>
          </a:solidFill>
          <a:ln/>
        </p:spPr>
      </p:sp>
      <p:sp>
        <p:nvSpPr>
          <p:cNvPr id="8" name="Text 4"/>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結論：</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10台のままでは計画どおりでも5年以内に黒字にならない。値引き・解約・AI費用・年収のどれも赤字を広げる。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守りは2つ。1拠点の台数を増やす（15台で5年目に黒字）と、採用を拠点数に合わせて遅らせる（p.22）</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p.25・27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黒字化の条件と撤退ライン ─ 鍵は1拠点の台数</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新規が計画に届かないとき、10台のままと15台に増やせた場合を比べる。止まる線を先に引く</a:t>
            </a:r>
            <a:endParaRPr lang="en-US" sz="1200" dirty="0"/>
          </a:p>
        </p:txBody>
      </p:sp>
      <p:sp>
        <p:nvSpPr>
          <p:cNvPr id="6" name="Text 3"/>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新規の達成度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新規拠点（1〜5年目）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5年目利益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4D4D4D"/>
                          </a:solidFill>
                          <a:latin typeface="Meiryo" pitchFamily="34" charset="0"/>
                          <a:ea typeface="Meiryo" pitchFamily="34" charset="-122"/>
                          <a:cs typeface="Meiryo" pitchFamily="34" charset="-120"/>
                        </a:rPr>
                        <a:t>3・9・18・27・33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計画の9割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3・8・16・24・30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計画の8割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2・7・14・22・26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計画の7割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2・6・13・19・23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計画の6割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D4D4D"/>
                          </a:solidFill>
                          <a:latin typeface="Meiryo" pitchFamily="34" charset="0"/>
                          <a:ea typeface="Meiryo" pitchFamily="34" charset="-122"/>
                          <a:cs typeface="Meiryo" pitchFamily="34" charset="-120"/>
                        </a:rPr>
                        <a:t>2・5・11・16・20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5年でしない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B8692E"/>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108960" y="1298448"/>
            <a:ext cx="278892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1拠点10台のまま</a:t>
            </a:r>
            <a:endParaRPr lang="en-US" sz="850" dirty="0"/>
          </a:p>
        </p:txBody>
      </p:sp>
      <p:sp>
        <p:nvSpPr>
          <p:cNvPr id="9" name="Text 5"/>
          <p:cNvSpPr txBox="1"/>
          <p:nvPr/>
        </p:nvSpPr>
        <p:spPr>
          <a:xfrm>
            <a:off x="5897880" y="1298448"/>
            <a:ext cx="2880360" cy="210312"/>
          </a:xfrm>
          <a:prstGeom prst="rect">
            <a:avLst/>
          </a:prstGeom>
          <a:solidFill>
            <a:srgbClr val="F2F2F2"/>
          </a:solidFill>
          <a:ln/>
        </p:spPr>
        <p:txBody>
          <a:bodyPr wrap="square" lIns="0" tIns="0" rIns="0" bIns="0" rtlCol="0" anchor="ctr"/>
          <a:lstStyle/>
          <a:p>
            <a:pPr algn="ctr" indent="0" marL="0">
              <a:lnSpc>
                <a:spcPct val="115000"/>
              </a:lnSpc>
              <a:buNone/>
            </a:pPr>
            <a:r>
              <a:rPr lang="en-US" sz="850" b="1" dirty="0">
                <a:solidFill>
                  <a:srgbClr val="B8692E"/>
                </a:solidFill>
                <a:latin typeface="Meiryo" pitchFamily="34" charset="0"/>
                <a:ea typeface="Meiryo" pitchFamily="34" charset="-122"/>
                <a:cs typeface="Meiryo" pitchFamily="34" charset="-120"/>
              </a:rPr>
              <a:t>1拠点15台に増やせた場合</a:t>
            </a:r>
            <a:endParaRPr lang="en-US" sz="850" dirty="0"/>
          </a:p>
        </p:txBody>
      </p:sp>
      <p:sp>
        <p:nvSpPr>
          <p:cNvPr id="10" name="Text 6"/>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測るもの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1台1日の削減時間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15〜23分：機能を写真台帳に絞る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2社以上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新規拠点・1拠点の台数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5拠点未満：採用を止める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追加の5,000万円を入れるか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未達：追加額と採用を絞る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p.24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資金計画 ─ 自己資金 約2.55億円は積み上げで出した</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課題の前提「豊富な資金」。それでも「あるだけ使う」ではなく「必要額を積み、段階に分けて入れる」</a:t>
            </a:r>
            <a:endParaRPr lang="en-US" sz="1200" dirty="0"/>
          </a:p>
        </p:txBody>
      </p:sp>
      <p:sp>
        <p:nvSpPr>
          <p:cNvPr id="6" name="Text 3"/>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赤字の累計のピーク</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18,280万円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1〜5年目の赤字の合計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最低残高</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3,540万円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4年目の販管費の3か月分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遅れへの備え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3,180万円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残り（計画が遅れたときの吸収分）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試作品・実証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2億5,500万円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すべて自己資金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金額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実証で1台1日23分以上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2億円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5,000万円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4年目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調達</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営業損益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▲48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▲39</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▲11</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期末現金</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152</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104</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117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78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67</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6"/>
          <p:cNvSpPr/>
          <p:nvPr/>
        </p:nvSpPr>
        <p:spPr>
          <a:xfrm>
            <a:off x="4709160" y="2560320"/>
            <a:ext cx="4069080" cy="1828800"/>
          </a:xfrm>
          <a:prstGeom prst="rect">
            <a:avLst/>
          </a:prstGeom>
          <a:solidFill>
            <a:srgbClr val="1A1A1A"/>
          </a:solidFill>
          <a:ln/>
        </p:spPr>
      </p:sp>
      <p:sp>
        <p:nvSpPr>
          <p:cNvPr id="13" name="Text 7"/>
          <p:cNvSpPr txBox="1"/>
          <p:nvPr/>
        </p:nvSpPr>
        <p:spPr>
          <a:xfrm>
            <a:off x="4846320" y="2606040"/>
            <a:ext cx="3794760" cy="1737360"/>
          </a:xfrm>
          <a:prstGeom prst="rect">
            <a:avLst/>
          </a:prstGeom>
          <a:noFill/>
          <a:ln/>
        </p:spPr>
        <p:txBody>
          <a:bodyPr wrap="square" lIns="0" tIns="0" rIns="0" bIns="0" rtlCol="0" anchor="ctr"/>
          <a:lstStyle/>
          <a:p>
            <a:pPr algn="l" indent="0" marL="0">
              <a:lnSpc>
                <a:spcPct val="115000"/>
              </a:lnSpc>
              <a:spcAft>
                <a:spcPts val="400"/>
              </a:spcAft>
              <a:buNone/>
            </a:pPr>
            <a:r>
              <a:rPr lang="en-US" sz="950" b="1" dirty="0">
                <a:solidFill>
                  <a:srgbClr val="E3A774"/>
                </a:solidFill>
                <a:latin typeface="Meiryo" pitchFamily="34" charset="0"/>
                <a:ea typeface="Meiryo" pitchFamily="34" charset="-122"/>
                <a:cs typeface="Meiryo" pitchFamily="34" charset="-120"/>
              </a:rPr>
              <a:t>黒字倒産を防ぐ4つのルール</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① 利用料は年額前払い。導入支援は着手金50%</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② 現金が固定費3か月分を割りそうなら、先に採用を止める</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③ 資金繰り表で12か月先までの入出金を管理</a:t>
            </a:r>
            <a:endParaRPr lang="en-US" sz="950" dirty="0"/>
          </a:p>
          <a:p>
            <a:pPr algn="l" indent="0" marL="0">
              <a:lnSpc>
                <a:spcPct val="115000"/>
              </a:lnSpc>
              <a:spcAft>
                <a:spcPts val="400"/>
              </a:spcAft>
              <a:buNone/>
            </a:pPr>
            <a:r>
              <a:rPr lang="en-US" sz="950" dirty="0">
                <a:solidFill>
                  <a:srgbClr val="FFFFFF"/>
                </a:solidFill>
                <a:latin typeface="Meiryo" pitchFamily="34" charset="0"/>
                <a:ea typeface="Meiryo" pitchFamily="34" charset="-122"/>
                <a:cs typeface="Meiryo" pitchFamily="34" charset="-120"/>
              </a:rPr>
              <a:t>④ 採用は期末で社員1人約4拠点の見込みが立ってから</a:t>
            </a:r>
            <a:endParaRPr lang="en-US" sz="950" dirty="0"/>
          </a:p>
        </p:txBody>
      </p:sp>
      <p:sp>
        <p:nvSpPr>
          <p:cNvPr id="14"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p.17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市場規模の計算 ─ 業種×規模で数えて約141億円</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全体市場は第三者の調査、ターゲット市場は「顧客数×年額×年1回」を足し上げる</a:t>
            </a:r>
            <a:endParaRPr lang="en-US" sz="1200" dirty="0"/>
          </a:p>
        </p:txBody>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業種＼規模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大（300人以上）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中（30〜299人）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小（30人未満）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300社×1,500万＝45億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2,100社×300万＝63億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6E7DA"/>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対象外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電気通信工事会社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100社×1,500万＝15億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600社×300万＝18億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電線・ケーブル工場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8C8C8C"/>
                          </a:solidFill>
                          <a:latin typeface="Meiryo" pitchFamily="34" charset="0"/>
                          <a:ea typeface="Meiryo" pitchFamily="34" charset="-122"/>
                          <a:cs typeface="Meiryo" pitchFamily="34" charset="-120"/>
                        </a:rPr>
                        <a:t>隣接市場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2011680"/>
                <a:gridCol w="3017520"/>
                <a:gridCol w="548640"/>
              </a:tblGrid>
              <a:tr h="246888">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前提</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値</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確度</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電気工事業の許可業者</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65,497社（令和7年3月末）</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統計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規模別の内訳（大300・中2,100）</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資本金5,000万円以上 約2,400社を分けた</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電気通信工事の中堅以上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約700社（完成工事高の比率から）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仮説</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1拠点の年額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標準10台で300万円。大手は支店5拠点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小規模を外す理由</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書類の量が少なく、1台1日23分を満たしにくい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見積</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6126480" y="1051560"/>
            <a:ext cx="2651760" cy="1371600"/>
          </a:xfrm>
          <a:prstGeom prst="rect">
            <a:avLst/>
          </a:prstGeom>
          <a:solidFill>
            <a:srgbClr val="1A1A1A"/>
          </a:solidFill>
          <a:ln/>
        </p:spPr>
      </p:sp>
      <p:sp>
        <p:nvSpPr>
          <p:cNvPr id="9" name="Text 4"/>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E3A774"/>
                </a:solidFill>
                <a:latin typeface="Meiryo" pitchFamily="34" charset="0"/>
                <a:ea typeface="Meiryo" pitchFamily="34" charset="-122"/>
                <a:cs typeface="Meiryo"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Meiryo" pitchFamily="34" charset="0"/>
                <a:ea typeface="Meiryo" pitchFamily="34" charset="-122"/>
                <a:cs typeface="Meiryo" pitchFamily="34" charset="-120"/>
              </a:rPr>
              <a:t>約141億円</a:t>
            </a:r>
            <a:endParaRPr lang="en-US" sz="10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中堅以上 約3,100社</a:t>
            </a:r>
            <a:endParaRPr lang="en-US" sz="1000" dirty="0"/>
          </a:p>
        </p:txBody>
      </p:sp>
      <p:sp>
        <p:nvSpPr>
          <p:cNvPr id="10" name="Shape 5"/>
          <p:cNvSpPr/>
          <p:nvPr/>
        </p:nvSpPr>
        <p:spPr>
          <a:xfrm>
            <a:off x="6126480" y="2514600"/>
            <a:ext cx="2651760" cy="1325880"/>
          </a:xfrm>
          <a:prstGeom prst="rect">
            <a:avLst/>
          </a:prstGeom>
          <a:solidFill>
            <a:srgbClr val="F2F2F2"/>
          </a:solidFill>
          <a:ln/>
        </p:spPr>
      </p:sp>
      <p:sp>
        <p:nvSpPr>
          <p:cNvPr id="11" name="Text 6"/>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全体市場（第三者の調査）</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建設テック（建築分野）</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1,845億→3,043億円、年7.4%</a:t>
            </a:r>
            <a:endParaRPr lang="en-US" sz="850" dirty="0"/>
          </a:p>
          <a:p>
            <a:pPr algn="l" indent="0" marL="0">
              <a:lnSpc>
                <a:spcPct val="115000"/>
              </a:lnSpc>
              <a:spcAft>
                <a:spcPts val="100"/>
              </a:spcAft>
              <a:buNone/>
            </a:pPr>
            <a:r>
              <a:rPr lang="en-US" sz="850" dirty="0">
                <a:solidFill>
                  <a:srgbClr val="1A1A1A"/>
                </a:solidFill>
                <a:latin typeface="Meiryo" pitchFamily="34" charset="0"/>
                <a:ea typeface="Meiryo" pitchFamily="34" charset="-122"/>
                <a:cs typeface="Meiryo" pitchFamily="34" charset="-120"/>
              </a:rPr>
              <a:t>スマートファクトリー（国内）</a:t>
            </a:r>
            <a:endParaRPr lang="en-US" sz="850" dirty="0"/>
          </a:p>
          <a:p>
            <a:pPr algn="l" indent="0" marL="0">
              <a:lnSpc>
                <a:spcPct val="115000"/>
              </a:lnSpc>
              <a:spcAft>
                <a:spcPts val="100"/>
              </a:spcAft>
              <a:buNone/>
            </a:pPr>
            <a:r>
              <a:rPr lang="en-US" sz="850" b="1" dirty="0">
                <a:solidFill>
                  <a:srgbClr val="1A1A1A"/>
                </a:solidFill>
                <a:latin typeface="Meiryo" pitchFamily="34" charset="0"/>
                <a:ea typeface="Meiryo" pitchFamily="34" charset="-122"/>
                <a:cs typeface="Meiryo" pitchFamily="34" charset="-120"/>
              </a:rPr>
              <a:t>42億→92億米ドル、年9.03%</a:t>
            </a:r>
            <a:endParaRPr lang="en-US" sz="850" dirty="0"/>
          </a:p>
        </p:txBody>
      </p:sp>
      <p:sp>
        <p:nvSpPr>
          <p:cNvPr id="12" name="Shape 7"/>
          <p:cNvSpPr/>
          <p:nvPr/>
        </p:nvSpPr>
        <p:spPr>
          <a:xfrm>
            <a:off x="365760" y="4069080"/>
            <a:ext cx="8412480" cy="438912"/>
          </a:xfrm>
          <a:prstGeom prst="rect">
            <a:avLst/>
          </a:prstGeom>
          <a:solidFill>
            <a:srgbClr val="FFFFFF"/>
          </a:solidFill>
          <a:ln w="19050">
            <a:solidFill>
              <a:srgbClr val="B8692E"/>
            </a:solidFill>
            <a:prstDash val="solid"/>
          </a:ln>
        </p:spPr>
      </p:sp>
      <p:sp>
        <p:nvSpPr>
          <p:cNvPr id="13" name="Text 8"/>
          <p:cNvSpPr txBox="1"/>
          <p:nvPr/>
        </p:nvSpPr>
        <p:spPr>
          <a:xfrm>
            <a:off x="502920" y="4069080"/>
            <a:ext cx="8138160" cy="438912"/>
          </a:xfrm>
          <a:prstGeom prst="rect">
            <a:avLst/>
          </a:prstGeom>
          <a:noFill/>
          <a:ln/>
        </p:spPr>
        <p:txBody>
          <a:bodyPr wrap="square" lIns="0" tIns="0" rIns="0" bIns="0" rtlCol="0" anchor="ctr"/>
          <a:lstStyle/>
          <a:p>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聞かれたら：</a:t>
            </a:r>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「土台の65,497社は国の統計、規模別の内訳は推計です。業界団体の名簿と経済センサスで数え直します」。5年目の売上は約2.43億円で、ターゲット市場の約1.7%</a:t>
            </a:r>
            <a:endParaRPr lang="en-US" sz="8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p.18・21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ターゲットと営業 ─ 規模ではなく条件で絞る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中堅2,100社を規模だけで追うと会えない。4つの条件で一次ターゲットを決める</a:t>
            </a:r>
            <a:endParaRPr lang="en-US" sz="1200" dirty="0"/>
          </a:p>
        </p:txBody>
      </p:sp>
      <p:sp>
        <p:nvSpPr>
          <p:cNvPr id="6" name="Text 3"/>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一次ターゲットの4条件（ペルソナ）</a:t>
            </a:r>
            <a:endParaRPr lang="en-US" sz="1050" dirty="0"/>
          </a:p>
        </p:txBody>
      </p:sp>
      <p:sp>
        <p:nvSpPr>
          <p:cNvPr id="7" name="Shape 4"/>
          <p:cNvSpPr/>
          <p:nvPr/>
        </p:nvSpPr>
        <p:spPr>
          <a:xfrm>
            <a:off x="365760" y="1316736"/>
            <a:ext cx="1051560" cy="384048"/>
          </a:xfrm>
          <a:prstGeom prst="rect">
            <a:avLst/>
          </a:prstGeom>
          <a:solidFill>
            <a:srgbClr val="1A1A1A"/>
          </a:solidFill>
          <a:ln/>
        </p:spPr>
      </p:sp>
      <p:sp>
        <p:nvSpPr>
          <p:cNvPr id="8" name="Text 5"/>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規模</a:t>
            </a:r>
            <a:endParaRPr lang="en-US" sz="900" dirty="0"/>
          </a:p>
        </p:txBody>
      </p:sp>
      <p:sp>
        <p:nvSpPr>
          <p:cNvPr id="9" name="Text 6"/>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施工管理者30人以上、拠点（支店）が1〜3つ</a:t>
            </a:r>
            <a:endParaRPr lang="en-US" sz="900" dirty="0"/>
          </a:p>
        </p:txBody>
      </p:sp>
      <p:sp>
        <p:nvSpPr>
          <p:cNvPr id="10" name="Shape 7"/>
          <p:cNvSpPr/>
          <p:nvPr/>
        </p:nvSpPr>
        <p:spPr>
          <a:xfrm>
            <a:off x="365760" y="1773936"/>
            <a:ext cx="1051560" cy="384048"/>
          </a:xfrm>
          <a:prstGeom prst="rect">
            <a:avLst/>
          </a:prstGeom>
          <a:solidFill>
            <a:srgbClr val="1A1A1A"/>
          </a:solidFill>
          <a:ln/>
        </p:spPr>
      </p:sp>
      <p:sp>
        <p:nvSpPr>
          <p:cNvPr id="11" name="Text 8"/>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書類の重さ</a:t>
            </a:r>
            <a:endParaRPr lang="en-US" sz="900" dirty="0"/>
          </a:p>
        </p:txBody>
      </p:sp>
      <p:sp>
        <p:nvSpPr>
          <p:cNvPr id="12" name="Text 9"/>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電力会社・官公庁の工事が多く、写真台帳と報告書の提出が多い</a:t>
            </a:r>
            <a:endParaRPr lang="en-US" sz="900" dirty="0"/>
          </a:p>
        </p:txBody>
      </p:sp>
      <p:sp>
        <p:nvSpPr>
          <p:cNvPr id="13" name="Shape 10"/>
          <p:cNvSpPr/>
          <p:nvPr/>
        </p:nvSpPr>
        <p:spPr>
          <a:xfrm>
            <a:off x="365760" y="2231136"/>
            <a:ext cx="1051560" cy="384048"/>
          </a:xfrm>
          <a:prstGeom prst="rect">
            <a:avLst/>
          </a:prstGeom>
          <a:solidFill>
            <a:srgbClr val="1A1A1A"/>
          </a:solidFill>
          <a:ln/>
        </p:spPr>
      </p:sp>
      <p:sp>
        <p:nvSpPr>
          <p:cNvPr id="14" name="Text 11"/>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手戻りの痛さ</a:t>
            </a:r>
            <a:endParaRPr lang="en-US" sz="900" dirty="0"/>
          </a:p>
        </p:txBody>
      </p:sp>
      <p:sp>
        <p:nvSpPr>
          <p:cNvPr id="15" name="Text 12"/>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ケーブル接続・端末処理など、やり直しが高くつく工種がある</a:t>
            </a:r>
            <a:endParaRPr lang="en-US" sz="900" dirty="0"/>
          </a:p>
        </p:txBody>
      </p:sp>
      <p:sp>
        <p:nvSpPr>
          <p:cNvPr id="16" name="Shape 13"/>
          <p:cNvSpPr/>
          <p:nvPr/>
        </p:nvSpPr>
        <p:spPr>
          <a:xfrm>
            <a:off x="365760" y="2688336"/>
            <a:ext cx="1051560" cy="384048"/>
          </a:xfrm>
          <a:prstGeom prst="rect">
            <a:avLst/>
          </a:prstGeom>
          <a:solidFill>
            <a:srgbClr val="1A1A1A"/>
          </a:solidFill>
          <a:ln/>
        </p:spPr>
      </p:sp>
      <p:sp>
        <p:nvSpPr>
          <p:cNvPr id="17" name="Text 14"/>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デジタルの素地</a:t>
            </a:r>
            <a:endParaRPr lang="en-US" sz="900" dirty="0"/>
          </a:p>
        </p:txBody>
      </p:sp>
      <p:sp>
        <p:nvSpPr>
          <p:cNvPr id="18" name="Text 15"/>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施工管理アプリを使っている、またはDX担当がいる</a:t>
            </a:r>
            <a:endParaRPr lang="en-US" sz="900" dirty="0"/>
          </a:p>
        </p:txBody>
      </p:sp>
      <p:sp>
        <p:nvSpPr>
          <p:cNvPr id="19" name="Text 16"/>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決裁は社長・工事部長、使うのは職長と施工管理者、推進はDX担当</a:t>
            </a:r>
            <a:endParaRPr lang="en-US" sz="900" dirty="0"/>
          </a:p>
        </p:txBody>
      </p:sp>
      <p:sp>
        <p:nvSpPr>
          <p:cNvPr id="20" name="Text 1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社数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会える率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成約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関東の中堅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条件に合う（約25%）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それ以外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555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合計×1社1.3拠点＋大手5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約85拠点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2" name="Shape 18"/>
          <p:cNvSpPr/>
          <p:nvPr/>
        </p:nvSpPr>
        <p:spPr>
          <a:xfrm>
            <a:off x="4709160" y="2807208"/>
            <a:ext cx="4069080" cy="685800"/>
          </a:xfrm>
          <a:prstGeom prst="rect">
            <a:avLst/>
          </a:prstGeom>
          <a:solidFill>
            <a:srgbClr val="F2F2F2"/>
          </a:solidFill>
          <a:ln/>
        </p:spPr>
      </p:sp>
      <p:sp>
        <p:nvSpPr>
          <p:cNvPr id="23" name="Text 19"/>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B8692E"/>
                </a:solidFill>
                <a:latin typeface="Meiryo" pitchFamily="34" charset="0"/>
                <a:ea typeface="Meiryo" pitchFamily="34" charset="-122"/>
                <a:cs typeface="Meiryo" pitchFamily="34" charset="-120"/>
              </a:rPr>
              <a:t>営業1人の量：</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5年目の商談約100件÷3人＝1人月約3件。商談は4〜6か月かかるので、常に10〜15件を同時に追う</a:t>
            </a:r>
            <a:endParaRPr lang="en-US" sz="900" dirty="0"/>
          </a:p>
        </p:txBody>
      </p:sp>
      <p:sp>
        <p:nvSpPr>
          <p:cNvPr id="24" name="Shape 20"/>
          <p:cNvSpPr/>
          <p:nvPr/>
        </p:nvSpPr>
        <p:spPr>
          <a:xfrm>
            <a:off x="365760" y="3611880"/>
            <a:ext cx="8412480" cy="841248"/>
          </a:xfrm>
          <a:prstGeom prst="rect">
            <a:avLst/>
          </a:prstGeom>
          <a:solidFill>
            <a:srgbClr val="1A1A1A"/>
          </a:solidFill>
          <a:ln/>
        </p:spPr>
      </p:sp>
      <p:sp>
        <p:nvSpPr>
          <p:cNvPr id="25" name="Text 21"/>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「1人が毎年4件取る」ではない：</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未知数なのは会える率・成約率・商談期間。最初の3社で実測し、届かなければ撤退ライン（p.22）で判断する</a:t>
            </a:r>
            <a:endParaRPr lang="en-US" sz="900" dirty="0"/>
          </a:p>
        </p:txBody>
      </p:sp>
      <p:sp>
        <p:nvSpPr>
          <p:cNvPr id="26" name="Text 2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グラスの条件と実証 ─ 足りるかを実機で確かめる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現場の条件と、候補のグラスの公表値。足りない所は記録の仕方と端末の選び方で補う</a:t>
            </a:r>
            <a:endParaRPr lang="en-US" sz="1200" dirty="0"/>
          </a:p>
        </p:txBody>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現場の条件</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AIグラス（Ray-Ban Meta 第2世代）</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表示付き（Meta Ray-Ban Display）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産業用（RealWear）</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重さ</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約50g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約69g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約180g〜</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録画</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1回3分程度まで（報道）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カメラあり</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長時間・4K（Arc 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開発者向けの映像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720p・30fps（スマホ経由）</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同左</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Android（自由度が高い）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電池</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連続撮影では短い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約6時間（公表）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交換式</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落下・粉じん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一般向け</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IP66・2m落下（520）</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要確認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保護めがねと併用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値段</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約8万円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約12万円（$799）</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約37万円〜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5806440" y="1051560"/>
            <a:ext cx="2971800" cy="2377440"/>
          </a:xfrm>
          <a:prstGeom prst="rect">
            <a:avLst/>
          </a:prstGeom>
          <a:solidFill>
            <a:srgbClr val="F2F2F2"/>
          </a:solidFill>
          <a:ln/>
        </p:spPr>
      </p:sp>
      <p:sp>
        <p:nvSpPr>
          <p:cNvPr id="8" name="Text 4"/>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B8692E"/>
                </a:solidFill>
                <a:latin typeface="Meiryo" pitchFamily="34" charset="0"/>
                <a:ea typeface="Meiryo" pitchFamily="34" charset="-122"/>
                <a:cs typeface="Meiryo" pitchFamily="34" charset="-120"/>
              </a:rPr>
              <a:t>実証（準備期の3か月）</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グラスで1日記録できるかも測る</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対象：1拠点・2〜3班</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A1A1A"/>
                </a:solidFill>
                <a:latin typeface="Meiryo" pitchFamily="34" charset="0"/>
                <a:ea typeface="Meiryo" pitchFamily="34" charset="-122"/>
                <a:cs typeface="Meiryo" pitchFamily="34" charset="-120"/>
              </a:rPr>
              <a:t>測る数字</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① 1台1日の削減時間（合格 23分以上）</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② 手戻り・施工ミスの件数</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③ 1台あたりのAI・保存の実費</a:t>
            </a:r>
            <a:endParaRPr lang="en-US" sz="9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④ 新人が独り立ちするまでの期間</a:t>
            </a:r>
            <a:endParaRPr lang="en-US" sz="900" dirty="0"/>
          </a:p>
        </p:txBody>
      </p:sp>
      <p:sp>
        <p:nvSpPr>
          <p:cNvPr id="9" name="Shape 5"/>
          <p:cNvSpPr/>
          <p:nvPr/>
        </p:nvSpPr>
        <p:spPr>
          <a:xfrm>
            <a:off x="365760" y="3657600"/>
            <a:ext cx="8412480" cy="777240"/>
          </a:xfrm>
          <a:prstGeom prst="rect">
            <a:avLst/>
          </a:prstGeom>
          <a:solidFill>
            <a:srgbClr val="1A1A1A"/>
          </a:solidFill>
          <a:ln/>
        </p:spPr>
      </p:sp>
      <p:sp>
        <p:nvSpPr>
          <p:cNvPr id="10" name="Text 6"/>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聞かれたら：</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手元ARの初期コスト：</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組立図の3D化が必要。工種ごとのオプション（初期50万円）にして、1種類から始める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公表値・報道（2024〜2025年）。国内の正規販売・技適・保護めがねの規格・開発キットの国内提供は要確認</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データ基盤の中身 ─ 会社ごとに1つ、月5万円で何を持つか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基盤は「会社の記録の置き場」と「各社の型」。原価は月1万円、残りは設定と運用の人の時間で回収する</a:t>
            </a:r>
            <a:endParaRPr lang="en-US" sz="1200" dirty="0"/>
          </a:p>
        </p:txBody>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誰が作る・整える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記録の保管庫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動画クリップ・音声・写真・日報を現場と工種ごとに保存（3年）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図面と手順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図面・施工要領・チェックリストを登録し、照合に使う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報告書の型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各社の写真台帳・日報・検査帳票の書式（AIの出力をこの形に整える）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4 工種の型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電気工事の工種ごとの手順と、大事な場面の定義（業界共通）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 権限と同意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誰が何を見られるか、記録の本人同意、削除の依頼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6 管理画面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台ごとの利用時間・解析した場面の数・粗利の目安</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7 効果レポート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毎月「何分減ったか」を班ごとに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自動＋コンサルが説明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8 連携の口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施工管理アプリ・基幹システムへの出力（標準の形式）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エンジニア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3657600"/>
            <a:ext cx="8412480" cy="795528"/>
          </a:xfrm>
          <a:prstGeom prst="rect">
            <a:avLst/>
          </a:prstGeom>
          <a:solidFill>
            <a:srgbClr val="1A1A1A"/>
          </a:solidFill>
          <a:ln/>
        </p:spPr>
      </p:sp>
      <p:sp>
        <p:nvSpPr>
          <p:cNvPr id="8" name="Text 4"/>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原価と値段：</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3と4は外部に委託せず社内で作る。各社の型が増えるほど、次のお客様の設定が速くなる（知見が貯まる）</a:t>
            </a:r>
            <a:endParaRPr lang="en-US" sz="900" dirty="0"/>
          </a:p>
        </p:txBody>
      </p:sp>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p.11・28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場面の選び方とAIの学習 ─ 全部は送らず、3段階で賢くする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録画は端末に全部残す。クラウドで解析するのは選んだ場面だけ。選び方を段階的に自社のAIへ置き換える</a:t>
            </a:r>
            <a:endParaRPr lang="en-US" sz="1200" dirty="0"/>
          </a:p>
        </p:txBody>
      </p:sp>
      <p:sp>
        <p:nvSpPr>
          <p:cNvPr id="6" name="Shape 3"/>
          <p:cNvSpPr/>
          <p:nvPr/>
        </p:nvSpPr>
        <p:spPr>
          <a:xfrm>
            <a:off x="365760" y="1024128"/>
            <a:ext cx="2724912" cy="475488"/>
          </a:xfrm>
          <a:prstGeom prst="rect">
            <a:avLst/>
          </a:prstGeom>
          <a:solidFill>
            <a:srgbClr val="1A1A1A"/>
          </a:solidFill>
          <a:ln/>
        </p:spPr>
      </p:sp>
      <p:sp>
        <p:nvSpPr>
          <p:cNvPr id="7" name="Text 4"/>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1 決まりで選ぶ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準備期〜1年目</a:t>
            </a:r>
            <a:endParaRPr lang="en-US" sz="1400" dirty="0"/>
          </a:p>
        </p:txBody>
      </p:sp>
      <p:sp>
        <p:nvSpPr>
          <p:cNvPr id="8" name="Shape 5"/>
          <p:cNvSpPr/>
          <p:nvPr/>
        </p:nvSpPr>
        <p:spPr>
          <a:xfrm>
            <a:off x="365760" y="1536192"/>
            <a:ext cx="2724912" cy="960120"/>
          </a:xfrm>
          <a:prstGeom prst="rect">
            <a:avLst/>
          </a:prstGeom>
          <a:solidFill>
            <a:srgbClr val="F2F2F2"/>
          </a:solidFill>
          <a:ln/>
        </p:spPr>
      </p:sp>
      <p:sp>
        <p:nvSpPr>
          <p:cNvPr id="9" name="Text 6"/>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原価が読める。取りこぼしがある</a:t>
            </a:r>
            <a:endParaRPr lang="en-US" sz="850" dirty="0"/>
          </a:p>
        </p:txBody>
      </p:sp>
      <p:sp>
        <p:nvSpPr>
          <p:cNvPr id="10" name="Shape 7"/>
          <p:cNvSpPr/>
          <p:nvPr/>
        </p:nvSpPr>
        <p:spPr>
          <a:xfrm>
            <a:off x="3090672" y="1261872"/>
            <a:ext cx="91440" cy="0"/>
          </a:xfrm>
          <a:prstGeom prst="line">
            <a:avLst/>
          </a:prstGeom>
          <a:noFill/>
          <a:ln w="25400">
            <a:solidFill>
              <a:srgbClr val="B8692E"/>
            </a:solidFill>
            <a:prstDash val="solid"/>
            <a:tailEnd type="triangle"/>
          </a:ln>
        </p:spPr>
      </p:sp>
      <p:sp>
        <p:nvSpPr>
          <p:cNvPr id="11" name="Shape 8"/>
          <p:cNvSpPr/>
          <p:nvPr/>
        </p:nvSpPr>
        <p:spPr>
          <a:xfrm>
            <a:off x="3182112" y="1024128"/>
            <a:ext cx="2724912" cy="475488"/>
          </a:xfrm>
          <a:prstGeom prst="rect">
            <a:avLst/>
          </a:prstGeom>
          <a:solidFill>
            <a:srgbClr val="1A1A1A"/>
          </a:solidFill>
          <a:ln/>
        </p:spPr>
      </p:sp>
      <p:sp>
        <p:nvSpPr>
          <p:cNvPr id="12" name="Text 9"/>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2 汎用のAIで選ぶ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p:txBody>
      </p:sp>
      <p:sp>
        <p:nvSpPr>
          <p:cNvPr id="13" name="Shape 10"/>
          <p:cNvSpPr/>
          <p:nvPr/>
        </p:nvSpPr>
        <p:spPr>
          <a:xfrm>
            <a:off x="3182112" y="1536192"/>
            <a:ext cx="2724912" cy="960120"/>
          </a:xfrm>
          <a:prstGeom prst="rect">
            <a:avLst/>
          </a:prstGeom>
          <a:solidFill>
            <a:srgbClr val="F2F2F2"/>
          </a:solidFill>
          <a:ln/>
        </p:spPr>
      </p:sp>
      <p:sp>
        <p:nvSpPr>
          <p:cNvPr id="14" name="Text 11"/>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賢いが、1件ごとに費用がかかる</a:t>
            </a:r>
            <a:endParaRPr lang="en-US" sz="850" dirty="0"/>
          </a:p>
        </p:txBody>
      </p:sp>
      <p:sp>
        <p:nvSpPr>
          <p:cNvPr id="15" name="Shape 12"/>
          <p:cNvSpPr/>
          <p:nvPr/>
        </p:nvSpPr>
        <p:spPr>
          <a:xfrm>
            <a:off x="5907024" y="1261872"/>
            <a:ext cx="91440" cy="0"/>
          </a:xfrm>
          <a:prstGeom prst="line">
            <a:avLst/>
          </a:prstGeom>
          <a:noFill/>
          <a:ln w="25400">
            <a:solidFill>
              <a:srgbClr val="B8692E"/>
            </a:solidFill>
            <a:prstDash val="solid"/>
            <a:tailEnd type="triangle"/>
          </a:ln>
        </p:spPr>
      </p:sp>
      <p:sp>
        <p:nvSpPr>
          <p:cNvPr id="16" name="Shape 13"/>
          <p:cNvSpPr/>
          <p:nvPr/>
        </p:nvSpPr>
        <p:spPr>
          <a:xfrm>
            <a:off x="5998464" y="1024128"/>
            <a:ext cx="2724912" cy="475488"/>
          </a:xfrm>
          <a:prstGeom prst="rect">
            <a:avLst/>
          </a:prstGeom>
          <a:solidFill>
            <a:srgbClr val="B8692E"/>
          </a:solidFill>
          <a:ln/>
        </p:spPr>
      </p:sp>
      <p:sp>
        <p:nvSpPr>
          <p:cNvPr id="17" name="Text 14"/>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3 自社のAIで選ぶ</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3年目〜</a:t>
            </a:r>
            <a:endParaRPr lang="en-US" sz="1400" dirty="0"/>
          </a:p>
        </p:txBody>
      </p:sp>
      <p:sp>
        <p:nvSpPr>
          <p:cNvPr id="18" name="Shape 15"/>
          <p:cNvSpPr/>
          <p:nvPr/>
        </p:nvSpPr>
        <p:spPr>
          <a:xfrm>
            <a:off x="5998464" y="1536192"/>
            <a:ext cx="2724912" cy="960120"/>
          </a:xfrm>
          <a:prstGeom prst="rect">
            <a:avLst/>
          </a:prstGeom>
          <a:solidFill>
            <a:srgbClr val="F2F2F2"/>
          </a:solidFill>
          <a:ln/>
        </p:spPr>
      </p:sp>
      <p:sp>
        <p:nvSpPr>
          <p:cNvPr id="19" name="Text 16"/>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A1A1A"/>
                </a:solidFill>
                <a:latin typeface="Meiryo" pitchFamily="34" charset="0"/>
                <a:ea typeface="Meiryo" pitchFamily="34" charset="-122"/>
                <a:cs typeface="Meiryo"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D4D4D"/>
                </a:solidFill>
                <a:latin typeface="Meiryo" pitchFamily="34" charset="0"/>
                <a:ea typeface="Meiryo" pitchFamily="34" charset="-122"/>
                <a:cs typeface="Meiryo"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ラベル付け（印付け）の手間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送られる場面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1台1日4時間の作業から約20場面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月約4,000場面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人が印を付ける割合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AIが迷った場面だけ・約5%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月約200場面</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1場面あたり</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約45秒（見る・印を付ける）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1拠点 月約2.5時間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5年目（81拠点）</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81拠点×月2.5時間×12か月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b="1" dirty="0">
                          <a:solidFill>
                            <a:srgbClr val="B8692E"/>
                          </a:solidFill>
                          <a:latin typeface="Meiryo" pitchFamily="34" charset="0"/>
                          <a:ea typeface="Meiryo" pitchFamily="34" charset="-122"/>
                          <a:cs typeface="Meiryo" pitchFamily="34" charset="-120"/>
                        </a:rPr>
                        <a:t>年約2,400時間＝約1.3人分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1" name="Shape 17"/>
          <p:cNvSpPr/>
          <p:nvPr/>
        </p:nvSpPr>
        <p:spPr>
          <a:xfrm>
            <a:off x="5623560" y="2624328"/>
            <a:ext cx="3154680" cy="1188720"/>
          </a:xfrm>
          <a:prstGeom prst="rect">
            <a:avLst/>
          </a:prstGeom>
          <a:solidFill>
            <a:srgbClr val="1A1A1A"/>
          </a:solidFill>
          <a:ln/>
        </p:spPr>
      </p:sp>
      <p:sp>
        <p:nvSpPr>
          <p:cNvPr id="22" name="Text 18"/>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E3A774"/>
                </a:solidFill>
                <a:latin typeface="Meiryo" pitchFamily="34" charset="0"/>
                <a:ea typeface="Meiryo" pitchFamily="34" charset="-122"/>
                <a:cs typeface="Meiryo"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Meiryo" pitchFamily="34" charset="0"/>
                <a:ea typeface="Meiryo" pitchFamily="34" charset="-122"/>
                <a:cs typeface="Meiryo" pitchFamily="34" charset="-120"/>
              </a:rPr>
              <a:t>判定AIは小さく作り、毎月の新しい印で作り直す</a:t>
            </a:r>
            <a:endParaRPr lang="en-US" sz="900" dirty="0"/>
          </a:p>
        </p:txBody>
      </p:sp>
      <p:sp>
        <p:nvSpPr>
          <p:cNvPr id="23" name="Shape 19"/>
          <p:cNvSpPr/>
          <p:nvPr/>
        </p:nvSpPr>
        <p:spPr>
          <a:xfrm>
            <a:off x="365760" y="3886200"/>
            <a:ext cx="8412480" cy="566928"/>
          </a:xfrm>
          <a:prstGeom prst="rect">
            <a:avLst/>
          </a:prstGeom>
          <a:solidFill>
            <a:srgbClr val="1A1A1A"/>
          </a:solidFill>
          <a:ln/>
        </p:spPr>
      </p:sp>
      <p:sp>
        <p:nvSpPr>
          <p:cNvPr id="24" name="Text 20"/>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営業と技術の約束：</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本編 p.13・20 の詳細</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グラスの持ち方 ─ レンタル → リース → 端末込みの料金</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お客様に一から契約の手間をかけさせない。段階ごとに、誰が持ち、誰が手続きするかを変える</a:t>
            </a:r>
            <a:endParaRPr lang="en-US" sz="1200" dirty="0"/>
          </a:p>
        </p:txBody>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段階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いつ</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持ち方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手続き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お客様の負担（10台）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当社の負担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 レンタル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試験導入（3か月）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レンタル会社から当社が借りて渡す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導入支援に含む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月約1.7万円（30日5万円の例）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 リース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本契約（1〜2年目）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お客様名義でリース。当社が販売店・リース会社との手続きを代行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当社が代行</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年約32万円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なし（在庫を持たない）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 端末込みの料金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3年目〜（選べる）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当社がまとめて調達し、利用料に端末代を含める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当社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端末1台 月約2.6万円（ライセンス込み）</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在庫・故障の手当て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参考価格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3年リース（料率 月約3%）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カメラ付きAIグラス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約8万円（Ray-Ban Meta 第2世代 7.4〜8.9万円）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表示付きARグラス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約12万円（Meta Ray-Ban Display $799）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年約4万円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参考：産業用ヘッドセット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約37万円〜（RealWear Arc 3 の国内キャンペーン価格）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 年約13万円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Shape 3"/>
          <p:cNvSpPr/>
          <p:nvPr/>
        </p:nvSpPr>
        <p:spPr>
          <a:xfrm>
            <a:off x="365760" y="3886200"/>
            <a:ext cx="8412480" cy="566928"/>
          </a:xfrm>
          <a:prstGeom prst="rect">
            <a:avLst/>
          </a:prstGeom>
          <a:solidFill>
            <a:srgbClr val="1A1A1A"/>
          </a:solidFill>
          <a:ln/>
        </p:spPr>
      </p:sp>
      <p:sp>
        <p:nvSpPr>
          <p:cNvPr id="9"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質問への答え</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厳しい質問 ─ 数字 → 式 → 前提の順で答える</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一言で答え、このページ番号を示す</a:t>
            </a:r>
            <a:endParaRPr lang="en-US" sz="1200" dirty="0"/>
          </a:p>
        </p:txBody>
      </p:sp>
      <p:graphicFrame>
        <p:nvGraphicFramePr>
          <p:cNvPr id="31"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65176">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質問</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00" b="1" dirty="0">
                          <a:solidFill>
                            <a:srgbClr val="1A1A1A"/>
                          </a:solidFill>
                          <a:latin typeface="Meiryo" pitchFamily="34" charset="0"/>
                          <a:ea typeface="Meiryo" pitchFamily="34" charset="-122"/>
                          <a:cs typeface="Meiryo" pitchFamily="34" charset="-120"/>
                        </a:rPr>
                        <a:t>一言の答え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00" b="1" dirty="0">
                          <a:solidFill>
                            <a:srgbClr val="1A1A1A"/>
                          </a:solidFill>
                          <a:latin typeface="Meiryo" pitchFamily="34" charset="0"/>
                          <a:ea typeface="Meiryo" pitchFamily="34" charset="-122"/>
                          <a:cs typeface="Meiryo" pitchFamily="34" charset="-120"/>
                        </a:rPr>
                        <a:t>詳細版</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本当に年300万円払う？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1台1日23分減れば元が取れます。想定は35分で、実証で測ります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1時間の人件費の根拠は？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統計の年収×会社負担1.17÷残業を含む年1,938時間です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4,000万円も得するのでは？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全員ではなく、端末を着けた班だけで数えています。手戻りは測れてから足します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p.6〜7</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グラス代は誰が払う？</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お客様の名義でリース、手続きは当社が代行。10台で年約32万円です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p.29</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台数が増えると原価は？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1台の値段が1台の原価を賄うので粗利率は約70%のまま。崩れるのは全編を送る使い方です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p.11〜12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なぜ5年で黒字にならない？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人を先に雇うからです。1拠点15台にできれば5年目に黒字です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p.19・22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獲得が遅れたら？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採用も遅らせ、台数を増やします。2年目に5拠点未満なら採用を止めます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p.22</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解約率の根拠は？</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海外のB2B SaaSの目安から年10%と置きました。日本の実績で更新します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p.14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普段使いのグラスで足りる？</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録画と電池に制約があります。要所だけ記録し、実機で確かめます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p.26</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市場が小さくない？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5年目でターゲット市場の約1.7%。工場と海外は含めていません</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p.24</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全部AIで解析したら高い？</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録画は端末に残し、選んだ場面だけ解析します。選び方は3段階で賢くします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p.28</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あなたが倒れたら？</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00" dirty="0">
                          <a:solidFill>
                            <a:srgbClr val="1A1A1A"/>
                          </a:solidFill>
                          <a:latin typeface="Meiryo" pitchFamily="34" charset="0"/>
                          <a:ea typeface="Meiryo" pitchFamily="34" charset="-122"/>
                          <a:cs typeface="Meiryo" pitchFamily="34" charset="-120"/>
                        </a:rPr>
                        <a:t>役割を絞り判断基準を先に決め、1か月不在でも回る形にします</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A1A1A"/>
                          </a:solidFill>
                          <a:latin typeface="Meiryo" pitchFamily="34" charset="0"/>
                          <a:ea typeface="Meiryo" pitchFamily="34" charset="-122"/>
                          <a:cs typeface="Meiryo" pitchFamily="34" charset="-120"/>
                        </a:rPr>
                        <a:t>本編 p.25</a:t>
                      </a:r>
                      <a:endParaRPr lang="en-US" sz="8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5577840" y="54864"/>
            <a:ext cx="3200400" cy="182880"/>
          </a:xfrm>
          <a:prstGeom prst="rect">
            <a:avLst/>
          </a:prstGeom>
          <a:noFill/>
          <a:ln/>
        </p:spPr>
        <p:txBody>
          <a:bodyPr wrap="square" lIns="0" tIns="0" rIns="0" bIns="0" rtlCol="0" anchor="ctr"/>
          <a:lstStyle/>
          <a:p>
            <a:pPr algn="r" indent="0" marL="0">
              <a:lnSpc>
                <a:spcPct val="115000"/>
              </a:lnSpc>
              <a:buNone/>
            </a:pPr>
            <a:r>
              <a:rPr lang="en-US" sz="800" dirty="0">
                <a:solidFill>
                  <a:srgbClr val="8C8C8C"/>
                </a:solidFill>
                <a:latin typeface="Meiryo" pitchFamily="34" charset="0"/>
                <a:ea typeface="Meiryo" pitchFamily="34" charset="-122"/>
                <a:cs typeface="Meiryo" pitchFamily="34" charset="-120"/>
              </a:rPr>
              <a:t>出典</a:t>
            </a:r>
            <a:endParaRPr lang="en-US" sz="800" dirty="0"/>
          </a:p>
        </p:txBody>
      </p:sp>
      <p:sp>
        <p:nvSpPr>
          <p:cNvPr id="4"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出典 ─ 公的統計と公表価格</a:t>
            </a:r>
            <a:endParaRPr lang="en-US" sz="2000" dirty="0"/>
          </a:p>
        </p:txBody>
      </p:sp>
      <p:sp>
        <p:nvSpPr>
          <p:cNvPr id="5"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★＝最新年の値・原表を確認していない</a:t>
            </a:r>
            <a:endParaRPr lang="en-US" sz="1200" dirty="0"/>
          </a:p>
        </p:txBody>
      </p:sp>
      <p:graphicFrame>
        <p:nvGraphicFramePr>
          <p:cNvPr id="32"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103120"/>
                <a:gridCol w="6309360"/>
              </a:tblGrid>
              <a:tr h="246888">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項目</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750" b="1" dirty="0">
                          <a:solidFill>
                            <a:srgbClr val="1A1A1A"/>
                          </a:solidFill>
                          <a:latin typeface="Meiryo" pitchFamily="34" charset="0"/>
                          <a:ea typeface="Meiryo" pitchFamily="34" charset="-122"/>
                          <a:cs typeface="Meiryo" pitchFamily="34" charset="-120"/>
                        </a:rPr>
                        <a:t>出典</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電気工事従事者の年収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厚生労働省「令和5年賃金構造基本統計調査」（月36.74万円×12＋賞与110.06万円＝約551万円）。職業情報提供サイト（令和6年）約548〜551万円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建築・土木技術者の年収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同調査 建築技術者 約642万円（令和6年）・土木技術者 約604万円（令和5年）。施工管理者の区分はないため代用</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年間総実労働時間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厚生労働省「毎月勤労統計調査」令和6年 建設業 月161.5時間（×12＝1,938時間・残業込み）</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会社負担の社会保険料</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健康保険 約5.0%・厚生年金9.15%・雇用保険（建設）1.1%・子ども・子育て拠出金0.36%・労災 約1.2%。計 約17%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時間外の割増・上限</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労働基準法（割増25%以上、建設業は2024年4月から原則 月45時間・年360時間）</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建設業の就業者・年齢</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国土交通省（総務省「労働力調査」2024年平均）477万人、55歳以上36.7%</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電気工事業の許可業者数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国土交通省 建設業許可業者数（令和7年3月末）65,497社（二次資料で確認）</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市場の伸び</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矢野経済研究所 No.3789（建設テック）、IMARC Group（Japan Smart Factory）</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手戻り率・建設投資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海外研究で工事費の0.4〜6%。建設投資は国交省 2025年度見通し 約75.6兆円</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グラス・リース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Ray-Ban Meta 第2世代、Meta Ray-Ban Display $799、RealWear Arc 3（国内37万円）。開発キットの映像720p（UploadVR）。リース料率3年約3%</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クラウド・AIの単価 ★</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音声文字起こし $0.003／分、オブジェクト保存 約$0.025／GB・月など各社の公表価格</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解約率の目安</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B2B SaaSの年間解約：大企業5〜10%・中小30〜50%（海外の業界記事。一次調査ではない）</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競合・国の方針</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750" dirty="0">
                          <a:solidFill>
                            <a:srgbClr val="1A1A1A"/>
                          </a:solidFill>
                          <a:latin typeface="Meiryo" pitchFamily="34" charset="0"/>
                          <a:ea typeface="Meiryo" pitchFamily="34" charset="-122"/>
                          <a:cs typeface="Meiryo" pitchFamily="34" charset="-120"/>
                        </a:rPr>
                        <a:t>日立製作所 ニュースリリース（2025年10月）、Safie Pocket2（キヤノンMJ）、内閣府「人工知能基本計画」（令和8年7月）</a:t>
                      </a:r>
                      <a:endParaRPr lang="en-US" sz="7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8C8C8C"/>
                </a:solidFill>
                <a:latin typeface="Meiryo" pitchFamily="34" charset="0"/>
                <a:ea typeface="Meiryo" pitchFamily="34" charset="-122"/>
                <a:cs typeface="Meiryo"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2026-10-16T05:09:06Z</dcterms:created>
  <dcterms:modified xsi:type="dcterms:W3CDTF">2026-10-16T05:09:06Z</dcterms:modified>
</cp:coreProperties>
</file>